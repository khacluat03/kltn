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31"/>
  </p:notesMasterIdLst>
  <p:sldIdLst>
    <p:sldId id="256" r:id="rId2"/>
    <p:sldId id="314" r:id="rId3"/>
    <p:sldId id="316" r:id="rId4"/>
    <p:sldId id="259" r:id="rId5"/>
    <p:sldId id="263" r:id="rId6"/>
    <p:sldId id="260" r:id="rId7"/>
    <p:sldId id="262" r:id="rId8"/>
    <p:sldId id="318" r:id="rId9"/>
    <p:sldId id="261" r:id="rId10"/>
    <p:sldId id="315" r:id="rId11"/>
    <p:sldId id="307" r:id="rId12"/>
    <p:sldId id="309" r:id="rId13"/>
    <p:sldId id="323" r:id="rId14"/>
    <p:sldId id="322" r:id="rId15"/>
    <p:sldId id="324" r:id="rId16"/>
    <p:sldId id="321" r:id="rId17"/>
    <p:sldId id="320" r:id="rId18"/>
    <p:sldId id="319" r:id="rId19"/>
    <p:sldId id="310" r:id="rId20"/>
    <p:sldId id="312" r:id="rId21"/>
    <p:sldId id="308" r:id="rId22"/>
    <p:sldId id="311" r:id="rId23"/>
    <p:sldId id="325" r:id="rId24"/>
    <p:sldId id="317" r:id="rId25"/>
    <p:sldId id="267" r:id="rId26"/>
    <p:sldId id="264" r:id="rId27"/>
    <p:sldId id="265" r:id="rId28"/>
    <p:sldId id="266" r:id="rId29"/>
    <p:sldId id="284" r:id="rId30"/>
  </p:sldIdLst>
  <p:sldSz cx="9144000" cy="5143500" type="screen16x9"/>
  <p:notesSz cx="6858000" cy="9144000"/>
  <p:embeddedFontLst>
    <p:embeddedFont>
      <p:font typeface=".VnSouthern" panose="020B7200000000000000"/>
      <p:regular r:id="rId32"/>
      <p:bold r:id="rId33"/>
      <p:italic r:id="rId34"/>
      <p:boldItalic r:id="rId35"/>
    </p:embeddedFont>
    <p:embeddedFont>
      <p:font typeface="Bahnschrift" panose="020B0502040204020203" pitchFamily="34" charset="0"/>
      <p:regular r:id="rId36"/>
      <p:bold r:id="rId37"/>
    </p:embeddedFont>
    <p:embeddedFont>
      <p:font typeface="Calibri" panose="020F0502020204030204" pitchFamily="34" charset="0"/>
      <p:regular r:id="rId38"/>
      <p:bold r:id="rId39"/>
      <p:italic r:id="rId40"/>
      <p:boldItalic r:id="rId41"/>
    </p:embeddedFont>
    <p:embeddedFont>
      <p:font typeface="Consolas" panose="020B0609020204030204" pitchFamily="49" charset="0"/>
      <p:regular r:id="rId42"/>
      <p:bold r:id="rId43"/>
      <p:italic r:id="rId44"/>
      <p:boldItalic r:id="rId45"/>
    </p:embeddedFont>
    <p:embeddedFont>
      <p:font typeface="IBM Plex Mono" panose="020B0509050203000203" pitchFamily="49" charset="0"/>
      <p:regular r:id="rId46"/>
      <p:bold r:id="rId47"/>
      <p:italic r:id="rId48"/>
      <p:boldItalic r:id="rId49"/>
    </p:embeddedFont>
    <p:embeddedFont>
      <p:font typeface="IBM Plex Mono Bold" panose="020B0809050203000203" charset="0"/>
      <p:bold r:id="rId50"/>
    </p:embeddedFont>
    <p:embeddedFont>
      <p:font typeface="Open Sans" panose="020B0606030504020204" pitchFamily="34" charset="0"/>
      <p:regular r:id="rId51"/>
      <p:bold r:id="rId52"/>
      <p:italic r:id="rId53"/>
      <p:boldItalic r:id="rId54"/>
    </p:embeddedFont>
    <p:embeddedFont>
      <p:font typeface="Poppins" panose="00000500000000000000" pitchFamily="2" charset="0"/>
      <p:regular r:id="rId55"/>
      <p:bold r:id="rId56"/>
      <p:italic r:id="rId57"/>
      <p:boldItalic r:id="rId58"/>
    </p:embeddedFont>
    <p:embeddedFont>
      <p:font typeface="Roboto Condensed Light" panose="02000000000000000000" pitchFamily="2" charset="0"/>
      <p:regular r:id="rId59"/>
      <p:italic r:id="rId60"/>
    </p:embeddedFont>
    <p:embeddedFont>
      <p:font typeface="Source Code Pro" panose="020B0509030403020204" pitchFamily="49" charset="0"/>
      <p:regular r:id="rId61"/>
      <p:bold r:id="rId62"/>
      <p:italic r:id="rId63"/>
      <p:boldItalic r:id="rId64"/>
    </p:embeddedFont>
    <p:embeddedFont>
      <p:font typeface="VL Kaleko 105 Round" charset="0"/>
      <p:regular r:id="rId65"/>
      <p:bold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A1AEDF-FD2A-CC9F-9BA1-7A5696646EF3}" v="274" dt="2025-12-18T14:18:00.205"/>
    <p1510:client id="{04BF9B47-15F9-E407-DF45-191E2E9696D0}" v="191" dt="2025-12-18T22:22:30.544"/>
    <p1510:client id="{9240B467-5715-09D9-9739-AE91CA0F0621}" v="25" dt="2025-12-18T13:42:04.091"/>
    <p1510:client id="{B519D76D-CE1A-8CF8-4DCF-E76DA80109D9}" v="50" dt="2025-12-19T01:22:33.047"/>
  </p1510:revLst>
</p1510:revInfo>
</file>

<file path=ppt/tableStyles.xml><?xml version="1.0" encoding="utf-8"?>
<a:tblStyleLst xmlns:a="http://schemas.openxmlformats.org/drawingml/2006/main" def="{FCFD89B0-09A9-401F-B85D-9E3E2F4A158D}">
  <a:tblStyle styleId="{FCFD89B0-09A9-401F-B85D-9E3E2F4A15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Kiểu Có chủ đề 1 - Màu chủ đề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1259" autoAdjust="0"/>
  </p:normalViewPr>
  <p:slideViewPr>
    <p:cSldViewPr snapToGrid="0">
      <p:cViewPr varScale="1">
        <p:scale>
          <a:sx n="68" d="100"/>
          <a:sy n="68" d="100"/>
        </p:scale>
        <p:origin x="188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font" Target="fonts/font11.fntdata"/><Relationship Id="rId47" Type="http://schemas.openxmlformats.org/officeDocument/2006/relationships/font" Target="fonts/font16.fntdata"/><Relationship Id="rId63" Type="http://schemas.openxmlformats.org/officeDocument/2006/relationships/font" Target="fonts/font32.fntdata"/><Relationship Id="rId68" Type="http://schemas.openxmlformats.org/officeDocument/2006/relationships/viewProps" Target="viewProps.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font" Target="fonts/font22.fntdata"/><Relationship Id="rId58" Type="http://schemas.openxmlformats.org/officeDocument/2006/relationships/font" Target="fonts/font27.fntdata"/><Relationship Id="rId66" Type="http://schemas.openxmlformats.org/officeDocument/2006/relationships/font" Target="fonts/font35.fntdata"/><Relationship Id="rId5" Type="http://schemas.openxmlformats.org/officeDocument/2006/relationships/slide" Target="slides/slide4.xml"/><Relationship Id="rId61" Type="http://schemas.openxmlformats.org/officeDocument/2006/relationships/font" Target="fonts/font3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font" Target="fonts/font25.fntdata"/><Relationship Id="rId64" Type="http://schemas.openxmlformats.org/officeDocument/2006/relationships/font" Target="fonts/font33.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font" Target="fonts/font28.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0.fntdata"/><Relationship Id="rId54" Type="http://schemas.openxmlformats.org/officeDocument/2006/relationships/font" Target="fonts/font23.fntdata"/><Relationship Id="rId62" Type="http://schemas.openxmlformats.org/officeDocument/2006/relationships/font" Target="fonts/font31.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font" Target="fonts/font26.fntdata"/><Relationship Id="rId10" Type="http://schemas.openxmlformats.org/officeDocument/2006/relationships/slide" Target="slides/slide9.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font" Target="fonts/font21.fntdata"/><Relationship Id="rId60" Type="http://schemas.openxmlformats.org/officeDocument/2006/relationships/font" Target="fonts/font29.fntdata"/><Relationship Id="rId65" Type="http://schemas.openxmlformats.org/officeDocument/2006/relationships/font" Target="fonts/font3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8.fntdata"/><Relationship Id="rId34" Type="http://schemas.openxmlformats.org/officeDocument/2006/relationships/font" Target="fonts/font3.fntdata"/><Relationship Id="rId50" Type="http://schemas.openxmlformats.org/officeDocument/2006/relationships/font" Target="fonts/font19.fntdata"/><Relationship Id="rId55" Type="http://schemas.openxmlformats.org/officeDocument/2006/relationships/font" Target="fonts/font2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a:extLst>
            <a:ext uri="{FF2B5EF4-FFF2-40B4-BE49-F238E27FC236}">
              <a16:creationId xmlns:a16="http://schemas.microsoft.com/office/drawing/2014/main" id="{88719FE0-4B90-7F32-8BF2-C512307A042F}"/>
            </a:ext>
          </a:extLst>
        </p:cNvPr>
        <p:cNvGrpSpPr/>
        <p:nvPr/>
      </p:nvGrpSpPr>
      <p:grpSpPr>
        <a:xfrm>
          <a:off x="0" y="0"/>
          <a:ext cx="0" cy="0"/>
          <a:chOff x="0" y="0"/>
          <a:chExt cx="0" cy="0"/>
        </a:xfrm>
      </p:grpSpPr>
      <p:sp>
        <p:nvSpPr>
          <p:cNvPr id="1463" name="Google Shape;1463;g24e5c2c9e45_0_138:notes">
            <a:extLst>
              <a:ext uri="{FF2B5EF4-FFF2-40B4-BE49-F238E27FC236}">
                <a16:creationId xmlns:a16="http://schemas.microsoft.com/office/drawing/2014/main" id="{9BC5B1D4-FBE6-0778-0E8E-2A8A55F44E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a:extLst>
              <a:ext uri="{FF2B5EF4-FFF2-40B4-BE49-F238E27FC236}">
                <a16:creationId xmlns:a16="http://schemas.microsoft.com/office/drawing/2014/main" id="{98CEC3AC-C057-1C98-151E-24AF07E847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buNone/>
            </a:pPr>
            <a:r>
              <a:rPr lang="en-US"/>
              <a:t>- Nhu </a:t>
            </a:r>
            <a:r>
              <a:rPr lang="en-US" err="1"/>
              <a:t>cầu</a:t>
            </a:r>
            <a:r>
              <a:rPr lang="en-US"/>
              <a:t> </a:t>
            </a:r>
            <a:r>
              <a:rPr lang="en-US" err="1"/>
              <a:t>cá</a:t>
            </a:r>
            <a:r>
              <a:rPr lang="en-US"/>
              <a:t> </a:t>
            </a:r>
            <a:r>
              <a:rPr lang="en-US" err="1"/>
              <a:t>nhân</a:t>
            </a:r>
            <a:r>
              <a:rPr lang="en-US"/>
              <a:t> </a:t>
            </a:r>
            <a:r>
              <a:rPr lang="en-US" err="1"/>
              <a:t>hóa</a:t>
            </a:r>
            <a:r>
              <a:rPr lang="en-US"/>
              <a:t> </a:t>
            </a:r>
            <a:r>
              <a:rPr lang="en-US" err="1"/>
              <a:t>trải</a:t>
            </a:r>
            <a:r>
              <a:rPr lang="en-US"/>
              <a:t> </a:t>
            </a:r>
            <a:r>
              <a:rPr lang="en-US" err="1"/>
              <a:t>nghiệm</a:t>
            </a:r>
            <a:r>
              <a:rPr lang="en-US"/>
              <a:t> </a:t>
            </a:r>
            <a:r>
              <a:rPr lang="en-US" err="1"/>
              <a:t>xem</a:t>
            </a:r>
            <a:r>
              <a:rPr lang="en-US"/>
              <a:t> </a:t>
            </a:r>
            <a:r>
              <a:rPr lang="en-US" err="1"/>
              <a:t>phim</a:t>
            </a:r>
            <a:r>
              <a:rPr lang="en-US"/>
              <a:t> </a:t>
            </a:r>
            <a:r>
              <a:rPr lang="en-US" err="1"/>
              <a:t>ngày</a:t>
            </a:r>
            <a:r>
              <a:rPr lang="en-US"/>
              <a:t> </a:t>
            </a:r>
            <a:r>
              <a:rPr lang="en-US" err="1"/>
              <a:t>càng</a:t>
            </a:r>
            <a:r>
              <a:rPr lang="en-US"/>
              <a:t> </a:t>
            </a:r>
            <a:r>
              <a:rPr lang="en-US" err="1"/>
              <a:t>cao</a:t>
            </a:r>
            <a:r>
              <a:rPr lang="en-US"/>
              <a:t>, </a:t>
            </a:r>
            <a:r>
              <a:rPr lang="en-US" err="1"/>
              <a:t>yêu</a:t>
            </a:r>
            <a:r>
              <a:rPr lang="en-US"/>
              <a:t> </a:t>
            </a:r>
            <a:r>
              <a:rPr lang="en-US" err="1"/>
              <a:t>cầu</a:t>
            </a:r>
            <a:r>
              <a:rPr lang="en-US"/>
              <a:t> </a:t>
            </a:r>
            <a:r>
              <a:rPr lang="en-US" err="1"/>
              <a:t>hệ</a:t>
            </a:r>
            <a:r>
              <a:rPr lang="en-US"/>
              <a:t> </a:t>
            </a:r>
            <a:r>
              <a:rPr lang="en-US" err="1"/>
              <a:t>thống</a:t>
            </a:r>
            <a:r>
              <a:rPr lang="en-US"/>
              <a:t> </a:t>
            </a:r>
            <a:r>
              <a:rPr lang="en-US" err="1"/>
              <a:t>đề</a:t>
            </a:r>
            <a:r>
              <a:rPr lang="en-US"/>
              <a:t> </a:t>
            </a:r>
            <a:r>
              <a:rPr lang="en-US" err="1"/>
              <a:t>xuất</a:t>
            </a:r>
            <a:r>
              <a:rPr lang="en-US"/>
              <a:t> </a:t>
            </a:r>
            <a:r>
              <a:rPr lang="en-US" err="1"/>
              <a:t>thông</a:t>
            </a:r>
            <a:r>
              <a:rPr lang="en-US"/>
              <a:t> </a:t>
            </a:r>
            <a:r>
              <a:rPr lang="en-US" err="1"/>
              <a:t>minh</a:t>
            </a:r>
            <a:r>
              <a:rPr lang="en-US"/>
              <a:t> </a:t>
            </a:r>
            <a:r>
              <a:rPr lang="en-US" err="1"/>
              <a:t>và</a:t>
            </a:r>
            <a:r>
              <a:rPr lang="en-US"/>
              <a:t> </a:t>
            </a:r>
            <a:r>
              <a:rPr lang="en-US" err="1"/>
              <a:t>linh</a:t>
            </a:r>
            <a:r>
              <a:rPr lang="en-US"/>
              <a:t> </a:t>
            </a:r>
            <a:r>
              <a:rPr lang="en-US" err="1"/>
              <a:t>hoạt</a:t>
            </a:r>
            <a:r>
              <a:rPr lang="en-US"/>
              <a:t> </a:t>
            </a:r>
            <a:r>
              <a:rPr lang="en-US" err="1"/>
              <a:t>hơn</a:t>
            </a:r>
            <a:r>
              <a:rPr lang="en-US"/>
              <a:t>.  </a:t>
            </a:r>
          </a:p>
          <a:p>
            <a:pPr algn="just">
              <a:buNone/>
            </a:pPr>
            <a:r>
              <a:rPr lang="en-US"/>
              <a:t>- Các </a:t>
            </a:r>
            <a:r>
              <a:rPr lang="en-US" err="1"/>
              <a:t>phương</a:t>
            </a:r>
            <a:r>
              <a:rPr lang="en-US"/>
              <a:t> </a:t>
            </a:r>
            <a:r>
              <a:rPr lang="en-US" err="1"/>
              <a:t>pháp</a:t>
            </a:r>
            <a:r>
              <a:rPr lang="en-US"/>
              <a:t> recommendation </a:t>
            </a:r>
            <a:r>
              <a:rPr lang="en-US" err="1"/>
              <a:t>truyền</a:t>
            </a:r>
            <a:r>
              <a:rPr lang="en-US"/>
              <a:t> </a:t>
            </a:r>
            <a:r>
              <a:rPr lang="en-US" err="1"/>
              <a:t>thống</a:t>
            </a:r>
            <a:r>
              <a:rPr lang="en-US"/>
              <a:t> </a:t>
            </a:r>
            <a:r>
              <a:rPr lang="en-US" err="1"/>
              <a:t>còn</a:t>
            </a:r>
            <a:r>
              <a:rPr lang="en-US"/>
              <a:t> </a:t>
            </a:r>
            <a:r>
              <a:rPr lang="en-US" err="1"/>
              <a:t>hạn</a:t>
            </a:r>
            <a:r>
              <a:rPr lang="en-US"/>
              <a:t> </a:t>
            </a:r>
            <a:r>
              <a:rPr lang="en-US" err="1"/>
              <a:t>chế</a:t>
            </a:r>
            <a:r>
              <a:rPr lang="en-US"/>
              <a:t>, </a:t>
            </a:r>
            <a:r>
              <a:rPr lang="en-US" err="1"/>
              <a:t>khó</a:t>
            </a:r>
            <a:r>
              <a:rPr lang="en-US"/>
              <a:t> </a:t>
            </a:r>
            <a:r>
              <a:rPr lang="en-US" err="1"/>
              <a:t>xử</a:t>
            </a:r>
            <a:r>
              <a:rPr lang="en-US"/>
              <a:t> </a:t>
            </a:r>
            <a:r>
              <a:rPr lang="en-US" err="1"/>
              <a:t>lý</a:t>
            </a:r>
            <a:r>
              <a:rPr lang="en-US"/>
              <a:t> </a:t>
            </a:r>
            <a:r>
              <a:rPr lang="en-US" err="1"/>
              <a:t>nhiều</a:t>
            </a:r>
            <a:r>
              <a:rPr lang="en-US"/>
              <a:t> </a:t>
            </a:r>
            <a:r>
              <a:rPr lang="en-US" err="1"/>
              <a:t>tác</a:t>
            </a:r>
            <a:r>
              <a:rPr lang="en-US"/>
              <a:t> </a:t>
            </a:r>
            <a:r>
              <a:rPr lang="en-US" err="1"/>
              <a:t>vụ</a:t>
            </a:r>
            <a:r>
              <a:rPr lang="en-US"/>
              <a:t> </a:t>
            </a:r>
            <a:r>
              <a:rPr lang="en-US" err="1"/>
              <a:t>phức</a:t>
            </a:r>
            <a:r>
              <a:rPr lang="en-US"/>
              <a:t> </a:t>
            </a:r>
            <a:r>
              <a:rPr lang="en-US" err="1"/>
              <a:t>tạp</a:t>
            </a:r>
            <a:r>
              <a:rPr lang="en-US"/>
              <a:t> </a:t>
            </a:r>
            <a:r>
              <a:rPr lang="en-US" err="1"/>
              <a:t>như</a:t>
            </a:r>
            <a:r>
              <a:rPr lang="en-US"/>
              <a:t> </a:t>
            </a:r>
            <a:r>
              <a:rPr lang="en-US" err="1"/>
              <a:t>hội</a:t>
            </a:r>
            <a:r>
              <a:rPr lang="en-US"/>
              <a:t> </a:t>
            </a:r>
            <a:r>
              <a:rPr lang="en-US" err="1"/>
              <a:t>thoại</a:t>
            </a:r>
            <a:r>
              <a:rPr lang="en-US"/>
              <a:t>, </a:t>
            </a:r>
            <a:r>
              <a:rPr lang="en-US" err="1"/>
              <a:t>phân</a:t>
            </a:r>
            <a:r>
              <a:rPr lang="en-US"/>
              <a:t> </a:t>
            </a:r>
            <a:r>
              <a:rPr lang="en-US" err="1"/>
              <a:t>tích</a:t>
            </a:r>
            <a:r>
              <a:rPr lang="en-US"/>
              <a:t> </a:t>
            </a:r>
            <a:r>
              <a:rPr lang="en-US" err="1"/>
              <a:t>ngữ</a:t>
            </a:r>
            <a:r>
              <a:rPr lang="en-US"/>
              <a:t> </a:t>
            </a:r>
            <a:r>
              <a:rPr lang="en-US" err="1"/>
              <a:t>cảnh</a:t>
            </a:r>
            <a:r>
              <a:rPr lang="en-US"/>
              <a:t>, </a:t>
            </a:r>
            <a:r>
              <a:rPr lang="en-US" err="1"/>
              <a:t>hoặc</a:t>
            </a:r>
            <a:r>
              <a:rPr lang="en-US"/>
              <a:t> </a:t>
            </a:r>
            <a:r>
              <a:rPr lang="en-US" err="1"/>
              <a:t>dự</a:t>
            </a:r>
            <a:r>
              <a:rPr lang="en-US"/>
              <a:t> </a:t>
            </a:r>
            <a:r>
              <a:rPr lang="en-US" err="1"/>
              <a:t>đoán</a:t>
            </a:r>
            <a:r>
              <a:rPr lang="en-US"/>
              <a:t> </a:t>
            </a:r>
            <a:r>
              <a:rPr lang="en-US" err="1"/>
              <a:t>hành</a:t>
            </a:r>
            <a:r>
              <a:rPr lang="en-US"/>
              <a:t> vi </a:t>
            </a:r>
            <a:r>
              <a:rPr lang="en-US" err="1"/>
              <a:t>người</a:t>
            </a:r>
            <a:r>
              <a:rPr lang="en-US"/>
              <a:t> </a:t>
            </a:r>
            <a:r>
              <a:rPr lang="en-US" err="1"/>
              <a:t>dùng</a:t>
            </a:r>
            <a:r>
              <a:rPr lang="en-US"/>
              <a:t>. </a:t>
            </a:r>
          </a:p>
          <a:p>
            <a:pPr algn="just">
              <a:buNone/>
            </a:pPr>
            <a:r>
              <a:rPr lang="en-US"/>
              <a:t>- </a:t>
            </a:r>
            <a:r>
              <a:rPr lang="en-US" err="1"/>
              <a:t>Cùng</a:t>
            </a:r>
            <a:r>
              <a:rPr lang="en-US"/>
              <a:t> </a:t>
            </a:r>
            <a:r>
              <a:rPr lang="en-US" err="1"/>
              <a:t>với</a:t>
            </a:r>
            <a:r>
              <a:rPr lang="en-US"/>
              <a:t> </a:t>
            </a:r>
            <a:r>
              <a:rPr lang="en-US" err="1"/>
              <a:t>sự</a:t>
            </a:r>
            <a:r>
              <a:rPr lang="en-US"/>
              <a:t> </a:t>
            </a:r>
            <a:r>
              <a:rPr lang="en-US" err="1"/>
              <a:t>phát</a:t>
            </a:r>
            <a:r>
              <a:rPr lang="en-US"/>
              <a:t> </a:t>
            </a:r>
            <a:r>
              <a:rPr lang="en-US" err="1"/>
              <a:t>triển</a:t>
            </a:r>
            <a:r>
              <a:rPr lang="en-US"/>
              <a:t> </a:t>
            </a:r>
            <a:r>
              <a:rPr lang="en-US" err="1"/>
              <a:t>của</a:t>
            </a:r>
            <a:r>
              <a:rPr lang="en-US"/>
              <a:t> LLM </a:t>
            </a:r>
            <a:r>
              <a:rPr lang="en-US" err="1"/>
              <a:t>và</a:t>
            </a:r>
            <a:r>
              <a:rPr lang="en-US"/>
              <a:t> Multi-Agent System (MAS) </a:t>
            </a:r>
            <a:r>
              <a:rPr lang="en-US" err="1"/>
              <a:t>cho</a:t>
            </a:r>
            <a:r>
              <a:rPr lang="en-US"/>
              <a:t> </a:t>
            </a:r>
            <a:r>
              <a:rPr lang="en-US" err="1"/>
              <a:t>phép</a:t>
            </a:r>
            <a:r>
              <a:rPr lang="en-US"/>
              <a:t> </a:t>
            </a:r>
            <a:r>
              <a:rPr lang="en-US" err="1"/>
              <a:t>nhiều</a:t>
            </a:r>
            <a:r>
              <a:rPr lang="en-US"/>
              <a:t> agent </a:t>
            </a:r>
            <a:r>
              <a:rPr lang="en-US" err="1"/>
              <a:t>phối</a:t>
            </a:r>
            <a:r>
              <a:rPr lang="en-US"/>
              <a:t> </a:t>
            </a:r>
            <a:r>
              <a:rPr lang="en-US" err="1"/>
              <a:t>hợp</a:t>
            </a:r>
            <a:r>
              <a:rPr lang="en-US"/>
              <a:t>, chia </a:t>
            </a:r>
            <a:r>
              <a:rPr lang="en-US" err="1"/>
              <a:t>sẻ</a:t>
            </a:r>
            <a:r>
              <a:rPr lang="en-US"/>
              <a:t> </a:t>
            </a:r>
            <a:r>
              <a:rPr lang="en-US" err="1"/>
              <a:t>thông</a:t>
            </a:r>
            <a:r>
              <a:rPr lang="en-US"/>
              <a:t> tin </a:t>
            </a:r>
            <a:r>
              <a:rPr lang="en-US" err="1"/>
              <a:t>và</a:t>
            </a:r>
            <a:r>
              <a:rPr lang="en-US"/>
              <a:t> </a:t>
            </a:r>
            <a:r>
              <a:rPr lang="en-US" err="1"/>
              <a:t>ra</a:t>
            </a:r>
            <a:r>
              <a:rPr lang="en-US"/>
              <a:t> </a:t>
            </a:r>
            <a:r>
              <a:rPr lang="en-US" err="1"/>
              <a:t>quyết</a:t>
            </a:r>
            <a:r>
              <a:rPr lang="en-US"/>
              <a:t> </a:t>
            </a:r>
            <a:r>
              <a:rPr lang="en-US" err="1"/>
              <a:t>định</a:t>
            </a:r>
            <a:r>
              <a:rPr lang="en-US"/>
              <a:t> </a:t>
            </a:r>
            <a:r>
              <a:rPr lang="en-US" err="1"/>
              <a:t>tối</a:t>
            </a:r>
            <a:r>
              <a:rPr lang="en-US"/>
              <a:t> </a:t>
            </a:r>
            <a:r>
              <a:rPr lang="en-US" err="1"/>
              <a:t>ưu</a:t>
            </a:r>
            <a:r>
              <a:rPr lang="en-US"/>
              <a:t>, </a:t>
            </a:r>
            <a:r>
              <a:rPr lang="en-US" err="1"/>
              <a:t>tăng</a:t>
            </a:r>
            <a:r>
              <a:rPr lang="en-US"/>
              <a:t> </a:t>
            </a:r>
            <a:r>
              <a:rPr lang="en-US" err="1"/>
              <a:t>chất</a:t>
            </a:r>
            <a:r>
              <a:rPr lang="en-US"/>
              <a:t> </a:t>
            </a:r>
            <a:r>
              <a:rPr lang="en-US" err="1"/>
              <a:t>lượng</a:t>
            </a:r>
            <a:r>
              <a:rPr lang="en-US"/>
              <a:t> </a:t>
            </a:r>
            <a:r>
              <a:rPr lang="en-US" err="1"/>
              <a:t>gợi</a:t>
            </a:r>
            <a:r>
              <a:rPr lang="en-US"/>
              <a:t> ý. </a:t>
            </a:r>
          </a:p>
          <a:p>
            <a:pPr algn="just">
              <a:buNone/>
            </a:pPr>
            <a:r>
              <a:rPr lang="en-US"/>
              <a:t>- MAS </a:t>
            </a:r>
            <a:r>
              <a:rPr lang="en-US" err="1"/>
              <a:t>phù</a:t>
            </a:r>
            <a:r>
              <a:rPr lang="en-US"/>
              <a:t> </a:t>
            </a:r>
            <a:r>
              <a:rPr lang="en-US" err="1"/>
              <a:t>hợp</a:t>
            </a:r>
            <a:r>
              <a:rPr lang="en-US"/>
              <a:t> </a:t>
            </a:r>
            <a:r>
              <a:rPr lang="en-US" err="1"/>
              <a:t>với</a:t>
            </a:r>
            <a:r>
              <a:rPr lang="en-US"/>
              <a:t> </a:t>
            </a:r>
            <a:r>
              <a:rPr lang="en-US" err="1"/>
              <a:t>các</a:t>
            </a:r>
            <a:r>
              <a:rPr lang="en-US"/>
              <a:t> </a:t>
            </a:r>
            <a:r>
              <a:rPr lang="en-US" err="1"/>
              <a:t>hệ</a:t>
            </a:r>
            <a:r>
              <a:rPr lang="en-US"/>
              <a:t> </a:t>
            </a:r>
            <a:r>
              <a:rPr lang="en-US" err="1"/>
              <a:t>thống</a:t>
            </a:r>
            <a:r>
              <a:rPr lang="en-US"/>
              <a:t> </a:t>
            </a:r>
            <a:r>
              <a:rPr lang="en-US" err="1"/>
              <a:t>thực</a:t>
            </a:r>
            <a:r>
              <a:rPr lang="en-US"/>
              <a:t> </a:t>
            </a:r>
            <a:r>
              <a:rPr lang="en-US" err="1"/>
              <a:t>tế</a:t>
            </a:r>
            <a:r>
              <a:rPr lang="en-US"/>
              <a:t> </a:t>
            </a:r>
            <a:r>
              <a:rPr lang="en-US" err="1"/>
              <a:t>cần</a:t>
            </a:r>
            <a:r>
              <a:rPr lang="en-US"/>
              <a:t> </a:t>
            </a:r>
            <a:r>
              <a:rPr lang="en-US" err="1"/>
              <a:t>mở</a:t>
            </a:r>
            <a:r>
              <a:rPr lang="en-US"/>
              <a:t> </a:t>
            </a:r>
            <a:r>
              <a:rPr lang="en-US" err="1"/>
              <a:t>rộng</a:t>
            </a:r>
            <a:r>
              <a:rPr lang="en-US"/>
              <a:t>, </a:t>
            </a:r>
            <a:r>
              <a:rPr lang="en-US" err="1"/>
              <a:t>dễ</a:t>
            </a:r>
            <a:r>
              <a:rPr lang="en-US"/>
              <a:t> </a:t>
            </a:r>
            <a:r>
              <a:rPr lang="en-US" err="1"/>
              <a:t>tích</a:t>
            </a:r>
            <a:r>
              <a:rPr lang="en-US"/>
              <a:t> </a:t>
            </a:r>
            <a:r>
              <a:rPr lang="en-US" err="1"/>
              <a:t>hợp</a:t>
            </a:r>
            <a:r>
              <a:rPr lang="en-US"/>
              <a:t> </a:t>
            </a:r>
            <a:r>
              <a:rPr lang="en-US" err="1"/>
              <a:t>và</a:t>
            </a:r>
            <a:r>
              <a:rPr lang="en-US"/>
              <a:t> </a:t>
            </a:r>
            <a:r>
              <a:rPr lang="en-US" err="1"/>
              <a:t>hoạt</a:t>
            </a:r>
            <a:r>
              <a:rPr lang="en-US"/>
              <a:t> </a:t>
            </a:r>
            <a:r>
              <a:rPr lang="en-US" err="1"/>
              <a:t>động</a:t>
            </a:r>
            <a:r>
              <a:rPr lang="en-US"/>
              <a:t> </a:t>
            </a:r>
            <a:r>
              <a:rPr lang="en-US" err="1"/>
              <a:t>theo</a:t>
            </a:r>
            <a:r>
              <a:rPr lang="en-US"/>
              <a:t> </a:t>
            </a:r>
            <a:r>
              <a:rPr lang="en-US" err="1"/>
              <a:t>từng</a:t>
            </a:r>
            <a:r>
              <a:rPr lang="en-US"/>
              <a:t> </a:t>
            </a:r>
            <a:r>
              <a:rPr lang="en-US" err="1"/>
              <a:t>vai</a:t>
            </a:r>
            <a:r>
              <a:rPr lang="en-US"/>
              <a:t> </a:t>
            </a:r>
            <a:r>
              <a:rPr lang="en-US" err="1"/>
              <a:t>trò</a:t>
            </a:r>
            <a:r>
              <a:rPr lang="en-US"/>
              <a:t> </a:t>
            </a:r>
            <a:r>
              <a:rPr lang="en-US" err="1"/>
              <a:t>chuyên</a:t>
            </a:r>
            <a:r>
              <a:rPr lang="en-US"/>
              <a:t> </a:t>
            </a:r>
            <a:r>
              <a:rPr lang="en-US" err="1"/>
              <a:t>biệt</a:t>
            </a:r>
            <a:r>
              <a:rPr lang="en-US"/>
              <a:t>. </a:t>
            </a:r>
          </a:p>
          <a:p>
            <a:pPr algn="just">
              <a:buNone/>
            </a:pPr>
            <a:r>
              <a:rPr lang="en-US"/>
              <a:t>- </a:t>
            </a:r>
            <a:r>
              <a:rPr lang="en-US" err="1"/>
              <a:t>Đề</a:t>
            </a:r>
            <a:r>
              <a:rPr lang="en-US"/>
              <a:t> </a:t>
            </a:r>
            <a:r>
              <a:rPr lang="en-US" err="1"/>
              <a:t>tài</a:t>
            </a:r>
            <a:r>
              <a:rPr lang="en-US"/>
              <a:t> </a:t>
            </a:r>
            <a:r>
              <a:rPr lang="en-US" err="1"/>
              <a:t>giúp</a:t>
            </a:r>
            <a:r>
              <a:rPr lang="en-US"/>
              <a:t> </a:t>
            </a:r>
            <a:r>
              <a:rPr lang="en-US" err="1"/>
              <a:t>ứng</a:t>
            </a:r>
            <a:r>
              <a:rPr lang="en-US"/>
              <a:t> </a:t>
            </a:r>
            <a:r>
              <a:rPr lang="en-US" err="1"/>
              <a:t>dụng</a:t>
            </a:r>
            <a:r>
              <a:rPr lang="en-US"/>
              <a:t> AI </a:t>
            </a:r>
            <a:r>
              <a:rPr lang="en-US" err="1"/>
              <a:t>hiện</a:t>
            </a:r>
            <a:r>
              <a:rPr lang="en-US"/>
              <a:t> </a:t>
            </a:r>
            <a:r>
              <a:rPr lang="en-US" err="1"/>
              <a:t>đại</a:t>
            </a:r>
            <a:r>
              <a:rPr lang="en-US"/>
              <a:t> </a:t>
            </a:r>
            <a:r>
              <a:rPr lang="en-US" err="1"/>
              <a:t>vào</a:t>
            </a:r>
            <a:r>
              <a:rPr lang="en-US"/>
              <a:t> </a:t>
            </a:r>
            <a:r>
              <a:rPr lang="en-US" err="1"/>
              <a:t>bài</a:t>
            </a:r>
            <a:r>
              <a:rPr lang="en-US"/>
              <a:t> </a:t>
            </a:r>
            <a:r>
              <a:rPr lang="en-US" err="1"/>
              <a:t>toán</a:t>
            </a:r>
            <a:r>
              <a:rPr lang="en-US"/>
              <a:t> </a:t>
            </a:r>
            <a:r>
              <a:rPr lang="en-US" err="1"/>
              <a:t>đề</a:t>
            </a:r>
            <a:r>
              <a:rPr lang="en-US"/>
              <a:t> </a:t>
            </a:r>
            <a:r>
              <a:rPr lang="en-US" err="1"/>
              <a:t>xuất</a:t>
            </a:r>
            <a:r>
              <a:rPr lang="en-US"/>
              <a:t> </a:t>
            </a:r>
            <a:r>
              <a:rPr lang="en-US" err="1"/>
              <a:t>phim</a:t>
            </a:r>
            <a:r>
              <a:rPr lang="en-US"/>
              <a:t>, </a:t>
            </a:r>
            <a:r>
              <a:rPr lang="en-US" err="1"/>
              <a:t>tạo</a:t>
            </a:r>
            <a:r>
              <a:rPr lang="en-US"/>
              <a:t> </a:t>
            </a:r>
            <a:r>
              <a:rPr lang="en-US" err="1"/>
              <a:t>ra</a:t>
            </a:r>
            <a:r>
              <a:rPr lang="en-US"/>
              <a:t> </a:t>
            </a:r>
            <a:r>
              <a:rPr lang="en-US" err="1"/>
              <a:t>hệ</a:t>
            </a:r>
            <a:r>
              <a:rPr lang="en-US"/>
              <a:t> </a:t>
            </a:r>
            <a:r>
              <a:rPr lang="en-US" err="1"/>
              <a:t>thống</a:t>
            </a:r>
            <a:r>
              <a:rPr lang="en-US"/>
              <a:t> </a:t>
            </a:r>
            <a:r>
              <a:rPr lang="en-US" err="1"/>
              <a:t>thông</a:t>
            </a:r>
            <a:r>
              <a:rPr lang="en-US"/>
              <a:t> </a:t>
            </a:r>
            <a:r>
              <a:rPr lang="en-US" err="1"/>
              <a:t>minh</a:t>
            </a:r>
            <a:r>
              <a:rPr lang="en-US"/>
              <a:t>, </a:t>
            </a:r>
            <a:r>
              <a:rPr lang="en-US" err="1"/>
              <a:t>giao</a:t>
            </a:r>
            <a:r>
              <a:rPr lang="en-US"/>
              <a:t> </a:t>
            </a:r>
            <a:r>
              <a:rPr lang="en-US" err="1"/>
              <a:t>tiếp</a:t>
            </a:r>
            <a:r>
              <a:rPr lang="en-US"/>
              <a:t> </a:t>
            </a:r>
            <a:r>
              <a:rPr lang="en-US" err="1"/>
              <a:t>tự</a:t>
            </a:r>
            <a:r>
              <a:rPr lang="en-US"/>
              <a:t> </a:t>
            </a:r>
            <a:r>
              <a:rPr lang="en-US" err="1"/>
              <a:t>nhiên</a:t>
            </a:r>
            <a:r>
              <a:rPr lang="en-US"/>
              <a:t> </a:t>
            </a:r>
            <a:r>
              <a:rPr lang="en-US" err="1"/>
              <a:t>và</a:t>
            </a:r>
            <a:r>
              <a:rPr lang="en-US"/>
              <a:t> </a:t>
            </a:r>
            <a:r>
              <a:rPr lang="en-US" err="1"/>
              <a:t>hiệu</a:t>
            </a:r>
            <a:r>
              <a:rPr lang="en-US"/>
              <a:t> </a:t>
            </a:r>
            <a:r>
              <a:rPr lang="en-US" err="1"/>
              <a:t>quả</a:t>
            </a:r>
            <a:r>
              <a:rPr lang="en-US"/>
              <a:t> </a:t>
            </a:r>
            <a:r>
              <a:rPr lang="en-US" err="1"/>
              <a:t>hơn</a:t>
            </a:r>
            <a:r>
              <a:rPr lang="en-US"/>
              <a:t> </a:t>
            </a:r>
            <a:r>
              <a:rPr lang="en-US" err="1"/>
              <a:t>cho</a:t>
            </a:r>
            <a:r>
              <a:rPr lang="en-US"/>
              <a:t> </a:t>
            </a:r>
            <a:r>
              <a:rPr lang="en-US" err="1"/>
              <a:t>người</a:t>
            </a:r>
            <a:r>
              <a:rPr lang="en-US"/>
              <a:t> </a:t>
            </a:r>
            <a:r>
              <a:rPr lang="en-US" err="1"/>
              <a:t>dùng</a:t>
            </a:r>
            <a:r>
              <a:rPr lang="en-US"/>
              <a:t>. </a:t>
            </a:r>
          </a:p>
          <a:p>
            <a:pPr algn="just">
              <a:buNone/>
            </a:pPr>
            <a:r>
              <a:rPr lang="en-US"/>
              <a:t>Nhu </a:t>
            </a:r>
            <a:r>
              <a:rPr lang="en-US" err="1"/>
              <a:t>cầu</a:t>
            </a:r>
            <a:r>
              <a:rPr lang="en-US"/>
              <a:t> </a:t>
            </a:r>
            <a:r>
              <a:rPr lang="en-US" err="1"/>
              <a:t>cá</a:t>
            </a:r>
            <a:r>
              <a:rPr lang="en-US"/>
              <a:t> nhân hóa trải nghiệm xem phim ngày càng cao</a:t>
            </a:r>
          </a:p>
          <a:p>
            <a:pPr algn="just">
              <a:buNone/>
            </a:pPr>
            <a:r>
              <a:rPr lang="en-US" err="1"/>
              <a:t>Ví</a:t>
            </a:r>
            <a:r>
              <a:rPr lang="en-US"/>
              <a:t> </a:t>
            </a:r>
            <a:r>
              <a:rPr lang="en-US" err="1"/>
              <a:t>dụ</a:t>
            </a:r>
            <a:r>
              <a:rPr lang="en-US"/>
              <a:t>: </a:t>
            </a:r>
            <a:r>
              <a:rPr lang="en-US" err="1"/>
              <a:t>Người</a:t>
            </a:r>
            <a:r>
              <a:rPr lang="en-US"/>
              <a:t> dùng thích phim hành động Hollywood, nhưng hệ thống vẫn gợi ý phim hoạt hình hoặc phim tình cảm không phù hợp.</a:t>
            </a:r>
          </a:p>
          <a:p>
            <a:pPr algn="just">
              <a:buNone/>
            </a:pPr>
            <a:r>
              <a:rPr lang="en-US" err="1"/>
              <a:t>Hạn</a:t>
            </a:r>
            <a:r>
              <a:rPr lang="en-US"/>
              <a:t> </a:t>
            </a:r>
            <a:r>
              <a:rPr lang="en-US" err="1"/>
              <a:t>chế</a:t>
            </a:r>
            <a:r>
              <a:rPr lang="en-US"/>
              <a:t> </a:t>
            </a:r>
            <a:r>
              <a:rPr lang="en-US" err="1"/>
              <a:t>của</a:t>
            </a:r>
            <a:r>
              <a:rPr lang="en-US"/>
              <a:t> hệ thống đề xuất truyền thống</a:t>
            </a:r>
          </a:p>
          <a:p>
            <a:pPr algn="just">
              <a:buNone/>
            </a:pPr>
            <a:r>
              <a:rPr lang="en-US" err="1"/>
              <a:t>Ví</a:t>
            </a:r>
            <a:r>
              <a:rPr lang="en-US"/>
              <a:t> </a:t>
            </a:r>
            <a:r>
              <a:rPr lang="en-US" err="1"/>
              <a:t>dụ</a:t>
            </a:r>
            <a:r>
              <a:rPr lang="en-US"/>
              <a:t>: </a:t>
            </a:r>
            <a:r>
              <a:rPr lang="en-US" err="1"/>
              <a:t>Hệ</a:t>
            </a:r>
            <a:r>
              <a:rPr lang="en-US"/>
              <a:t> thống chỉ dựa vào lịch sử đánh giá mà không hiểu được yêu cầu như “gợi ý phim tương tự Inception nhưng nhẹ nhàng hơn”.</a:t>
            </a:r>
          </a:p>
          <a:p>
            <a:pPr algn="just">
              <a:buNone/>
            </a:pPr>
            <a:r>
              <a:rPr lang="en-US"/>
              <a:t>Multi-Agent System </a:t>
            </a:r>
            <a:r>
              <a:rPr lang="en-US" err="1"/>
              <a:t>giúp</a:t>
            </a:r>
            <a:r>
              <a:rPr lang="en-US"/>
              <a:t> </a:t>
            </a:r>
            <a:r>
              <a:rPr lang="en-US" err="1"/>
              <a:t>xử</a:t>
            </a:r>
            <a:r>
              <a:rPr lang="en-US"/>
              <a:t> </a:t>
            </a:r>
            <a:r>
              <a:rPr lang="en-US" err="1"/>
              <a:t>lý</a:t>
            </a:r>
            <a:r>
              <a:rPr lang="en-US"/>
              <a:t> </a:t>
            </a:r>
            <a:r>
              <a:rPr lang="en-US" err="1"/>
              <a:t>nhiệm</a:t>
            </a:r>
            <a:r>
              <a:rPr lang="en-US"/>
              <a:t> </a:t>
            </a:r>
            <a:r>
              <a:rPr lang="en-US" err="1"/>
              <a:t>vụ</a:t>
            </a:r>
            <a:r>
              <a:rPr lang="en-US"/>
              <a:t> </a:t>
            </a:r>
            <a:r>
              <a:rPr lang="en-US" err="1"/>
              <a:t>phức</a:t>
            </a:r>
            <a:r>
              <a:rPr lang="en-US"/>
              <a:t> </a:t>
            </a:r>
            <a:r>
              <a:rPr lang="en-US" err="1"/>
              <a:t>tạp</a:t>
            </a:r>
          </a:p>
          <a:p>
            <a:pPr algn="just">
              <a:buNone/>
            </a:pPr>
            <a:r>
              <a:rPr lang="en-US" err="1"/>
              <a:t>Ví</a:t>
            </a:r>
            <a:r>
              <a:rPr lang="en-US"/>
              <a:t> </a:t>
            </a:r>
            <a:r>
              <a:rPr lang="en-US" err="1"/>
              <a:t>dụ</a:t>
            </a:r>
            <a:r>
              <a:rPr lang="en-US"/>
              <a:t>: </a:t>
            </a:r>
            <a:r>
              <a:rPr lang="en-US" err="1"/>
              <a:t>Một</a:t>
            </a:r>
            <a:r>
              <a:rPr lang="en-US"/>
              <a:t> agent </a:t>
            </a:r>
            <a:r>
              <a:rPr lang="en-US" err="1"/>
              <a:t>phân</a:t>
            </a:r>
            <a:r>
              <a:rPr lang="en-US"/>
              <a:t> </a:t>
            </a:r>
            <a:r>
              <a:rPr lang="en-US" err="1"/>
              <a:t>tích</a:t>
            </a:r>
            <a:r>
              <a:rPr lang="en-US"/>
              <a:t> </a:t>
            </a:r>
            <a:r>
              <a:rPr lang="en-US" err="1"/>
              <a:t>sở</a:t>
            </a:r>
            <a:r>
              <a:rPr lang="en-US"/>
              <a:t> </a:t>
            </a:r>
            <a:r>
              <a:rPr lang="en-US" err="1"/>
              <a:t>thích</a:t>
            </a:r>
            <a:r>
              <a:rPr lang="en-US"/>
              <a:t>, agent </a:t>
            </a:r>
            <a:r>
              <a:rPr lang="en-US" err="1"/>
              <a:t>khác</a:t>
            </a:r>
            <a:r>
              <a:rPr lang="en-US"/>
              <a:t> </a:t>
            </a:r>
            <a:r>
              <a:rPr lang="en-US" err="1"/>
              <a:t>đánh</a:t>
            </a:r>
            <a:r>
              <a:rPr lang="en-US"/>
              <a:t> </a:t>
            </a:r>
            <a:r>
              <a:rPr lang="en-US" err="1"/>
              <a:t>giá</a:t>
            </a:r>
            <a:r>
              <a:rPr lang="en-US"/>
              <a:t> </a:t>
            </a:r>
            <a:r>
              <a:rPr lang="en-US" err="1"/>
              <a:t>nội</a:t>
            </a:r>
            <a:r>
              <a:rPr lang="en-US"/>
              <a:t> dung </a:t>
            </a:r>
            <a:r>
              <a:rPr lang="en-US" err="1"/>
              <a:t>phim</a:t>
            </a:r>
            <a:r>
              <a:rPr lang="en-US"/>
              <a:t>, agent </a:t>
            </a:r>
            <a:r>
              <a:rPr lang="en-US" err="1"/>
              <a:t>còn</a:t>
            </a:r>
            <a:r>
              <a:rPr lang="en-US"/>
              <a:t> </a:t>
            </a:r>
            <a:r>
              <a:rPr lang="en-US" err="1"/>
              <a:t>lại</a:t>
            </a:r>
            <a:r>
              <a:rPr lang="en-US"/>
              <a:t> </a:t>
            </a:r>
            <a:r>
              <a:rPr lang="en-US" err="1"/>
              <a:t>đưa</a:t>
            </a:r>
            <a:r>
              <a:rPr lang="en-US"/>
              <a:t> </a:t>
            </a:r>
            <a:r>
              <a:rPr lang="en-US" err="1"/>
              <a:t>ra</a:t>
            </a:r>
            <a:r>
              <a:rPr lang="en-US"/>
              <a:t> </a:t>
            </a:r>
            <a:r>
              <a:rPr lang="en-US" err="1"/>
              <a:t>đề</a:t>
            </a:r>
            <a:r>
              <a:rPr lang="en-US"/>
              <a:t> </a:t>
            </a:r>
            <a:r>
              <a:rPr lang="en-US" err="1"/>
              <a:t>xuất</a:t>
            </a:r>
            <a:r>
              <a:rPr lang="en-US"/>
              <a:t> </a:t>
            </a:r>
            <a:r>
              <a:rPr lang="en-US" err="1"/>
              <a:t>cuối</a:t>
            </a:r>
            <a:r>
              <a:rPr lang="en-US"/>
              <a:t> </a:t>
            </a:r>
            <a:r>
              <a:rPr lang="en-US" err="1"/>
              <a:t>cùng</a:t>
            </a:r>
            <a:r>
              <a:rPr lang="en-US"/>
              <a:t>.</a:t>
            </a:r>
          </a:p>
          <a:p>
            <a:pPr algn="just">
              <a:buNone/>
            </a:pPr>
            <a:r>
              <a:rPr lang="en-US" err="1"/>
              <a:t>Khả</a:t>
            </a:r>
            <a:r>
              <a:rPr lang="en-US"/>
              <a:t> </a:t>
            </a:r>
            <a:r>
              <a:rPr lang="en-US" err="1"/>
              <a:t>năng</a:t>
            </a:r>
            <a:r>
              <a:rPr lang="en-US"/>
              <a:t> </a:t>
            </a:r>
            <a:r>
              <a:rPr lang="en-US" err="1"/>
              <a:t>mở</a:t>
            </a:r>
            <a:r>
              <a:rPr lang="en-US"/>
              <a:t> </a:t>
            </a:r>
            <a:r>
              <a:rPr lang="en-US" err="1"/>
              <a:t>rộng</a:t>
            </a:r>
            <a:r>
              <a:rPr lang="en-US"/>
              <a:t> </a:t>
            </a:r>
            <a:r>
              <a:rPr lang="en-US" err="1"/>
              <a:t>và</a:t>
            </a:r>
            <a:r>
              <a:rPr lang="en-US"/>
              <a:t> </a:t>
            </a:r>
            <a:r>
              <a:rPr lang="en-US" err="1"/>
              <a:t>linh</a:t>
            </a:r>
            <a:r>
              <a:rPr lang="en-US"/>
              <a:t> </a:t>
            </a:r>
            <a:r>
              <a:rPr lang="en-US" err="1"/>
              <a:t>hoạt</a:t>
            </a:r>
            <a:r>
              <a:rPr lang="en-US"/>
              <a:t> </a:t>
            </a:r>
            <a:r>
              <a:rPr lang="en-US" err="1"/>
              <a:t>của</a:t>
            </a:r>
            <a:r>
              <a:rPr lang="en-US"/>
              <a:t> MAS</a:t>
            </a:r>
          </a:p>
          <a:p>
            <a:pPr algn="just">
              <a:buNone/>
            </a:pPr>
            <a:r>
              <a:rPr lang="en-US" err="1"/>
              <a:t>Ví</a:t>
            </a:r>
            <a:r>
              <a:rPr lang="en-US"/>
              <a:t> </a:t>
            </a:r>
            <a:r>
              <a:rPr lang="en-US" err="1"/>
              <a:t>dụ</a:t>
            </a:r>
            <a:r>
              <a:rPr lang="en-US"/>
              <a:t>: </a:t>
            </a:r>
            <a:r>
              <a:rPr lang="en-US" err="1"/>
              <a:t>Dễ</a:t>
            </a:r>
            <a:r>
              <a:rPr lang="en-US"/>
              <a:t> </a:t>
            </a:r>
            <a:r>
              <a:rPr lang="en-US" err="1"/>
              <a:t>dàng</a:t>
            </a:r>
            <a:r>
              <a:rPr lang="en-US"/>
              <a:t> </a:t>
            </a:r>
            <a:r>
              <a:rPr lang="en-US" err="1"/>
              <a:t>thêm</a:t>
            </a:r>
            <a:r>
              <a:rPr lang="en-US"/>
              <a:t> agent </a:t>
            </a:r>
            <a:r>
              <a:rPr lang="en-US" err="1"/>
              <a:t>phân</a:t>
            </a:r>
            <a:r>
              <a:rPr lang="en-US"/>
              <a:t> </a:t>
            </a:r>
            <a:r>
              <a:rPr lang="en-US" err="1"/>
              <a:t>tích</a:t>
            </a:r>
            <a:r>
              <a:rPr lang="en-US"/>
              <a:t> </a:t>
            </a:r>
            <a:r>
              <a:rPr lang="en-US" err="1"/>
              <a:t>cảm</a:t>
            </a:r>
            <a:r>
              <a:rPr lang="en-US"/>
              <a:t> </a:t>
            </a:r>
            <a:r>
              <a:rPr lang="en-US" err="1"/>
              <a:t>xúc</a:t>
            </a:r>
            <a:r>
              <a:rPr lang="en-US"/>
              <a:t> </a:t>
            </a:r>
            <a:r>
              <a:rPr lang="en-US" err="1"/>
              <a:t>người</a:t>
            </a:r>
            <a:r>
              <a:rPr lang="en-US"/>
              <a:t> </a:t>
            </a:r>
            <a:r>
              <a:rPr lang="en-US" err="1"/>
              <a:t>dùng</a:t>
            </a:r>
            <a:r>
              <a:rPr lang="en-US"/>
              <a:t> </a:t>
            </a:r>
            <a:r>
              <a:rPr lang="en-US" err="1"/>
              <a:t>mà</a:t>
            </a:r>
            <a:r>
              <a:rPr lang="en-US"/>
              <a:t> </a:t>
            </a:r>
            <a:r>
              <a:rPr lang="en-US" err="1"/>
              <a:t>không</a:t>
            </a:r>
            <a:r>
              <a:rPr lang="en-US"/>
              <a:t> </a:t>
            </a:r>
            <a:r>
              <a:rPr lang="en-US" err="1"/>
              <a:t>ảnh</a:t>
            </a:r>
            <a:r>
              <a:rPr lang="en-US"/>
              <a:t> </a:t>
            </a:r>
            <a:r>
              <a:rPr lang="en-US" err="1"/>
              <a:t>hưởng</a:t>
            </a:r>
            <a:r>
              <a:rPr lang="en-US"/>
              <a:t> </a:t>
            </a:r>
            <a:r>
              <a:rPr lang="en-US" err="1"/>
              <a:t>đến</a:t>
            </a:r>
            <a:r>
              <a:rPr lang="en-US"/>
              <a:t> </a:t>
            </a:r>
            <a:r>
              <a:rPr lang="en-US" err="1"/>
              <a:t>toàn</a:t>
            </a:r>
            <a:r>
              <a:rPr lang="en-US"/>
              <a:t> </a:t>
            </a:r>
            <a:r>
              <a:rPr lang="en-US" err="1"/>
              <a:t>bộ</a:t>
            </a:r>
            <a:r>
              <a:rPr lang="en-US"/>
              <a:t> </a:t>
            </a:r>
            <a:r>
              <a:rPr lang="en-US" err="1"/>
              <a:t>hệ</a:t>
            </a:r>
            <a:r>
              <a:rPr lang="en-US"/>
              <a:t> </a:t>
            </a:r>
            <a:r>
              <a:rPr lang="en-US" err="1"/>
              <a:t>thống</a:t>
            </a:r>
            <a:r>
              <a:rPr lang="en-US"/>
              <a:t>.</a:t>
            </a:r>
          </a:p>
          <a:p>
            <a:pPr algn="just">
              <a:buNone/>
            </a:pPr>
            <a:r>
              <a:rPr lang="en-US" err="1"/>
              <a:t>Ứng</a:t>
            </a:r>
            <a:r>
              <a:rPr lang="en-US"/>
              <a:t> </a:t>
            </a:r>
            <a:r>
              <a:rPr lang="en-US" err="1"/>
              <a:t>dụng</a:t>
            </a:r>
            <a:r>
              <a:rPr lang="en-US"/>
              <a:t> AI </a:t>
            </a:r>
            <a:r>
              <a:rPr lang="en-US" err="1"/>
              <a:t>hiện</a:t>
            </a:r>
            <a:r>
              <a:rPr lang="en-US"/>
              <a:t> </a:t>
            </a:r>
            <a:r>
              <a:rPr lang="en-US" err="1"/>
              <a:t>đại</a:t>
            </a:r>
            <a:r>
              <a:rPr lang="en-US"/>
              <a:t> </a:t>
            </a:r>
            <a:r>
              <a:rPr lang="en-US" err="1"/>
              <a:t>vào</a:t>
            </a:r>
            <a:r>
              <a:rPr lang="en-US"/>
              <a:t> </a:t>
            </a:r>
            <a:r>
              <a:rPr lang="en-US" err="1"/>
              <a:t>bài</a:t>
            </a:r>
            <a:r>
              <a:rPr lang="en-US"/>
              <a:t> </a:t>
            </a:r>
            <a:r>
              <a:rPr lang="en-US" err="1"/>
              <a:t>toán</a:t>
            </a:r>
            <a:r>
              <a:rPr lang="en-US"/>
              <a:t> </a:t>
            </a:r>
            <a:r>
              <a:rPr lang="en-US" err="1"/>
              <a:t>thực</a:t>
            </a:r>
            <a:r>
              <a:rPr lang="en-US"/>
              <a:t> </a:t>
            </a:r>
            <a:r>
              <a:rPr lang="en-US" err="1"/>
              <a:t>tế</a:t>
            </a:r>
          </a:p>
          <a:p>
            <a:pPr algn="just">
              <a:buNone/>
            </a:pPr>
            <a:r>
              <a:rPr lang="en-US" err="1"/>
              <a:t>Ví</a:t>
            </a:r>
            <a:r>
              <a:rPr lang="en-US"/>
              <a:t> </a:t>
            </a:r>
            <a:r>
              <a:rPr lang="en-US" err="1"/>
              <a:t>dụ</a:t>
            </a:r>
            <a:r>
              <a:rPr lang="en-US"/>
              <a:t>: </a:t>
            </a:r>
            <a:r>
              <a:rPr lang="en-US" err="1"/>
              <a:t>Kết</a:t>
            </a:r>
            <a:r>
              <a:rPr lang="en-US"/>
              <a:t> </a:t>
            </a:r>
            <a:r>
              <a:rPr lang="en-US" err="1"/>
              <a:t>hợp</a:t>
            </a:r>
            <a:r>
              <a:rPr lang="en-US"/>
              <a:t> LLM agent </a:t>
            </a:r>
            <a:r>
              <a:rPr lang="en-US" err="1"/>
              <a:t>với</a:t>
            </a:r>
            <a:r>
              <a:rPr lang="en-US"/>
              <a:t> recommendation agent </a:t>
            </a:r>
            <a:r>
              <a:rPr lang="en-US" err="1"/>
              <a:t>để</a:t>
            </a:r>
            <a:r>
              <a:rPr lang="en-US"/>
              <a:t> </a:t>
            </a:r>
            <a:r>
              <a:rPr lang="en-US" err="1"/>
              <a:t>tạo</a:t>
            </a:r>
            <a:r>
              <a:rPr lang="en-US"/>
              <a:t> </a:t>
            </a:r>
            <a:r>
              <a:rPr lang="en-US" err="1"/>
              <a:t>hệ</a:t>
            </a:r>
            <a:r>
              <a:rPr lang="en-US"/>
              <a:t> </a:t>
            </a:r>
            <a:r>
              <a:rPr lang="en-US" err="1"/>
              <a:t>thống</a:t>
            </a:r>
            <a:r>
              <a:rPr lang="en-US"/>
              <a:t> </a:t>
            </a:r>
            <a:r>
              <a:rPr lang="en-US" err="1"/>
              <a:t>gợi</a:t>
            </a:r>
            <a:r>
              <a:rPr lang="en-US"/>
              <a:t> ý </a:t>
            </a:r>
            <a:r>
              <a:rPr lang="en-US" err="1"/>
              <a:t>phim</a:t>
            </a:r>
            <a:r>
              <a:rPr lang="en-US"/>
              <a:t> </a:t>
            </a:r>
            <a:r>
              <a:rPr lang="en-US" err="1"/>
              <a:t>có</a:t>
            </a:r>
            <a:r>
              <a:rPr lang="en-US"/>
              <a:t> </a:t>
            </a:r>
            <a:r>
              <a:rPr lang="en-US" err="1"/>
              <a:t>khả</a:t>
            </a:r>
            <a:r>
              <a:rPr lang="en-US"/>
              <a:t> </a:t>
            </a:r>
            <a:r>
              <a:rPr lang="en-US" err="1"/>
              <a:t>năng</a:t>
            </a:r>
            <a:r>
              <a:rPr lang="en-US"/>
              <a:t> </a:t>
            </a:r>
            <a:r>
              <a:rPr lang="en-US" err="1"/>
              <a:t>hội</a:t>
            </a:r>
            <a:r>
              <a:rPr lang="en-US"/>
              <a:t> </a:t>
            </a:r>
            <a:r>
              <a:rPr lang="en-US" err="1"/>
              <a:t>thoại</a:t>
            </a:r>
            <a:r>
              <a:rPr lang="en-US"/>
              <a:t> </a:t>
            </a:r>
            <a:r>
              <a:rPr lang="en-US" err="1"/>
              <a:t>tự</a:t>
            </a:r>
            <a:r>
              <a:rPr lang="en-US"/>
              <a:t> </a:t>
            </a:r>
            <a:r>
              <a:rPr lang="en-US" err="1"/>
              <a:t>nhiên</a:t>
            </a:r>
            <a:r>
              <a:rPr lang="en-US"/>
              <a:t>.</a:t>
            </a:r>
          </a:p>
          <a:p>
            <a:pPr algn="just">
              <a:buNone/>
            </a:pPr>
            <a:endParaRPr lang="en-US"/>
          </a:p>
        </p:txBody>
      </p:sp>
    </p:spTree>
    <p:extLst>
      <p:ext uri="{BB962C8B-B14F-4D97-AF65-F5344CB8AC3E}">
        <p14:creationId xmlns:p14="http://schemas.microsoft.com/office/powerpoint/2010/main" val="530986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a:extLst>
            <a:ext uri="{FF2B5EF4-FFF2-40B4-BE49-F238E27FC236}">
              <a16:creationId xmlns:a16="http://schemas.microsoft.com/office/drawing/2014/main" id="{BCADB8AF-02F9-28AC-2C8D-B29EFFCCD32A}"/>
            </a:ext>
          </a:extLst>
        </p:cNvPr>
        <p:cNvGrpSpPr/>
        <p:nvPr/>
      </p:nvGrpSpPr>
      <p:grpSpPr>
        <a:xfrm>
          <a:off x="0" y="0"/>
          <a:ext cx="0" cy="0"/>
          <a:chOff x="0" y="0"/>
          <a:chExt cx="0" cy="0"/>
        </a:xfrm>
      </p:grpSpPr>
      <p:sp>
        <p:nvSpPr>
          <p:cNvPr id="1463" name="Google Shape;1463;g24e5c2c9e45_0_138:notes">
            <a:extLst>
              <a:ext uri="{FF2B5EF4-FFF2-40B4-BE49-F238E27FC236}">
                <a16:creationId xmlns:a16="http://schemas.microsoft.com/office/drawing/2014/main" id="{6F6E6376-6C7A-D310-B5FB-AEAC0FC2EF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a:extLst>
              <a:ext uri="{FF2B5EF4-FFF2-40B4-BE49-F238E27FC236}">
                <a16:creationId xmlns:a16="http://schemas.microsoft.com/office/drawing/2014/main" id="{B100A8CD-C18E-8ACD-4E82-645D543EDE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buNone/>
            </a:pPr>
            <a:r>
              <a:rPr lang="en-US" b="1"/>
              <a:t>2. </a:t>
            </a:r>
            <a:r>
              <a:rPr lang="en-US" b="1" err="1"/>
              <a:t>Giới</a:t>
            </a:r>
            <a:r>
              <a:rPr lang="en-US" b="1"/>
              <a:t> </a:t>
            </a:r>
            <a:r>
              <a:rPr lang="en-US" b="1" err="1"/>
              <a:t>thiệu</a:t>
            </a:r>
            <a:r>
              <a:rPr lang="en-US" b="1"/>
              <a:t> </a:t>
            </a:r>
            <a:r>
              <a:rPr lang="en-US" b="1" err="1"/>
              <a:t>đề</a:t>
            </a:r>
            <a:r>
              <a:rPr lang="en-US" b="1"/>
              <a:t> </a:t>
            </a:r>
            <a:r>
              <a:rPr lang="en-US" b="1" err="1"/>
              <a:t>tài</a:t>
            </a:r>
            <a:endParaRPr lang="en-US"/>
          </a:p>
          <a:p>
            <a:pPr algn="just">
              <a:buNone/>
            </a:pPr>
            <a:r>
              <a:rPr lang="en-US" err="1"/>
              <a:t>Đề</a:t>
            </a:r>
            <a:r>
              <a:rPr lang="en-US"/>
              <a:t> </a:t>
            </a:r>
            <a:r>
              <a:rPr lang="en-US" err="1"/>
              <a:t>tài</a:t>
            </a:r>
            <a:r>
              <a:rPr lang="en-US"/>
              <a:t> </a:t>
            </a:r>
            <a:r>
              <a:rPr lang="en-US" err="1"/>
              <a:t>xây</a:t>
            </a:r>
            <a:r>
              <a:rPr lang="en-US"/>
              <a:t> </a:t>
            </a:r>
            <a:r>
              <a:rPr lang="en-US" err="1"/>
              <a:t>dựng</a:t>
            </a:r>
            <a:r>
              <a:rPr lang="en-US"/>
              <a:t> </a:t>
            </a:r>
            <a:r>
              <a:rPr lang="en-US" err="1"/>
              <a:t>một</a:t>
            </a:r>
            <a:r>
              <a:rPr lang="en-US"/>
              <a:t> </a:t>
            </a:r>
            <a:r>
              <a:rPr lang="en-US" err="1"/>
              <a:t>hệ</a:t>
            </a:r>
            <a:r>
              <a:rPr lang="en-US"/>
              <a:t> </a:t>
            </a:r>
            <a:r>
              <a:rPr lang="en-US" err="1"/>
              <a:t>thống</a:t>
            </a:r>
            <a:r>
              <a:rPr lang="en-US"/>
              <a:t> </a:t>
            </a:r>
            <a:r>
              <a:rPr lang="en-US" err="1"/>
              <a:t>gợi</a:t>
            </a:r>
            <a:r>
              <a:rPr lang="en-US"/>
              <a:t> ý </a:t>
            </a:r>
            <a:r>
              <a:rPr lang="en-US" err="1"/>
              <a:t>phim</a:t>
            </a:r>
            <a:r>
              <a:rPr lang="en-US"/>
              <a:t> </a:t>
            </a:r>
            <a:r>
              <a:rPr lang="en-US" err="1"/>
              <a:t>dựa</a:t>
            </a:r>
            <a:r>
              <a:rPr lang="en-US"/>
              <a:t> </a:t>
            </a:r>
            <a:r>
              <a:rPr lang="en-US" err="1"/>
              <a:t>trên</a:t>
            </a:r>
            <a:r>
              <a:rPr lang="en-US"/>
              <a:t> </a:t>
            </a:r>
            <a:r>
              <a:rPr lang="en-US" err="1"/>
              <a:t>kiến</a:t>
            </a:r>
            <a:r>
              <a:rPr lang="en-US"/>
              <a:t> </a:t>
            </a:r>
            <a:r>
              <a:rPr lang="en-US" err="1"/>
              <a:t>trúc</a:t>
            </a:r>
            <a:r>
              <a:rPr lang="en-US"/>
              <a:t> Multi-Agent System, </a:t>
            </a:r>
            <a:r>
              <a:rPr lang="en-US" err="1"/>
              <a:t>nơi</a:t>
            </a:r>
            <a:r>
              <a:rPr lang="en-US"/>
              <a:t> </a:t>
            </a:r>
            <a:r>
              <a:rPr lang="en-US" err="1"/>
              <a:t>mỗi</a:t>
            </a:r>
            <a:r>
              <a:rPr lang="en-US"/>
              <a:t> agent </a:t>
            </a:r>
            <a:r>
              <a:rPr lang="en-US" err="1"/>
              <a:t>đảm</a:t>
            </a:r>
            <a:r>
              <a:rPr lang="en-US"/>
              <a:t> </a:t>
            </a:r>
            <a:r>
              <a:rPr lang="en-US" err="1"/>
              <a:t>nhiệm</a:t>
            </a:r>
            <a:r>
              <a:rPr lang="en-US"/>
              <a:t> </a:t>
            </a:r>
            <a:r>
              <a:rPr lang="en-US" err="1"/>
              <a:t>một</a:t>
            </a:r>
            <a:r>
              <a:rPr lang="en-US"/>
              <a:t> </a:t>
            </a:r>
            <a:r>
              <a:rPr lang="en-US" err="1"/>
              <a:t>vai</a:t>
            </a:r>
            <a:r>
              <a:rPr lang="en-US"/>
              <a:t> </a:t>
            </a:r>
            <a:r>
              <a:rPr lang="en-US" err="1"/>
              <a:t>trò</a:t>
            </a:r>
            <a:r>
              <a:rPr lang="en-US"/>
              <a:t> </a:t>
            </a:r>
            <a:r>
              <a:rPr lang="en-US" err="1"/>
              <a:t>như</a:t>
            </a:r>
            <a:r>
              <a:rPr lang="en-US"/>
              <a:t> </a:t>
            </a:r>
            <a:r>
              <a:rPr lang="en-US" err="1"/>
              <a:t>phân</a:t>
            </a:r>
            <a:r>
              <a:rPr lang="en-US"/>
              <a:t> </a:t>
            </a:r>
            <a:r>
              <a:rPr lang="en-US" err="1"/>
              <a:t>tích</a:t>
            </a:r>
            <a:r>
              <a:rPr lang="en-US"/>
              <a:t> </a:t>
            </a:r>
            <a:r>
              <a:rPr lang="en-US" err="1"/>
              <a:t>người</a:t>
            </a:r>
            <a:r>
              <a:rPr lang="en-US"/>
              <a:t> </a:t>
            </a:r>
            <a:r>
              <a:rPr lang="en-US" err="1"/>
              <a:t>dùng</a:t>
            </a:r>
            <a:r>
              <a:rPr lang="en-US"/>
              <a:t>, </a:t>
            </a:r>
            <a:r>
              <a:rPr lang="en-US" err="1"/>
              <a:t>xử</a:t>
            </a:r>
            <a:r>
              <a:rPr lang="en-US"/>
              <a:t> </a:t>
            </a:r>
            <a:r>
              <a:rPr lang="en-US" err="1"/>
              <a:t>lý</a:t>
            </a:r>
            <a:r>
              <a:rPr lang="en-US"/>
              <a:t> </a:t>
            </a:r>
            <a:r>
              <a:rPr lang="en-US" err="1"/>
              <a:t>dữ</a:t>
            </a:r>
            <a:r>
              <a:rPr lang="en-US"/>
              <a:t> </a:t>
            </a:r>
            <a:r>
              <a:rPr lang="en-US" err="1"/>
              <a:t>liệu</a:t>
            </a:r>
            <a:r>
              <a:rPr lang="en-US"/>
              <a:t>, </a:t>
            </a:r>
            <a:r>
              <a:rPr lang="en-US" err="1"/>
              <a:t>đánh</a:t>
            </a:r>
            <a:r>
              <a:rPr lang="en-US"/>
              <a:t> </a:t>
            </a:r>
            <a:r>
              <a:rPr lang="en-US" err="1"/>
              <a:t>giá</a:t>
            </a:r>
            <a:r>
              <a:rPr lang="en-US"/>
              <a:t> </a:t>
            </a:r>
            <a:r>
              <a:rPr lang="en-US" err="1"/>
              <a:t>mô</a:t>
            </a:r>
            <a:r>
              <a:rPr lang="en-US"/>
              <a:t> </a:t>
            </a:r>
            <a:r>
              <a:rPr lang="en-US" err="1"/>
              <a:t>hình</a:t>
            </a:r>
            <a:r>
              <a:rPr lang="en-US"/>
              <a:t> </a:t>
            </a:r>
            <a:r>
              <a:rPr lang="en-US" err="1"/>
              <a:t>và</a:t>
            </a:r>
            <a:r>
              <a:rPr lang="en-US"/>
              <a:t> </a:t>
            </a:r>
            <a:r>
              <a:rPr lang="en-US" err="1"/>
              <a:t>đưa</a:t>
            </a:r>
            <a:r>
              <a:rPr lang="en-US"/>
              <a:t> </a:t>
            </a:r>
            <a:r>
              <a:rPr lang="en-US" err="1"/>
              <a:t>ra</a:t>
            </a:r>
            <a:r>
              <a:rPr lang="en-US"/>
              <a:t> </a:t>
            </a:r>
            <a:r>
              <a:rPr lang="en-US" err="1"/>
              <a:t>gợi</a:t>
            </a:r>
            <a:r>
              <a:rPr lang="en-US"/>
              <a:t> ý </a:t>
            </a:r>
            <a:r>
              <a:rPr lang="en-US" err="1"/>
              <a:t>cuối</a:t>
            </a:r>
            <a:r>
              <a:rPr lang="en-US"/>
              <a:t> </a:t>
            </a:r>
            <a:r>
              <a:rPr lang="en-US" err="1"/>
              <a:t>cùng</a:t>
            </a:r>
            <a:r>
              <a:rPr lang="en-US"/>
              <a:t>. </a:t>
            </a:r>
            <a:r>
              <a:rPr lang="en-US" err="1"/>
              <a:t>Hệ</a:t>
            </a:r>
            <a:r>
              <a:rPr lang="en-US"/>
              <a:t> </a:t>
            </a:r>
            <a:r>
              <a:rPr lang="en-US" err="1"/>
              <a:t>thống</a:t>
            </a:r>
            <a:r>
              <a:rPr lang="en-US"/>
              <a:t> </a:t>
            </a:r>
            <a:r>
              <a:rPr lang="en-US" err="1"/>
              <a:t>kết</a:t>
            </a:r>
            <a:r>
              <a:rPr lang="en-US"/>
              <a:t> </a:t>
            </a:r>
            <a:r>
              <a:rPr lang="en-US" err="1"/>
              <a:t>hợp</a:t>
            </a:r>
            <a:r>
              <a:rPr lang="en-US"/>
              <a:t> </a:t>
            </a:r>
            <a:r>
              <a:rPr lang="en-US" err="1"/>
              <a:t>giữa</a:t>
            </a:r>
            <a:r>
              <a:rPr lang="en-US"/>
              <a:t> </a:t>
            </a:r>
            <a:r>
              <a:rPr lang="en-US" err="1"/>
              <a:t>các</a:t>
            </a:r>
            <a:r>
              <a:rPr lang="en-US"/>
              <a:t> </a:t>
            </a:r>
            <a:r>
              <a:rPr lang="en-US" err="1"/>
              <a:t>thuật</a:t>
            </a:r>
            <a:r>
              <a:rPr lang="en-US"/>
              <a:t> </a:t>
            </a:r>
            <a:r>
              <a:rPr lang="en-US" err="1"/>
              <a:t>toán</a:t>
            </a:r>
            <a:r>
              <a:rPr lang="en-US"/>
              <a:t> </a:t>
            </a:r>
            <a:r>
              <a:rPr lang="en-US" err="1"/>
              <a:t>gợi</a:t>
            </a:r>
            <a:r>
              <a:rPr lang="en-US"/>
              <a:t> ý </a:t>
            </a:r>
            <a:r>
              <a:rPr lang="en-US" err="1"/>
              <a:t>truyền</a:t>
            </a:r>
            <a:r>
              <a:rPr lang="en-US"/>
              <a:t> </a:t>
            </a:r>
            <a:r>
              <a:rPr lang="en-US" err="1"/>
              <a:t>thống</a:t>
            </a:r>
            <a:r>
              <a:rPr lang="en-US"/>
              <a:t> </a:t>
            </a:r>
            <a:r>
              <a:rPr lang="en-US" err="1"/>
              <a:t>và</a:t>
            </a:r>
            <a:r>
              <a:rPr lang="en-US"/>
              <a:t> </a:t>
            </a:r>
            <a:r>
              <a:rPr lang="en-US" err="1"/>
              <a:t>khả</a:t>
            </a:r>
            <a:r>
              <a:rPr lang="en-US"/>
              <a:t> </a:t>
            </a:r>
            <a:r>
              <a:rPr lang="en-US" err="1"/>
              <a:t>năng</a:t>
            </a:r>
            <a:r>
              <a:rPr lang="en-US"/>
              <a:t> </a:t>
            </a:r>
            <a:r>
              <a:rPr lang="en-US" err="1"/>
              <a:t>suy</a:t>
            </a:r>
            <a:r>
              <a:rPr lang="en-US"/>
              <a:t> </a:t>
            </a:r>
            <a:r>
              <a:rPr lang="en-US" err="1"/>
              <a:t>luận</a:t>
            </a:r>
            <a:r>
              <a:rPr lang="en-US"/>
              <a:t> </a:t>
            </a:r>
            <a:r>
              <a:rPr lang="en-US" err="1"/>
              <a:t>của</a:t>
            </a:r>
            <a:r>
              <a:rPr lang="en-US"/>
              <a:t> LLM </a:t>
            </a:r>
            <a:r>
              <a:rPr lang="en-US" err="1"/>
              <a:t>để</a:t>
            </a:r>
            <a:r>
              <a:rPr lang="en-US"/>
              <a:t> </a:t>
            </a:r>
            <a:r>
              <a:rPr lang="en-US" err="1"/>
              <a:t>tạo</a:t>
            </a:r>
            <a:r>
              <a:rPr lang="en-US"/>
              <a:t> </a:t>
            </a:r>
            <a:r>
              <a:rPr lang="en-US" err="1"/>
              <a:t>nên</a:t>
            </a:r>
            <a:r>
              <a:rPr lang="en-US"/>
              <a:t> </a:t>
            </a:r>
            <a:r>
              <a:rPr lang="en-US" err="1"/>
              <a:t>quy</a:t>
            </a:r>
            <a:r>
              <a:rPr lang="en-US"/>
              <a:t> </a:t>
            </a:r>
            <a:r>
              <a:rPr lang="en-US" err="1"/>
              <a:t>trình</a:t>
            </a:r>
            <a:r>
              <a:rPr lang="en-US"/>
              <a:t> </a:t>
            </a:r>
            <a:r>
              <a:rPr lang="en-US" err="1"/>
              <a:t>linh</a:t>
            </a:r>
            <a:r>
              <a:rPr lang="en-US"/>
              <a:t> </a:t>
            </a:r>
            <a:r>
              <a:rPr lang="en-US" err="1"/>
              <a:t>hoạt</a:t>
            </a:r>
            <a:r>
              <a:rPr lang="en-US"/>
              <a:t> </a:t>
            </a:r>
            <a:r>
              <a:rPr lang="en-US" err="1"/>
              <a:t>và</a:t>
            </a:r>
            <a:r>
              <a:rPr lang="en-US"/>
              <a:t> </a:t>
            </a:r>
            <a:r>
              <a:rPr lang="en-US" err="1"/>
              <a:t>dễ</a:t>
            </a:r>
            <a:r>
              <a:rPr lang="en-US"/>
              <a:t> </a:t>
            </a:r>
            <a:r>
              <a:rPr lang="en-US" err="1"/>
              <a:t>mở</a:t>
            </a:r>
            <a:r>
              <a:rPr lang="en-US"/>
              <a:t> </a:t>
            </a:r>
            <a:r>
              <a:rPr lang="en-US" err="1"/>
              <a:t>rộng</a:t>
            </a:r>
            <a:r>
              <a:rPr lang="en-US"/>
              <a:t>. Các agent </a:t>
            </a:r>
            <a:r>
              <a:rPr lang="en-US" err="1"/>
              <a:t>giao</a:t>
            </a:r>
            <a:r>
              <a:rPr lang="en-US"/>
              <a:t> </a:t>
            </a:r>
            <a:r>
              <a:rPr lang="en-US" err="1"/>
              <a:t>tiếp</a:t>
            </a:r>
            <a:r>
              <a:rPr lang="en-US"/>
              <a:t> </a:t>
            </a:r>
            <a:r>
              <a:rPr lang="en-US" err="1"/>
              <a:t>với</a:t>
            </a:r>
            <a:r>
              <a:rPr lang="en-US"/>
              <a:t> </a:t>
            </a:r>
            <a:r>
              <a:rPr lang="en-US" err="1"/>
              <a:t>nhau</a:t>
            </a:r>
            <a:r>
              <a:rPr lang="en-US"/>
              <a:t> </a:t>
            </a:r>
            <a:r>
              <a:rPr lang="en-US" err="1"/>
              <a:t>thông</a:t>
            </a:r>
            <a:r>
              <a:rPr lang="en-US"/>
              <a:t> qua </a:t>
            </a:r>
            <a:r>
              <a:rPr lang="en-US" err="1"/>
              <a:t>cơ</a:t>
            </a:r>
            <a:r>
              <a:rPr lang="en-US"/>
              <a:t> </a:t>
            </a:r>
            <a:r>
              <a:rPr lang="en-US" err="1"/>
              <a:t>chế</a:t>
            </a:r>
            <a:r>
              <a:rPr lang="en-US"/>
              <a:t> </a:t>
            </a:r>
            <a:r>
              <a:rPr lang="en-US" err="1"/>
              <a:t>phối</a:t>
            </a:r>
            <a:r>
              <a:rPr lang="en-US"/>
              <a:t> </a:t>
            </a:r>
            <a:r>
              <a:rPr lang="en-US" err="1"/>
              <a:t>hợp</a:t>
            </a:r>
            <a:r>
              <a:rPr lang="en-US"/>
              <a:t>, </a:t>
            </a:r>
            <a:r>
              <a:rPr lang="en-US" err="1"/>
              <a:t>giúp</a:t>
            </a:r>
            <a:r>
              <a:rPr lang="en-US"/>
              <a:t> </a:t>
            </a:r>
            <a:r>
              <a:rPr lang="en-US" err="1"/>
              <a:t>tăng</a:t>
            </a:r>
            <a:r>
              <a:rPr lang="en-US"/>
              <a:t> </a:t>
            </a:r>
            <a:r>
              <a:rPr lang="en-US" err="1"/>
              <a:t>tính</a:t>
            </a:r>
            <a:r>
              <a:rPr lang="en-US"/>
              <a:t> </a:t>
            </a:r>
            <a:r>
              <a:rPr lang="en-US" err="1"/>
              <a:t>minh</a:t>
            </a:r>
            <a:r>
              <a:rPr lang="en-US"/>
              <a:t> </a:t>
            </a:r>
            <a:r>
              <a:rPr lang="en-US" err="1"/>
              <a:t>bạch</a:t>
            </a:r>
            <a:r>
              <a:rPr lang="en-US"/>
              <a:t> </a:t>
            </a:r>
            <a:r>
              <a:rPr lang="en-US" err="1"/>
              <a:t>và</a:t>
            </a:r>
            <a:r>
              <a:rPr lang="en-US"/>
              <a:t> </a:t>
            </a:r>
            <a:r>
              <a:rPr lang="en-US" err="1"/>
              <a:t>dễ</a:t>
            </a:r>
            <a:r>
              <a:rPr lang="en-US"/>
              <a:t> </a:t>
            </a:r>
            <a:r>
              <a:rPr lang="en-US" err="1"/>
              <a:t>giải</a:t>
            </a:r>
            <a:r>
              <a:rPr lang="en-US"/>
              <a:t> </a:t>
            </a:r>
            <a:r>
              <a:rPr lang="en-US" err="1"/>
              <a:t>thích</a:t>
            </a:r>
            <a:r>
              <a:rPr lang="en-US"/>
              <a:t> </a:t>
            </a:r>
            <a:r>
              <a:rPr lang="en-US" err="1"/>
              <a:t>của</a:t>
            </a:r>
            <a:r>
              <a:rPr lang="en-US"/>
              <a:t> </a:t>
            </a:r>
            <a:r>
              <a:rPr lang="en-US" err="1"/>
              <a:t>gợi</a:t>
            </a:r>
            <a:r>
              <a:rPr lang="en-US"/>
              <a:t> ý. </a:t>
            </a:r>
            <a:r>
              <a:rPr lang="en-US" err="1"/>
              <a:t>Đề</a:t>
            </a:r>
            <a:r>
              <a:rPr lang="en-US"/>
              <a:t> </a:t>
            </a:r>
            <a:r>
              <a:rPr lang="en-US" err="1"/>
              <a:t>tài</a:t>
            </a:r>
            <a:r>
              <a:rPr lang="en-US"/>
              <a:t> </a:t>
            </a:r>
            <a:r>
              <a:rPr lang="en-US" err="1"/>
              <a:t>đồng</a:t>
            </a:r>
            <a:r>
              <a:rPr lang="en-US"/>
              <a:t> </a:t>
            </a:r>
            <a:r>
              <a:rPr lang="en-US" err="1"/>
              <a:t>thời</a:t>
            </a:r>
            <a:r>
              <a:rPr lang="en-US"/>
              <a:t> </a:t>
            </a:r>
            <a:r>
              <a:rPr lang="en-US" err="1"/>
              <a:t>thử</a:t>
            </a:r>
            <a:r>
              <a:rPr lang="en-US"/>
              <a:t> </a:t>
            </a:r>
            <a:r>
              <a:rPr lang="en-US" err="1"/>
              <a:t>nghiệm</a:t>
            </a:r>
            <a:r>
              <a:rPr lang="en-US"/>
              <a:t> </a:t>
            </a:r>
            <a:r>
              <a:rPr lang="en-US" err="1"/>
              <a:t>trên</a:t>
            </a:r>
            <a:r>
              <a:rPr lang="en-US"/>
              <a:t> </a:t>
            </a:r>
            <a:r>
              <a:rPr lang="en-US" err="1"/>
              <a:t>bộ</a:t>
            </a:r>
            <a:r>
              <a:rPr lang="en-US"/>
              <a:t> </a:t>
            </a:r>
            <a:r>
              <a:rPr lang="en-US" err="1"/>
              <a:t>dữ</a:t>
            </a:r>
            <a:r>
              <a:rPr lang="en-US"/>
              <a:t> </a:t>
            </a:r>
            <a:r>
              <a:rPr lang="en-US" err="1"/>
              <a:t>liệu</a:t>
            </a:r>
            <a:r>
              <a:rPr lang="en-US"/>
              <a:t> MovieLens </a:t>
            </a:r>
            <a:r>
              <a:rPr lang="en-US" err="1"/>
              <a:t>để</a:t>
            </a:r>
            <a:r>
              <a:rPr lang="en-US"/>
              <a:t> </a:t>
            </a:r>
            <a:r>
              <a:rPr lang="en-US" err="1"/>
              <a:t>đánh</a:t>
            </a:r>
            <a:r>
              <a:rPr lang="en-US"/>
              <a:t> </a:t>
            </a:r>
            <a:r>
              <a:rPr lang="en-US" err="1"/>
              <a:t>giá</a:t>
            </a:r>
            <a:r>
              <a:rPr lang="en-US"/>
              <a:t> </a:t>
            </a:r>
            <a:r>
              <a:rPr lang="en-US" err="1"/>
              <a:t>hiệu</a:t>
            </a:r>
            <a:r>
              <a:rPr lang="en-US"/>
              <a:t> </a:t>
            </a:r>
            <a:r>
              <a:rPr lang="en-US" err="1"/>
              <a:t>suất</a:t>
            </a:r>
            <a:r>
              <a:rPr lang="en-US"/>
              <a:t> </a:t>
            </a:r>
            <a:r>
              <a:rPr lang="en-US" err="1"/>
              <a:t>thực</a:t>
            </a:r>
            <a:r>
              <a:rPr lang="en-US"/>
              <a:t> </a:t>
            </a:r>
            <a:r>
              <a:rPr lang="en-US" err="1"/>
              <a:t>nghiệm</a:t>
            </a:r>
            <a:r>
              <a:rPr lang="en-US"/>
              <a:t>. Qua </a:t>
            </a:r>
            <a:r>
              <a:rPr lang="en-US" err="1"/>
              <a:t>đó</a:t>
            </a:r>
            <a:r>
              <a:rPr lang="en-US"/>
              <a:t> </a:t>
            </a:r>
            <a:r>
              <a:rPr lang="en-US" err="1"/>
              <a:t>chứng</a:t>
            </a:r>
            <a:r>
              <a:rPr lang="en-US"/>
              <a:t> </a:t>
            </a:r>
            <a:r>
              <a:rPr lang="en-US" err="1"/>
              <a:t>minh</a:t>
            </a:r>
            <a:r>
              <a:rPr lang="en-US"/>
              <a:t> </a:t>
            </a:r>
            <a:r>
              <a:rPr lang="en-US" err="1"/>
              <a:t>tính</a:t>
            </a:r>
            <a:r>
              <a:rPr lang="en-US"/>
              <a:t> </a:t>
            </a:r>
            <a:r>
              <a:rPr lang="en-US" err="1"/>
              <a:t>khả</a:t>
            </a:r>
            <a:r>
              <a:rPr lang="en-US"/>
              <a:t> </a:t>
            </a:r>
            <a:r>
              <a:rPr lang="en-US" err="1"/>
              <a:t>thi</a:t>
            </a:r>
            <a:r>
              <a:rPr lang="en-US"/>
              <a:t> </a:t>
            </a:r>
            <a:r>
              <a:rPr lang="en-US" err="1"/>
              <a:t>của</a:t>
            </a:r>
            <a:r>
              <a:rPr lang="en-US"/>
              <a:t> Multi-Agent </a:t>
            </a:r>
            <a:r>
              <a:rPr lang="en-US" err="1"/>
              <a:t>trong</a:t>
            </a:r>
            <a:r>
              <a:rPr lang="en-US"/>
              <a:t> </a:t>
            </a:r>
            <a:r>
              <a:rPr lang="en-US" err="1"/>
              <a:t>bài</a:t>
            </a:r>
            <a:r>
              <a:rPr lang="en-US"/>
              <a:t> </a:t>
            </a:r>
            <a:r>
              <a:rPr lang="en-US" err="1"/>
              <a:t>toán</a:t>
            </a:r>
            <a:r>
              <a:rPr lang="en-US"/>
              <a:t> recommendation.</a:t>
            </a:r>
          </a:p>
          <a:p>
            <a:pPr algn="ctr">
              <a:buNone/>
            </a:pPr>
            <a:br>
              <a:rPr lang="en-US"/>
            </a:br>
            <a:endParaRPr lang="en-US"/>
          </a:p>
          <a:p>
            <a:pPr algn="just">
              <a:buNone/>
            </a:pPr>
            <a:r>
              <a:rPr lang="en-US" b="1"/>
              <a:t>3. </a:t>
            </a:r>
            <a:r>
              <a:rPr lang="en-US" b="1" err="1"/>
              <a:t>Mục</a:t>
            </a:r>
            <a:r>
              <a:rPr lang="en-US" b="1"/>
              <a:t> </a:t>
            </a:r>
            <a:r>
              <a:rPr lang="en-US" b="1" err="1"/>
              <a:t>tiêu</a:t>
            </a:r>
            <a:r>
              <a:rPr lang="en-US" b="1"/>
              <a:t> </a:t>
            </a:r>
            <a:r>
              <a:rPr lang="en-US" b="1" err="1"/>
              <a:t>của</a:t>
            </a:r>
            <a:r>
              <a:rPr lang="en-US" b="1"/>
              <a:t> </a:t>
            </a:r>
            <a:r>
              <a:rPr lang="en-US" b="1" err="1"/>
              <a:t>đề</a:t>
            </a:r>
            <a:r>
              <a:rPr lang="en-US" b="1"/>
              <a:t> </a:t>
            </a:r>
            <a:r>
              <a:rPr lang="en-US" b="1" err="1"/>
              <a:t>tài</a:t>
            </a:r>
            <a:endParaRPr lang="en-US"/>
          </a:p>
          <a:p>
            <a:pPr algn="just">
              <a:buNone/>
            </a:pPr>
            <a:r>
              <a:rPr lang="en-US" err="1"/>
              <a:t>Mục</a:t>
            </a:r>
            <a:r>
              <a:rPr lang="en-US"/>
              <a:t> </a:t>
            </a:r>
            <a:r>
              <a:rPr lang="en-US" err="1"/>
              <a:t>tiêu</a:t>
            </a:r>
            <a:r>
              <a:rPr lang="en-US"/>
              <a:t> </a:t>
            </a:r>
            <a:r>
              <a:rPr lang="en-US" err="1"/>
              <a:t>chính</a:t>
            </a:r>
            <a:r>
              <a:rPr lang="en-US"/>
              <a:t> </a:t>
            </a:r>
            <a:r>
              <a:rPr lang="en-US" err="1"/>
              <a:t>của</a:t>
            </a:r>
            <a:r>
              <a:rPr lang="en-US"/>
              <a:t> </a:t>
            </a:r>
            <a:r>
              <a:rPr lang="en-US" err="1"/>
              <a:t>đề</a:t>
            </a:r>
            <a:r>
              <a:rPr lang="en-US"/>
              <a:t> </a:t>
            </a:r>
            <a:r>
              <a:rPr lang="en-US" err="1"/>
              <a:t>tài</a:t>
            </a:r>
            <a:r>
              <a:rPr lang="en-US"/>
              <a:t> </a:t>
            </a:r>
            <a:r>
              <a:rPr lang="en-US" err="1"/>
              <a:t>là</a:t>
            </a:r>
            <a:r>
              <a:rPr lang="en-US"/>
              <a:t> </a:t>
            </a:r>
            <a:r>
              <a:rPr lang="en-US" err="1"/>
              <a:t>thiết</a:t>
            </a:r>
            <a:r>
              <a:rPr lang="en-US"/>
              <a:t> </a:t>
            </a:r>
            <a:r>
              <a:rPr lang="en-US" err="1"/>
              <a:t>kế</a:t>
            </a:r>
            <a:r>
              <a:rPr lang="en-US"/>
              <a:t> </a:t>
            </a:r>
            <a:r>
              <a:rPr lang="en-US" err="1"/>
              <a:t>và</a:t>
            </a:r>
            <a:r>
              <a:rPr lang="en-US"/>
              <a:t> </a:t>
            </a:r>
            <a:r>
              <a:rPr lang="en-US" err="1"/>
              <a:t>triển</a:t>
            </a:r>
            <a:r>
              <a:rPr lang="en-US"/>
              <a:t> </a:t>
            </a:r>
            <a:r>
              <a:rPr lang="en-US" err="1"/>
              <a:t>khai</a:t>
            </a:r>
            <a:r>
              <a:rPr lang="en-US"/>
              <a:t> </a:t>
            </a:r>
            <a:r>
              <a:rPr lang="en-US" err="1"/>
              <a:t>một</a:t>
            </a:r>
            <a:r>
              <a:rPr lang="en-US"/>
              <a:t> </a:t>
            </a:r>
            <a:r>
              <a:rPr lang="en-US" err="1"/>
              <a:t>hệ</a:t>
            </a:r>
            <a:r>
              <a:rPr lang="en-US"/>
              <a:t> </a:t>
            </a:r>
            <a:r>
              <a:rPr lang="en-US" err="1"/>
              <a:t>thống</a:t>
            </a:r>
            <a:r>
              <a:rPr lang="en-US"/>
              <a:t> </a:t>
            </a:r>
            <a:r>
              <a:rPr lang="en-US" err="1"/>
              <a:t>gợi</a:t>
            </a:r>
            <a:r>
              <a:rPr lang="en-US"/>
              <a:t> ý </a:t>
            </a:r>
            <a:r>
              <a:rPr lang="en-US" err="1"/>
              <a:t>phim</a:t>
            </a:r>
            <a:r>
              <a:rPr lang="en-US"/>
              <a:t> </a:t>
            </a:r>
            <a:r>
              <a:rPr lang="en-US" err="1"/>
              <a:t>sử</a:t>
            </a:r>
            <a:r>
              <a:rPr lang="en-US"/>
              <a:t> </a:t>
            </a:r>
            <a:r>
              <a:rPr lang="en-US" err="1"/>
              <a:t>dụng</a:t>
            </a:r>
            <a:r>
              <a:rPr lang="en-US"/>
              <a:t> </a:t>
            </a:r>
            <a:r>
              <a:rPr lang="en-US" err="1"/>
              <a:t>mô</a:t>
            </a:r>
            <a:r>
              <a:rPr lang="en-US"/>
              <a:t> </a:t>
            </a:r>
            <a:r>
              <a:rPr lang="en-US" err="1"/>
              <a:t>hình</a:t>
            </a:r>
            <a:r>
              <a:rPr lang="en-US"/>
              <a:t> Multi-Agent </a:t>
            </a:r>
            <a:r>
              <a:rPr lang="en-US" err="1"/>
              <a:t>để</a:t>
            </a:r>
            <a:r>
              <a:rPr lang="en-US"/>
              <a:t> </a:t>
            </a:r>
            <a:r>
              <a:rPr lang="en-US" err="1"/>
              <a:t>cải</a:t>
            </a:r>
            <a:r>
              <a:rPr lang="en-US"/>
              <a:t> </a:t>
            </a:r>
            <a:r>
              <a:rPr lang="en-US" err="1"/>
              <a:t>thiện</a:t>
            </a:r>
            <a:r>
              <a:rPr lang="en-US"/>
              <a:t> </a:t>
            </a:r>
            <a:r>
              <a:rPr lang="en-US" err="1"/>
              <a:t>khả</a:t>
            </a:r>
            <a:r>
              <a:rPr lang="en-US"/>
              <a:t> </a:t>
            </a:r>
            <a:r>
              <a:rPr lang="en-US" err="1"/>
              <a:t>năng</a:t>
            </a:r>
            <a:r>
              <a:rPr lang="en-US"/>
              <a:t> </a:t>
            </a:r>
            <a:r>
              <a:rPr lang="en-US" err="1"/>
              <a:t>cá</a:t>
            </a:r>
            <a:r>
              <a:rPr lang="en-US"/>
              <a:t> </a:t>
            </a:r>
            <a:r>
              <a:rPr lang="en-US" err="1"/>
              <a:t>nhân</a:t>
            </a:r>
            <a:r>
              <a:rPr lang="en-US"/>
              <a:t> </a:t>
            </a:r>
            <a:r>
              <a:rPr lang="en-US" err="1"/>
              <a:t>hóa</a:t>
            </a:r>
            <a:r>
              <a:rPr lang="en-US"/>
              <a:t> </a:t>
            </a:r>
            <a:r>
              <a:rPr lang="en-US" err="1"/>
              <a:t>và</a:t>
            </a:r>
            <a:r>
              <a:rPr lang="en-US"/>
              <a:t> </a:t>
            </a:r>
            <a:r>
              <a:rPr lang="en-US" err="1"/>
              <a:t>nâng</a:t>
            </a:r>
            <a:r>
              <a:rPr lang="en-US"/>
              <a:t> </a:t>
            </a:r>
            <a:r>
              <a:rPr lang="en-US" err="1"/>
              <a:t>cao</a:t>
            </a:r>
            <a:r>
              <a:rPr lang="en-US"/>
              <a:t> </a:t>
            </a:r>
            <a:r>
              <a:rPr lang="en-US" err="1"/>
              <a:t>chất</a:t>
            </a:r>
            <a:r>
              <a:rPr lang="en-US"/>
              <a:t> </a:t>
            </a:r>
            <a:r>
              <a:rPr lang="en-US" err="1"/>
              <a:t>lượng</a:t>
            </a:r>
            <a:r>
              <a:rPr lang="en-US"/>
              <a:t> </a:t>
            </a:r>
            <a:r>
              <a:rPr lang="en-US" err="1"/>
              <a:t>gợi</a:t>
            </a:r>
            <a:r>
              <a:rPr lang="en-US"/>
              <a:t> ý. </a:t>
            </a:r>
            <a:r>
              <a:rPr lang="en-US" err="1"/>
              <a:t>Đề</a:t>
            </a:r>
            <a:r>
              <a:rPr lang="en-US"/>
              <a:t> </a:t>
            </a:r>
            <a:r>
              <a:rPr lang="en-US" err="1"/>
              <a:t>tài</a:t>
            </a:r>
            <a:r>
              <a:rPr lang="en-US"/>
              <a:t> </a:t>
            </a:r>
            <a:r>
              <a:rPr lang="en-US" err="1"/>
              <a:t>hướng</a:t>
            </a:r>
            <a:r>
              <a:rPr lang="en-US"/>
              <a:t> </a:t>
            </a:r>
            <a:r>
              <a:rPr lang="en-US" err="1"/>
              <a:t>đến</a:t>
            </a:r>
            <a:r>
              <a:rPr lang="en-US"/>
              <a:t> </a:t>
            </a:r>
            <a:r>
              <a:rPr lang="en-US" err="1"/>
              <a:t>xây</a:t>
            </a:r>
            <a:r>
              <a:rPr lang="en-US"/>
              <a:t> </a:t>
            </a:r>
            <a:r>
              <a:rPr lang="en-US" err="1"/>
              <a:t>dựng</a:t>
            </a:r>
            <a:r>
              <a:rPr lang="en-US"/>
              <a:t> </a:t>
            </a:r>
            <a:r>
              <a:rPr lang="en-US" err="1"/>
              <a:t>quy</a:t>
            </a:r>
            <a:r>
              <a:rPr lang="en-US"/>
              <a:t> </a:t>
            </a:r>
            <a:r>
              <a:rPr lang="en-US" err="1"/>
              <a:t>trình</a:t>
            </a:r>
            <a:r>
              <a:rPr lang="en-US"/>
              <a:t> </a:t>
            </a:r>
            <a:r>
              <a:rPr lang="en-US" err="1"/>
              <a:t>hoạt</a:t>
            </a:r>
            <a:r>
              <a:rPr lang="en-US"/>
              <a:t> </a:t>
            </a:r>
            <a:r>
              <a:rPr lang="en-US" err="1"/>
              <a:t>động</a:t>
            </a:r>
            <a:r>
              <a:rPr lang="en-US"/>
              <a:t> </a:t>
            </a:r>
            <a:r>
              <a:rPr lang="en-US" err="1"/>
              <a:t>rõ</a:t>
            </a:r>
            <a:r>
              <a:rPr lang="en-US"/>
              <a:t> </a:t>
            </a:r>
            <a:r>
              <a:rPr lang="en-US" err="1"/>
              <a:t>ràng</a:t>
            </a:r>
            <a:r>
              <a:rPr lang="en-US"/>
              <a:t>, </a:t>
            </a:r>
            <a:r>
              <a:rPr lang="en-US" err="1"/>
              <a:t>trong</a:t>
            </a:r>
            <a:r>
              <a:rPr lang="en-US"/>
              <a:t> </a:t>
            </a:r>
            <a:r>
              <a:rPr lang="en-US" err="1"/>
              <a:t>đó</a:t>
            </a:r>
            <a:r>
              <a:rPr lang="en-US"/>
              <a:t> </a:t>
            </a:r>
            <a:r>
              <a:rPr lang="en-US" err="1"/>
              <a:t>mỗi</a:t>
            </a:r>
            <a:r>
              <a:rPr lang="en-US"/>
              <a:t> agent </a:t>
            </a:r>
            <a:r>
              <a:rPr lang="en-US" err="1"/>
              <a:t>thực</a:t>
            </a:r>
            <a:r>
              <a:rPr lang="en-US"/>
              <a:t> </a:t>
            </a:r>
            <a:r>
              <a:rPr lang="en-US" err="1"/>
              <a:t>hiện</a:t>
            </a:r>
            <a:r>
              <a:rPr lang="en-US"/>
              <a:t> </a:t>
            </a:r>
            <a:r>
              <a:rPr lang="en-US" err="1"/>
              <a:t>một</a:t>
            </a:r>
            <a:r>
              <a:rPr lang="en-US"/>
              <a:t> </a:t>
            </a:r>
            <a:r>
              <a:rPr lang="en-US" err="1"/>
              <a:t>nhiệm</a:t>
            </a:r>
            <a:r>
              <a:rPr lang="en-US"/>
              <a:t> </a:t>
            </a:r>
            <a:r>
              <a:rPr lang="en-US" err="1"/>
              <a:t>vụ</a:t>
            </a:r>
            <a:r>
              <a:rPr lang="en-US"/>
              <a:t> </a:t>
            </a:r>
            <a:r>
              <a:rPr lang="en-US" err="1"/>
              <a:t>chuyên</a:t>
            </a:r>
            <a:r>
              <a:rPr lang="en-US"/>
              <a:t> </a:t>
            </a:r>
            <a:r>
              <a:rPr lang="en-US" err="1"/>
              <a:t>biệt</a:t>
            </a:r>
            <a:r>
              <a:rPr lang="en-US"/>
              <a:t> </a:t>
            </a:r>
            <a:r>
              <a:rPr lang="en-US" err="1"/>
              <a:t>nhằm</a:t>
            </a:r>
            <a:r>
              <a:rPr lang="en-US"/>
              <a:t> </a:t>
            </a:r>
            <a:r>
              <a:rPr lang="en-US" err="1"/>
              <a:t>tăng</a:t>
            </a:r>
            <a:r>
              <a:rPr lang="en-US"/>
              <a:t> </a:t>
            </a:r>
            <a:r>
              <a:rPr lang="en-US" err="1"/>
              <a:t>tính</a:t>
            </a:r>
            <a:r>
              <a:rPr lang="en-US"/>
              <a:t> </a:t>
            </a:r>
            <a:r>
              <a:rPr lang="en-US" err="1"/>
              <a:t>linh</a:t>
            </a:r>
            <a:r>
              <a:rPr lang="en-US"/>
              <a:t> </a:t>
            </a:r>
            <a:r>
              <a:rPr lang="en-US" err="1"/>
              <a:t>hoạt</a:t>
            </a:r>
            <a:r>
              <a:rPr lang="en-US"/>
              <a:t>. </a:t>
            </a:r>
            <a:r>
              <a:rPr lang="en-US" err="1"/>
              <a:t>Bên</a:t>
            </a:r>
            <a:r>
              <a:rPr lang="en-US"/>
              <a:t> </a:t>
            </a:r>
            <a:r>
              <a:rPr lang="en-US" err="1"/>
              <a:t>cạnh</a:t>
            </a:r>
            <a:r>
              <a:rPr lang="en-US"/>
              <a:t> </a:t>
            </a:r>
            <a:r>
              <a:rPr lang="en-US" err="1"/>
              <a:t>đó</a:t>
            </a:r>
            <a:r>
              <a:rPr lang="en-US"/>
              <a:t>, </a:t>
            </a:r>
            <a:r>
              <a:rPr lang="en-US" err="1"/>
              <a:t>nghiên</a:t>
            </a:r>
            <a:r>
              <a:rPr lang="en-US"/>
              <a:t> </a:t>
            </a:r>
            <a:r>
              <a:rPr lang="en-US" err="1"/>
              <a:t>cứu</a:t>
            </a:r>
            <a:r>
              <a:rPr lang="en-US"/>
              <a:t> so </a:t>
            </a:r>
            <a:r>
              <a:rPr lang="en-US" err="1"/>
              <a:t>sánh</a:t>
            </a:r>
            <a:r>
              <a:rPr lang="en-US"/>
              <a:t> </a:t>
            </a:r>
            <a:r>
              <a:rPr lang="en-US" err="1"/>
              <a:t>hiệu</a:t>
            </a:r>
            <a:r>
              <a:rPr lang="en-US"/>
              <a:t> </a:t>
            </a:r>
            <a:r>
              <a:rPr lang="en-US" err="1"/>
              <a:t>suất</a:t>
            </a:r>
            <a:r>
              <a:rPr lang="en-US"/>
              <a:t> </a:t>
            </a:r>
            <a:r>
              <a:rPr lang="en-US" err="1"/>
              <a:t>giữa</a:t>
            </a:r>
            <a:r>
              <a:rPr lang="en-US"/>
              <a:t> Multi-Agent </a:t>
            </a:r>
            <a:r>
              <a:rPr lang="en-US" err="1"/>
              <a:t>và</a:t>
            </a:r>
            <a:r>
              <a:rPr lang="en-US"/>
              <a:t> </a:t>
            </a:r>
            <a:r>
              <a:rPr lang="en-US" err="1"/>
              <a:t>các</a:t>
            </a:r>
            <a:r>
              <a:rPr lang="en-US"/>
              <a:t> </a:t>
            </a:r>
            <a:r>
              <a:rPr lang="en-US" err="1"/>
              <a:t>mô</a:t>
            </a:r>
            <a:r>
              <a:rPr lang="en-US"/>
              <a:t> </a:t>
            </a:r>
            <a:r>
              <a:rPr lang="en-US" err="1"/>
              <a:t>hình</a:t>
            </a:r>
            <a:r>
              <a:rPr lang="en-US"/>
              <a:t> </a:t>
            </a:r>
            <a:r>
              <a:rPr lang="en-US" err="1"/>
              <a:t>gợi</a:t>
            </a:r>
            <a:r>
              <a:rPr lang="en-US"/>
              <a:t> ý </a:t>
            </a:r>
            <a:r>
              <a:rPr lang="en-US" err="1"/>
              <a:t>truyền</a:t>
            </a:r>
            <a:r>
              <a:rPr lang="en-US"/>
              <a:t> </a:t>
            </a:r>
            <a:r>
              <a:rPr lang="en-US" err="1"/>
              <a:t>thống</a:t>
            </a:r>
            <a:r>
              <a:rPr lang="en-US"/>
              <a:t> </a:t>
            </a:r>
            <a:r>
              <a:rPr lang="en-US" err="1"/>
              <a:t>để</a:t>
            </a:r>
            <a:r>
              <a:rPr lang="en-US"/>
              <a:t> </a:t>
            </a:r>
            <a:r>
              <a:rPr lang="en-US" err="1"/>
              <a:t>đánh</a:t>
            </a:r>
            <a:r>
              <a:rPr lang="en-US"/>
              <a:t> </a:t>
            </a:r>
            <a:r>
              <a:rPr lang="en-US" err="1"/>
              <a:t>giá</a:t>
            </a:r>
            <a:r>
              <a:rPr lang="en-US"/>
              <a:t> </a:t>
            </a:r>
            <a:r>
              <a:rPr lang="en-US" err="1"/>
              <a:t>ưu</a:t>
            </a:r>
            <a:r>
              <a:rPr lang="en-US"/>
              <a:t> – </a:t>
            </a:r>
            <a:r>
              <a:rPr lang="en-US" err="1"/>
              <a:t>nhược</a:t>
            </a:r>
            <a:r>
              <a:rPr lang="en-US"/>
              <a:t> </a:t>
            </a:r>
            <a:r>
              <a:rPr lang="en-US" err="1"/>
              <a:t>điểm</a:t>
            </a:r>
            <a:r>
              <a:rPr lang="en-US"/>
              <a:t>. </a:t>
            </a:r>
            <a:r>
              <a:rPr lang="en-US" err="1"/>
              <a:t>Đề</a:t>
            </a:r>
            <a:r>
              <a:rPr lang="en-US"/>
              <a:t> </a:t>
            </a:r>
            <a:r>
              <a:rPr lang="en-US" err="1"/>
              <a:t>tài</a:t>
            </a:r>
            <a:r>
              <a:rPr lang="en-US"/>
              <a:t> </a:t>
            </a:r>
            <a:r>
              <a:rPr lang="en-US" err="1"/>
              <a:t>cũng</a:t>
            </a:r>
            <a:r>
              <a:rPr lang="en-US"/>
              <a:t> </a:t>
            </a:r>
            <a:r>
              <a:rPr lang="en-US" err="1"/>
              <a:t>đặt</a:t>
            </a:r>
            <a:r>
              <a:rPr lang="en-US"/>
              <a:t> </a:t>
            </a:r>
            <a:r>
              <a:rPr lang="en-US" err="1"/>
              <a:t>mục</a:t>
            </a:r>
            <a:r>
              <a:rPr lang="en-US"/>
              <a:t> </a:t>
            </a:r>
            <a:r>
              <a:rPr lang="en-US" err="1"/>
              <a:t>tiêu</a:t>
            </a:r>
            <a:r>
              <a:rPr lang="en-US"/>
              <a:t> </a:t>
            </a:r>
            <a:r>
              <a:rPr lang="en-US" err="1"/>
              <a:t>tăng</a:t>
            </a:r>
            <a:r>
              <a:rPr lang="en-US"/>
              <a:t> </a:t>
            </a:r>
            <a:r>
              <a:rPr lang="en-US" err="1"/>
              <a:t>khả</a:t>
            </a:r>
            <a:r>
              <a:rPr lang="en-US"/>
              <a:t> </a:t>
            </a:r>
            <a:r>
              <a:rPr lang="en-US" err="1"/>
              <a:t>năng</a:t>
            </a:r>
            <a:r>
              <a:rPr lang="en-US"/>
              <a:t> </a:t>
            </a:r>
            <a:r>
              <a:rPr lang="en-US" err="1"/>
              <a:t>giải</a:t>
            </a:r>
            <a:r>
              <a:rPr lang="en-US"/>
              <a:t> </a:t>
            </a:r>
            <a:r>
              <a:rPr lang="en-US" err="1"/>
              <a:t>thích</a:t>
            </a:r>
            <a:r>
              <a:rPr lang="en-US"/>
              <a:t> </a:t>
            </a:r>
            <a:r>
              <a:rPr lang="en-US" err="1"/>
              <a:t>của</a:t>
            </a:r>
            <a:r>
              <a:rPr lang="en-US"/>
              <a:t> </a:t>
            </a:r>
            <a:r>
              <a:rPr lang="en-US" err="1"/>
              <a:t>gợi</a:t>
            </a:r>
            <a:r>
              <a:rPr lang="en-US"/>
              <a:t> ý </a:t>
            </a:r>
            <a:r>
              <a:rPr lang="en-US" err="1"/>
              <a:t>thông</a:t>
            </a:r>
            <a:r>
              <a:rPr lang="en-US"/>
              <a:t> qua </a:t>
            </a:r>
            <a:r>
              <a:rPr lang="en-US" err="1"/>
              <a:t>việc</a:t>
            </a:r>
            <a:r>
              <a:rPr lang="en-US"/>
              <a:t> </a:t>
            </a:r>
            <a:r>
              <a:rPr lang="en-US" err="1"/>
              <a:t>sử</a:t>
            </a:r>
            <a:r>
              <a:rPr lang="en-US"/>
              <a:t> </a:t>
            </a:r>
            <a:r>
              <a:rPr lang="en-US" err="1"/>
              <a:t>dụng</a:t>
            </a:r>
            <a:r>
              <a:rPr lang="en-US"/>
              <a:t> LLM. </a:t>
            </a:r>
            <a:r>
              <a:rPr lang="en-US" err="1"/>
              <a:t>Cuối</a:t>
            </a:r>
            <a:r>
              <a:rPr lang="en-US"/>
              <a:t> </a:t>
            </a:r>
            <a:r>
              <a:rPr lang="en-US" err="1"/>
              <a:t>cùng</a:t>
            </a:r>
            <a:r>
              <a:rPr lang="en-US"/>
              <a:t>, </a:t>
            </a:r>
            <a:r>
              <a:rPr lang="en-US" err="1"/>
              <a:t>hệ</a:t>
            </a:r>
            <a:r>
              <a:rPr lang="en-US"/>
              <a:t> </a:t>
            </a:r>
            <a:r>
              <a:rPr lang="en-US" err="1"/>
              <a:t>thống</a:t>
            </a:r>
            <a:r>
              <a:rPr lang="en-US"/>
              <a:t> </a:t>
            </a:r>
            <a:r>
              <a:rPr lang="en-US" err="1"/>
              <a:t>được</a:t>
            </a:r>
            <a:r>
              <a:rPr lang="en-US"/>
              <a:t> </a:t>
            </a:r>
            <a:r>
              <a:rPr lang="en-US" err="1"/>
              <a:t>kỳ</a:t>
            </a:r>
            <a:r>
              <a:rPr lang="en-US"/>
              <a:t> </a:t>
            </a:r>
            <a:r>
              <a:rPr lang="en-US" err="1"/>
              <a:t>vọng</a:t>
            </a:r>
            <a:r>
              <a:rPr lang="en-US"/>
              <a:t> </a:t>
            </a:r>
            <a:r>
              <a:rPr lang="en-US" err="1"/>
              <a:t>làm</a:t>
            </a:r>
            <a:r>
              <a:rPr lang="en-US"/>
              <a:t> </a:t>
            </a:r>
            <a:r>
              <a:rPr lang="en-US" err="1"/>
              <a:t>nền</a:t>
            </a:r>
            <a:r>
              <a:rPr lang="en-US"/>
              <a:t> </a:t>
            </a:r>
            <a:r>
              <a:rPr lang="en-US" err="1"/>
              <a:t>tảng</a:t>
            </a:r>
            <a:r>
              <a:rPr lang="en-US"/>
              <a:t> </a:t>
            </a:r>
            <a:r>
              <a:rPr lang="en-US" err="1"/>
              <a:t>cho</a:t>
            </a:r>
            <a:r>
              <a:rPr lang="en-US"/>
              <a:t> </a:t>
            </a:r>
            <a:r>
              <a:rPr lang="en-US" err="1"/>
              <a:t>các</a:t>
            </a:r>
            <a:r>
              <a:rPr lang="en-US"/>
              <a:t> </a:t>
            </a:r>
            <a:r>
              <a:rPr lang="en-US" err="1"/>
              <a:t>ứng</a:t>
            </a:r>
            <a:r>
              <a:rPr lang="en-US"/>
              <a:t> </a:t>
            </a:r>
            <a:r>
              <a:rPr lang="en-US" err="1"/>
              <a:t>dụng</a:t>
            </a:r>
            <a:r>
              <a:rPr lang="en-US"/>
              <a:t> </a:t>
            </a:r>
            <a:r>
              <a:rPr lang="en-US" err="1"/>
              <a:t>gợi</a:t>
            </a:r>
            <a:r>
              <a:rPr lang="en-US"/>
              <a:t> ý </a:t>
            </a:r>
            <a:r>
              <a:rPr lang="en-US" err="1"/>
              <a:t>thực</a:t>
            </a:r>
            <a:r>
              <a:rPr lang="en-US"/>
              <a:t> </a:t>
            </a:r>
            <a:r>
              <a:rPr lang="en-US" err="1"/>
              <a:t>tế</a:t>
            </a:r>
            <a:r>
              <a:rPr lang="en-US"/>
              <a:t> ở </a:t>
            </a:r>
            <a:r>
              <a:rPr lang="en-US" err="1"/>
              <a:t>quy</a:t>
            </a:r>
            <a:r>
              <a:rPr lang="en-US"/>
              <a:t> </a:t>
            </a:r>
            <a:r>
              <a:rPr lang="en-US" err="1"/>
              <a:t>mô</a:t>
            </a:r>
            <a:r>
              <a:rPr lang="en-US"/>
              <a:t> </a:t>
            </a:r>
            <a:r>
              <a:rPr lang="en-US" err="1"/>
              <a:t>lớn</a:t>
            </a:r>
            <a:r>
              <a:rPr lang="en-US"/>
              <a:t> </a:t>
            </a:r>
            <a:r>
              <a:rPr lang="en-US" err="1"/>
              <a:t>hơn</a:t>
            </a:r>
            <a:r>
              <a:rPr lang="en-US"/>
              <a:t>.</a:t>
            </a:r>
          </a:p>
        </p:txBody>
      </p:sp>
    </p:spTree>
    <p:extLst>
      <p:ext uri="{BB962C8B-B14F-4D97-AF65-F5344CB8AC3E}">
        <p14:creationId xmlns:p14="http://schemas.microsoft.com/office/powerpoint/2010/main" val="3540385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9"/>
        <p:cNvGrpSpPr/>
        <p:nvPr/>
      </p:nvGrpSpPr>
      <p:grpSpPr>
        <a:xfrm>
          <a:off x="0" y="0"/>
          <a:ext cx="0" cy="0"/>
          <a:chOff x="0" y="0"/>
          <a:chExt cx="0" cy="0"/>
        </a:xfrm>
      </p:grpSpPr>
      <p:sp>
        <p:nvSpPr>
          <p:cNvPr id="1480" name="Google Shape;1480;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1" name="Google Shape;1481;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2"/>
        <p:cNvGrpSpPr/>
        <p:nvPr/>
      </p:nvGrpSpPr>
      <p:grpSpPr>
        <a:xfrm>
          <a:off x="0" y="0"/>
          <a:ext cx="0" cy="0"/>
          <a:chOff x="0" y="0"/>
          <a:chExt cx="0" cy="0"/>
        </a:xfrm>
      </p:grpSpPr>
      <p:sp>
        <p:nvSpPr>
          <p:cNvPr id="1663" name="Google Shape;1663;g24e6b4d5c31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4" name="Google Shape;1664;g24e6b4d5c31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b="1"/>
              <a:t>User</a:t>
            </a:r>
          </a:p>
          <a:p>
            <a:pPr>
              <a:buNone/>
            </a:pPr>
            <a:r>
              <a:rPr lang="en-US"/>
              <a:t>-</a:t>
            </a:r>
            <a:r>
              <a:rPr lang="en-US" err="1"/>
              <a:t>Phát</a:t>
            </a:r>
            <a:r>
              <a:rPr lang="en-US"/>
              <a:t> </a:t>
            </a:r>
            <a:r>
              <a:rPr lang="en-US" err="1"/>
              <a:t>sinh</a:t>
            </a:r>
            <a:r>
              <a:rPr lang="en-US"/>
              <a:t> </a:t>
            </a:r>
            <a:r>
              <a:rPr lang="en-US" err="1"/>
              <a:t>yêu</a:t>
            </a:r>
            <a:r>
              <a:rPr lang="en-US"/>
              <a:t> </a:t>
            </a:r>
            <a:r>
              <a:rPr lang="en-US" err="1"/>
              <a:t>cầu</a:t>
            </a:r>
            <a:r>
              <a:rPr lang="en-US"/>
              <a:t> (natural language question, task description, constraint).</a:t>
            </a:r>
          </a:p>
          <a:p>
            <a:pPr>
              <a:buNone/>
            </a:pPr>
            <a:r>
              <a:rPr lang="en-US"/>
              <a:t>-</a:t>
            </a:r>
            <a:r>
              <a:rPr lang="en-US" err="1"/>
              <a:t>Nhận</a:t>
            </a:r>
            <a:r>
              <a:rPr lang="en-US"/>
              <a:t> </a:t>
            </a:r>
            <a:r>
              <a:rPr lang="en-US" err="1"/>
              <a:t>phản</a:t>
            </a:r>
            <a:r>
              <a:rPr lang="en-US"/>
              <a:t> </a:t>
            </a:r>
            <a:r>
              <a:rPr lang="en-US" err="1"/>
              <a:t>hồi</a:t>
            </a:r>
            <a:r>
              <a:rPr lang="en-US"/>
              <a:t> </a:t>
            </a:r>
            <a:r>
              <a:rPr lang="en-US" err="1"/>
              <a:t>cuối</a:t>
            </a:r>
            <a:r>
              <a:rPr lang="en-US"/>
              <a:t> </a:t>
            </a:r>
            <a:r>
              <a:rPr lang="en-US" err="1"/>
              <a:t>cùng</a:t>
            </a:r>
            <a:r>
              <a:rPr lang="en-US"/>
              <a:t> (final response).</a:t>
            </a:r>
          </a:p>
          <a:p>
            <a:pPr>
              <a:buNone/>
            </a:pPr>
            <a:r>
              <a:rPr lang="en-US" b="1"/>
              <a:t>Supervisor Agent</a:t>
            </a:r>
          </a:p>
          <a:p>
            <a:pPr>
              <a:buNone/>
            </a:pPr>
            <a:r>
              <a:rPr lang="en-US"/>
              <a:t>-</a:t>
            </a:r>
            <a:r>
              <a:rPr lang="en-US" err="1"/>
              <a:t>Tiền</a:t>
            </a:r>
            <a:r>
              <a:rPr lang="en-US"/>
              <a:t> </a:t>
            </a:r>
            <a:r>
              <a:rPr lang="en-US" err="1"/>
              <a:t>xử</a:t>
            </a:r>
            <a:r>
              <a:rPr lang="en-US"/>
              <a:t> </a:t>
            </a:r>
            <a:r>
              <a:rPr lang="en-US" err="1"/>
              <a:t>lý</a:t>
            </a:r>
            <a:r>
              <a:rPr lang="en-US"/>
              <a:t> </a:t>
            </a:r>
            <a:r>
              <a:rPr lang="en-US" err="1"/>
              <a:t>yêu</a:t>
            </a:r>
            <a:r>
              <a:rPr lang="en-US"/>
              <a:t> </a:t>
            </a:r>
            <a:r>
              <a:rPr lang="en-US" err="1"/>
              <a:t>cầu</a:t>
            </a:r>
            <a:r>
              <a:rPr lang="en-US"/>
              <a:t>: </a:t>
            </a:r>
            <a:r>
              <a:rPr lang="en-US" err="1"/>
              <a:t>phân</a:t>
            </a:r>
            <a:r>
              <a:rPr lang="en-US"/>
              <a:t> </a:t>
            </a:r>
            <a:r>
              <a:rPr lang="en-US" err="1"/>
              <a:t>tách</a:t>
            </a:r>
            <a:r>
              <a:rPr lang="en-US"/>
              <a:t> intent, </a:t>
            </a:r>
            <a:r>
              <a:rPr lang="en-US" err="1"/>
              <a:t>xác</a:t>
            </a:r>
            <a:r>
              <a:rPr lang="en-US"/>
              <a:t> </a:t>
            </a:r>
            <a:r>
              <a:rPr lang="en-US" err="1"/>
              <a:t>định</a:t>
            </a:r>
            <a:r>
              <a:rPr lang="en-US"/>
              <a:t> </a:t>
            </a:r>
            <a:r>
              <a:rPr lang="en-US" err="1"/>
              <a:t>các</a:t>
            </a:r>
            <a:r>
              <a:rPr lang="en-US"/>
              <a:t> subtask, </a:t>
            </a:r>
            <a:r>
              <a:rPr lang="en-US" err="1"/>
              <a:t>chuẩn</a:t>
            </a:r>
            <a:r>
              <a:rPr lang="en-US"/>
              <a:t> </a:t>
            </a:r>
            <a:r>
              <a:rPr lang="en-US" err="1"/>
              <a:t>hóa</a:t>
            </a:r>
            <a:r>
              <a:rPr lang="en-US"/>
              <a:t>/</a:t>
            </a:r>
            <a:r>
              <a:rPr lang="en-US" err="1"/>
              <a:t>kiểm</a:t>
            </a:r>
            <a:r>
              <a:rPr lang="en-US"/>
              <a:t> </a:t>
            </a:r>
            <a:r>
              <a:rPr lang="en-US" err="1"/>
              <a:t>tra</a:t>
            </a:r>
            <a:r>
              <a:rPr lang="en-US"/>
              <a:t> </a:t>
            </a:r>
            <a:r>
              <a:rPr lang="en-US" err="1"/>
              <a:t>đầu</a:t>
            </a:r>
            <a:r>
              <a:rPr lang="en-US"/>
              <a:t> </a:t>
            </a:r>
            <a:r>
              <a:rPr lang="en-US" err="1"/>
              <a:t>vào</a:t>
            </a:r>
            <a:r>
              <a:rPr lang="en-US"/>
              <a:t>.</a:t>
            </a:r>
          </a:p>
          <a:p>
            <a:pPr>
              <a:buNone/>
            </a:pPr>
            <a:r>
              <a:rPr lang="en-US"/>
              <a:t>-</a:t>
            </a:r>
            <a:r>
              <a:rPr lang="en-US" err="1"/>
              <a:t>Phân</a:t>
            </a:r>
            <a:r>
              <a:rPr lang="en-US"/>
              <a:t> </a:t>
            </a:r>
            <a:r>
              <a:rPr lang="en-US" err="1"/>
              <a:t>phối</a:t>
            </a:r>
            <a:r>
              <a:rPr lang="en-US"/>
              <a:t> </a:t>
            </a:r>
            <a:r>
              <a:rPr lang="en-US" err="1"/>
              <a:t>công</a:t>
            </a:r>
            <a:r>
              <a:rPr lang="en-US"/>
              <a:t> </a:t>
            </a:r>
            <a:r>
              <a:rPr lang="en-US" err="1"/>
              <a:t>việc</a:t>
            </a:r>
            <a:r>
              <a:rPr lang="en-US"/>
              <a:t>: </a:t>
            </a:r>
            <a:r>
              <a:rPr lang="en-US" err="1"/>
              <a:t>chọn</a:t>
            </a:r>
            <a:r>
              <a:rPr lang="en-US"/>
              <a:t> agent </a:t>
            </a:r>
            <a:r>
              <a:rPr lang="en-US" err="1"/>
              <a:t>phù</a:t>
            </a:r>
            <a:r>
              <a:rPr lang="en-US"/>
              <a:t> </a:t>
            </a:r>
            <a:r>
              <a:rPr lang="en-US" err="1"/>
              <a:t>hợp</a:t>
            </a:r>
            <a:r>
              <a:rPr lang="en-US"/>
              <a:t>, </a:t>
            </a:r>
            <a:r>
              <a:rPr lang="en-US" err="1"/>
              <a:t>quyết</a:t>
            </a:r>
            <a:r>
              <a:rPr lang="en-US"/>
              <a:t> </a:t>
            </a:r>
            <a:r>
              <a:rPr lang="en-US" err="1"/>
              <a:t>định</a:t>
            </a:r>
            <a:r>
              <a:rPr lang="en-US"/>
              <a:t> </a:t>
            </a:r>
            <a:r>
              <a:rPr lang="en-US" err="1"/>
              <a:t>số</a:t>
            </a:r>
            <a:r>
              <a:rPr lang="en-US"/>
              <a:t> </a:t>
            </a:r>
            <a:r>
              <a:rPr lang="en-US" err="1"/>
              <a:t>lượng</a:t>
            </a:r>
            <a:r>
              <a:rPr lang="en-US"/>
              <a:t> agents </a:t>
            </a:r>
            <a:r>
              <a:rPr lang="en-US" err="1"/>
              <a:t>tham</a:t>
            </a:r>
            <a:r>
              <a:rPr lang="en-US"/>
              <a:t> </a:t>
            </a:r>
            <a:r>
              <a:rPr lang="en-US" err="1"/>
              <a:t>gia</a:t>
            </a:r>
            <a:r>
              <a:rPr lang="en-US"/>
              <a:t>, </a:t>
            </a:r>
            <a:r>
              <a:rPr lang="en-US" err="1"/>
              <a:t>và</a:t>
            </a:r>
            <a:r>
              <a:rPr lang="en-US"/>
              <a:t> </a:t>
            </a:r>
            <a:r>
              <a:rPr lang="en-US" err="1"/>
              <a:t>chỉ</a:t>
            </a:r>
            <a:r>
              <a:rPr lang="en-US"/>
              <a:t> </a:t>
            </a:r>
            <a:r>
              <a:rPr lang="en-US" err="1"/>
              <a:t>ra</a:t>
            </a:r>
            <a:r>
              <a:rPr lang="en-US"/>
              <a:t> tool (</a:t>
            </a:r>
            <a:r>
              <a:rPr lang="en-US" err="1"/>
              <a:t>nếu</a:t>
            </a:r>
            <a:r>
              <a:rPr lang="en-US"/>
              <a:t> </a:t>
            </a:r>
            <a:r>
              <a:rPr lang="en-US" err="1"/>
              <a:t>cần</a:t>
            </a:r>
            <a:r>
              <a:rPr lang="en-US"/>
              <a:t>).</a:t>
            </a:r>
          </a:p>
          <a:p>
            <a:pPr>
              <a:buNone/>
            </a:pPr>
            <a:r>
              <a:rPr lang="en-US"/>
              <a:t>-</a:t>
            </a:r>
            <a:r>
              <a:rPr lang="en-US" err="1"/>
              <a:t>Giám</a:t>
            </a:r>
            <a:r>
              <a:rPr lang="en-US"/>
              <a:t> </a:t>
            </a:r>
            <a:r>
              <a:rPr lang="en-US" err="1"/>
              <a:t>sát</a:t>
            </a:r>
            <a:r>
              <a:rPr lang="en-US"/>
              <a:t> &amp; </a:t>
            </a:r>
            <a:r>
              <a:rPr lang="en-US" err="1"/>
              <a:t>hợp</a:t>
            </a:r>
            <a:r>
              <a:rPr lang="en-US"/>
              <a:t> </a:t>
            </a:r>
            <a:r>
              <a:rPr lang="en-US" err="1"/>
              <a:t>nhất</a:t>
            </a:r>
            <a:r>
              <a:rPr lang="en-US"/>
              <a:t>: </a:t>
            </a:r>
            <a:r>
              <a:rPr lang="en-US" err="1"/>
              <a:t>thu</a:t>
            </a:r>
            <a:r>
              <a:rPr lang="en-US"/>
              <a:t> </a:t>
            </a:r>
            <a:r>
              <a:rPr lang="en-US" err="1"/>
              <a:t>thập</a:t>
            </a:r>
            <a:r>
              <a:rPr lang="en-US"/>
              <a:t> </a:t>
            </a:r>
            <a:r>
              <a:rPr lang="en-US" err="1"/>
              <a:t>phản</a:t>
            </a:r>
            <a:r>
              <a:rPr lang="en-US"/>
              <a:t> </a:t>
            </a:r>
            <a:r>
              <a:rPr lang="en-US" err="1"/>
              <a:t>hồi</a:t>
            </a:r>
            <a:r>
              <a:rPr lang="en-US"/>
              <a:t> </a:t>
            </a:r>
            <a:r>
              <a:rPr lang="en-US" err="1"/>
              <a:t>từ</a:t>
            </a:r>
            <a:r>
              <a:rPr lang="en-US"/>
              <a:t> workers, </a:t>
            </a:r>
            <a:r>
              <a:rPr lang="en-US" err="1"/>
              <a:t>thực</a:t>
            </a:r>
            <a:r>
              <a:rPr lang="en-US"/>
              <a:t> </a:t>
            </a:r>
            <a:r>
              <a:rPr lang="en-US" err="1"/>
              <a:t>hiện</a:t>
            </a:r>
            <a:r>
              <a:rPr lang="en-US"/>
              <a:t> aggregation (</a:t>
            </a:r>
            <a:r>
              <a:rPr lang="en-US" err="1"/>
              <a:t>ví</a:t>
            </a:r>
            <a:r>
              <a:rPr lang="en-US"/>
              <a:t> </a:t>
            </a:r>
            <a:r>
              <a:rPr lang="en-US" err="1"/>
              <a:t>dụ</a:t>
            </a:r>
            <a:r>
              <a:rPr lang="en-US"/>
              <a:t>: majority voting, confidence-weighted fusion, </a:t>
            </a:r>
            <a:r>
              <a:rPr lang="en-US" err="1"/>
              <a:t>hoặc</a:t>
            </a:r>
            <a:r>
              <a:rPr lang="en-US"/>
              <a:t> ensemble reasoning).</a:t>
            </a:r>
          </a:p>
          <a:p>
            <a:pPr>
              <a:buNone/>
            </a:pPr>
            <a:r>
              <a:rPr lang="en-US"/>
              <a:t>-</a:t>
            </a:r>
            <a:r>
              <a:rPr lang="en-US" err="1"/>
              <a:t>Kiểm</a:t>
            </a:r>
            <a:r>
              <a:rPr lang="en-US"/>
              <a:t> </a:t>
            </a:r>
            <a:r>
              <a:rPr lang="en-US" err="1"/>
              <a:t>tra</a:t>
            </a:r>
            <a:r>
              <a:rPr lang="en-US"/>
              <a:t> </a:t>
            </a:r>
            <a:r>
              <a:rPr lang="en-US" err="1"/>
              <a:t>chất</a:t>
            </a:r>
            <a:r>
              <a:rPr lang="en-US"/>
              <a:t> </a:t>
            </a:r>
            <a:r>
              <a:rPr lang="en-US" err="1"/>
              <a:t>lượng</a:t>
            </a:r>
            <a:r>
              <a:rPr lang="en-US"/>
              <a:t>: </a:t>
            </a:r>
            <a:r>
              <a:rPr lang="en-US" err="1"/>
              <a:t>chạy</a:t>
            </a:r>
            <a:r>
              <a:rPr lang="en-US"/>
              <a:t> </a:t>
            </a:r>
            <a:r>
              <a:rPr lang="en-US" err="1"/>
              <a:t>các</a:t>
            </a:r>
            <a:r>
              <a:rPr lang="en-US"/>
              <a:t> </a:t>
            </a:r>
            <a:r>
              <a:rPr lang="en-US" err="1"/>
              <a:t>kiểm</a:t>
            </a:r>
            <a:r>
              <a:rPr lang="en-US"/>
              <a:t> </a:t>
            </a:r>
            <a:r>
              <a:rPr lang="en-US" err="1"/>
              <a:t>tra</a:t>
            </a:r>
            <a:r>
              <a:rPr lang="en-US"/>
              <a:t> plausibility, consistency, </a:t>
            </a:r>
            <a:r>
              <a:rPr lang="en-US" err="1"/>
              <a:t>hoặc</a:t>
            </a:r>
            <a:r>
              <a:rPr lang="en-US"/>
              <a:t> </a:t>
            </a:r>
            <a:r>
              <a:rPr lang="en-US" err="1"/>
              <a:t>thêm</a:t>
            </a:r>
            <a:r>
              <a:rPr lang="en-US"/>
              <a:t> </a:t>
            </a:r>
            <a:r>
              <a:rPr lang="en-US" err="1"/>
              <a:t>bước</a:t>
            </a:r>
            <a:r>
              <a:rPr lang="en-US"/>
              <a:t> verification (self-critique).</a:t>
            </a:r>
          </a:p>
          <a:p>
            <a:pPr>
              <a:buNone/>
            </a:pPr>
            <a:r>
              <a:rPr lang="en-US"/>
              <a:t>-Quản </a:t>
            </a:r>
            <a:r>
              <a:rPr lang="en-US" err="1"/>
              <a:t>lý</a:t>
            </a:r>
            <a:r>
              <a:rPr lang="en-US"/>
              <a:t> </a:t>
            </a:r>
            <a:r>
              <a:rPr lang="en-US" err="1"/>
              <a:t>luồng</a:t>
            </a:r>
            <a:r>
              <a:rPr lang="en-US"/>
              <a:t>: retry, fallback, timeout, </a:t>
            </a:r>
            <a:r>
              <a:rPr lang="en-US" err="1"/>
              <a:t>và</a:t>
            </a:r>
            <a:r>
              <a:rPr lang="en-US"/>
              <a:t> logging.</a:t>
            </a:r>
          </a:p>
          <a:p>
            <a:pPr>
              <a:buNone/>
            </a:pPr>
            <a:r>
              <a:rPr lang="en-US" b="1"/>
              <a:t>Worker Agents</a:t>
            </a:r>
          </a:p>
          <a:p>
            <a:pPr>
              <a:buNone/>
            </a:pPr>
            <a:r>
              <a:rPr lang="en-US"/>
              <a:t>-</a:t>
            </a:r>
            <a:r>
              <a:rPr lang="en-US" err="1"/>
              <a:t>Mỗi</a:t>
            </a:r>
            <a:r>
              <a:rPr lang="en-US"/>
              <a:t> worker </a:t>
            </a:r>
            <a:r>
              <a:rPr lang="en-US" err="1"/>
              <a:t>là</a:t>
            </a:r>
            <a:r>
              <a:rPr lang="en-US"/>
              <a:t> </a:t>
            </a:r>
            <a:r>
              <a:rPr lang="en-US" err="1"/>
              <a:t>một</a:t>
            </a:r>
            <a:r>
              <a:rPr lang="en-US"/>
              <a:t> </a:t>
            </a:r>
            <a:r>
              <a:rPr lang="en-US" err="1"/>
              <a:t>chuyên</a:t>
            </a:r>
            <a:r>
              <a:rPr lang="en-US"/>
              <a:t> </a:t>
            </a:r>
            <a:r>
              <a:rPr lang="en-US" err="1"/>
              <a:t>gia</a:t>
            </a:r>
            <a:r>
              <a:rPr lang="en-US"/>
              <a:t> (expert) </a:t>
            </a:r>
            <a:r>
              <a:rPr lang="en-US" err="1"/>
              <a:t>hoặc</a:t>
            </a:r>
            <a:r>
              <a:rPr lang="en-US"/>
              <a:t> </a:t>
            </a:r>
            <a:r>
              <a:rPr lang="en-US" err="1"/>
              <a:t>một</a:t>
            </a:r>
            <a:r>
              <a:rPr lang="en-US"/>
              <a:t> </a:t>
            </a:r>
            <a:r>
              <a:rPr lang="en-US" err="1"/>
              <a:t>mô-đun</a:t>
            </a:r>
            <a:r>
              <a:rPr lang="en-US"/>
              <a:t> </a:t>
            </a:r>
            <a:r>
              <a:rPr lang="en-US" err="1"/>
              <a:t>chức</a:t>
            </a:r>
            <a:r>
              <a:rPr lang="en-US"/>
              <a:t> </a:t>
            </a:r>
            <a:r>
              <a:rPr lang="en-US" err="1"/>
              <a:t>năng</a:t>
            </a:r>
            <a:r>
              <a:rPr lang="en-US"/>
              <a:t> (retriever, generator, verifier, calculator, planner).</a:t>
            </a:r>
          </a:p>
          <a:p>
            <a:pPr>
              <a:buNone/>
            </a:pPr>
            <a:r>
              <a:rPr lang="en-US"/>
              <a:t>-</a:t>
            </a:r>
            <a:r>
              <a:rPr lang="en-US" err="1"/>
              <a:t>Tương</a:t>
            </a:r>
            <a:r>
              <a:rPr lang="en-US"/>
              <a:t> </a:t>
            </a:r>
            <a:r>
              <a:rPr lang="en-US" err="1"/>
              <a:t>tác</a:t>
            </a:r>
            <a:r>
              <a:rPr lang="en-US"/>
              <a:t> </a:t>
            </a:r>
            <a:r>
              <a:rPr lang="en-US" err="1"/>
              <a:t>với</a:t>
            </a:r>
            <a:r>
              <a:rPr lang="en-US"/>
              <a:t> Tools </a:t>
            </a:r>
            <a:r>
              <a:rPr lang="en-US" err="1"/>
              <a:t>để</a:t>
            </a:r>
            <a:r>
              <a:rPr lang="en-US"/>
              <a:t> </a:t>
            </a:r>
            <a:r>
              <a:rPr lang="en-US" err="1"/>
              <a:t>thực</a:t>
            </a:r>
            <a:r>
              <a:rPr lang="en-US"/>
              <a:t> </a:t>
            </a:r>
            <a:r>
              <a:rPr lang="en-US" err="1"/>
              <a:t>thi</a:t>
            </a:r>
            <a:r>
              <a:rPr lang="en-US"/>
              <a:t> subtask (</a:t>
            </a:r>
            <a:r>
              <a:rPr lang="en-US" err="1"/>
              <a:t>ví</a:t>
            </a:r>
            <a:r>
              <a:rPr lang="en-US"/>
              <a:t> </a:t>
            </a:r>
            <a:r>
              <a:rPr lang="en-US" err="1"/>
              <a:t>dụ</a:t>
            </a:r>
            <a:r>
              <a:rPr lang="en-US"/>
              <a:t>: </a:t>
            </a:r>
            <a:r>
              <a:rPr lang="en-US" err="1"/>
              <a:t>truy</a:t>
            </a:r>
            <a:r>
              <a:rPr lang="en-US"/>
              <a:t> </a:t>
            </a:r>
            <a:r>
              <a:rPr lang="en-US" err="1"/>
              <a:t>vấn</a:t>
            </a:r>
            <a:r>
              <a:rPr lang="en-US"/>
              <a:t> </a:t>
            </a:r>
            <a:r>
              <a:rPr lang="en-US" err="1"/>
              <a:t>cơ</a:t>
            </a:r>
            <a:r>
              <a:rPr lang="en-US"/>
              <a:t> </a:t>
            </a:r>
            <a:r>
              <a:rPr lang="en-US" err="1"/>
              <a:t>sở</a:t>
            </a:r>
            <a:r>
              <a:rPr lang="en-US"/>
              <a:t> </a:t>
            </a:r>
            <a:r>
              <a:rPr lang="en-US" err="1"/>
              <a:t>dữ</a:t>
            </a:r>
            <a:r>
              <a:rPr lang="en-US"/>
              <a:t> </a:t>
            </a:r>
            <a:r>
              <a:rPr lang="en-US" err="1"/>
              <a:t>liệu</a:t>
            </a:r>
            <a:r>
              <a:rPr lang="en-US"/>
              <a:t>, </a:t>
            </a:r>
            <a:r>
              <a:rPr lang="en-US" err="1"/>
              <a:t>chạy</a:t>
            </a:r>
            <a:r>
              <a:rPr lang="en-US"/>
              <a:t> </a:t>
            </a:r>
            <a:r>
              <a:rPr lang="en-US" err="1"/>
              <a:t>mô</a:t>
            </a:r>
            <a:r>
              <a:rPr lang="en-US"/>
              <a:t> </a:t>
            </a:r>
            <a:r>
              <a:rPr lang="en-US" err="1"/>
              <a:t>hình</a:t>
            </a:r>
            <a:r>
              <a:rPr lang="en-US"/>
              <a:t> </a:t>
            </a:r>
            <a:r>
              <a:rPr lang="en-US" err="1"/>
              <a:t>chuyên</a:t>
            </a:r>
            <a:r>
              <a:rPr lang="en-US"/>
              <a:t> </a:t>
            </a:r>
            <a:r>
              <a:rPr lang="en-US" err="1"/>
              <a:t>biệt</a:t>
            </a:r>
            <a:r>
              <a:rPr lang="en-US"/>
              <a:t>, </a:t>
            </a:r>
            <a:r>
              <a:rPr lang="en-US" err="1"/>
              <a:t>gọi</a:t>
            </a:r>
            <a:r>
              <a:rPr lang="en-US"/>
              <a:t> API </a:t>
            </a:r>
            <a:r>
              <a:rPr lang="en-US" err="1"/>
              <a:t>bên</a:t>
            </a:r>
            <a:r>
              <a:rPr lang="en-US"/>
              <a:t> </a:t>
            </a:r>
            <a:r>
              <a:rPr lang="en-US" err="1"/>
              <a:t>ngoài</a:t>
            </a:r>
            <a:r>
              <a:rPr lang="en-US"/>
              <a:t>).</a:t>
            </a:r>
          </a:p>
          <a:p>
            <a:pPr>
              <a:buNone/>
            </a:pPr>
            <a:r>
              <a:rPr lang="en-US"/>
              <a:t>-Báo </a:t>
            </a:r>
            <a:r>
              <a:rPr lang="en-US" err="1"/>
              <a:t>cáo</a:t>
            </a:r>
            <a:r>
              <a:rPr lang="en-US"/>
              <a:t>: </a:t>
            </a:r>
            <a:r>
              <a:rPr lang="en-US" err="1"/>
              <a:t>trả</a:t>
            </a:r>
            <a:r>
              <a:rPr lang="en-US"/>
              <a:t> </a:t>
            </a:r>
            <a:r>
              <a:rPr lang="en-US" err="1"/>
              <a:t>về</a:t>
            </a:r>
            <a:r>
              <a:rPr lang="en-US"/>
              <a:t> </a:t>
            </a:r>
            <a:r>
              <a:rPr lang="en-US" err="1"/>
              <a:t>nội</a:t>
            </a:r>
            <a:r>
              <a:rPr lang="en-US"/>
              <a:t> dung </a:t>
            </a:r>
            <a:r>
              <a:rPr lang="en-US" err="1"/>
              <a:t>kết</a:t>
            </a:r>
            <a:r>
              <a:rPr lang="en-US"/>
              <a:t> </a:t>
            </a:r>
            <a:r>
              <a:rPr lang="en-US" err="1"/>
              <a:t>quả</a:t>
            </a:r>
            <a:r>
              <a:rPr lang="en-US"/>
              <a:t>, </a:t>
            </a:r>
            <a:r>
              <a:rPr lang="en-US" err="1"/>
              <a:t>điểm</a:t>
            </a:r>
            <a:r>
              <a:rPr lang="en-US"/>
              <a:t> tin </a:t>
            </a:r>
            <a:r>
              <a:rPr lang="en-US" err="1"/>
              <a:t>cậy</a:t>
            </a:r>
            <a:r>
              <a:rPr lang="en-US"/>
              <a:t> (confidence), </a:t>
            </a:r>
            <a:r>
              <a:rPr lang="en-US" err="1"/>
              <a:t>và</a:t>
            </a:r>
            <a:r>
              <a:rPr lang="en-US"/>
              <a:t> metadata (latency, traces).</a:t>
            </a:r>
          </a:p>
          <a:p>
            <a:pPr>
              <a:buNone/>
            </a:pPr>
            <a:r>
              <a:rPr lang="en-US" b="1"/>
              <a:t>Tools</a:t>
            </a:r>
          </a:p>
          <a:p>
            <a:pPr>
              <a:buNone/>
            </a:pPr>
            <a:r>
              <a:rPr lang="en-US"/>
              <a:t>-</a:t>
            </a:r>
            <a:r>
              <a:rPr lang="en-US" err="1"/>
              <a:t>Dịch</a:t>
            </a:r>
            <a:r>
              <a:rPr lang="en-US"/>
              <a:t> </a:t>
            </a:r>
            <a:r>
              <a:rPr lang="en-US" err="1"/>
              <a:t>vụ</a:t>
            </a:r>
            <a:r>
              <a:rPr lang="en-US"/>
              <a:t> </a:t>
            </a:r>
            <a:r>
              <a:rPr lang="en-US" err="1"/>
              <a:t>bên</a:t>
            </a:r>
            <a:r>
              <a:rPr lang="en-US"/>
              <a:t> </a:t>
            </a:r>
            <a:r>
              <a:rPr lang="en-US" err="1"/>
              <a:t>ngoài</a:t>
            </a:r>
            <a:r>
              <a:rPr lang="en-US"/>
              <a:t> </a:t>
            </a:r>
            <a:r>
              <a:rPr lang="en-US" err="1"/>
              <a:t>hoặc</a:t>
            </a:r>
            <a:r>
              <a:rPr lang="en-US"/>
              <a:t> </a:t>
            </a:r>
            <a:r>
              <a:rPr lang="en-US" err="1"/>
              <a:t>nội</a:t>
            </a:r>
            <a:r>
              <a:rPr lang="en-US"/>
              <a:t> </a:t>
            </a:r>
            <a:r>
              <a:rPr lang="en-US" err="1"/>
              <a:t>bộ</a:t>
            </a:r>
            <a:r>
              <a:rPr lang="en-US"/>
              <a:t> (search engine, knowledge base, calculator, code execution environment, LLMs </a:t>
            </a:r>
            <a:r>
              <a:rPr lang="en-US" err="1"/>
              <a:t>chuyên</a:t>
            </a:r>
            <a:r>
              <a:rPr lang="en-US"/>
              <a:t> </a:t>
            </a:r>
            <a:r>
              <a:rPr lang="en-US" err="1"/>
              <a:t>dụng</a:t>
            </a:r>
            <a:r>
              <a:rPr lang="en-US"/>
              <a:t>).</a:t>
            </a:r>
          </a:p>
          <a:p>
            <a:pPr>
              <a:buNone/>
            </a:pPr>
            <a:r>
              <a:rPr lang="en-US"/>
              <a:t>-</a:t>
            </a:r>
            <a:r>
              <a:rPr lang="en-US" err="1"/>
              <a:t>Tính</a:t>
            </a:r>
            <a:r>
              <a:rPr lang="en-US"/>
              <a:t> </a:t>
            </a:r>
            <a:r>
              <a:rPr lang="en-US" err="1"/>
              <a:t>bất</a:t>
            </a:r>
            <a:r>
              <a:rPr lang="en-US"/>
              <a:t> </a:t>
            </a:r>
            <a:r>
              <a:rPr lang="en-US" err="1"/>
              <a:t>đồng</a:t>
            </a:r>
            <a:r>
              <a:rPr lang="en-US"/>
              <a:t> </a:t>
            </a:r>
            <a:r>
              <a:rPr lang="en-US" err="1"/>
              <a:t>bộ</a:t>
            </a:r>
            <a:r>
              <a:rPr lang="en-US"/>
              <a:t>/</a:t>
            </a:r>
            <a:r>
              <a:rPr lang="en-US" err="1"/>
              <a:t>ngoại</a:t>
            </a:r>
            <a:r>
              <a:rPr lang="en-US"/>
              <a:t> vi: Supervisor </a:t>
            </a:r>
            <a:r>
              <a:rPr lang="en-US" err="1"/>
              <a:t>quản</a:t>
            </a:r>
            <a:r>
              <a:rPr lang="en-US"/>
              <a:t> </a:t>
            </a:r>
            <a:r>
              <a:rPr lang="en-US" err="1"/>
              <a:t>lý</a:t>
            </a:r>
            <a:r>
              <a:rPr lang="en-US"/>
              <a:t> </a:t>
            </a:r>
            <a:r>
              <a:rPr lang="en-US" err="1"/>
              <a:t>truy</a:t>
            </a:r>
            <a:r>
              <a:rPr lang="en-US"/>
              <a:t> </a:t>
            </a:r>
            <a:r>
              <a:rPr lang="en-US" err="1"/>
              <a:t>vấn</a:t>
            </a:r>
            <a:r>
              <a:rPr lang="en-US"/>
              <a:t> </a:t>
            </a:r>
            <a:r>
              <a:rPr lang="en-US" err="1"/>
              <a:t>tới</a:t>
            </a:r>
            <a:r>
              <a:rPr lang="en-US"/>
              <a:t> </a:t>
            </a:r>
            <a:r>
              <a:rPr lang="en-US" err="1"/>
              <a:t>các</a:t>
            </a:r>
            <a:r>
              <a:rPr lang="en-US"/>
              <a:t> Tools qua Workers.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g24ed99bf1a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solidFill>
                  <a:schemeClr val="tx1"/>
                </a:solidFill>
              </a:rPr>
              <a:t>Sơ đồ mô tả </a:t>
            </a:r>
            <a:r>
              <a:rPr lang="en-US" b="1">
                <a:solidFill>
                  <a:schemeClr val="tx1"/>
                </a:solidFill>
              </a:rPr>
              <a:t>kiến trúc tổng thể của một hệ thống gợi ý sử dụng Multi-Agent System (MAS)</a:t>
            </a:r>
            <a:r>
              <a:rPr lang="en-US">
                <a:solidFill>
                  <a:schemeClr val="tx1"/>
                </a:solidFill>
              </a:rPr>
              <a:t>, trong đó nhiều tác tử (agent) chuyên biệt phối hợp với nhau để phân tích yêu cầu, tìm kiếm dữ liệu, chạy mô hình gợi ý và sinh kết quả cuối cùng cho người dùng. Kiến trúc này được tổ chức theo mô hình </a:t>
            </a:r>
            <a:r>
              <a:rPr lang="en-US" b="1">
                <a:solidFill>
                  <a:schemeClr val="tx1"/>
                </a:solidFill>
              </a:rPr>
              <a:t>phân vai – điều phối – phản hồi</a:t>
            </a:r>
            <a:r>
              <a:rPr lang="en-US">
                <a:solidFill>
                  <a:schemeClr val="tx1"/>
                </a:solidFill>
              </a:rPr>
              <a:t>, nhằm tăng tính linh hoạt, khả năng mở rộng và chất lượng gợi ý.</a:t>
            </a:r>
          </a:p>
          <a:p>
            <a:pPr>
              <a:buNone/>
            </a:pPr>
            <a:br>
              <a:rPr lang="en-US"/>
            </a:br>
            <a:endParaRPr lang="en-US"/>
          </a:p>
          <a:p>
            <a:pPr>
              <a:buNone/>
            </a:pPr>
            <a:r>
              <a:rPr lang="en-US" b="1"/>
              <a:t>1. User và Interpreter Agent – Tiếp nhận &amp; hiểu yêu cầu</a:t>
            </a:r>
            <a:endParaRPr lang="en-US"/>
          </a:p>
          <a:p>
            <a:pPr>
              <a:buNone/>
            </a:pPr>
            <a:r>
              <a:rPr lang="en-US">
                <a:solidFill>
                  <a:schemeClr val="tx1"/>
                </a:solidFill>
              </a:rPr>
              <a:t>Quá trình bắt đầu khi </a:t>
            </a:r>
            <a:r>
              <a:rPr lang="en-US" b="1">
                <a:solidFill>
                  <a:schemeClr val="tx1"/>
                </a:solidFill>
              </a:rPr>
              <a:t>User</a:t>
            </a:r>
            <a:r>
              <a:rPr lang="en-US">
                <a:solidFill>
                  <a:schemeClr val="tx1"/>
                </a:solidFill>
              </a:rPr>
              <a:t> gửi yêu cầu (input) vào hệ thống, ví dụ:</a:t>
            </a:r>
            <a:endParaRPr lang="en-US"/>
          </a:p>
          <a:p>
            <a:pPr>
              <a:buNone/>
            </a:pPr>
            <a:r>
              <a:rPr lang="en-US">
                <a:solidFill>
                  <a:schemeClr val="tx1"/>
                </a:solidFill>
              </a:rPr>
              <a:t>“Hãy gợi ý cho tôi những bộ phim phù hợp dựa trên lịch sử xem.”</a:t>
            </a:r>
            <a:endParaRPr lang="en-US"/>
          </a:p>
          <a:p>
            <a:pPr>
              <a:buNone/>
            </a:pPr>
            <a:r>
              <a:rPr lang="en-US">
                <a:solidFill>
                  <a:schemeClr val="tx1"/>
                </a:solidFill>
              </a:rPr>
              <a:t>Yêu cầu này được chuyển đến </a:t>
            </a:r>
            <a:r>
              <a:rPr lang="en-US" b="1">
                <a:solidFill>
                  <a:schemeClr val="tx1"/>
                </a:solidFill>
              </a:rPr>
              <a:t>Interpreter Agent</a:t>
            </a:r>
            <a:r>
              <a:rPr lang="en-US">
                <a:solidFill>
                  <a:schemeClr val="tx1"/>
                </a:solidFill>
              </a:rPr>
              <a:t>, có nhiệm vụ:</a:t>
            </a:r>
            <a:endParaRPr lang="en-US"/>
          </a:p>
          <a:p>
            <a:pPr marL="171450" indent="-171450"/>
            <a:r>
              <a:rPr lang="en-US">
                <a:solidFill>
                  <a:schemeClr val="tx1"/>
                </a:solidFill>
              </a:rPr>
              <a:t>Phân tích ngôn ngữ tự nhiên của người dùng</a:t>
            </a:r>
          </a:p>
          <a:p>
            <a:pPr marL="171450" indent="-171450"/>
            <a:r>
              <a:rPr lang="en-US">
                <a:solidFill>
                  <a:schemeClr val="tx1"/>
                </a:solidFill>
              </a:rPr>
              <a:t>Xác định mục tiêu (recommendation, search, analysis, v.v.)</a:t>
            </a:r>
            <a:endParaRPr lang="en-US"/>
          </a:p>
          <a:p>
            <a:pPr marL="171450" indent="-171450"/>
            <a:r>
              <a:rPr lang="en-US">
                <a:solidFill>
                  <a:schemeClr val="tx1"/>
                </a:solidFill>
              </a:rPr>
              <a:t>Chuẩn hóa truy vấn thành </a:t>
            </a:r>
            <a:r>
              <a:rPr lang="en-US" b="1">
                <a:solidFill>
                  <a:schemeClr val="tx1"/>
                </a:solidFill>
              </a:rPr>
              <a:t>Task Prompt</a:t>
            </a:r>
            <a:r>
              <a:rPr lang="en-US">
                <a:solidFill>
                  <a:schemeClr val="tx1"/>
                </a:solidFill>
              </a:rPr>
              <a:t> cho hệ thống</a:t>
            </a:r>
          </a:p>
          <a:p>
            <a:pPr indent="0">
              <a:buNone/>
            </a:pPr>
            <a:r>
              <a:rPr lang="en-US">
                <a:solidFill>
                  <a:schemeClr val="tx1"/>
                </a:solidFill>
              </a:rPr>
              <a:t>Sau đó, truy vấn đã được chuẩn hóa được gửi cho </a:t>
            </a:r>
            <a:r>
              <a:rPr lang="en-US" b="1">
                <a:solidFill>
                  <a:schemeClr val="tx1"/>
                </a:solidFill>
              </a:rPr>
              <a:t>Manager Agent</a:t>
            </a:r>
            <a:r>
              <a:rPr lang="en-US">
                <a:solidFill>
                  <a:schemeClr val="tx1"/>
                </a:solidFill>
              </a:rPr>
              <a:t>.</a:t>
            </a:r>
          </a:p>
          <a:p>
            <a:pPr>
              <a:buNone/>
            </a:pPr>
            <a:br>
              <a:rPr lang="en-US"/>
            </a:br>
            <a:endParaRPr lang="en-US"/>
          </a:p>
          <a:p>
            <a:pPr>
              <a:buNone/>
            </a:pPr>
            <a:r>
              <a:rPr lang="en-US" b="1"/>
              <a:t>2. Manager Agent – Trung tâm điều phối</a:t>
            </a:r>
            <a:endParaRPr lang="en-US"/>
          </a:p>
          <a:p>
            <a:pPr>
              <a:buNone/>
            </a:pPr>
            <a:r>
              <a:rPr lang="en-US" b="1">
                <a:solidFill>
                  <a:schemeClr val="tx1"/>
                </a:solidFill>
              </a:rPr>
              <a:t>Manager Agent</a:t>
            </a:r>
            <a:r>
              <a:rPr lang="en-US">
                <a:solidFill>
                  <a:schemeClr val="tx1"/>
                </a:solidFill>
              </a:rPr>
              <a:t> đóng vai trò điều phối trung tâm của toàn bộ hệ thống đa tác tử. Nhiệm vụ chính của Manager bao gồm:</a:t>
            </a:r>
            <a:endParaRPr lang="en-US"/>
          </a:p>
          <a:p>
            <a:pPr marL="171450" indent="-171450"/>
            <a:r>
              <a:rPr lang="en-US">
                <a:solidFill>
                  <a:schemeClr val="tx1"/>
                </a:solidFill>
              </a:rPr>
              <a:t>Nhận Task Prompt từ Interpreter Agent</a:t>
            </a:r>
            <a:endParaRPr lang="en-US"/>
          </a:p>
          <a:p>
            <a:pPr marL="171450" indent="-171450"/>
            <a:r>
              <a:rPr lang="en-US">
                <a:solidFill>
                  <a:schemeClr val="tx1"/>
                </a:solidFill>
              </a:rPr>
              <a:t>Quyết định luồng xử lý phù hợp (phân tích sở thích hay tìm kiếm thông tin)</a:t>
            </a:r>
            <a:endParaRPr lang="en-US"/>
          </a:p>
          <a:p>
            <a:pPr marL="171450" indent="-171450"/>
            <a:r>
              <a:rPr lang="en-US">
                <a:solidFill>
                  <a:schemeClr val="tx1"/>
                </a:solidFill>
              </a:rPr>
              <a:t>Phân công nhiệm vụ cho các agent chuyên biệt</a:t>
            </a:r>
            <a:endParaRPr lang="en-US"/>
          </a:p>
          <a:p>
            <a:pPr marL="171450" indent="-171450"/>
            <a:r>
              <a:rPr lang="en-US">
                <a:solidFill>
                  <a:schemeClr val="tx1"/>
                </a:solidFill>
              </a:rPr>
              <a:t>Tổng hợp kết quả từ các agent và kiểm soát chất lượng đầu ra</a:t>
            </a:r>
            <a:endParaRPr lang="en-US"/>
          </a:p>
          <a:p>
            <a:pPr indent="0">
              <a:buNone/>
            </a:pPr>
            <a:r>
              <a:rPr lang="en-US">
                <a:solidFill>
                  <a:schemeClr val="tx1"/>
                </a:solidFill>
              </a:rPr>
              <a:t>Trong sơ đồ, Manager điều phối hai nhánh xử lý song song:</a:t>
            </a:r>
            <a:endParaRPr lang="en-US"/>
          </a:p>
          <a:p>
            <a:pPr marL="171450" indent="-171450"/>
            <a:r>
              <a:rPr lang="en-US" b="1">
                <a:solidFill>
                  <a:schemeClr val="tx1"/>
                </a:solidFill>
              </a:rPr>
              <a:t>Analysis System (phân tích &amp; đề xuất ứng viên)</a:t>
            </a:r>
            <a:endParaRPr lang="en-US">
              <a:solidFill>
                <a:schemeClr val="tx1"/>
              </a:solidFill>
            </a:endParaRPr>
          </a:p>
          <a:p>
            <a:pPr marL="171450" indent="-171450"/>
            <a:r>
              <a:rPr lang="en-US" b="1">
                <a:solidFill>
                  <a:schemeClr val="tx1"/>
                </a:solidFill>
              </a:rPr>
              <a:t>Search System (tìm kiếm &amp; truy xuất chi tiết)</a:t>
            </a:r>
          </a:p>
          <a:p>
            <a:pPr indent="0">
              <a:buNone/>
            </a:pPr>
            <a:r>
              <a:rPr lang="en-US">
                <a:solidFill>
                  <a:schemeClr val="tx1"/>
                </a:solidFill>
              </a:rPr>
              <a:t>Ngoài ra, Manager còn tương tác với </a:t>
            </a:r>
            <a:r>
              <a:rPr lang="en-US" b="1">
                <a:solidFill>
                  <a:schemeClr val="tx1"/>
                </a:solidFill>
              </a:rPr>
              <a:t>Reflector Agent</a:t>
            </a:r>
            <a:r>
              <a:rPr lang="en-US">
                <a:solidFill>
                  <a:schemeClr val="tx1"/>
                </a:solidFill>
              </a:rPr>
              <a:t> để nhận phản hồi và cải thiện câu trả lời.</a:t>
            </a:r>
          </a:p>
          <a:p>
            <a:pPr>
              <a:buNone/>
            </a:pPr>
            <a:br>
              <a:rPr lang="en-US"/>
            </a:br>
            <a:endParaRPr lang="en-US"/>
          </a:p>
          <a:p>
            <a:pPr>
              <a:buNone/>
            </a:pPr>
            <a:r>
              <a:rPr lang="en-US" b="1"/>
              <a:t>3. Analysis System – Phân tích &amp; tạo danh sách gợi ý</a:t>
            </a:r>
            <a:endParaRPr lang="en-US"/>
          </a:p>
          <a:p>
            <a:pPr>
              <a:buNone/>
            </a:pPr>
            <a:r>
              <a:rPr lang="en-US" b="1"/>
              <a:t>3.1. Analyst Agent</a:t>
            </a:r>
            <a:endParaRPr lang="en-US"/>
          </a:p>
          <a:p>
            <a:pPr>
              <a:buNone/>
            </a:pPr>
            <a:r>
              <a:rPr lang="en-US">
                <a:solidFill>
                  <a:schemeClr val="tx1"/>
                </a:solidFill>
              </a:rPr>
              <a:t>Trong nhánh Analysis System, </a:t>
            </a:r>
            <a:r>
              <a:rPr lang="en-US" b="1">
                <a:solidFill>
                  <a:schemeClr val="tx1"/>
                </a:solidFill>
              </a:rPr>
              <a:t>Analyst Agent</a:t>
            </a:r>
            <a:r>
              <a:rPr lang="en-US">
                <a:solidFill>
                  <a:schemeClr val="tx1"/>
                </a:solidFill>
              </a:rPr>
              <a:t> chịu trách nhiệm:</a:t>
            </a:r>
            <a:endParaRPr lang="en-US"/>
          </a:p>
          <a:p>
            <a:pPr marL="171450" indent="-171450"/>
            <a:r>
              <a:rPr lang="en-US">
                <a:solidFill>
                  <a:schemeClr val="tx1"/>
                </a:solidFill>
              </a:rPr>
              <a:t>Phân tích hành vi và lịch sử của người dùng</a:t>
            </a:r>
            <a:endParaRPr lang="en-US"/>
          </a:p>
          <a:p>
            <a:pPr marL="171450" indent="-171450"/>
            <a:r>
              <a:rPr lang="en-US">
                <a:solidFill>
                  <a:schemeClr val="tx1"/>
                </a:solidFill>
              </a:rPr>
              <a:t>Gọi các công cụ (Tools) và mô hình gợi ý</a:t>
            </a:r>
            <a:endParaRPr lang="en-US"/>
          </a:p>
          <a:p>
            <a:pPr marL="171450" indent="-171450"/>
            <a:r>
              <a:rPr lang="en-US">
                <a:solidFill>
                  <a:schemeClr val="tx1"/>
                </a:solidFill>
              </a:rPr>
              <a:t>Tạo danh sách </a:t>
            </a:r>
            <a:r>
              <a:rPr lang="en-US" b="1">
                <a:solidFill>
                  <a:schemeClr val="tx1"/>
                </a:solidFill>
              </a:rPr>
              <a:t>candidate items</a:t>
            </a:r>
            <a:r>
              <a:rPr lang="en-US">
                <a:solidFill>
                  <a:schemeClr val="tx1"/>
                </a:solidFill>
              </a:rPr>
              <a:t> (ứng viên gợi ý)</a:t>
            </a:r>
          </a:p>
          <a:p>
            <a:pPr indent="0">
              <a:buNone/>
            </a:pPr>
            <a:r>
              <a:rPr lang="en-US" b="1"/>
              <a:t>3.2. Tools trong Analysis System</a:t>
            </a:r>
            <a:endParaRPr lang="en-US"/>
          </a:p>
          <a:p>
            <a:pPr>
              <a:buNone/>
            </a:pPr>
            <a:r>
              <a:rPr lang="en-US">
                <a:solidFill>
                  <a:schemeClr val="tx1"/>
                </a:solidFill>
              </a:rPr>
              <a:t>Analyst Agent sử dụng các công cụ:</a:t>
            </a:r>
            <a:endParaRPr lang="en-US"/>
          </a:p>
          <a:p>
            <a:pPr marL="171450" indent="-171450"/>
            <a:r>
              <a:rPr lang="en-US" b="1">
                <a:solidFill>
                  <a:schemeClr val="tx1"/>
                </a:solidFill>
              </a:rPr>
              <a:t>History</a:t>
            </a:r>
            <a:r>
              <a:rPr lang="en-US">
                <a:solidFill>
                  <a:schemeClr val="tx1"/>
                </a:solidFill>
              </a:rPr>
              <a:t>: lịch sử xem/đánh giá của người dùng</a:t>
            </a:r>
            <a:endParaRPr lang="en-US"/>
          </a:p>
          <a:p>
            <a:pPr marL="171450" indent="-171450"/>
            <a:r>
              <a:rPr lang="en-US" b="1">
                <a:solidFill>
                  <a:schemeClr val="tx1"/>
                </a:solidFill>
              </a:rPr>
              <a:t>Info</a:t>
            </a:r>
            <a:r>
              <a:rPr lang="en-US">
                <a:solidFill>
                  <a:schemeClr val="tx1"/>
                </a:solidFill>
              </a:rPr>
              <a:t>: thông tin metadata của item</a:t>
            </a:r>
            <a:endParaRPr lang="en-US"/>
          </a:p>
          <a:p>
            <a:pPr marL="171450" indent="-171450"/>
            <a:r>
              <a:rPr lang="en-US" b="1">
                <a:solidFill>
                  <a:schemeClr val="tx1"/>
                </a:solidFill>
              </a:rPr>
              <a:t>Rating</a:t>
            </a:r>
            <a:r>
              <a:rPr lang="en-US">
                <a:solidFill>
                  <a:schemeClr val="tx1"/>
                </a:solidFill>
              </a:rPr>
              <a:t>: điểm đánh giá dự đoán</a:t>
            </a:r>
            <a:endParaRPr lang="en-US"/>
          </a:p>
          <a:p>
            <a:pPr marL="171450" indent="-171450"/>
            <a:r>
              <a:rPr lang="en-US" b="1">
                <a:solidFill>
                  <a:schemeClr val="tx1"/>
                </a:solidFill>
              </a:rPr>
              <a:t>Seq</a:t>
            </a:r>
            <a:r>
              <a:rPr lang="en-US">
                <a:solidFill>
                  <a:schemeClr val="tx1"/>
                </a:solidFill>
              </a:rPr>
              <a:t>: chuỗi hành vi (sequential data)</a:t>
            </a:r>
          </a:p>
          <a:p>
            <a:pPr indent="0">
              <a:buNone/>
            </a:pPr>
            <a:r>
              <a:rPr lang="en-US" b="1"/>
              <a:t>3.3. Models</a:t>
            </a:r>
            <a:endParaRPr lang="en-US"/>
          </a:p>
          <a:p>
            <a:pPr>
              <a:buNone/>
            </a:pPr>
            <a:r>
              <a:rPr lang="en-US">
                <a:solidFill>
                  <a:schemeClr val="tx1"/>
                </a:solidFill>
              </a:rPr>
              <a:t>Các công cụ này được hỗ trợ bởi các mô hình:</a:t>
            </a:r>
          </a:p>
          <a:p>
            <a:pPr marL="171450" indent="-171450"/>
            <a:r>
              <a:rPr lang="en-US" b="1">
                <a:solidFill>
                  <a:schemeClr val="tx1"/>
                </a:solidFill>
              </a:rPr>
              <a:t>UserKNN</a:t>
            </a:r>
            <a:r>
              <a:rPr lang="en-US">
                <a:solidFill>
                  <a:schemeClr val="tx1"/>
                </a:solidFill>
              </a:rPr>
              <a:t>: gợi ý dựa trên người dùng tương tự</a:t>
            </a:r>
            <a:endParaRPr lang="en-US"/>
          </a:p>
          <a:p>
            <a:pPr marL="171450" indent="-171450"/>
            <a:r>
              <a:rPr lang="en-US" b="1">
                <a:solidFill>
                  <a:schemeClr val="tx1"/>
                </a:solidFill>
              </a:rPr>
              <a:t>SASRec</a:t>
            </a:r>
            <a:r>
              <a:rPr lang="en-US">
                <a:solidFill>
                  <a:schemeClr val="tx1"/>
                </a:solidFill>
              </a:rPr>
              <a:t>: mô hình gợi ý tuần tự dựa trên chuỗi hành vi</a:t>
            </a:r>
          </a:p>
          <a:p>
            <a:pPr indent="0">
              <a:buNone/>
            </a:pPr>
            <a:r>
              <a:rPr lang="en-US">
                <a:solidFill>
                  <a:schemeClr val="tx1"/>
                </a:solidFill>
              </a:rPr>
              <a:t>Kết quả của nhánh này là một tập ứng viên gợi ý (candidates) được gửi lại cho Manager Agent.</a:t>
            </a:r>
            <a:endParaRPr lang="en-US"/>
          </a:p>
          <a:p>
            <a:pPr>
              <a:buNone/>
            </a:pPr>
            <a:br>
              <a:rPr lang="en-US"/>
            </a:br>
            <a:endParaRPr lang="en-US"/>
          </a:p>
          <a:p>
            <a:pPr>
              <a:buNone/>
            </a:pPr>
            <a:r>
              <a:rPr lang="en-US" b="1"/>
              <a:t>4. Search System – Tìm kiếm &amp; bổ sung thông tin chi tiết</a:t>
            </a:r>
            <a:endParaRPr lang="en-US"/>
          </a:p>
          <a:p>
            <a:pPr>
              <a:buNone/>
            </a:pPr>
            <a:r>
              <a:rPr lang="en-US">
                <a:solidFill>
                  <a:schemeClr val="tx1"/>
                </a:solidFill>
              </a:rPr>
              <a:t>Song song với phân tích, Manager có thể kích hoạt </a:t>
            </a:r>
            <a:r>
              <a:rPr lang="en-US" b="1">
                <a:solidFill>
                  <a:schemeClr val="tx1"/>
                </a:solidFill>
              </a:rPr>
              <a:t>Search System</a:t>
            </a:r>
            <a:r>
              <a:rPr lang="en-US">
                <a:solidFill>
                  <a:schemeClr val="tx1"/>
                </a:solidFill>
              </a:rPr>
              <a:t> khi cần thêm thông tin chi tiết hoặc tìm kiếm theo điều kiện.</a:t>
            </a:r>
            <a:endParaRPr lang="en-US"/>
          </a:p>
          <a:p>
            <a:pPr>
              <a:buNone/>
            </a:pPr>
            <a:r>
              <a:rPr lang="en-US" b="1"/>
              <a:t>4.1. Searcher Agent</a:t>
            </a:r>
          </a:p>
          <a:p>
            <a:pPr>
              <a:buNone/>
            </a:pPr>
            <a:r>
              <a:rPr lang="en-US" b="1">
                <a:solidFill>
                  <a:schemeClr val="tx1"/>
                </a:solidFill>
              </a:rPr>
              <a:t>Searcher Agent</a:t>
            </a:r>
            <a:r>
              <a:rPr lang="en-US">
                <a:solidFill>
                  <a:schemeClr val="tx1"/>
                </a:solidFill>
              </a:rPr>
              <a:t> thực hiện:</a:t>
            </a:r>
            <a:endParaRPr lang="en-US"/>
          </a:p>
          <a:p>
            <a:pPr marL="171450" indent="-171450"/>
            <a:r>
              <a:rPr lang="en-US">
                <a:solidFill>
                  <a:schemeClr val="tx1"/>
                </a:solidFill>
              </a:rPr>
              <a:t>Tìm kiếm dữ liệu theo yêu cầu từ Manager</a:t>
            </a:r>
          </a:p>
          <a:p>
            <a:pPr marL="171450" indent="-171450"/>
            <a:r>
              <a:rPr lang="en-US">
                <a:solidFill>
                  <a:schemeClr val="tx1"/>
                </a:solidFill>
              </a:rPr>
              <a:t>Truy xuất thông tin chi tiết của item</a:t>
            </a:r>
            <a:endParaRPr lang="en-US"/>
          </a:p>
          <a:p>
            <a:pPr indent="0">
              <a:buNone/>
            </a:pPr>
            <a:r>
              <a:rPr lang="en-US" b="1"/>
              <a:t>4.2. Tools trong Search System</a:t>
            </a:r>
            <a:endParaRPr lang="en-US"/>
          </a:p>
          <a:p>
            <a:pPr>
              <a:buNone/>
            </a:pPr>
            <a:r>
              <a:rPr lang="en-US">
                <a:solidFill>
                  <a:schemeClr val="tx1"/>
                </a:solidFill>
              </a:rPr>
              <a:t>Searcher Agent sử dụng:</a:t>
            </a:r>
            <a:endParaRPr lang="en-US"/>
          </a:p>
          <a:p>
            <a:pPr marL="171450" indent="-171450"/>
            <a:r>
              <a:rPr lang="en-US" b="1">
                <a:solidFill>
                  <a:schemeClr val="tx1"/>
                </a:solidFill>
              </a:rPr>
              <a:t>SQL</a:t>
            </a:r>
            <a:r>
              <a:rPr lang="en-US">
                <a:solidFill>
                  <a:schemeClr val="tx1"/>
                </a:solidFill>
              </a:rPr>
              <a:t>: truy vấn cơ sở dữ liệu</a:t>
            </a:r>
            <a:endParaRPr lang="en-US"/>
          </a:p>
          <a:p>
            <a:pPr marL="171450" indent="-171450"/>
            <a:r>
              <a:rPr lang="en-US" b="1">
                <a:solidFill>
                  <a:schemeClr val="tx1"/>
                </a:solidFill>
              </a:rPr>
              <a:t>Wiki</a:t>
            </a:r>
            <a:r>
              <a:rPr lang="en-US">
                <a:solidFill>
                  <a:schemeClr val="tx1"/>
                </a:solidFill>
              </a:rPr>
              <a:t>: truy xuất tri thức bên ngoài</a:t>
            </a:r>
            <a:endParaRPr lang="en-US"/>
          </a:p>
          <a:p>
            <a:pPr marL="171450" indent="-171450"/>
            <a:r>
              <a:rPr lang="en-US" b="1">
                <a:solidFill>
                  <a:schemeClr val="tx1"/>
                </a:solidFill>
              </a:rPr>
              <a:t>CF (Collaborative Filtering)</a:t>
            </a:r>
            <a:r>
              <a:rPr lang="en-US">
                <a:solidFill>
                  <a:schemeClr val="tx1"/>
                </a:solidFill>
              </a:rPr>
              <a:t>: hỗ trợ tìm kiếm tương đồng</a:t>
            </a:r>
            <a:endParaRPr lang="en-US"/>
          </a:p>
          <a:p>
            <a:pPr indent="0">
              <a:buNone/>
            </a:pPr>
            <a:r>
              <a:rPr lang="en-US" b="1"/>
              <a:t>4.3. Models</a:t>
            </a:r>
          </a:p>
          <a:p>
            <a:pPr>
              <a:buNone/>
            </a:pPr>
            <a:r>
              <a:rPr lang="en-US">
                <a:solidFill>
                  <a:schemeClr val="tx1"/>
                </a:solidFill>
              </a:rPr>
              <a:t>Các mô hình hỗ trợ bao gồm:</a:t>
            </a:r>
            <a:endParaRPr lang="en-US"/>
          </a:p>
          <a:p>
            <a:pPr marL="171450" indent="-171450"/>
            <a:r>
              <a:rPr lang="en-US" b="1">
                <a:solidFill>
                  <a:schemeClr val="tx1"/>
                </a:solidFill>
              </a:rPr>
              <a:t>LLM-RAG</a:t>
            </a:r>
            <a:r>
              <a:rPr lang="en-US">
                <a:solidFill>
                  <a:schemeClr val="tx1"/>
                </a:solidFill>
              </a:rPr>
              <a:t>: kết hợp LLM với truy xuất tri thức</a:t>
            </a:r>
            <a:endParaRPr lang="en-US"/>
          </a:p>
          <a:p>
            <a:pPr marL="171450" indent="-171450"/>
            <a:r>
              <a:rPr lang="en-US" b="1">
                <a:solidFill>
                  <a:schemeClr val="tx1"/>
                </a:solidFill>
              </a:rPr>
              <a:t>ItemKNN</a:t>
            </a:r>
            <a:r>
              <a:rPr lang="en-US">
                <a:solidFill>
                  <a:schemeClr val="tx1"/>
                </a:solidFill>
              </a:rPr>
              <a:t>: tìm các item tương tự</a:t>
            </a:r>
            <a:endParaRPr lang="en-US"/>
          </a:p>
          <a:p>
            <a:pPr indent="0">
              <a:buNone/>
            </a:pPr>
            <a:r>
              <a:rPr lang="en-US">
                <a:solidFill>
                  <a:schemeClr val="tx1"/>
                </a:solidFill>
              </a:rPr>
              <a:t>Kết quả tìm kiếm (details) được trả về Manager Agent.</a:t>
            </a:r>
            <a:endParaRPr lang="en-US"/>
          </a:p>
          <a:p>
            <a:pPr>
              <a:buNone/>
            </a:pPr>
            <a:br>
              <a:rPr lang="en-US"/>
            </a:br>
            <a:endParaRPr lang="en-US"/>
          </a:p>
          <a:p>
            <a:pPr>
              <a:buNone/>
            </a:pPr>
            <a:r>
              <a:rPr lang="en-US" b="1"/>
              <a:t>5. Reflector Agent – Phản hồi và cải thiện kết quả</a:t>
            </a:r>
            <a:endParaRPr lang="en-US"/>
          </a:p>
          <a:p>
            <a:pPr>
              <a:buNone/>
            </a:pPr>
            <a:r>
              <a:rPr lang="en-US" b="1">
                <a:solidFill>
                  <a:schemeClr val="tx1"/>
                </a:solidFill>
              </a:rPr>
              <a:t>Reflector Agent</a:t>
            </a:r>
            <a:r>
              <a:rPr lang="en-US">
                <a:solidFill>
                  <a:schemeClr val="tx1"/>
                </a:solidFill>
              </a:rPr>
              <a:t> đóng vai trò phản biện và cải thiện:</a:t>
            </a:r>
            <a:endParaRPr lang="en-US"/>
          </a:p>
          <a:p>
            <a:pPr marL="171450" indent="-171450"/>
            <a:r>
              <a:rPr lang="en-US">
                <a:solidFill>
                  <a:schemeClr val="tx1"/>
                </a:solidFill>
              </a:rPr>
              <a:t>Nhận bản nháp (draft) câu trả lời từ Manager</a:t>
            </a:r>
            <a:endParaRPr lang="en-US"/>
          </a:p>
          <a:p>
            <a:pPr marL="171450" indent="-171450"/>
            <a:r>
              <a:rPr lang="en-US">
                <a:solidFill>
                  <a:schemeClr val="tx1"/>
                </a:solidFill>
              </a:rPr>
              <a:t>Đánh giá tính hợp lý, đầy đủ và nhất quán</a:t>
            </a:r>
            <a:endParaRPr lang="en-US"/>
          </a:p>
          <a:p>
            <a:pPr marL="171450" indent="-171450"/>
            <a:r>
              <a:rPr lang="en-US">
                <a:solidFill>
                  <a:schemeClr val="tx1"/>
                </a:solidFill>
              </a:rPr>
              <a:t>Gửi phản hồi (feedback) để Manager điều chỉnh</a:t>
            </a:r>
            <a:endParaRPr lang="en-US"/>
          </a:p>
          <a:p>
            <a:pPr indent="0">
              <a:buNone/>
            </a:pPr>
            <a:r>
              <a:rPr lang="en-US">
                <a:solidFill>
                  <a:schemeClr val="tx1"/>
                </a:solidFill>
              </a:rPr>
              <a:t>Cơ chế này giúp nâng cao chất lượng câu trả lời cuối cùng, giảm lỗi và tăng độ tự nhiên.</a:t>
            </a:r>
          </a:p>
          <a:p>
            <a:pPr>
              <a:buNone/>
            </a:pPr>
            <a:br>
              <a:rPr lang="en-US"/>
            </a:br>
            <a:endParaRPr lang="en-US"/>
          </a:p>
          <a:p>
            <a:pPr>
              <a:buNone/>
            </a:pPr>
            <a:r>
              <a:rPr lang="en-US" b="1"/>
              <a:t>6. Tổng hợp và trả kết quả cho User</a:t>
            </a:r>
            <a:endParaRPr lang="en-US"/>
          </a:p>
          <a:p>
            <a:pPr>
              <a:buNone/>
            </a:pPr>
            <a:r>
              <a:rPr lang="en-US">
                <a:solidFill>
                  <a:schemeClr val="tx1"/>
                </a:solidFill>
              </a:rPr>
              <a:t>Sau khi nhận:</a:t>
            </a:r>
            <a:endParaRPr lang="en-US"/>
          </a:p>
          <a:p>
            <a:pPr marL="171450" indent="-171450"/>
            <a:r>
              <a:rPr lang="en-US">
                <a:solidFill>
                  <a:schemeClr val="tx1"/>
                </a:solidFill>
              </a:rPr>
              <a:t>Danh sách gợi ý từ </a:t>
            </a:r>
            <a:r>
              <a:rPr lang="en-US" b="1">
                <a:solidFill>
                  <a:schemeClr val="tx1"/>
                </a:solidFill>
              </a:rPr>
              <a:t>Analysis System</a:t>
            </a:r>
            <a:endParaRPr lang="en-US"/>
          </a:p>
          <a:p>
            <a:pPr marL="171450" indent="-171450"/>
            <a:r>
              <a:rPr lang="en-US">
                <a:solidFill>
                  <a:schemeClr val="tx1"/>
                </a:solidFill>
              </a:rPr>
              <a:t>Thông tin chi tiết từ </a:t>
            </a:r>
            <a:r>
              <a:rPr lang="en-US" b="1">
                <a:solidFill>
                  <a:schemeClr val="tx1"/>
                </a:solidFill>
              </a:rPr>
              <a:t>Search System</a:t>
            </a:r>
            <a:endParaRPr lang="en-US"/>
          </a:p>
          <a:p>
            <a:pPr marL="171450" indent="-171450"/>
            <a:r>
              <a:rPr lang="en-US">
                <a:solidFill>
                  <a:schemeClr val="tx1"/>
                </a:solidFill>
              </a:rPr>
              <a:t>Phản hồi từ </a:t>
            </a:r>
            <a:r>
              <a:rPr lang="en-US" b="1">
                <a:solidFill>
                  <a:schemeClr val="tx1"/>
                </a:solidFill>
              </a:rPr>
              <a:t>Reflector Agent</a:t>
            </a:r>
          </a:p>
          <a:p>
            <a:pPr indent="0">
              <a:buNone/>
            </a:pPr>
            <a:r>
              <a:rPr lang="en-US">
                <a:solidFill>
                  <a:schemeClr val="tx1"/>
                </a:solidFill>
              </a:rPr>
              <a:t>Manager Agent tổng hợp tất cả thông tin và tạo câu trả lời hoàn chỉnh, sau đó gửi lại cho </a:t>
            </a:r>
            <a:r>
              <a:rPr lang="en-US" b="1">
                <a:solidFill>
                  <a:schemeClr val="tx1"/>
                </a:solidFill>
              </a:rPr>
              <a:t>User</a:t>
            </a:r>
            <a:r>
              <a:rPr lang="en-US">
                <a:solidFill>
                  <a:schemeClr val="tx1"/>
                </a:solidFill>
              </a:rPr>
              <a:t>.</a:t>
            </a:r>
          </a:p>
          <a:p>
            <a:pPr>
              <a:buNone/>
            </a:pPr>
            <a:br>
              <a:rPr lang="en-US"/>
            </a:br>
            <a:endParaRPr lang="en-US"/>
          </a:p>
          <a:p>
            <a:pPr>
              <a:buNone/>
            </a:pPr>
            <a:r>
              <a:rPr lang="en-US" b="1"/>
              <a:t>7. Ý nghĩa của kiến trúc</a:t>
            </a:r>
            <a:endParaRPr lang="en-US"/>
          </a:p>
          <a:p>
            <a:pPr>
              <a:buNone/>
            </a:pPr>
            <a:r>
              <a:rPr lang="en-US">
                <a:solidFill>
                  <a:schemeClr val="tx1"/>
                </a:solidFill>
              </a:rPr>
              <a:t>Sơ đồ thể hiện rõ các đặc điểm nổi bật của hệ thống Multi-Agent:</a:t>
            </a:r>
            <a:endParaRPr lang="en-US"/>
          </a:p>
          <a:p>
            <a:pPr marL="171450" indent="-171450"/>
            <a:r>
              <a:rPr lang="en-US">
                <a:solidFill>
                  <a:schemeClr val="tx1"/>
                </a:solidFill>
              </a:rPr>
              <a:t>Phân chia nhiệm vụ rõ ràng giữa các agent</a:t>
            </a:r>
            <a:endParaRPr lang="en-US"/>
          </a:p>
          <a:p>
            <a:pPr marL="171450" indent="-171450"/>
            <a:r>
              <a:rPr lang="en-US">
                <a:solidFill>
                  <a:schemeClr val="tx1"/>
                </a:solidFill>
              </a:rPr>
              <a:t>Kết hợp nhiều mô hình gợi ý khác nhau</a:t>
            </a:r>
            <a:endParaRPr lang="en-US"/>
          </a:p>
          <a:p>
            <a:pPr marL="171450" indent="-171450"/>
            <a:r>
              <a:rPr lang="en-US">
                <a:solidFill>
                  <a:schemeClr val="tx1"/>
                </a:solidFill>
              </a:rPr>
              <a:t>Hỗ trợ song song phân tích và tìm kiếm</a:t>
            </a:r>
            <a:endParaRPr lang="en-US"/>
          </a:p>
          <a:p>
            <a:pPr marL="171450" indent="-171450"/>
            <a:r>
              <a:rPr lang="en-US">
                <a:solidFill>
                  <a:schemeClr val="tx1"/>
                </a:solidFill>
              </a:rPr>
              <a:t>Dễ mở rộng, dễ thay thế hoặc bổ sung agent mới</a:t>
            </a:r>
            <a:endParaRPr lang="en-US"/>
          </a:p>
          <a:p>
            <a:pPr marL="171450" indent="-171450"/>
            <a:r>
              <a:rPr lang="en-US">
                <a:solidFill>
                  <a:schemeClr val="tx1"/>
                </a:solidFill>
              </a:rPr>
              <a:t>Phù hợp cho các hệ thống gợi ý thông minh trong thực tế</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p:cNvGrpSpPr/>
        <p:nvPr/>
      </p:nvGrpSpPr>
      <p:grpSpPr>
        <a:xfrm>
          <a:off x="0" y="0"/>
          <a:ext cx="0" cy="0"/>
          <a:chOff x="0" y="0"/>
          <a:chExt cx="0" cy="0"/>
        </a:xfrm>
      </p:grpSpPr>
      <p:sp>
        <p:nvSpPr>
          <p:cNvPr id="1631" name="Google Shape;1631;g24ed99bf1a4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err="1"/>
              <a:t>Mỗi</a:t>
            </a:r>
            <a:r>
              <a:rPr lang="en-US"/>
              <a:t> system </a:t>
            </a:r>
            <a:r>
              <a:rPr lang="en-US" err="1"/>
              <a:t>được</a:t>
            </a:r>
            <a:r>
              <a:rPr lang="en-US"/>
              <a:t> </a:t>
            </a:r>
            <a:r>
              <a:rPr lang="en-US" err="1"/>
              <a:t>thiết</a:t>
            </a:r>
            <a:r>
              <a:rPr lang="en-US"/>
              <a:t> </a:t>
            </a:r>
            <a:r>
              <a:rPr lang="en-US" err="1"/>
              <a:t>kế</a:t>
            </a:r>
            <a:r>
              <a:rPr lang="en-US"/>
              <a:t> </a:t>
            </a:r>
            <a:r>
              <a:rPr lang="en-US" err="1"/>
              <a:t>với</a:t>
            </a:r>
            <a:r>
              <a:rPr lang="en-US"/>
              <a:t> </a:t>
            </a:r>
            <a:r>
              <a:rPr lang="en-US" b="1" err="1"/>
              <a:t>kiến</a:t>
            </a:r>
            <a:r>
              <a:rPr lang="en-US" b="1"/>
              <a:t> </a:t>
            </a:r>
            <a:r>
              <a:rPr lang="en-US" b="1" err="1"/>
              <a:t>trúc</a:t>
            </a:r>
            <a:r>
              <a:rPr lang="en-US" b="1"/>
              <a:t> agent</a:t>
            </a:r>
            <a:r>
              <a:rPr lang="en-US"/>
              <a:t> </a:t>
            </a:r>
            <a:r>
              <a:rPr lang="en-US" err="1"/>
              <a:t>và</a:t>
            </a:r>
            <a:r>
              <a:rPr lang="en-US"/>
              <a:t> </a:t>
            </a:r>
            <a:r>
              <a:rPr lang="en-US" b="1" err="1"/>
              <a:t>khả</a:t>
            </a:r>
            <a:r>
              <a:rPr lang="en-US" b="1"/>
              <a:t> </a:t>
            </a:r>
            <a:r>
              <a:rPr lang="en-US" b="1" err="1"/>
              <a:t>năng</a:t>
            </a:r>
            <a:r>
              <a:rPr lang="en-US" b="1"/>
              <a:t> reasoning</a:t>
            </a:r>
            <a:r>
              <a:rPr lang="en-US"/>
              <a:t> </a:t>
            </a:r>
            <a:r>
              <a:rPr lang="en-US" err="1"/>
              <a:t>khác</a:t>
            </a:r>
            <a:r>
              <a:rPr lang="en-US"/>
              <a:t> </a:t>
            </a:r>
            <a:r>
              <a:rPr lang="en-US" err="1"/>
              <a:t>nhau</a:t>
            </a:r>
            <a:r>
              <a:rPr lang="en-US"/>
              <a:t>, </a:t>
            </a:r>
            <a:r>
              <a:rPr lang="en-US" err="1"/>
              <a:t>nên</a:t>
            </a:r>
            <a:r>
              <a:rPr lang="en-US"/>
              <a:t> </a:t>
            </a:r>
            <a:r>
              <a:rPr lang="en-US" err="1"/>
              <a:t>phù</a:t>
            </a:r>
            <a:r>
              <a:rPr lang="en-US"/>
              <a:t> </a:t>
            </a:r>
            <a:r>
              <a:rPr lang="en-US" err="1"/>
              <a:t>hợp</a:t>
            </a:r>
            <a:r>
              <a:rPr lang="en-US"/>
              <a:t> </a:t>
            </a:r>
            <a:r>
              <a:rPr lang="en-US" err="1"/>
              <a:t>với</a:t>
            </a:r>
            <a:r>
              <a:rPr lang="en-US"/>
              <a:t> </a:t>
            </a:r>
            <a:r>
              <a:rPr lang="en-US" err="1"/>
              <a:t>các</a:t>
            </a:r>
            <a:r>
              <a:rPr lang="en-US"/>
              <a:t> tasks </a:t>
            </a:r>
            <a:r>
              <a:rPr lang="en-US" err="1"/>
              <a:t>khác</a:t>
            </a:r>
            <a:r>
              <a:rPr lang="en-US"/>
              <a:t> </a:t>
            </a:r>
            <a:r>
              <a:rPr lang="en-US" err="1"/>
              <a:t>nhau</a:t>
            </a:r>
            <a:r>
              <a:rPr lang="en-US"/>
              <a:t>:</a:t>
            </a:r>
            <a:endParaRPr lang="en-US">
              <a:solidFill>
                <a:srgbClr val="444444"/>
              </a:solidFill>
            </a:endParaRPr>
          </a:p>
          <a:p>
            <a:pPr>
              <a:buNone/>
            </a:pPr>
            <a:br>
              <a:rPr lang="en-US">
                <a:solidFill>
                  <a:srgbClr val="444444"/>
                </a:solidFill>
              </a:rPr>
            </a:br>
            <a:endParaRPr lang="en-US">
              <a:solidFill>
                <a:srgbClr val="444444"/>
              </a:solidFill>
            </a:endParaRPr>
          </a:p>
          <a:p>
            <a:pPr>
              <a:buNone/>
            </a:pPr>
            <a:r>
              <a:rPr lang="en-US" b="1"/>
              <a:t>1. </a:t>
            </a:r>
            <a:r>
              <a:rPr lang="en-US" b="1" err="1"/>
              <a:t>ReAct</a:t>
            </a:r>
            <a:r>
              <a:rPr lang="en-US" b="1"/>
              <a:t> &amp; Reflection Systems</a:t>
            </a:r>
            <a:r>
              <a:rPr lang="en-US"/>
              <a:t> → Rating + Sequential + Explanation</a:t>
            </a:r>
            <a:endParaRPr lang="en-US">
              <a:solidFill>
                <a:srgbClr val="444444"/>
              </a:solidFill>
            </a:endParaRPr>
          </a:p>
          <a:p>
            <a:pPr marL="171450" indent="-171450"/>
            <a:r>
              <a:rPr lang="en-US" err="1"/>
              <a:t>Có</a:t>
            </a:r>
            <a:r>
              <a:rPr lang="en-US"/>
              <a:t> </a:t>
            </a:r>
            <a:r>
              <a:rPr lang="en-US" b="1"/>
              <a:t>reasoning-acting loop</a:t>
            </a:r>
            <a:r>
              <a:rPr lang="en-US"/>
              <a:t> </a:t>
            </a:r>
            <a:r>
              <a:rPr lang="en-US" err="1"/>
              <a:t>mạnh</a:t>
            </a:r>
            <a:r>
              <a:rPr lang="en-US"/>
              <a:t> </a:t>
            </a:r>
            <a:r>
              <a:rPr lang="en-US" err="1"/>
              <a:t>mẽ</a:t>
            </a:r>
            <a:endParaRPr lang="en-US" err="1">
              <a:solidFill>
                <a:srgbClr val="444444"/>
              </a:solidFill>
            </a:endParaRPr>
          </a:p>
          <a:p>
            <a:pPr marL="171450" indent="-171450"/>
            <a:r>
              <a:rPr lang="en-US" err="1"/>
              <a:t>Xử</a:t>
            </a:r>
            <a:r>
              <a:rPr lang="en-US"/>
              <a:t> </a:t>
            </a:r>
            <a:r>
              <a:rPr lang="en-US" err="1"/>
              <a:t>lý</a:t>
            </a:r>
            <a:r>
              <a:rPr lang="en-US"/>
              <a:t> </a:t>
            </a:r>
            <a:r>
              <a:rPr lang="en-US" err="1"/>
              <a:t>được</a:t>
            </a:r>
            <a:r>
              <a:rPr lang="en-US"/>
              <a:t> </a:t>
            </a:r>
            <a:r>
              <a:rPr lang="en-US" err="1"/>
              <a:t>cả</a:t>
            </a:r>
            <a:r>
              <a:rPr lang="en-US"/>
              <a:t> </a:t>
            </a:r>
            <a:r>
              <a:rPr lang="en-US" b="1"/>
              <a:t>numerical prediction</a:t>
            </a:r>
            <a:r>
              <a:rPr lang="en-US"/>
              <a:t> (rating), </a:t>
            </a:r>
            <a:r>
              <a:rPr lang="en-US" b="1"/>
              <a:t>sequential logic</a:t>
            </a:r>
            <a:r>
              <a:rPr lang="en-US"/>
              <a:t> (</a:t>
            </a:r>
            <a:r>
              <a:rPr lang="en-US" err="1"/>
              <a:t>chuỗi</a:t>
            </a:r>
            <a:r>
              <a:rPr lang="en-US"/>
              <a:t> </a:t>
            </a:r>
            <a:r>
              <a:rPr lang="en-US" err="1"/>
              <a:t>đề</a:t>
            </a:r>
            <a:r>
              <a:rPr lang="en-US"/>
              <a:t> </a:t>
            </a:r>
            <a:r>
              <a:rPr lang="en-US" err="1"/>
              <a:t>xuất</a:t>
            </a:r>
            <a:r>
              <a:rPr lang="en-US"/>
              <a:t>), </a:t>
            </a:r>
            <a:r>
              <a:rPr lang="en-US" err="1"/>
              <a:t>và</a:t>
            </a:r>
            <a:r>
              <a:rPr lang="en-US"/>
              <a:t> </a:t>
            </a:r>
            <a:r>
              <a:rPr lang="en-US" b="1"/>
              <a:t>explanation generation</a:t>
            </a:r>
            <a:r>
              <a:rPr lang="en-US"/>
              <a:t> (</a:t>
            </a:r>
            <a:r>
              <a:rPr lang="en-US" err="1"/>
              <a:t>giải</a:t>
            </a:r>
            <a:r>
              <a:rPr lang="en-US"/>
              <a:t> </a:t>
            </a:r>
            <a:r>
              <a:rPr lang="en-US" err="1"/>
              <a:t>thích</a:t>
            </a:r>
            <a:r>
              <a:rPr lang="en-US"/>
              <a:t> why)</a:t>
            </a:r>
            <a:endParaRPr lang="en-US">
              <a:solidFill>
                <a:srgbClr val="444444"/>
              </a:solidFill>
            </a:endParaRPr>
          </a:p>
          <a:p>
            <a:pPr marL="171450" indent="-171450"/>
            <a:r>
              <a:rPr lang="en-US"/>
              <a:t>Reflection </a:t>
            </a:r>
            <a:r>
              <a:rPr lang="en-US" err="1"/>
              <a:t>thêm</a:t>
            </a:r>
            <a:r>
              <a:rPr lang="en-US"/>
              <a:t> </a:t>
            </a:r>
            <a:r>
              <a:rPr lang="en-US" err="1"/>
              <a:t>bước</a:t>
            </a:r>
            <a:r>
              <a:rPr lang="en-US"/>
              <a:t> </a:t>
            </a:r>
            <a:r>
              <a:rPr lang="en-US" b="1"/>
              <a:t>self-correction</a:t>
            </a:r>
            <a:r>
              <a:rPr lang="en-US"/>
              <a:t> </a:t>
            </a:r>
            <a:r>
              <a:rPr lang="en-US" err="1"/>
              <a:t>để</a:t>
            </a:r>
            <a:r>
              <a:rPr lang="en-US"/>
              <a:t> </a:t>
            </a:r>
            <a:r>
              <a:rPr lang="en-US" err="1"/>
              <a:t>cải</a:t>
            </a:r>
            <a:r>
              <a:rPr lang="en-US"/>
              <a:t> </a:t>
            </a:r>
            <a:r>
              <a:rPr lang="en-US" err="1"/>
              <a:t>thiện</a:t>
            </a:r>
            <a:r>
              <a:rPr lang="en-US"/>
              <a:t> </a:t>
            </a:r>
            <a:r>
              <a:rPr lang="en-US" err="1"/>
              <a:t>chất</a:t>
            </a:r>
            <a:r>
              <a:rPr lang="en-US"/>
              <a:t> </a:t>
            </a:r>
            <a:r>
              <a:rPr lang="en-US" err="1"/>
              <a:t>lượng</a:t>
            </a:r>
            <a:endParaRPr lang="en-US" err="1">
              <a:solidFill>
                <a:srgbClr val="444444"/>
              </a:solidFill>
            </a:endParaRPr>
          </a:p>
          <a:p>
            <a:pPr indent="0">
              <a:buNone/>
            </a:pPr>
            <a:br>
              <a:rPr lang="en-US">
                <a:solidFill>
                  <a:srgbClr val="444444"/>
                </a:solidFill>
              </a:rPr>
            </a:br>
            <a:endParaRPr lang="en-US">
              <a:solidFill>
                <a:srgbClr val="444444"/>
              </a:solidFill>
            </a:endParaRPr>
          </a:p>
          <a:p>
            <a:pPr>
              <a:buNone/>
            </a:pPr>
            <a:r>
              <a:rPr lang="en-US" b="1"/>
              <a:t>2. </a:t>
            </a:r>
            <a:r>
              <a:rPr lang="en-US" b="1" err="1"/>
              <a:t>ChatSystem</a:t>
            </a:r>
            <a:r>
              <a:rPr lang="en-US"/>
              <a:t> → CHỈ Conversational</a:t>
            </a:r>
            <a:endParaRPr lang="en-US">
              <a:solidFill>
                <a:srgbClr val="444444"/>
              </a:solidFill>
            </a:endParaRPr>
          </a:p>
          <a:p>
            <a:pPr marL="171450" indent="-171450"/>
            <a:r>
              <a:rPr lang="en-US" err="1"/>
              <a:t>Thiết</a:t>
            </a:r>
            <a:r>
              <a:rPr lang="en-US"/>
              <a:t> </a:t>
            </a:r>
            <a:r>
              <a:rPr lang="en-US" err="1"/>
              <a:t>kế</a:t>
            </a:r>
            <a:r>
              <a:rPr lang="en-US"/>
              <a:t> </a:t>
            </a:r>
            <a:r>
              <a:rPr lang="en-US" err="1"/>
              <a:t>cho</a:t>
            </a:r>
            <a:r>
              <a:rPr lang="en-US"/>
              <a:t> </a:t>
            </a:r>
            <a:r>
              <a:rPr lang="en-US" b="1"/>
              <a:t>dialogue flow</a:t>
            </a:r>
            <a:r>
              <a:rPr lang="en-US"/>
              <a:t>, </a:t>
            </a:r>
            <a:r>
              <a:rPr lang="en-US" err="1"/>
              <a:t>không</a:t>
            </a:r>
            <a:r>
              <a:rPr lang="en-US"/>
              <a:t> </a:t>
            </a:r>
            <a:r>
              <a:rPr lang="en-US" err="1"/>
              <a:t>có</a:t>
            </a:r>
            <a:r>
              <a:rPr lang="en-US"/>
              <a:t> </a:t>
            </a:r>
            <a:r>
              <a:rPr lang="en-US" err="1"/>
              <a:t>cấu</a:t>
            </a:r>
            <a:r>
              <a:rPr lang="en-US"/>
              <a:t> </a:t>
            </a:r>
            <a:r>
              <a:rPr lang="en-US" err="1"/>
              <a:t>trúc</a:t>
            </a:r>
            <a:r>
              <a:rPr lang="en-US"/>
              <a:t> </a:t>
            </a:r>
            <a:r>
              <a:rPr lang="en-US" err="1"/>
              <a:t>cho</a:t>
            </a:r>
            <a:r>
              <a:rPr lang="en-US"/>
              <a:t> analytical tasks</a:t>
            </a:r>
            <a:endParaRPr lang="en-US">
              <a:solidFill>
                <a:srgbClr val="444444"/>
              </a:solidFill>
            </a:endParaRPr>
          </a:p>
          <a:p>
            <a:pPr marL="171450" indent="-171450"/>
            <a:r>
              <a:rPr lang="en-US"/>
              <a:t>Focus </a:t>
            </a:r>
            <a:r>
              <a:rPr lang="en-US" err="1"/>
              <a:t>vào</a:t>
            </a:r>
            <a:r>
              <a:rPr lang="en-US"/>
              <a:t> </a:t>
            </a:r>
            <a:r>
              <a:rPr lang="en-US" b="1"/>
              <a:t>natural conversation</a:t>
            </a:r>
            <a:r>
              <a:rPr lang="en-US"/>
              <a:t>, </a:t>
            </a:r>
            <a:r>
              <a:rPr lang="en-US" err="1"/>
              <a:t>không</a:t>
            </a:r>
            <a:r>
              <a:rPr lang="en-US"/>
              <a:t> </a:t>
            </a:r>
            <a:r>
              <a:rPr lang="en-US" err="1"/>
              <a:t>phải</a:t>
            </a:r>
            <a:r>
              <a:rPr lang="en-US"/>
              <a:t> prediction hay reasoning </a:t>
            </a:r>
            <a:r>
              <a:rPr lang="en-US" err="1"/>
              <a:t>phức</a:t>
            </a:r>
            <a:r>
              <a:rPr lang="en-US"/>
              <a:t> </a:t>
            </a:r>
            <a:r>
              <a:rPr lang="en-US" err="1"/>
              <a:t>tạp</a:t>
            </a:r>
            <a:endParaRPr lang="en-US" err="1">
              <a:solidFill>
                <a:srgbClr val="444444"/>
              </a:solidFill>
            </a:endParaRPr>
          </a:p>
          <a:p>
            <a:pPr indent="0">
              <a:buNone/>
            </a:pPr>
            <a:br>
              <a:rPr lang="en-US">
                <a:solidFill>
                  <a:srgbClr val="444444"/>
                </a:solidFill>
              </a:rPr>
            </a:br>
            <a:endParaRPr lang="en-US">
              <a:solidFill>
                <a:srgbClr val="444444"/>
              </a:solidFill>
            </a:endParaRPr>
          </a:p>
          <a:p>
            <a:pPr>
              <a:buNone/>
            </a:pPr>
            <a:r>
              <a:rPr lang="en-US" b="1"/>
              <a:t>3. </a:t>
            </a:r>
            <a:r>
              <a:rPr lang="en-US" b="1" err="1"/>
              <a:t>AnalyseSystem</a:t>
            </a:r>
            <a:r>
              <a:rPr lang="en-US"/>
              <a:t> → Rating + Sequential </a:t>
            </a:r>
            <a:r>
              <a:rPr lang="en-US" i="1"/>
              <a:t>(</a:t>
            </a:r>
            <a:r>
              <a:rPr lang="en-US" i="1" err="1"/>
              <a:t>tùy</a:t>
            </a:r>
            <a:r>
              <a:rPr lang="en-US" i="1"/>
              <a:t> config)</a:t>
            </a:r>
            <a:endParaRPr lang="en-US">
              <a:solidFill>
                <a:srgbClr val="444444"/>
              </a:solidFill>
            </a:endParaRPr>
          </a:p>
          <a:p>
            <a:pPr marL="171450" indent="-171450"/>
            <a:r>
              <a:rPr lang="en-US" err="1"/>
              <a:t>Mục</a:t>
            </a:r>
            <a:r>
              <a:rPr lang="en-US"/>
              <a:t> </a:t>
            </a:r>
            <a:r>
              <a:rPr lang="en-US" err="1"/>
              <a:t>đích</a:t>
            </a:r>
            <a:r>
              <a:rPr lang="en-US"/>
              <a:t> </a:t>
            </a:r>
            <a:r>
              <a:rPr lang="en-US" b="1" err="1"/>
              <a:t>đánh</a:t>
            </a:r>
            <a:r>
              <a:rPr lang="en-US" b="1"/>
              <a:t> </a:t>
            </a:r>
            <a:r>
              <a:rPr lang="en-US" b="1" err="1"/>
              <a:t>giá</a:t>
            </a:r>
            <a:r>
              <a:rPr lang="en-US" b="1"/>
              <a:t> </a:t>
            </a:r>
            <a:r>
              <a:rPr lang="en-US" b="1" err="1"/>
              <a:t>mô</a:t>
            </a:r>
            <a:r>
              <a:rPr lang="en-US" b="1"/>
              <a:t> </a:t>
            </a:r>
            <a:r>
              <a:rPr lang="en-US" b="1" err="1"/>
              <a:t>hình</a:t>
            </a:r>
            <a:r>
              <a:rPr lang="en-US"/>
              <a:t>, </a:t>
            </a:r>
            <a:r>
              <a:rPr lang="en-US" err="1"/>
              <a:t>không</a:t>
            </a:r>
            <a:r>
              <a:rPr lang="en-US"/>
              <a:t> </a:t>
            </a:r>
            <a:r>
              <a:rPr lang="en-US" err="1"/>
              <a:t>phải</a:t>
            </a:r>
            <a:r>
              <a:rPr lang="en-US"/>
              <a:t> production recommendation</a:t>
            </a:r>
            <a:endParaRPr lang="en-US">
              <a:solidFill>
                <a:srgbClr val="444444"/>
              </a:solidFill>
            </a:endParaRPr>
          </a:p>
          <a:p>
            <a:pPr marL="171450" indent="-171450"/>
            <a:r>
              <a:rPr lang="en-US" err="1"/>
              <a:t>Chạy</a:t>
            </a:r>
            <a:r>
              <a:rPr lang="en-US"/>
              <a:t> experiments </a:t>
            </a:r>
            <a:r>
              <a:rPr lang="en-US" err="1"/>
              <a:t>trên</a:t>
            </a:r>
            <a:r>
              <a:rPr lang="en-US"/>
              <a:t> </a:t>
            </a:r>
            <a:r>
              <a:rPr lang="en-US" err="1"/>
              <a:t>các</a:t>
            </a:r>
            <a:r>
              <a:rPr lang="en-US"/>
              <a:t> metrics </a:t>
            </a:r>
            <a:r>
              <a:rPr lang="en-US" err="1"/>
              <a:t>cụ</a:t>
            </a:r>
            <a:r>
              <a:rPr lang="en-US"/>
              <a:t> </a:t>
            </a:r>
            <a:r>
              <a:rPr lang="en-US" err="1"/>
              <a:t>thể</a:t>
            </a:r>
            <a:r>
              <a:rPr lang="en-US"/>
              <a:t> </a:t>
            </a:r>
            <a:r>
              <a:rPr lang="en-US" err="1"/>
              <a:t>theo</a:t>
            </a:r>
            <a:r>
              <a:rPr lang="en-US"/>
              <a:t> </a:t>
            </a:r>
            <a:r>
              <a:rPr lang="en-US" b="1"/>
              <a:t>config evaluation</a:t>
            </a:r>
            <a:endParaRPr lang="en-US">
              <a:solidFill>
                <a:srgbClr val="444444"/>
              </a:solidFill>
            </a:endParaRPr>
          </a:p>
          <a:p>
            <a:pPr indent="0">
              <a:buNone/>
            </a:pPr>
            <a:br>
              <a:rPr lang="en-US">
                <a:solidFill>
                  <a:srgbClr val="444444"/>
                </a:solidFill>
              </a:rPr>
            </a:br>
            <a:endParaRPr lang="en-US">
              <a:solidFill>
                <a:srgbClr val="444444"/>
              </a:solidFill>
            </a:endParaRPr>
          </a:p>
          <a:p>
            <a:pPr>
              <a:buNone/>
            </a:pPr>
            <a:r>
              <a:rPr lang="en-US" b="1"/>
              <a:t>4. </a:t>
            </a:r>
            <a:r>
              <a:rPr lang="en-US" b="1" err="1"/>
              <a:t>CollaborationSystem</a:t>
            </a:r>
            <a:r>
              <a:rPr lang="en-US"/>
              <a:t> → Sequential + Explanation + Conversational </a:t>
            </a:r>
            <a:r>
              <a:rPr lang="en-US" i="1"/>
              <a:t>(config)</a:t>
            </a:r>
            <a:endParaRPr lang="en-US">
              <a:solidFill>
                <a:srgbClr val="444444"/>
              </a:solidFill>
            </a:endParaRPr>
          </a:p>
          <a:p>
            <a:pPr marL="171450" indent="-171450"/>
            <a:r>
              <a:rPr lang="en-US" b="1"/>
              <a:t>Multi-agent coordination</a:t>
            </a:r>
            <a:r>
              <a:rPr lang="en-US"/>
              <a:t> </a:t>
            </a:r>
            <a:r>
              <a:rPr lang="en-US" err="1"/>
              <a:t>phù</a:t>
            </a:r>
            <a:r>
              <a:rPr lang="en-US"/>
              <a:t> </a:t>
            </a:r>
            <a:r>
              <a:rPr lang="en-US" err="1"/>
              <a:t>hợp</a:t>
            </a:r>
            <a:r>
              <a:rPr lang="en-US"/>
              <a:t> tasks </a:t>
            </a:r>
            <a:r>
              <a:rPr lang="en-US" err="1"/>
              <a:t>phức</a:t>
            </a:r>
            <a:r>
              <a:rPr lang="en-US"/>
              <a:t> </a:t>
            </a:r>
            <a:r>
              <a:rPr lang="en-US" err="1"/>
              <a:t>tạp</a:t>
            </a:r>
            <a:r>
              <a:rPr lang="en-US"/>
              <a:t> </a:t>
            </a:r>
            <a:r>
              <a:rPr lang="en-US" err="1"/>
              <a:t>cần</a:t>
            </a:r>
            <a:r>
              <a:rPr lang="en-US"/>
              <a:t> </a:t>
            </a:r>
            <a:r>
              <a:rPr lang="en-US" err="1"/>
              <a:t>nhiều</a:t>
            </a:r>
            <a:r>
              <a:rPr lang="en-US"/>
              <a:t> </a:t>
            </a:r>
            <a:r>
              <a:rPr lang="en-US" err="1"/>
              <a:t>bước</a:t>
            </a:r>
            <a:endParaRPr lang="en-US" err="1">
              <a:solidFill>
                <a:srgbClr val="444444"/>
              </a:solidFill>
            </a:endParaRPr>
          </a:p>
          <a:p>
            <a:pPr marL="171450" indent="-171450"/>
            <a:r>
              <a:rPr lang="en-US"/>
              <a:t>Sequential &amp; Explanation </a:t>
            </a:r>
            <a:r>
              <a:rPr lang="en-US" err="1"/>
              <a:t>cần</a:t>
            </a:r>
            <a:r>
              <a:rPr lang="en-US"/>
              <a:t> </a:t>
            </a:r>
            <a:r>
              <a:rPr lang="en-US" b="1" err="1"/>
              <a:t>phân</a:t>
            </a:r>
            <a:r>
              <a:rPr lang="en-US" b="1"/>
              <a:t> </a:t>
            </a:r>
            <a:r>
              <a:rPr lang="en-US" b="1" err="1"/>
              <a:t>công</a:t>
            </a:r>
            <a:r>
              <a:rPr lang="en-US" b="1"/>
              <a:t> agents</a:t>
            </a:r>
            <a:r>
              <a:rPr lang="en-US"/>
              <a:t> (</a:t>
            </a:r>
            <a:r>
              <a:rPr lang="en-US" err="1"/>
              <a:t>tìm</a:t>
            </a:r>
            <a:r>
              <a:rPr lang="en-US"/>
              <a:t> pattern → refine → explain)</a:t>
            </a:r>
            <a:endParaRPr lang="en-US">
              <a:solidFill>
                <a:srgbClr val="444444"/>
              </a:solidFill>
            </a:endParaRPr>
          </a:p>
          <a:p>
            <a:pPr marL="171450" indent="-171450"/>
            <a:r>
              <a:rPr lang="en-US"/>
              <a:t>Conversational </a:t>
            </a:r>
            <a:r>
              <a:rPr lang="en-US" err="1"/>
              <a:t>có</a:t>
            </a:r>
            <a:r>
              <a:rPr lang="en-US"/>
              <a:t> </a:t>
            </a:r>
            <a:r>
              <a:rPr lang="en-US" err="1"/>
              <a:t>thể</a:t>
            </a:r>
            <a:r>
              <a:rPr lang="en-US"/>
              <a:t> </a:t>
            </a:r>
            <a:r>
              <a:rPr lang="en-US" err="1"/>
              <a:t>thêm</a:t>
            </a:r>
            <a:r>
              <a:rPr lang="en-US"/>
              <a:t> </a:t>
            </a:r>
            <a:r>
              <a:rPr lang="en-US" b="1"/>
              <a:t>dialogue agent</a:t>
            </a:r>
            <a:r>
              <a:rPr lang="en-US"/>
              <a:t> </a:t>
            </a:r>
            <a:r>
              <a:rPr lang="en-US" err="1"/>
              <a:t>khi</a:t>
            </a:r>
            <a:r>
              <a:rPr lang="en-US"/>
              <a:t> </a:t>
            </a:r>
            <a:r>
              <a:rPr lang="en-US" err="1"/>
              <a:t>cần</a:t>
            </a:r>
            <a:endParaRPr lang="en-US" err="1">
              <a:solidFill>
                <a:srgbClr val="444444"/>
              </a:solidFill>
            </a:endParaRPr>
          </a:p>
          <a:p>
            <a:pPr marL="171450" indent="-171450"/>
            <a:endParaRPr lang="en-US">
              <a:solidFill>
                <a:srgbClr val="444444"/>
              </a:solidFill>
            </a:endParaRPr>
          </a:p>
          <a:p>
            <a:pPr marL="171450" indent="-171450"/>
            <a:r>
              <a:rPr lang="en-US"/>
              <a:t>Reasoning systems → analytical tasks</a:t>
            </a:r>
            <a:endParaRPr lang="en-US">
              <a:solidFill>
                <a:srgbClr val="444444"/>
              </a:solidFill>
            </a:endParaRPr>
          </a:p>
          <a:p>
            <a:pPr marL="171450" indent="-171450"/>
            <a:r>
              <a:rPr lang="en-US"/>
              <a:t>Dialogue systems → conversational tasks</a:t>
            </a:r>
            <a:endParaRPr lang="en-US">
              <a:solidFill>
                <a:srgbClr val="444444"/>
              </a:solidFill>
            </a:endParaRPr>
          </a:p>
          <a:p>
            <a:pPr marL="171450" indent="-171450"/>
            <a:r>
              <a:rPr lang="en-US"/>
              <a:t>Evaluation systems → testing tasks</a:t>
            </a:r>
            <a:endParaRPr lang="en-US">
              <a:solidFill>
                <a:srgbClr val="444444"/>
              </a:solidFill>
            </a:endParaRPr>
          </a:p>
          <a:p>
            <a:pPr marL="171450" indent="-171450"/>
            <a:r>
              <a:rPr lang="en-US"/>
              <a:t>Multi-agent systems → complex coordinated tasks</a:t>
            </a:r>
            <a:endParaRPr lang="en-US">
              <a:solidFill>
                <a:srgbClr val="444444"/>
              </a:solidFill>
            </a:endParaRPr>
          </a:p>
          <a:p>
            <a:pPr marL="0" indent="0">
              <a:buNone/>
            </a:pPr>
            <a:endParaRPr lang="en-US">
              <a:solidFill>
                <a:srgbClr val="444444"/>
              </a:solidFill>
            </a:endParaRPr>
          </a:p>
          <a:p>
            <a:pPr marL="0" lvl="0" indent="0" algn="l">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a:extLst>
            <a:ext uri="{FF2B5EF4-FFF2-40B4-BE49-F238E27FC236}">
              <a16:creationId xmlns:a16="http://schemas.microsoft.com/office/drawing/2014/main" id="{F3A0A12B-2ED0-EF13-80E9-D58FEAA1E52B}"/>
            </a:ext>
          </a:extLst>
        </p:cNvPr>
        <p:cNvGrpSpPr/>
        <p:nvPr/>
      </p:nvGrpSpPr>
      <p:grpSpPr>
        <a:xfrm>
          <a:off x="0" y="0"/>
          <a:ext cx="0" cy="0"/>
          <a:chOff x="0" y="0"/>
          <a:chExt cx="0" cy="0"/>
        </a:xfrm>
      </p:grpSpPr>
      <p:sp>
        <p:nvSpPr>
          <p:cNvPr id="1527" name="Google Shape;1527;g24ed99bf1a4_0_71:notes">
            <a:extLst>
              <a:ext uri="{FF2B5EF4-FFF2-40B4-BE49-F238E27FC236}">
                <a16:creationId xmlns:a16="http://schemas.microsoft.com/office/drawing/2014/main" id="{AA35206D-C5BE-4D03-0DC5-93235C4481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a:extLst>
              <a:ext uri="{FF2B5EF4-FFF2-40B4-BE49-F238E27FC236}">
                <a16:creationId xmlns:a16="http://schemas.microsoft.com/office/drawing/2014/main" id="{3EBD36B1-3E5C-4D4A-4574-0AC191A4CC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1270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24ed99bf1a4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24ed99bf1a4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b="1" dirty="0"/>
              <a:t>22 file</a:t>
            </a:r>
          </a:p>
          <a:p>
            <a:pPr>
              <a:buNone/>
            </a:pPr>
            <a:endParaRPr lang="en-US" b="1" dirty="0"/>
          </a:p>
          <a:p>
            <a:pPr>
              <a:buNone/>
            </a:pPr>
            <a:r>
              <a:rPr lang="en-US" b="1" dirty="0"/>
              <a:t>1. </a:t>
            </a:r>
            <a:r>
              <a:rPr lang="en-US" b="1" dirty="0" err="1"/>
              <a:t>u.data</a:t>
            </a:r>
            <a:endParaRPr lang="en-US" b="1" dirty="0"/>
          </a:p>
          <a:p>
            <a:pPr>
              <a:buNone/>
            </a:pPr>
            <a:r>
              <a:rPr lang="en-US" dirty="0"/>
              <a:t>-    </a:t>
            </a:r>
            <a:r>
              <a:rPr lang="en-US" dirty="0" err="1"/>
              <a:t>Đây</a:t>
            </a:r>
            <a:r>
              <a:rPr lang="en-US" dirty="0"/>
              <a:t> </a:t>
            </a:r>
            <a:r>
              <a:rPr lang="en-US" dirty="0" err="1"/>
              <a:t>là</a:t>
            </a:r>
            <a:r>
              <a:rPr lang="en-US" dirty="0"/>
              <a:t> </a:t>
            </a:r>
            <a:r>
              <a:rPr lang="en-US" dirty="0" err="1"/>
              <a:t>dữ</a:t>
            </a:r>
            <a:r>
              <a:rPr lang="en-US" dirty="0"/>
              <a:t> </a:t>
            </a:r>
            <a:r>
              <a:rPr lang="en-US" dirty="0" err="1"/>
              <a:t>liệu</a:t>
            </a:r>
            <a:r>
              <a:rPr lang="en-US" dirty="0"/>
              <a:t> </a:t>
            </a:r>
            <a:r>
              <a:rPr lang="en-US" dirty="0" err="1"/>
              <a:t>chính</a:t>
            </a:r>
            <a:r>
              <a:rPr lang="en-US" dirty="0"/>
              <a:t>, </a:t>
            </a:r>
            <a:r>
              <a:rPr lang="en-US" dirty="0" err="1"/>
              <a:t>chứa</a:t>
            </a:r>
            <a:r>
              <a:rPr lang="en-US" dirty="0"/>
              <a:t> </a:t>
            </a:r>
            <a:r>
              <a:rPr lang="en-US" dirty="0" err="1"/>
              <a:t>toàn</a:t>
            </a:r>
            <a:r>
              <a:rPr lang="en-US" dirty="0"/>
              <a:t> </a:t>
            </a:r>
            <a:r>
              <a:rPr lang="en-US" dirty="0" err="1"/>
              <a:t>bộ</a:t>
            </a:r>
            <a:r>
              <a:rPr lang="en-US" dirty="0"/>
              <a:t> 100.000 </a:t>
            </a:r>
            <a:r>
              <a:rPr lang="en-US" dirty="0" err="1"/>
              <a:t>lượt</a:t>
            </a:r>
            <a:r>
              <a:rPr lang="en-US" dirty="0"/>
              <a:t> </a:t>
            </a:r>
            <a:r>
              <a:rPr lang="en-US" dirty="0" err="1"/>
              <a:t>đánh</a:t>
            </a:r>
            <a:r>
              <a:rPr lang="en-US" dirty="0"/>
              <a:t> </a:t>
            </a:r>
            <a:r>
              <a:rPr lang="en-US" dirty="0" err="1"/>
              <a:t>giá</a:t>
            </a:r>
            <a:r>
              <a:rPr lang="en-US" dirty="0"/>
              <a:t>. </a:t>
            </a:r>
            <a:r>
              <a:rPr lang="en-US" dirty="0" err="1"/>
              <a:t>Mỗi</a:t>
            </a:r>
            <a:r>
              <a:rPr lang="en-US" dirty="0"/>
              <a:t> </a:t>
            </a:r>
            <a:r>
              <a:rPr lang="en-US" dirty="0" err="1"/>
              <a:t>dòng</a:t>
            </a:r>
            <a:r>
              <a:rPr lang="en-US" dirty="0"/>
              <a:t> </a:t>
            </a:r>
            <a:r>
              <a:rPr lang="en-US" dirty="0" err="1"/>
              <a:t>gồm</a:t>
            </a:r>
            <a:r>
              <a:rPr lang="en-US" dirty="0"/>
              <a:t> 4 </a:t>
            </a:r>
            <a:r>
              <a:rPr lang="en-US" dirty="0" err="1"/>
              <a:t>trường</a:t>
            </a:r>
            <a:r>
              <a:rPr lang="en-US" dirty="0"/>
              <a:t>, </a:t>
            </a:r>
            <a:r>
              <a:rPr lang="en-US" dirty="0" err="1"/>
              <a:t>ngăn</a:t>
            </a:r>
            <a:r>
              <a:rPr lang="en-US" dirty="0"/>
              <a:t> </a:t>
            </a:r>
            <a:r>
              <a:rPr lang="en-US" dirty="0" err="1"/>
              <a:t>cách</a:t>
            </a:r>
            <a:r>
              <a:rPr lang="en-US" dirty="0"/>
              <a:t> </a:t>
            </a:r>
            <a:r>
              <a:rPr lang="en-US" dirty="0" err="1"/>
              <a:t>bởi</a:t>
            </a:r>
            <a:r>
              <a:rPr lang="en-US" dirty="0"/>
              <a:t> tab:</a:t>
            </a:r>
          </a:p>
          <a:p>
            <a:pPr>
              <a:buNone/>
            </a:pPr>
            <a:r>
              <a:rPr lang="en-US" dirty="0"/>
              <a:t>user id | item id | rating | timestamp</a:t>
            </a:r>
          </a:p>
          <a:p>
            <a:pPr>
              <a:buNone/>
            </a:pPr>
            <a:r>
              <a:rPr lang="en-US" dirty="0"/>
              <a:t>-    user id: ID </a:t>
            </a:r>
            <a:r>
              <a:rPr lang="en-US" dirty="0" err="1"/>
              <a:t>người</a:t>
            </a:r>
            <a:r>
              <a:rPr lang="en-US" dirty="0"/>
              <a:t> </a:t>
            </a:r>
            <a:r>
              <a:rPr lang="en-US" dirty="0" err="1"/>
              <a:t>dùng</a:t>
            </a:r>
            <a:r>
              <a:rPr lang="en-US" dirty="0"/>
              <a:t> (1–943)</a:t>
            </a:r>
          </a:p>
          <a:p>
            <a:pPr>
              <a:buNone/>
            </a:pPr>
            <a:r>
              <a:rPr lang="en-US" dirty="0"/>
              <a:t>-    item id: ID </a:t>
            </a:r>
            <a:r>
              <a:rPr lang="en-US" dirty="0" err="1"/>
              <a:t>phim</a:t>
            </a:r>
            <a:r>
              <a:rPr lang="en-US" dirty="0"/>
              <a:t> (1–1682)</a:t>
            </a:r>
          </a:p>
          <a:p>
            <a:pPr>
              <a:buNone/>
            </a:pPr>
            <a:r>
              <a:rPr lang="en-US" dirty="0"/>
              <a:t>-    rating: </a:t>
            </a:r>
            <a:r>
              <a:rPr lang="en-US" dirty="0" err="1"/>
              <a:t>Điểm</a:t>
            </a:r>
            <a:r>
              <a:rPr lang="en-US" dirty="0"/>
              <a:t> </a:t>
            </a:r>
            <a:r>
              <a:rPr lang="en-US" dirty="0" err="1"/>
              <a:t>đánh</a:t>
            </a:r>
            <a:r>
              <a:rPr lang="en-US" dirty="0"/>
              <a:t> </a:t>
            </a:r>
            <a:r>
              <a:rPr lang="en-US" dirty="0" err="1"/>
              <a:t>giá</a:t>
            </a:r>
            <a:r>
              <a:rPr lang="en-US" dirty="0"/>
              <a:t> (1–5)</a:t>
            </a:r>
          </a:p>
          <a:p>
            <a:pPr>
              <a:buNone/>
            </a:pPr>
            <a:r>
              <a:rPr lang="en-US" dirty="0"/>
              <a:t>-    timestamp: </a:t>
            </a:r>
            <a:r>
              <a:rPr lang="en-US" dirty="0" err="1"/>
              <a:t>thời</a:t>
            </a:r>
            <a:r>
              <a:rPr lang="en-US" dirty="0"/>
              <a:t> </a:t>
            </a:r>
            <a:r>
              <a:rPr lang="en-US" dirty="0" err="1"/>
              <a:t>gian</a:t>
            </a:r>
            <a:r>
              <a:rPr lang="en-US" dirty="0"/>
              <a:t> </a:t>
            </a:r>
            <a:r>
              <a:rPr lang="en-US" dirty="0" err="1"/>
              <a:t>đánh</a:t>
            </a:r>
            <a:r>
              <a:rPr lang="en-US" dirty="0"/>
              <a:t> </a:t>
            </a:r>
            <a:r>
              <a:rPr lang="en-US" dirty="0" err="1"/>
              <a:t>giá</a:t>
            </a:r>
            <a:r>
              <a:rPr lang="en-US" dirty="0"/>
              <a:t>, </a:t>
            </a:r>
            <a:r>
              <a:rPr lang="en-US" dirty="0" err="1"/>
              <a:t>dạng</a:t>
            </a:r>
            <a:r>
              <a:rPr lang="en-US" dirty="0"/>
              <a:t> UNIX time (</a:t>
            </a:r>
            <a:r>
              <a:rPr lang="en-US" dirty="0" err="1"/>
              <a:t>giây</a:t>
            </a:r>
            <a:r>
              <a:rPr lang="en-US" dirty="0"/>
              <a:t> </a:t>
            </a:r>
            <a:r>
              <a:rPr lang="en-US" dirty="0" err="1"/>
              <a:t>từ</a:t>
            </a:r>
            <a:r>
              <a:rPr lang="en-US" dirty="0"/>
              <a:t> 1/1/1970 UTC).</a:t>
            </a:r>
          </a:p>
          <a:p>
            <a:pPr>
              <a:buNone/>
            </a:pPr>
            <a:r>
              <a:rPr lang="en-US" dirty="0"/>
              <a:t>-    </a:t>
            </a:r>
            <a:r>
              <a:rPr lang="en-US" dirty="0" err="1"/>
              <a:t>Mỗi</a:t>
            </a:r>
            <a:r>
              <a:rPr lang="en-US" dirty="0"/>
              <a:t> </a:t>
            </a:r>
            <a:r>
              <a:rPr lang="en-US" dirty="0" err="1"/>
              <a:t>người</a:t>
            </a:r>
            <a:r>
              <a:rPr lang="en-US" dirty="0"/>
              <a:t> </a:t>
            </a:r>
            <a:r>
              <a:rPr lang="en-US" dirty="0" err="1"/>
              <a:t>dùng</a:t>
            </a:r>
            <a:r>
              <a:rPr lang="en-US" dirty="0"/>
              <a:t> </a:t>
            </a:r>
            <a:r>
              <a:rPr lang="en-US" dirty="0" err="1"/>
              <a:t>đánh</a:t>
            </a:r>
            <a:r>
              <a:rPr lang="en-US" dirty="0"/>
              <a:t> </a:t>
            </a:r>
            <a:r>
              <a:rPr lang="en-US" dirty="0" err="1"/>
              <a:t>giá</a:t>
            </a:r>
            <a:r>
              <a:rPr lang="en-US" dirty="0"/>
              <a:t> </a:t>
            </a:r>
            <a:r>
              <a:rPr lang="en-US" dirty="0" err="1"/>
              <a:t>tối</a:t>
            </a:r>
            <a:r>
              <a:rPr lang="en-US" dirty="0"/>
              <a:t> </a:t>
            </a:r>
            <a:r>
              <a:rPr lang="en-US" dirty="0" err="1"/>
              <a:t>thiểu</a:t>
            </a:r>
            <a:r>
              <a:rPr lang="en-US" dirty="0"/>
              <a:t> 20 </a:t>
            </a:r>
            <a:r>
              <a:rPr lang="en-US" dirty="0" err="1"/>
              <a:t>phim</a:t>
            </a:r>
            <a:r>
              <a:rPr lang="en-US" dirty="0"/>
              <a:t>, </a:t>
            </a:r>
            <a:r>
              <a:rPr lang="en-US" dirty="0" err="1"/>
              <a:t>và</a:t>
            </a:r>
            <a:r>
              <a:rPr lang="en-US" dirty="0"/>
              <a:t> </a:t>
            </a:r>
            <a:r>
              <a:rPr lang="en-US" dirty="0" err="1"/>
              <a:t>dữ</a:t>
            </a:r>
            <a:r>
              <a:rPr lang="en-US" dirty="0"/>
              <a:t> </a:t>
            </a:r>
            <a:r>
              <a:rPr lang="en-US" dirty="0" err="1"/>
              <a:t>liệu</a:t>
            </a:r>
            <a:r>
              <a:rPr lang="en-US" dirty="0"/>
              <a:t> </a:t>
            </a:r>
            <a:r>
              <a:rPr lang="en-US" dirty="0" err="1"/>
              <a:t>được</a:t>
            </a:r>
            <a:r>
              <a:rPr lang="en-US" dirty="0"/>
              <a:t> </a:t>
            </a:r>
            <a:r>
              <a:rPr lang="en-US" dirty="0" err="1"/>
              <a:t>xáo</a:t>
            </a:r>
            <a:r>
              <a:rPr lang="en-US" dirty="0"/>
              <a:t> </a:t>
            </a:r>
            <a:r>
              <a:rPr lang="en-US" dirty="0" err="1"/>
              <a:t>trộn</a:t>
            </a:r>
            <a:r>
              <a:rPr lang="en-US" dirty="0"/>
              <a:t> </a:t>
            </a:r>
            <a:r>
              <a:rPr lang="en-US" dirty="0" err="1"/>
              <a:t>ngẫu</a:t>
            </a:r>
            <a:r>
              <a:rPr lang="en-US" dirty="0"/>
              <a:t> </a:t>
            </a:r>
            <a:r>
              <a:rPr lang="en-US" dirty="0" err="1"/>
              <a:t>nhiên</a:t>
            </a:r>
            <a:r>
              <a:rPr lang="en-US" dirty="0"/>
              <a:t>.</a:t>
            </a:r>
          </a:p>
          <a:p>
            <a:pPr>
              <a:buNone/>
            </a:pPr>
            <a:r>
              <a:rPr lang="en-US" b="1" dirty="0"/>
              <a:t>2. u.info</a:t>
            </a:r>
          </a:p>
          <a:p>
            <a:pPr>
              <a:buNone/>
            </a:pPr>
            <a:r>
              <a:rPr lang="en-US" dirty="0" err="1"/>
              <a:t>Chứa</a:t>
            </a:r>
            <a:r>
              <a:rPr lang="en-US" dirty="0"/>
              <a:t> </a:t>
            </a:r>
            <a:r>
              <a:rPr lang="en-US" dirty="0" err="1"/>
              <a:t>thông</a:t>
            </a:r>
            <a:r>
              <a:rPr lang="en-US" dirty="0"/>
              <a:t> tin </a:t>
            </a:r>
            <a:r>
              <a:rPr lang="en-US" dirty="0" err="1"/>
              <a:t>tổng</a:t>
            </a:r>
            <a:r>
              <a:rPr lang="en-US" dirty="0"/>
              <a:t> </a:t>
            </a:r>
            <a:r>
              <a:rPr lang="en-US" dirty="0" err="1"/>
              <a:t>quan</a:t>
            </a:r>
            <a:r>
              <a:rPr lang="en-US" dirty="0"/>
              <a:t> </a:t>
            </a:r>
            <a:r>
              <a:rPr lang="en-US" dirty="0" err="1"/>
              <a:t>về</a:t>
            </a:r>
            <a:r>
              <a:rPr lang="en-US" dirty="0"/>
              <a:t> </a:t>
            </a:r>
            <a:r>
              <a:rPr lang="en-US" dirty="0" err="1"/>
              <a:t>bộ</a:t>
            </a:r>
            <a:r>
              <a:rPr lang="en-US" dirty="0"/>
              <a:t> </a:t>
            </a:r>
            <a:r>
              <a:rPr lang="en-US" dirty="0" err="1"/>
              <a:t>dữ</a:t>
            </a:r>
            <a:r>
              <a:rPr lang="en-US" dirty="0"/>
              <a:t> </a:t>
            </a:r>
            <a:r>
              <a:rPr lang="en-US" dirty="0" err="1"/>
              <a:t>liệu</a:t>
            </a:r>
            <a:r>
              <a:rPr lang="en-US" dirty="0"/>
              <a:t>: </a:t>
            </a:r>
            <a:r>
              <a:rPr lang="en-US" dirty="0" err="1"/>
              <a:t>Số</a:t>
            </a:r>
            <a:r>
              <a:rPr lang="en-US" dirty="0"/>
              <a:t> </a:t>
            </a:r>
            <a:r>
              <a:rPr lang="en-US" dirty="0" err="1"/>
              <a:t>lượng</a:t>
            </a:r>
            <a:r>
              <a:rPr lang="en-US" dirty="0"/>
              <a:t> </a:t>
            </a:r>
            <a:r>
              <a:rPr lang="en-US" dirty="0" err="1"/>
              <a:t>người</a:t>
            </a:r>
            <a:r>
              <a:rPr lang="en-US" dirty="0"/>
              <a:t> </a:t>
            </a:r>
            <a:r>
              <a:rPr lang="en-US" dirty="0" err="1"/>
              <a:t>dùng</a:t>
            </a:r>
            <a:r>
              <a:rPr lang="en-US" dirty="0"/>
              <a:t>, </a:t>
            </a:r>
            <a:r>
              <a:rPr lang="en-US" dirty="0" err="1"/>
              <a:t>Số</a:t>
            </a:r>
            <a:r>
              <a:rPr lang="en-US" dirty="0"/>
              <a:t> </a:t>
            </a:r>
            <a:r>
              <a:rPr lang="en-US" dirty="0" err="1"/>
              <a:t>lượng</a:t>
            </a:r>
            <a:r>
              <a:rPr lang="en-US" dirty="0"/>
              <a:t> </a:t>
            </a:r>
            <a:r>
              <a:rPr lang="en-US" dirty="0" err="1"/>
              <a:t>phim</a:t>
            </a:r>
            <a:r>
              <a:rPr lang="en-US" dirty="0"/>
              <a:t>, </a:t>
            </a:r>
            <a:r>
              <a:rPr lang="en-US" dirty="0" err="1"/>
              <a:t>Số</a:t>
            </a:r>
            <a:r>
              <a:rPr lang="en-US" dirty="0"/>
              <a:t> </a:t>
            </a:r>
            <a:r>
              <a:rPr lang="en-US" dirty="0" err="1"/>
              <a:t>lượng</a:t>
            </a:r>
            <a:r>
              <a:rPr lang="en-US" dirty="0"/>
              <a:t> </a:t>
            </a:r>
            <a:r>
              <a:rPr lang="en-US" dirty="0" err="1"/>
              <a:t>đánh</a:t>
            </a:r>
            <a:r>
              <a:rPr lang="en-US" dirty="0"/>
              <a:t> </a:t>
            </a:r>
            <a:r>
              <a:rPr lang="en-US" dirty="0" err="1"/>
              <a:t>giá</a:t>
            </a:r>
            <a:endParaRPr lang="en-US" dirty="0"/>
          </a:p>
          <a:p>
            <a:pPr>
              <a:buNone/>
            </a:pPr>
            <a:r>
              <a:rPr lang="en-US" b="1" dirty="0"/>
              <a:t>3. </a:t>
            </a:r>
            <a:r>
              <a:rPr lang="en-US" b="1" dirty="0" err="1"/>
              <a:t>u.item</a:t>
            </a:r>
            <a:endParaRPr lang="en-US" b="1" dirty="0"/>
          </a:p>
          <a:p>
            <a:pPr>
              <a:buNone/>
            </a:pPr>
            <a:r>
              <a:rPr lang="en-US" dirty="0" err="1"/>
              <a:t>Chứa</a:t>
            </a:r>
            <a:r>
              <a:rPr lang="en-US" dirty="0"/>
              <a:t> </a:t>
            </a:r>
            <a:r>
              <a:rPr lang="en-US" dirty="0" err="1"/>
              <a:t>thông</a:t>
            </a:r>
            <a:r>
              <a:rPr lang="en-US" dirty="0"/>
              <a:t> tin chi </a:t>
            </a:r>
            <a:r>
              <a:rPr lang="en-US" dirty="0" err="1"/>
              <a:t>tiết</a:t>
            </a:r>
            <a:r>
              <a:rPr lang="en-US" dirty="0"/>
              <a:t> </a:t>
            </a:r>
            <a:r>
              <a:rPr lang="en-US" dirty="0" err="1"/>
              <a:t>về</a:t>
            </a:r>
            <a:r>
              <a:rPr lang="en-US" dirty="0"/>
              <a:t> </a:t>
            </a:r>
            <a:r>
              <a:rPr lang="en-US" dirty="0" err="1"/>
              <a:t>từng</a:t>
            </a:r>
            <a:r>
              <a:rPr lang="en-US" dirty="0"/>
              <a:t> </a:t>
            </a:r>
            <a:r>
              <a:rPr lang="en-US" dirty="0" err="1"/>
              <a:t>bộ</a:t>
            </a:r>
            <a:r>
              <a:rPr lang="en-US" dirty="0"/>
              <a:t> </a:t>
            </a:r>
            <a:r>
              <a:rPr lang="en-US" dirty="0" err="1"/>
              <a:t>phim</a:t>
            </a:r>
            <a:r>
              <a:rPr lang="en-US" dirty="0"/>
              <a:t>.</a:t>
            </a:r>
          </a:p>
          <a:p>
            <a:pPr>
              <a:buNone/>
            </a:pPr>
            <a:r>
              <a:rPr lang="en-US" dirty="0" err="1"/>
              <a:t>Mỗi</a:t>
            </a:r>
            <a:r>
              <a:rPr lang="en-US" dirty="0"/>
              <a:t> </a:t>
            </a:r>
            <a:r>
              <a:rPr lang="en-US" dirty="0" err="1"/>
              <a:t>dòng</a:t>
            </a:r>
            <a:r>
              <a:rPr lang="en-US" dirty="0"/>
              <a:t> </a:t>
            </a:r>
            <a:r>
              <a:rPr lang="en-US" dirty="0" err="1"/>
              <a:t>là</a:t>
            </a:r>
            <a:r>
              <a:rPr lang="en-US" dirty="0"/>
              <a:t> </a:t>
            </a:r>
            <a:r>
              <a:rPr lang="en-US" dirty="0" err="1"/>
              <a:t>một</a:t>
            </a:r>
            <a:r>
              <a:rPr lang="en-US" dirty="0"/>
              <a:t> </a:t>
            </a:r>
            <a:r>
              <a:rPr lang="en-US" dirty="0" err="1"/>
              <a:t>phim</a:t>
            </a:r>
            <a:r>
              <a:rPr lang="en-US" dirty="0"/>
              <a:t>, </a:t>
            </a:r>
            <a:r>
              <a:rPr lang="en-US" dirty="0" err="1"/>
              <a:t>dạng</a:t>
            </a:r>
            <a:r>
              <a:rPr lang="en-US" dirty="0"/>
              <a:t>:</a:t>
            </a:r>
          </a:p>
          <a:p>
            <a:pPr>
              <a:buNone/>
            </a:pPr>
            <a:r>
              <a:rPr lang="en-US" dirty="0"/>
              <a:t>movie id | movie title | release date | video release date | IMDb URL | unknown | Action | Adventure | Animation | Children's | Comedy | Crime | Documentary | Drama | Fantasy | Film-Noir | Horror | Musical | Mystery | Romance | Sci-Fi | Thriller | War | Western |</a:t>
            </a:r>
          </a:p>
          <a:p>
            <a:pPr>
              <a:buNone/>
            </a:pPr>
            <a:r>
              <a:rPr lang="en-US" dirty="0"/>
              <a:t>-    movie id: ID </a:t>
            </a:r>
            <a:r>
              <a:rPr lang="en-US" dirty="0" err="1"/>
              <a:t>phim</a:t>
            </a:r>
            <a:endParaRPr lang="en-US" dirty="0"/>
          </a:p>
          <a:p>
            <a:pPr>
              <a:buNone/>
            </a:pPr>
            <a:r>
              <a:rPr lang="en-US" dirty="0"/>
              <a:t>-    title: </a:t>
            </a:r>
            <a:r>
              <a:rPr lang="en-US" dirty="0" err="1"/>
              <a:t>Tên</a:t>
            </a:r>
            <a:r>
              <a:rPr lang="en-US" dirty="0"/>
              <a:t> </a:t>
            </a:r>
            <a:r>
              <a:rPr lang="en-US" dirty="0" err="1"/>
              <a:t>phim</a:t>
            </a:r>
            <a:endParaRPr lang="en-US" dirty="0"/>
          </a:p>
          <a:p>
            <a:pPr>
              <a:buNone/>
            </a:pPr>
            <a:r>
              <a:rPr lang="en-US" dirty="0"/>
              <a:t>-    release date: </a:t>
            </a:r>
            <a:r>
              <a:rPr lang="en-US" dirty="0" err="1"/>
              <a:t>Ngày</a:t>
            </a:r>
            <a:r>
              <a:rPr lang="en-US" dirty="0"/>
              <a:t> </a:t>
            </a:r>
            <a:r>
              <a:rPr lang="en-US" dirty="0" err="1"/>
              <a:t>phát</a:t>
            </a:r>
            <a:r>
              <a:rPr lang="en-US" dirty="0"/>
              <a:t> </a:t>
            </a:r>
            <a:r>
              <a:rPr lang="en-US" dirty="0" err="1"/>
              <a:t>hành</a:t>
            </a:r>
            <a:endParaRPr lang="en-US" dirty="0"/>
          </a:p>
          <a:p>
            <a:pPr>
              <a:buNone/>
            </a:pPr>
            <a:r>
              <a:rPr lang="en-US" dirty="0"/>
              <a:t>-    video release date: </a:t>
            </a:r>
            <a:r>
              <a:rPr lang="en-US" dirty="0" err="1"/>
              <a:t>Ngày</a:t>
            </a:r>
            <a:r>
              <a:rPr lang="en-US" dirty="0"/>
              <a:t> </a:t>
            </a:r>
            <a:r>
              <a:rPr lang="en-US" dirty="0" err="1"/>
              <a:t>phát</a:t>
            </a:r>
            <a:r>
              <a:rPr lang="en-US" dirty="0"/>
              <a:t> </a:t>
            </a:r>
            <a:r>
              <a:rPr lang="en-US" dirty="0" err="1"/>
              <a:t>hành</a:t>
            </a:r>
            <a:endParaRPr lang="en-US" dirty="0"/>
          </a:p>
          <a:p>
            <a:pPr>
              <a:buNone/>
            </a:pPr>
            <a:r>
              <a:rPr lang="en-US" dirty="0"/>
              <a:t>-    IMDb URL: Link IMDb</a:t>
            </a:r>
          </a:p>
          <a:p>
            <a:pPr>
              <a:buNone/>
            </a:pPr>
            <a:r>
              <a:rPr lang="en-US" dirty="0"/>
              <a:t>-    19 </a:t>
            </a:r>
            <a:r>
              <a:rPr lang="en-US" dirty="0" err="1"/>
              <a:t>trường</a:t>
            </a:r>
            <a:r>
              <a:rPr lang="en-US" dirty="0"/>
              <a:t> </a:t>
            </a:r>
            <a:r>
              <a:rPr lang="en-US" dirty="0" err="1"/>
              <a:t>cuối</a:t>
            </a:r>
            <a:r>
              <a:rPr lang="en-US" dirty="0"/>
              <a:t> </a:t>
            </a:r>
            <a:r>
              <a:rPr lang="en-US" dirty="0" err="1"/>
              <a:t>là</a:t>
            </a:r>
            <a:r>
              <a:rPr lang="en-US" dirty="0"/>
              <a:t> </a:t>
            </a:r>
            <a:r>
              <a:rPr lang="en-US" dirty="0" err="1"/>
              <a:t>các</a:t>
            </a:r>
            <a:r>
              <a:rPr lang="en-US" dirty="0"/>
              <a:t> </a:t>
            </a:r>
            <a:r>
              <a:rPr lang="en-US" dirty="0" err="1"/>
              <a:t>thể</a:t>
            </a:r>
            <a:r>
              <a:rPr lang="en-US" dirty="0"/>
              <a:t> </a:t>
            </a:r>
            <a:r>
              <a:rPr lang="en-US" dirty="0" err="1"/>
              <a:t>loại</a:t>
            </a:r>
            <a:r>
              <a:rPr lang="en-US" dirty="0"/>
              <a:t> </a:t>
            </a:r>
            <a:r>
              <a:rPr lang="en-US" dirty="0" err="1"/>
              <a:t>phim</a:t>
            </a:r>
            <a:r>
              <a:rPr lang="en-US" dirty="0"/>
              <a:t>: Action | Adventure | Animation | Children's | Comedy | Crime | Documentary | Drama | Fantasy | Film-Noir | Horror | Musical | Mystery | Romance | Sci-Fi | Thriller | War | Western</a:t>
            </a:r>
          </a:p>
          <a:p>
            <a:pPr>
              <a:buNone/>
            </a:pPr>
            <a:r>
              <a:rPr lang="en-US" dirty="0" err="1"/>
              <a:t>Với</a:t>
            </a:r>
            <a:r>
              <a:rPr lang="en-US" dirty="0"/>
              <a:t> </a:t>
            </a:r>
            <a:r>
              <a:rPr lang="en-US" dirty="0" err="1"/>
              <a:t>mỗi</a:t>
            </a:r>
            <a:r>
              <a:rPr lang="en-US" dirty="0"/>
              <a:t> genre:</a:t>
            </a:r>
          </a:p>
          <a:p>
            <a:pPr>
              <a:buNone/>
            </a:pPr>
            <a:r>
              <a:rPr lang="en-US" dirty="0"/>
              <a:t>-    1 = </a:t>
            </a:r>
            <a:r>
              <a:rPr lang="en-US" dirty="0" err="1"/>
              <a:t>phim</a:t>
            </a:r>
            <a:r>
              <a:rPr lang="en-US" dirty="0"/>
              <a:t> </a:t>
            </a:r>
            <a:r>
              <a:rPr lang="en-US" dirty="0" err="1"/>
              <a:t>có</a:t>
            </a:r>
            <a:r>
              <a:rPr lang="en-US" dirty="0"/>
              <a:t> </a:t>
            </a:r>
            <a:r>
              <a:rPr lang="en-US" dirty="0" err="1"/>
              <a:t>thuộc</a:t>
            </a:r>
            <a:r>
              <a:rPr lang="en-US" dirty="0"/>
              <a:t> </a:t>
            </a:r>
            <a:r>
              <a:rPr lang="en-US" dirty="0" err="1"/>
              <a:t>thể</a:t>
            </a:r>
            <a:r>
              <a:rPr lang="en-US" dirty="0"/>
              <a:t> </a:t>
            </a:r>
            <a:r>
              <a:rPr lang="en-US" dirty="0" err="1"/>
              <a:t>loại</a:t>
            </a:r>
            <a:r>
              <a:rPr lang="en-US" dirty="0"/>
              <a:t> </a:t>
            </a:r>
            <a:r>
              <a:rPr lang="en-US" dirty="0" err="1"/>
              <a:t>đó</a:t>
            </a:r>
            <a:endParaRPr lang="en-US" dirty="0"/>
          </a:p>
          <a:p>
            <a:pPr>
              <a:buNone/>
            </a:pPr>
            <a:r>
              <a:rPr lang="en-US" dirty="0"/>
              <a:t>-    0 = </a:t>
            </a:r>
            <a:r>
              <a:rPr lang="en-US" dirty="0" err="1"/>
              <a:t>không</a:t>
            </a:r>
            <a:r>
              <a:rPr lang="en-US" dirty="0"/>
              <a:t> </a:t>
            </a:r>
            <a:r>
              <a:rPr lang="en-US" dirty="0" err="1"/>
              <a:t>thuộc</a:t>
            </a:r>
            <a:endParaRPr lang="en-US" dirty="0"/>
          </a:p>
          <a:p>
            <a:pPr>
              <a:buNone/>
            </a:pPr>
            <a:r>
              <a:rPr lang="en-US" dirty="0" err="1"/>
              <a:t>Một</a:t>
            </a:r>
            <a:r>
              <a:rPr lang="en-US" dirty="0"/>
              <a:t> </a:t>
            </a:r>
            <a:r>
              <a:rPr lang="en-US" dirty="0" err="1"/>
              <a:t>phim</a:t>
            </a:r>
            <a:r>
              <a:rPr lang="en-US" dirty="0"/>
              <a:t> </a:t>
            </a:r>
            <a:r>
              <a:rPr lang="en-US" dirty="0" err="1"/>
              <a:t>có</a:t>
            </a:r>
            <a:r>
              <a:rPr lang="en-US" dirty="0"/>
              <a:t> </a:t>
            </a:r>
            <a:r>
              <a:rPr lang="en-US" dirty="0" err="1"/>
              <a:t>thể</a:t>
            </a:r>
            <a:r>
              <a:rPr lang="en-US" dirty="0"/>
              <a:t> </a:t>
            </a:r>
            <a:r>
              <a:rPr lang="en-US" dirty="0" err="1"/>
              <a:t>thuộc</a:t>
            </a:r>
            <a:r>
              <a:rPr lang="en-US" dirty="0"/>
              <a:t> </a:t>
            </a:r>
            <a:r>
              <a:rPr lang="en-US" dirty="0" err="1"/>
              <a:t>nhiều</a:t>
            </a:r>
            <a:r>
              <a:rPr lang="en-US" dirty="0"/>
              <a:t> </a:t>
            </a:r>
            <a:r>
              <a:rPr lang="en-US" dirty="0" err="1"/>
              <a:t>thể</a:t>
            </a:r>
            <a:r>
              <a:rPr lang="en-US" dirty="0"/>
              <a:t> </a:t>
            </a:r>
            <a:r>
              <a:rPr lang="en-US" dirty="0" err="1"/>
              <a:t>loại</a:t>
            </a:r>
            <a:r>
              <a:rPr lang="en-US" dirty="0"/>
              <a:t>.</a:t>
            </a:r>
          </a:p>
          <a:p>
            <a:pPr>
              <a:buNone/>
            </a:pPr>
            <a:r>
              <a:rPr lang="en-US" dirty="0"/>
              <a:t> </a:t>
            </a:r>
          </a:p>
          <a:p>
            <a:pPr>
              <a:buNone/>
            </a:pPr>
            <a:r>
              <a:rPr lang="en-US" b="1" dirty="0"/>
              <a:t>4. </a:t>
            </a:r>
            <a:r>
              <a:rPr lang="en-US" b="1" dirty="0" err="1"/>
              <a:t>u.genre</a:t>
            </a:r>
            <a:endParaRPr lang="en-US" b="1" dirty="0"/>
          </a:p>
          <a:p>
            <a:pPr>
              <a:buNone/>
            </a:pPr>
            <a:r>
              <a:rPr lang="en-US" dirty="0"/>
              <a:t>Danh </a:t>
            </a:r>
            <a:r>
              <a:rPr lang="en-US" dirty="0" err="1"/>
              <a:t>sách</a:t>
            </a:r>
            <a:r>
              <a:rPr lang="en-US" dirty="0"/>
              <a:t> </a:t>
            </a:r>
            <a:r>
              <a:rPr lang="en-US" dirty="0" err="1"/>
              <a:t>các</a:t>
            </a:r>
            <a:r>
              <a:rPr lang="en-US" dirty="0"/>
              <a:t> </a:t>
            </a:r>
            <a:r>
              <a:rPr lang="en-US" dirty="0" err="1"/>
              <a:t>thể</a:t>
            </a:r>
            <a:r>
              <a:rPr lang="en-US" dirty="0"/>
              <a:t> </a:t>
            </a:r>
            <a:r>
              <a:rPr lang="en-US" dirty="0" err="1"/>
              <a:t>loại</a:t>
            </a:r>
            <a:r>
              <a:rPr lang="en-US" dirty="0"/>
              <a:t> </a:t>
            </a:r>
            <a:r>
              <a:rPr lang="en-US" dirty="0" err="1"/>
              <a:t>phim</a:t>
            </a:r>
            <a:r>
              <a:rPr lang="en-US" dirty="0"/>
              <a:t>, </a:t>
            </a:r>
            <a:r>
              <a:rPr lang="en-US" dirty="0" err="1"/>
              <a:t>ví</a:t>
            </a:r>
            <a:r>
              <a:rPr lang="en-US" dirty="0"/>
              <a:t> </a:t>
            </a:r>
            <a:r>
              <a:rPr lang="en-US" dirty="0" err="1"/>
              <a:t>dụ</a:t>
            </a:r>
            <a:r>
              <a:rPr lang="en-US" dirty="0"/>
              <a:t>:</a:t>
            </a:r>
          </a:p>
          <a:p>
            <a:pPr>
              <a:buNone/>
            </a:pPr>
            <a:r>
              <a:rPr lang="en-US" b="1" dirty="0"/>
              <a:t>5. </a:t>
            </a:r>
            <a:r>
              <a:rPr lang="en-US" b="1" dirty="0" err="1"/>
              <a:t>u.user</a:t>
            </a:r>
            <a:endParaRPr lang="en-US" b="1" dirty="0"/>
          </a:p>
          <a:p>
            <a:pPr>
              <a:buNone/>
            </a:pPr>
            <a:r>
              <a:rPr lang="en-US" dirty="0" err="1"/>
              <a:t>Chứa</a:t>
            </a:r>
            <a:r>
              <a:rPr lang="en-US" dirty="0"/>
              <a:t> </a:t>
            </a:r>
            <a:r>
              <a:rPr lang="en-US" dirty="0" err="1"/>
              <a:t>thông</a:t>
            </a:r>
            <a:r>
              <a:rPr lang="en-US" dirty="0"/>
              <a:t> tin </a:t>
            </a:r>
            <a:r>
              <a:rPr lang="en-US" dirty="0" err="1"/>
              <a:t>người</a:t>
            </a:r>
            <a:r>
              <a:rPr lang="en-US" dirty="0"/>
              <a:t> </a:t>
            </a:r>
            <a:r>
              <a:rPr lang="en-US" dirty="0" err="1"/>
              <a:t>dùng</a:t>
            </a:r>
            <a:r>
              <a:rPr lang="en-US" dirty="0"/>
              <a:t>.</a:t>
            </a:r>
          </a:p>
          <a:p>
            <a:pPr>
              <a:buNone/>
            </a:pPr>
            <a:r>
              <a:rPr lang="en-US" dirty="0" err="1"/>
              <a:t>Mỗi</a:t>
            </a:r>
            <a:r>
              <a:rPr lang="en-US" dirty="0"/>
              <a:t> </a:t>
            </a:r>
            <a:r>
              <a:rPr lang="en-US" dirty="0" err="1"/>
              <a:t>dòng</a:t>
            </a:r>
            <a:r>
              <a:rPr lang="en-US" dirty="0"/>
              <a:t> </a:t>
            </a:r>
            <a:r>
              <a:rPr lang="en-US" dirty="0" err="1"/>
              <a:t>gồm</a:t>
            </a:r>
            <a:r>
              <a:rPr lang="en-US" dirty="0"/>
              <a:t>: user id | age | gender | occupation | zip code</a:t>
            </a:r>
          </a:p>
          <a:p>
            <a:pPr>
              <a:buNone/>
            </a:pPr>
            <a:r>
              <a:rPr lang="en-US" dirty="0"/>
              <a:t>-    age: </a:t>
            </a:r>
            <a:r>
              <a:rPr lang="en-US" dirty="0" err="1"/>
              <a:t>tuổi</a:t>
            </a:r>
            <a:endParaRPr lang="en-US" dirty="0"/>
          </a:p>
          <a:p>
            <a:pPr>
              <a:buNone/>
            </a:pPr>
            <a:r>
              <a:rPr lang="en-US" dirty="0"/>
              <a:t>-    gender: </a:t>
            </a:r>
            <a:r>
              <a:rPr lang="en-US" dirty="0" err="1"/>
              <a:t>giới</a:t>
            </a:r>
            <a:r>
              <a:rPr lang="en-US" dirty="0"/>
              <a:t> </a:t>
            </a:r>
            <a:r>
              <a:rPr lang="en-US" dirty="0" err="1"/>
              <a:t>tính</a:t>
            </a:r>
            <a:r>
              <a:rPr lang="en-US" dirty="0"/>
              <a:t> (M/F)</a:t>
            </a:r>
          </a:p>
          <a:p>
            <a:pPr>
              <a:buNone/>
            </a:pPr>
            <a:r>
              <a:rPr lang="en-US" dirty="0"/>
              <a:t>-    occupation: </a:t>
            </a:r>
            <a:r>
              <a:rPr lang="en-US" dirty="0" err="1"/>
              <a:t>nghề</a:t>
            </a:r>
            <a:r>
              <a:rPr lang="en-US" dirty="0"/>
              <a:t> </a:t>
            </a:r>
            <a:r>
              <a:rPr lang="en-US" dirty="0" err="1"/>
              <a:t>nghiệp</a:t>
            </a:r>
            <a:endParaRPr lang="en-US" dirty="0"/>
          </a:p>
          <a:p>
            <a:pPr>
              <a:buNone/>
            </a:pPr>
            <a:r>
              <a:rPr lang="en-US" dirty="0"/>
              <a:t>-    zip code: </a:t>
            </a:r>
            <a:r>
              <a:rPr lang="en-US" dirty="0" err="1"/>
              <a:t>mã</a:t>
            </a:r>
            <a:r>
              <a:rPr lang="en-US" dirty="0"/>
              <a:t> </a:t>
            </a:r>
            <a:r>
              <a:rPr lang="en-US" dirty="0" err="1"/>
              <a:t>vùng</a:t>
            </a:r>
            <a:endParaRPr lang="en-US" dirty="0"/>
          </a:p>
          <a:p>
            <a:pPr>
              <a:buNone/>
            </a:pPr>
            <a:r>
              <a:rPr lang="en-US" dirty="0"/>
              <a:t>ID </a:t>
            </a:r>
            <a:r>
              <a:rPr lang="en-US" dirty="0" err="1"/>
              <a:t>người</a:t>
            </a:r>
            <a:r>
              <a:rPr lang="en-US" dirty="0"/>
              <a:t> </a:t>
            </a:r>
            <a:r>
              <a:rPr lang="en-US" dirty="0" err="1"/>
              <a:t>dùng</a:t>
            </a:r>
            <a:r>
              <a:rPr lang="en-US" dirty="0"/>
              <a:t> </a:t>
            </a:r>
            <a:r>
              <a:rPr lang="en-US" dirty="0" err="1"/>
              <a:t>là</a:t>
            </a:r>
            <a:r>
              <a:rPr lang="en-US" dirty="0"/>
              <a:t> ID </a:t>
            </a:r>
            <a:r>
              <a:rPr lang="en-US" dirty="0" err="1"/>
              <a:t>được</a:t>
            </a:r>
            <a:r>
              <a:rPr lang="en-US" dirty="0"/>
              <a:t> </a:t>
            </a:r>
            <a:r>
              <a:rPr lang="en-US" dirty="0" err="1"/>
              <a:t>sử</a:t>
            </a:r>
            <a:r>
              <a:rPr lang="en-US" dirty="0"/>
              <a:t> </a:t>
            </a:r>
            <a:r>
              <a:rPr lang="en-US" dirty="0" err="1"/>
              <a:t>dụng</a:t>
            </a:r>
            <a:r>
              <a:rPr lang="en-US" dirty="0"/>
              <a:t> </a:t>
            </a:r>
            <a:r>
              <a:rPr lang="en-US" dirty="0" err="1"/>
              <a:t>trong</a:t>
            </a:r>
            <a:r>
              <a:rPr lang="en-US" dirty="0"/>
              <a:t> </a:t>
            </a:r>
            <a:r>
              <a:rPr lang="en-US" dirty="0" err="1"/>
              <a:t>tập</a:t>
            </a:r>
            <a:r>
              <a:rPr lang="en-US" dirty="0"/>
              <a:t> </a:t>
            </a:r>
            <a:r>
              <a:rPr lang="en-US" dirty="0" err="1"/>
              <a:t>dữ</a:t>
            </a:r>
            <a:r>
              <a:rPr lang="en-US" dirty="0"/>
              <a:t> </a:t>
            </a:r>
            <a:r>
              <a:rPr lang="en-US" dirty="0" err="1"/>
              <a:t>liệu</a:t>
            </a:r>
            <a:r>
              <a:rPr lang="en-US" dirty="0"/>
              <a:t> </a:t>
            </a:r>
            <a:r>
              <a:rPr lang="en-US" dirty="0" err="1"/>
              <a:t>u.data</a:t>
            </a:r>
            <a:r>
              <a:rPr lang="en-US" dirty="0"/>
              <a:t>.</a:t>
            </a:r>
          </a:p>
          <a:p>
            <a:pPr>
              <a:buNone/>
            </a:pPr>
            <a:r>
              <a:rPr lang="en-US" b="1" dirty="0"/>
              <a:t>6. </a:t>
            </a:r>
            <a:r>
              <a:rPr lang="en-US" b="1" dirty="0" err="1"/>
              <a:t>u.occupation</a:t>
            </a:r>
            <a:endParaRPr lang="en-US" b="1" dirty="0"/>
          </a:p>
          <a:p>
            <a:pPr>
              <a:buNone/>
            </a:pPr>
            <a:r>
              <a:rPr lang="en-US" dirty="0"/>
              <a:t>Danh </a:t>
            </a:r>
            <a:r>
              <a:rPr lang="en-US" dirty="0" err="1"/>
              <a:t>sách</a:t>
            </a:r>
            <a:r>
              <a:rPr lang="en-US" dirty="0"/>
              <a:t> </a:t>
            </a:r>
            <a:r>
              <a:rPr lang="en-US" dirty="0" err="1"/>
              <a:t>nghề</a:t>
            </a:r>
            <a:r>
              <a:rPr lang="en-US" dirty="0"/>
              <a:t> </a:t>
            </a:r>
            <a:r>
              <a:rPr lang="en-US" dirty="0" err="1"/>
              <a:t>nghiệp</a:t>
            </a:r>
            <a:r>
              <a:rPr lang="en-US" dirty="0"/>
              <a:t> </a:t>
            </a:r>
            <a:r>
              <a:rPr lang="en-US" dirty="0" err="1"/>
              <a:t>của</a:t>
            </a:r>
            <a:r>
              <a:rPr lang="en-US" dirty="0"/>
              <a:t> </a:t>
            </a:r>
            <a:r>
              <a:rPr lang="en-US" dirty="0" err="1"/>
              <a:t>người</a:t>
            </a:r>
            <a:r>
              <a:rPr lang="en-US" dirty="0"/>
              <a:t> </a:t>
            </a:r>
            <a:r>
              <a:rPr lang="en-US" dirty="0" err="1"/>
              <a:t>dùng</a:t>
            </a:r>
            <a:r>
              <a:rPr lang="en-US" dirty="0"/>
              <a:t> (teacher, engineer, student,…).</a:t>
            </a:r>
          </a:p>
          <a:p>
            <a:pPr>
              <a:buNone/>
            </a:pPr>
            <a:r>
              <a:rPr lang="en-US" b="1" dirty="0"/>
              <a:t>7. u1.base, u1.test, u2.base, u2.test, u3.base, u3.test, u4.base, u4.test, u5.base, u5.test</a:t>
            </a:r>
          </a:p>
          <a:p>
            <a:pPr>
              <a:buNone/>
            </a:pPr>
            <a:r>
              <a:rPr lang="en-US" dirty="0" err="1"/>
              <a:t>Đây</a:t>
            </a:r>
            <a:r>
              <a:rPr lang="en-US" dirty="0"/>
              <a:t> </a:t>
            </a:r>
            <a:r>
              <a:rPr lang="en-US" dirty="0" err="1"/>
              <a:t>là</a:t>
            </a:r>
            <a:r>
              <a:rPr lang="en-US" dirty="0"/>
              <a:t> 5 </a:t>
            </a:r>
            <a:r>
              <a:rPr lang="en-US" dirty="0" err="1"/>
              <a:t>bộ</a:t>
            </a:r>
            <a:r>
              <a:rPr lang="en-US" dirty="0"/>
              <a:t> chia </a:t>
            </a:r>
            <a:r>
              <a:rPr lang="en-US" dirty="0" err="1"/>
              <a:t>dữ</a:t>
            </a:r>
            <a:r>
              <a:rPr lang="en-US" dirty="0"/>
              <a:t> </a:t>
            </a:r>
            <a:r>
              <a:rPr lang="en-US" dirty="0" err="1"/>
              <a:t>liệu</a:t>
            </a:r>
            <a:r>
              <a:rPr lang="en-US" dirty="0"/>
              <a:t> </a:t>
            </a:r>
            <a:r>
              <a:rPr lang="en-US" dirty="0" err="1"/>
              <a:t>theo</a:t>
            </a:r>
            <a:r>
              <a:rPr lang="en-US" dirty="0"/>
              <a:t> </a:t>
            </a:r>
            <a:r>
              <a:rPr lang="en-US" dirty="0" err="1"/>
              <a:t>kiểu</a:t>
            </a:r>
            <a:r>
              <a:rPr lang="en-US" dirty="0"/>
              <a:t> 5-fold cross-validation.</a:t>
            </a:r>
          </a:p>
          <a:p>
            <a:pPr>
              <a:buNone/>
            </a:pPr>
            <a:r>
              <a:rPr lang="en-US" dirty="0"/>
              <a:t>-    u1.base + u1.test</a:t>
            </a:r>
          </a:p>
          <a:p>
            <a:pPr>
              <a:buNone/>
            </a:pPr>
            <a:r>
              <a:rPr lang="en-US" dirty="0"/>
              <a:t>-    u2.base + u2.test</a:t>
            </a:r>
          </a:p>
          <a:p>
            <a:pPr>
              <a:buNone/>
            </a:pPr>
            <a:r>
              <a:rPr lang="en-US" dirty="0"/>
              <a:t>-    …</a:t>
            </a:r>
          </a:p>
          <a:p>
            <a:pPr>
              <a:buNone/>
            </a:pPr>
            <a:r>
              <a:rPr lang="en-US" dirty="0"/>
              <a:t>-    u5.base + u5.test</a:t>
            </a:r>
          </a:p>
          <a:p>
            <a:pPr>
              <a:buNone/>
            </a:pPr>
            <a:r>
              <a:rPr lang="en-US" dirty="0" err="1"/>
              <a:t>Đặc</a:t>
            </a:r>
            <a:r>
              <a:rPr lang="en-US" dirty="0"/>
              <a:t> </a:t>
            </a:r>
            <a:r>
              <a:rPr lang="en-US" dirty="0" err="1"/>
              <a:t>điểm</a:t>
            </a:r>
            <a:r>
              <a:rPr lang="en-US" dirty="0"/>
              <a:t>:</a:t>
            </a:r>
          </a:p>
          <a:p>
            <a:pPr>
              <a:buNone/>
            </a:pPr>
            <a:r>
              <a:rPr lang="en-US" dirty="0"/>
              <a:t>-    base = 80% </a:t>
            </a:r>
            <a:r>
              <a:rPr lang="en-US" dirty="0" err="1"/>
              <a:t>dữ</a:t>
            </a:r>
            <a:r>
              <a:rPr lang="en-US" dirty="0"/>
              <a:t> </a:t>
            </a:r>
            <a:r>
              <a:rPr lang="en-US" dirty="0" err="1"/>
              <a:t>liệu</a:t>
            </a:r>
            <a:r>
              <a:rPr lang="en-US" dirty="0"/>
              <a:t> </a:t>
            </a:r>
            <a:r>
              <a:rPr lang="en-US" dirty="0" err="1"/>
              <a:t>để</a:t>
            </a:r>
            <a:r>
              <a:rPr lang="en-US" dirty="0"/>
              <a:t> train</a:t>
            </a:r>
          </a:p>
          <a:p>
            <a:pPr>
              <a:buNone/>
            </a:pPr>
            <a:r>
              <a:rPr lang="en-US" dirty="0"/>
              <a:t>-    test = 20% </a:t>
            </a:r>
            <a:r>
              <a:rPr lang="en-US" dirty="0" err="1"/>
              <a:t>dữ</a:t>
            </a:r>
            <a:r>
              <a:rPr lang="en-US" dirty="0"/>
              <a:t> </a:t>
            </a:r>
            <a:r>
              <a:rPr lang="en-US" dirty="0" err="1"/>
              <a:t>liệu</a:t>
            </a:r>
            <a:r>
              <a:rPr lang="en-US" dirty="0"/>
              <a:t> </a:t>
            </a:r>
            <a:r>
              <a:rPr lang="en-US" dirty="0" err="1"/>
              <a:t>để</a:t>
            </a:r>
            <a:r>
              <a:rPr lang="en-US" dirty="0"/>
              <a:t> test</a:t>
            </a:r>
          </a:p>
          <a:p>
            <a:pPr>
              <a:buNone/>
            </a:pPr>
            <a:r>
              <a:rPr lang="en-US" dirty="0"/>
              <a:t>-    5 </a:t>
            </a:r>
            <a:r>
              <a:rPr lang="en-US" dirty="0" err="1"/>
              <a:t>tập</a:t>
            </a:r>
            <a:r>
              <a:rPr lang="en-US" dirty="0"/>
              <a:t> test </a:t>
            </a:r>
            <a:r>
              <a:rPr lang="en-US" dirty="0" err="1"/>
              <a:t>không</a:t>
            </a:r>
            <a:r>
              <a:rPr lang="en-US" dirty="0"/>
              <a:t> </a:t>
            </a:r>
            <a:r>
              <a:rPr lang="en-US" dirty="0" err="1"/>
              <a:t>trùng</a:t>
            </a:r>
            <a:r>
              <a:rPr lang="en-US" dirty="0"/>
              <a:t> </a:t>
            </a:r>
            <a:r>
              <a:rPr lang="en-US" dirty="0" err="1"/>
              <a:t>nhau</a:t>
            </a:r>
            <a:endParaRPr lang="en-US" dirty="0"/>
          </a:p>
          <a:p>
            <a:pPr>
              <a:buNone/>
            </a:pPr>
            <a:r>
              <a:rPr lang="en-US" dirty="0"/>
              <a:t>-    </a:t>
            </a:r>
            <a:r>
              <a:rPr lang="en-US" dirty="0" err="1"/>
              <a:t>Dùng</a:t>
            </a:r>
            <a:r>
              <a:rPr lang="en-US" dirty="0"/>
              <a:t> </a:t>
            </a:r>
            <a:r>
              <a:rPr lang="en-US" dirty="0" err="1"/>
              <a:t>cho</a:t>
            </a:r>
            <a:r>
              <a:rPr lang="en-US" dirty="0"/>
              <a:t> </a:t>
            </a:r>
            <a:r>
              <a:rPr lang="en-US" dirty="0" err="1"/>
              <a:t>đánh</a:t>
            </a:r>
            <a:r>
              <a:rPr lang="en-US" dirty="0"/>
              <a:t> </a:t>
            </a:r>
            <a:r>
              <a:rPr lang="en-US" dirty="0" err="1"/>
              <a:t>giá</a:t>
            </a:r>
            <a:r>
              <a:rPr lang="en-US" dirty="0"/>
              <a:t> </a:t>
            </a:r>
            <a:r>
              <a:rPr lang="en-US" dirty="0" err="1"/>
              <a:t>mô</a:t>
            </a:r>
            <a:r>
              <a:rPr lang="en-US" dirty="0"/>
              <a:t> </a:t>
            </a:r>
            <a:r>
              <a:rPr lang="en-US" dirty="0" err="1"/>
              <a:t>hình</a:t>
            </a:r>
            <a:r>
              <a:rPr lang="en-US" dirty="0"/>
              <a:t> recommend </a:t>
            </a:r>
            <a:r>
              <a:rPr lang="en-US" dirty="0" err="1"/>
              <a:t>theo</a:t>
            </a:r>
            <a:r>
              <a:rPr lang="en-US" dirty="0"/>
              <a:t> </a:t>
            </a:r>
            <a:r>
              <a:rPr lang="en-US" dirty="0" err="1"/>
              <a:t>chuẩn</a:t>
            </a:r>
            <a:r>
              <a:rPr lang="en-US" dirty="0"/>
              <a:t> 5-fold.</a:t>
            </a:r>
          </a:p>
          <a:p>
            <a:pPr>
              <a:buNone/>
            </a:pPr>
            <a:r>
              <a:rPr lang="en-US" dirty="0"/>
              <a:t> </a:t>
            </a:r>
          </a:p>
          <a:p>
            <a:pPr>
              <a:buNone/>
            </a:pPr>
            <a:r>
              <a:rPr lang="en-US" b="1" dirty="0"/>
              <a:t>8. </a:t>
            </a:r>
            <a:r>
              <a:rPr lang="en-US" b="1" dirty="0" err="1"/>
              <a:t>ua.base</a:t>
            </a:r>
            <a:r>
              <a:rPr lang="en-US" b="1" dirty="0"/>
              <a:t>, </a:t>
            </a:r>
            <a:r>
              <a:rPr lang="en-US" b="1" dirty="0" err="1"/>
              <a:t>ua.test</a:t>
            </a:r>
            <a:r>
              <a:rPr lang="en-US" b="1" dirty="0"/>
              <a:t>, </a:t>
            </a:r>
            <a:r>
              <a:rPr lang="en-US" b="1" dirty="0" err="1"/>
              <a:t>ub.base</a:t>
            </a:r>
            <a:r>
              <a:rPr lang="en-US" b="1" dirty="0"/>
              <a:t>, </a:t>
            </a:r>
            <a:r>
              <a:rPr lang="en-US" b="1" dirty="0" err="1"/>
              <a:t>ub.test</a:t>
            </a:r>
            <a:endParaRPr lang="en-US" b="1" dirty="0"/>
          </a:p>
          <a:p>
            <a:pPr>
              <a:buNone/>
            </a:pPr>
            <a:r>
              <a:rPr lang="en-US" dirty="0"/>
              <a:t>Chia </a:t>
            </a:r>
            <a:r>
              <a:rPr lang="en-US" dirty="0" err="1"/>
              <a:t>dữ</a:t>
            </a:r>
            <a:r>
              <a:rPr lang="en-US" dirty="0"/>
              <a:t> </a:t>
            </a:r>
            <a:r>
              <a:rPr lang="en-US" dirty="0" err="1"/>
              <a:t>liệu</a:t>
            </a:r>
            <a:r>
              <a:rPr lang="en-US" dirty="0"/>
              <a:t> u </a:t>
            </a:r>
            <a:r>
              <a:rPr lang="en-US" dirty="0" err="1"/>
              <a:t>thành</a:t>
            </a:r>
            <a:r>
              <a:rPr lang="en-US" dirty="0"/>
              <a:t> </a:t>
            </a:r>
            <a:r>
              <a:rPr lang="en-US" dirty="0" err="1"/>
              <a:t>một</a:t>
            </a:r>
            <a:r>
              <a:rPr lang="en-US" dirty="0"/>
              <a:t> </a:t>
            </a:r>
            <a:r>
              <a:rPr lang="en-US" dirty="0" err="1"/>
              <a:t>tập</a:t>
            </a:r>
            <a:r>
              <a:rPr lang="en-US" dirty="0"/>
              <a:t> </a:t>
            </a:r>
            <a:r>
              <a:rPr lang="en-US" dirty="0" err="1"/>
              <a:t>huấn</a:t>
            </a:r>
            <a:r>
              <a:rPr lang="en-US" dirty="0"/>
              <a:t> </a:t>
            </a:r>
            <a:r>
              <a:rPr lang="en-US" dirty="0" err="1"/>
              <a:t>luyện</a:t>
            </a:r>
            <a:r>
              <a:rPr lang="en-US" dirty="0"/>
              <a:t> </a:t>
            </a:r>
            <a:r>
              <a:rPr lang="en-US" dirty="0" err="1"/>
              <a:t>và</a:t>
            </a:r>
            <a:r>
              <a:rPr lang="en-US" dirty="0"/>
              <a:t> </a:t>
            </a:r>
            <a:r>
              <a:rPr lang="en-US" dirty="0" err="1"/>
              <a:t>một</a:t>
            </a:r>
            <a:r>
              <a:rPr lang="en-US" dirty="0"/>
              <a:t> </a:t>
            </a:r>
            <a:r>
              <a:rPr lang="en-US" dirty="0" err="1"/>
              <a:t>tập</a:t>
            </a:r>
            <a:r>
              <a:rPr lang="en-US" dirty="0"/>
              <a:t> </a:t>
            </a:r>
            <a:r>
              <a:rPr lang="en-US" dirty="0" err="1"/>
              <a:t>kiểm</a:t>
            </a:r>
            <a:r>
              <a:rPr lang="en-US" dirty="0"/>
              <a:t> </a:t>
            </a:r>
            <a:r>
              <a:rPr lang="en-US" dirty="0" err="1"/>
              <a:t>tra</a:t>
            </a:r>
            <a:r>
              <a:rPr lang="en-US" dirty="0"/>
              <a:t> </a:t>
            </a:r>
            <a:r>
              <a:rPr lang="en-US" dirty="0" err="1"/>
              <a:t>với</a:t>
            </a:r>
            <a:r>
              <a:rPr lang="en-US" dirty="0"/>
              <a:t> </a:t>
            </a:r>
            <a:r>
              <a:rPr lang="en-US" dirty="0" err="1"/>
              <a:t>đúng</a:t>
            </a:r>
            <a:r>
              <a:rPr lang="en-US" dirty="0"/>
              <a:t> 10 </a:t>
            </a:r>
            <a:r>
              <a:rPr lang="en-US" dirty="0" err="1"/>
              <a:t>đánh</a:t>
            </a:r>
            <a:r>
              <a:rPr lang="en-US" dirty="0"/>
              <a:t> </a:t>
            </a:r>
            <a:r>
              <a:rPr lang="en-US" dirty="0" err="1"/>
              <a:t>giá</a:t>
            </a:r>
            <a:r>
              <a:rPr lang="en-US" dirty="0"/>
              <a:t> </a:t>
            </a:r>
            <a:r>
              <a:rPr lang="en-US" dirty="0" err="1"/>
              <a:t>cho</a:t>
            </a:r>
            <a:r>
              <a:rPr lang="en-US" dirty="0"/>
              <a:t> </a:t>
            </a:r>
            <a:r>
              <a:rPr lang="en-US" dirty="0" err="1"/>
              <a:t>mỗi</a:t>
            </a:r>
            <a:r>
              <a:rPr lang="en-US" dirty="0"/>
              <a:t> </a:t>
            </a:r>
            <a:r>
              <a:rPr lang="en-US" dirty="0" err="1"/>
              <a:t>người</a:t>
            </a:r>
            <a:r>
              <a:rPr lang="en-US" dirty="0"/>
              <a:t> </a:t>
            </a:r>
            <a:r>
              <a:rPr lang="en-US" dirty="0" err="1"/>
              <a:t>dùng</a:t>
            </a:r>
            <a:r>
              <a:rPr lang="en-US" dirty="0"/>
              <a:t> </a:t>
            </a:r>
            <a:r>
              <a:rPr lang="en-US" dirty="0" err="1"/>
              <a:t>trong</a:t>
            </a:r>
            <a:r>
              <a:rPr lang="en-US" dirty="0"/>
              <a:t> </a:t>
            </a:r>
            <a:r>
              <a:rPr lang="en-US" dirty="0" err="1"/>
              <a:t>tập</a:t>
            </a:r>
            <a:r>
              <a:rPr lang="en-US" dirty="0"/>
              <a:t> </a:t>
            </a:r>
            <a:r>
              <a:rPr lang="en-US" dirty="0" err="1"/>
              <a:t>kiểm</a:t>
            </a:r>
            <a:r>
              <a:rPr lang="en-US" dirty="0"/>
              <a:t> </a:t>
            </a:r>
            <a:r>
              <a:rPr lang="en-US" dirty="0" err="1"/>
              <a:t>tra</a:t>
            </a:r>
            <a:r>
              <a:rPr lang="en-US" dirty="0"/>
              <a:t>. </a:t>
            </a:r>
          </a:p>
          <a:p>
            <a:pPr>
              <a:buNone/>
            </a:pPr>
            <a:r>
              <a:rPr lang="en-US" dirty="0" err="1"/>
              <a:t>Các</a:t>
            </a:r>
            <a:r>
              <a:rPr lang="en-US" dirty="0"/>
              <a:t> </a:t>
            </a:r>
            <a:r>
              <a:rPr lang="en-US" dirty="0" err="1"/>
              <a:t>tập</a:t>
            </a:r>
            <a:r>
              <a:rPr lang="en-US" dirty="0"/>
              <a:t> </a:t>
            </a:r>
            <a:r>
              <a:rPr lang="en-US" dirty="0" err="1"/>
              <a:t>ua.test</a:t>
            </a:r>
            <a:r>
              <a:rPr lang="en-US" dirty="0"/>
              <a:t> </a:t>
            </a:r>
            <a:r>
              <a:rPr lang="en-US" dirty="0" err="1"/>
              <a:t>và</a:t>
            </a:r>
            <a:r>
              <a:rPr lang="en-US" dirty="0"/>
              <a:t> </a:t>
            </a:r>
            <a:r>
              <a:rPr lang="en-US" dirty="0" err="1"/>
              <a:t>ub.test</a:t>
            </a:r>
            <a:r>
              <a:rPr lang="en-US" dirty="0"/>
              <a:t> </a:t>
            </a:r>
            <a:r>
              <a:rPr lang="en-US" dirty="0" err="1"/>
              <a:t>không</a:t>
            </a:r>
            <a:r>
              <a:rPr lang="en-US" dirty="0"/>
              <a:t> </a:t>
            </a:r>
            <a:r>
              <a:rPr lang="en-US" dirty="0" err="1"/>
              <a:t>trùng</a:t>
            </a:r>
            <a:r>
              <a:rPr lang="en-US" dirty="0"/>
              <a:t> </a:t>
            </a:r>
            <a:r>
              <a:rPr lang="en-US" dirty="0" err="1"/>
              <a:t>nhau</a:t>
            </a:r>
            <a:r>
              <a:rPr lang="en-US" dirty="0"/>
              <a:t>.</a:t>
            </a:r>
          </a:p>
          <a:p>
            <a:pPr>
              <a:buNone/>
            </a:pPr>
            <a:r>
              <a:rPr lang="en-US" b="1" dirty="0"/>
              <a:t>9. allbut.pl</a:t>
            </a:r>
          </a:p>
          <a:p>
            <a:pPr>
              <a:buNone/>
            </a:pPr>
            <a:r>
              <a:rPr lang="en-US" dirty="0"/>
              <a:t>Script </a:t>
            </a:r>
            <a:r>
              <a:rPr lang="en-US" dirty="0" err="1"/>
              <a:t>tạo</a:t>
            </a:r>
            <a:r>
              <a:rPr lang="en-US" dirty="0"/>
              <a:t> </a:t>
            </a:r>
            <a:r>
              <a:rPr lang="en-US" dirty="0" err="1"/>
              <a:t>bộ</a:t>
            </a:r>
            <a:r>
              <a:rPr lang="en-US" dirty="0"/>
              <a:t> </a:t>
            </a:r>
            <a:r>
              <a:rPr lang="en-US" dirty="0" err="1"/>
              <a:t>dữ</a:t>
            </a:r>
            <a:r>
              <a:rPr lang="en-US" dirty="0"/>
              <a:t> </a:t>
            </a:r>
            <a:r>
              <a:rPr lang="en-US" dirty="0" err="1"/>
              <a:t>liệu</a:t>
            </a:r>
            <a:r>
              <a:rPr lang="en-US" dirty="0"/>
              <a:t> train/test </a:t>
            </a:r>
            <a:r>
              <a:rPr lang="en-US" dirty="0" err="1"/>
              <a:t>trong</a:t>
            </a:r>
            <a:r>
              <a:rPr lang="en-US" dirty="0"/>
              <a:t> </a:t>
            </a:r>
            <a:r>
              <a:rPr lang="en-US" dirty="0" err="1"/>
              <a:t>đó</a:t>
            </a:r>
            <a:r>
              <a:rPr lang="en-US" dirty="0"/>
              <a:t> </a:t>
            </a:r>
            <a:r>
              <a:rPr lang="en-US" dirty="0" err="1"/>
              <a:t>hầu</a:t>
            </a:r>
            <a:r>
              <a:rPr lang="en-US" dirty="0"/>
              <a:t> </a:t>
            </a:r>
            <a:r>
              <a:rPr lang="en-US" dirty="0" err="1"/>
              <a:t>hết</a:t>
            </a:r>
            <a:r>
              <a:rPr lang="en-US" dirty="0"/>
              <a:t> </a:t>
            </a:r>
            <a:r>
              <a:rPr lang="en-US" dirty="0" err="1"/>
              <a:t>các</a:t>
            </a:r>
            <a:r>
              <a:rPr lang="en-US" dirty="0"/>
              <a:t> </a:t>
            </a:r>
            <a:r>
              <a:rPr lang="en-US" dirty="0" err="1"/>
              <a:t>đánh</a:t>
            </a:r>
            <a:r>
              <a:rPr lang="en-US" dirty="0"/>
              <a:t> </a:t>
            </a:r>
            <a:r>
              <a:rPr lang="en-US" dirty="0" err="1"/>
              <a:t>giá</a:t>
            </a:r>
            <a:r>
              <a:rPr lang="en-US" dirty="0"/>
              <a:t> </a:t>
            </a:r>
            <a:r>
              <a:rPr lang="en-US" dirty="0" err="1"/>
              <a:t>của</a:t>
            </a:r>
            <a:r>
              <a:rPr lang="en-US" dirty="0"/>
              <a:t> </a:t>
            </a:r>
            <a:r>
              <a:rPr lang="en-US" dirty="0" err="1"/>
              <a:t>người</a:t>
            </a:r>
            <a:r>
              <a:rPr lang="en-US" dirty="0"/>
              <a:t> </a:t>
            </a:r>
            <a:r>
              <a:rPr lang="en-US" dirty="0" err="1"/>
              <a:t>dùng</a:t>
            </a:r>
            <a:r>
              <a:rPr lang="en-US" dirty="0"/>
              <a:t> </a:t>
            </a:r>
            <a:r>
              <a:rPr lang="en-US" dirty="0" err="1"/>
              <a:t>đều</a:t>
            </a:r>
            <a:r>
              <a:rPr lang="en-US" dirty="0"/>
              <a:t> </a:t>
            </a:r>
            <a:r>
              <a:rPr lang="en-US" dirty="0" err="1"/>
              <a:t>có</a:t>
            </a:r>
            <a:r>
              <a:rPr lang="en-US" dirty="0"/>
              <a:t> </a:t>
            </a:r>
            <a:r>
              <a:rPr lang="en-US" dirty="0" err="1"/>
              <a:t>trong</a:t>
            </a:r>
            <a:r>
              <a:rPr lang="en-US" dirty="0"/>
              <a:t> </a:t>
            </a:r>
            <a:r>
              <a:rPr lang="en-US" dirty="0" err="1"/>
              <a:t>dữ</a:t>
            </a:r>
            <a:r>
              <a:rPr lang="en-US" dirty="0"/>
              <a:t> </a:t>
            </a:r>
            <a:r>
              <a:rPr lang="en-US" dirty="0" err="1"/>
              <a:t>liệu</a:t>
            </a:r>
            <a:r>
              <a:rPr lang="en-US" dirty="0"/>
              <a:t> </a:t>
            </a:r>
            <a:r>
              <a:rPr lang="en-US" dirty="0" err="1"/>
              <a:t>huấn</a:t>
            </a:r>
            <a:r>
              <a:rPr lang="en-US" dirty="0"/>
              <a:t> </a:t>
            </a:r>
            <a:r>
              <a:rPr lang="en-US" dirty="0" err="1"/>
              <a:t>luyện</a:t>
            </a:r>
            <a:r>
              <a:rPr lang="en-US" dirty="0"/>
              <a:t>.</a:t>
            </a:r>
          </a:p>
          <a:p>
            <a:pPr>
              <a:buNone/>
            </a:pPr>
            <a:r>
              <a:rPr lang="en-US" dirty="0"/>
              <a:t> </a:t>
            </a:r>
          </a:p>
          <a:p>
            <a:pPr>
              <a:buNone/>
            </a:pPr>
            <a:r>
              <a:rPr lang="en-US" b="1" dirty="0"/>
              <a:t>10. mku.sh</a:t>
            </a:r>
          </a:p>
          <a:p>
            <a:pPr>
              <a:buNone/>
            </a:pPr>
            <a:r>
              <a:rPr lang="en-US" dirty="0"/>
              <a:t>Shell script </a:t>
            </a:r>
            <a:r>
              <a:rPr lang="en-US" dirty="0" err="1"/>
              <a:t>để</a:t>
            </a:r>
            <a:r>
              <a:rPr lang="en-US" dirty="0"/>
              <a:t> </a:t>
            </a:r>
            <a:r>
              <a:rPr lang="en-US" dirty="0" err="1"/>
              <a:t>tự</a:t>
            </a:r>
            <a:r>
              <a:rPr lang="en-US" dirty="0"/>
              <a:t> </a:t>
            </a:r>
            <a:r>
              <a:rPr lang="en-US" dirty="0" err="1"/>
              <a:t>động</a:t>
            </a:r>
            <a:r>
              <a:rPr lang="en-US" dirty="0"/>
              <a:t> </a:t>
            </a:r>
            <a:r>
              <a:rPr lang="en-US" dirty="0" err="1"/>
              <a:t>tạo</a:t>
            </a:r>
            <a:r>
              <a:rPr lang="en-US" dirty="0"/>
              <a:t> </a:t>
            </a:r>
            <a:r>
              <a:rPr lang="en-US" dirty="0" err="1"/>
              <a:t>tất</a:t>
            </a:r>
            <a:r>
              <a:rPr lang="en-US" dirty="0"/>
              <a:t> </a:t>
            </a:r>
            <a:r>
              <a:rPr lang="en-US" dirty="0" err="1"/>
              <a:t>cả</a:t>
            </a:r>
            <a:r>
              <a:rPr lang="en-US" dirty="0"/>
              <a:t> </a:t>
            </a:r>
            <a:r>
              <a:rPr lang="en-US" dirty="0" err="1"/>
              <a:t>các</a:t>
            </a:r>
            <a:r>
              <a:rPr lang="en-US" dirty="0"/>
              <a:t> file u1, u2, </a:t>
            </a:r>
            <a:r>
              <a:rPr lang="en-US" dirty="0" err="1"/>
              <a:t>ua</a:t>
            </a:r>
            <a:r>
              <a:rPr lang="en-US" dirty="0"/>
              <a:t>, </a:t>
            </a:r>
            <a:r>
              <a:rPr lang="en-US" dirty="0" err="1"/>
              <a:t>ub</a:t>
            </a:r>
            <a:r>
              <a:rPr lang="en-US" dirty="0"/>
              <a:t>,… </a:t>
            </a:r>
            <a:r>
              <a:rPr lang="en-US" dirty="0" err="1"/>
              <a:t>từ</a:t>
            </a:r>
            <a:r>
              <a:rPr lang="en-US" dirty="0"/>
              <a:t> file </a:t>
            </a:r>
            <a:r>
              <a:rPr lang="en-US" dirty="0" err="1"/>
              <a:t>gốc</a:t>
            </a:r>
            <a:r>
              <a:rPr lang="en-US" dirty="0"/>
              <a:t> </a:t>
            </a:r>
            <a:r>
              <a:rPr lang="en-US" dirty="0" err="1"/>
              <a:t>u.data</a:t>
            </a:r>
            <a:r>
              <a:rPr lang="en-US" dirty="0"/>
              <a:t>.</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a:extLst>
            <a:ext uri="{FF2B5EF4-FFF2-40B4-BE49-F238E27FC236}">
              <a16:creationId xmlns:a16="http://schemas.microsoft.com/office/drawing/2014/main" id="{AFDFFF78-2770-5359-4A7E-E9F1E44FE184}"/>
            </a:ext>
          </a:extLst>
        </p:cNvPr>
        <p:cNvGrpSpPr/>
        <p:nvPr/>
      </p:nvGrpSpPr>
      <p:grpSpPr>
        <a:xfrm>
          <a:off x="0" y="0"/>
          <a:ext cx="0" cy="0"/>
          <a:chOff x="0" y="0"/>
          <a:chExt cx="0" cy="0"/>
        </a:xfrm>
      </p:grpSpPr>
      <p:sp>
        <p:nvSpPr>
          <p:cNvPr id="1542" name="Google Shape;1542;g24ed99bf1a4_0_169:notes">
            <a:extLst>
              <a:ext uri="{FF2B5EF4-FFF2-40B4-BE49-F238E27FC236}">
                <a16:creationId xmlns:a16="http://schemas.microsoft.com/office/drawing/2014/main" id="{7F9B360F-B654-D558-546A-F404C4C3AA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24ed99bf1a4_0_169:notes">
            <a:extLst>
              <a:ext uri="{FF2B5EF4-FFF2-40B4-BE49-F238E27FC236}">
                <a16:creationId xmlns:a16="http://schemas.microsoft.com/office/drawing/2014/main" id="{EC60F19C-0474-F5C5-DCA3-7A25E5B0D6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vi-VN" err="1"/>
              <a:t>Sơ</a:t>
            </a:r>
            <a:r>
              <a:rPr lang="vi-VN"/>
              <a:t> </a:t>
            </a:r>
            <a:r>
              <a:rPr lang="vi-VN" err="1"/>
              <a:t>đồ</a:t>
            </a:r>
            <a:r>
              <a:rPr lang="vi-VN"/>
              <a:t> </a:t>
            </a:r>
            <a:r>
              <a:rPr lang="vi-VN" err="1"/>
              <a:t>mô</a:t>
            </a:r>
            <a:r>
              <a:rPr lang="vi-VN"/>
              <a:t> </a:t>
            </a:r>
            <a:r>
              <a:rPr lang="vi-VN" err="1"/>
              <a:t>tả</a:t>
            </a:r>
            <a:r>
              <a:rPr lang="vi-VN"/>
              <a:t> </a:t>
            </a:r>
            <a:r>
              <a:rPr lang="vi-VN" b="1" err="1"/>
              <a:t>toàn</a:t>
            </a:r>
            <a:r>
              <a:rPr lang="vi-VN" b="1"/>
              <a:t> </a:t>
            </a:r>
            <a:r>
              <a:rPr lang="vi-VN" b="1" err="1"/>
              <a:t>bộ</a:t>
            </a:r>
            <a:r>
              <a:rPr lang="vi-VN" b="1"/>
              <a:t> </a:t>
            </a:r>
            <a:r>
              <a:rPr lang="vi-VN" b="1" err="1"/>
              <a:t>luồng</a:t>
            </a:r>
            <a:r>
              <a:rPr lang="vi-VN" b="1"/>
              <a:t> </a:t>
            </a:r>
            <a:r>
              <a:rPr lang="vi-VN" b="1" err="1"/>
              <a:t>dữ</a:t>
            </a:r>
            <a:r>
              <a:rPr lang="vi-VN" b="1"/>
              <a:t> </a:t>
            </a:r>
            <a:r>
              <a:rPr lang="vi-VN" b="1" err="1"/>
              <a:t>liệu</a:t>
            </a:r>
            <a:r>
              <a:rPr lang="vi-VN" b="1"/>
              <a:t> (Data Flow)</a:t>
            </a:r>
            <a:r>
              <a:rPr lang="vi-VN"/>
              <a:t> </a:t>
            </a:r>
            <a:r>
              <a:rPr lang="vi-VN" err="1"/>
              <a:t>và</a:t>
            </a:r>
            <a:r>
              <a:rPr lang="vi-VN"/>
              <a:t> </a:t>
            </a:r>
            <a:r>
              <a:rPr lang="vi-VN" b="1" err="1"/>
              <a:t>cách</a:t>
            </a:r>
            <a:r>
              <a:rPr lang="vi-VN" b="1"/>
              <a:t> </a:t>
            </a:r>
            <a:r>
              <a:rPr lang="vi-VN" b="1" err="1"/>
              <a:t>tổ</a:t>
            </a:r>
            <a:r>
              <a:rPr lang="vi-VN" b="1"/>
              <a:t> </a:t>
            </a:r>
            <a:r>
              <a:rPr lang="vi-VN" b="1" err="1"/>
              <a:t>chức</a:t>
            </a:r>
            <a:r>
              <a:rPr lang="vi-VN" b="1"/>
              <a:t> </a:t>
            </a:r>
            <a:r>
              <a:rPr lang="vi-VN" b="1" err="1"/>
              <a:t>lưu</a:t>
            </a:r>
            <a:r>
              <a:rPr lang="vi-VN" b="1"/>
              <a:t> </a:t>
            </a:r>
            <a:r>
              <a:rPr lang="vi-VN" b="1" err="1"/>
              <a:t>trữ</a:t>
            </a:r>
            <a:r>
              <a:rPr lang="vi-VN" b="1"/>
              <a:t> (Storage Architecture)</a:t>
            </a:r>
            <a:r>
              <a:rPr lang="vi-VN"/>
              <a:t> </a:t>
            </a:r>
            <a:r>
              <a:rPr lang="vi-VN" err="1"/>
              <a:t>trong</a:t>
            </a:r>
            <a:r>
              <a:rPr lang="vi-VN"/>
              <a:t> </a:t>
            </a:r>
            <a:r>
              <a:rPr lang="vi-VN" err="1"/>
              <a:t>hệ</a:t>
            </a:r>
            <a:r>
              <a:rPr lang="vi-VN"/>
              <a:t> </a:t>
            </a:r>
            <a:r>
              <a:rPr lang="vi-VN" err="1"/>
              <a:t>thống</a:t>
            </a:r>
            <a:r>
              <a:rPr lang="vi-VN"/>
              <a:t> Recommendation System </a:t>
            </a:r>
            <a:r>
              <a:rPr lang="vi-VN" err="1"/>
              <a:t>sử</a:t>
            </a:r>
            <a:r>
              <a:rPr lang="vi-VN"/>
              <a:t> </a:t>
            </a:r>
            <a:r>
              <a:rPr lang="vi-VN" err="1"/>
              <a:t>dụng</a:t>
            </a:r>
            <a:r>
              <a:rPr lang="vi-VN"/>
              <a:t> Multi-Agent System. Quy </a:t>
            </a:r>
            <a:r>
              <a:rPr lang="vi-VN" err="1"/>
              <a:t>trình</a:t>
            </a:r>
            <a:r>
              <a:rPr lang="vi-VN"/>
              <a:t> </a:t>
            </a:r>
            <a:r>
              <a:rPr lang="vi-VN" err="1"/>
              <a:t>bắt</a:t>
            </a:r>
            <a:r>
              <a:rPr lang="vi-VN"/>
              <a:t> </a:t>
            </a:r>
            <a:r>
              <a:rPr lang="vi-VN" err="1"/>
              <a:t>đầu</a:t>
            </a:r>
            <a:r>
              <a:rPr lang="vi-VN"/>
              <a:t> </a:t>
            </a:r>
            <a:r>
              <a:rPr lang="vi-VN" err="1"/>
              <a:t>từ</a:t>
            </a:r>
            <a:r>
              <a:rPr lang="vi-VN"/>
              <a:t> </a:t>
            </a:r>
            <a:r>
              <a:rPr lang="vi-VN" err="1"/>
              <a:t>dữ</a:t>
            </a:r>
            <a:r>
              <a:rPr lang="vi-VN"/>
              <a:t> </a:t>
            </a:r>
            <a:r>
              <a:rPr lang="vi-VN" err="1"/>
              <a:t>liệu</a:t>
            </a:r>
            <a:r>
              <a:rPr lang="vi-VN"/>
              <a:t> </a:t>
            </a:r>
            <a:r>
              <a:rPr lang="vi-VN" err="1"/>
              <a:t>thô</a:t>
            </a:r>
            <a:r>
              <a:rPr lang="vi-VN"/>
              <a:t> (raw data), </a:t>
            </a:r>
            <a:r>
              <a:rPr lang="vi-VN" err="1"/>
              <a:t>trải</a:t>
            </a:r>
            <a:r>
              <a:rPr lang="vi-VN"/>
              <a:t> qua </a:t>
            </a:r>
            <a:r>
              <a:rPr lang="vi-VN" err="1"/>
              <a:t>các</a:t>
            </a:r>
            <a:r>
              <a:rPr lang="vi-VN"/>
              <a:t> </a:t>
            </a:r>
            <a:r>
              <a:rPr lang="vi-VN" err="1"/>
              <a:t>bước</a:t>
            </a:r>
            <a:r>
              <a:rPr lang="vi-VN"/>
              <a:t> </a:t>
            </a:r>
            <a:r>
              <a:rPr lang="vi-VN" err="1"/>
              <a:t>tiền</a:t>
            </a:r>
            <a:r>
              <a:rPr lang="vi-VN"/>
              <a:t> </a:t>
            </a:r>
            <a:r>
              <a:rPr lang="vi-VN" err="1"/>
              <a:t>xử</a:t>
            </a:r>
            <a:r>
              <a:rPr lang="vi-VN"/>
              <a:t> </a:t>
            </a:r>
            <a:r>
              <a:rPr lang="vi-VN" err="1"/>
              <a:t>lý</a:t>
            </a:r>
            <a:r>
              <a:rPr lang="vi-VN"/>
              <a:t>, </a:t>
            </a:r>
            <a:r>
              <a:rPr lang="vi-VN" err="1"/>
              <a:t>lưu</a:t>
            </a:r>
            <a:r>
              <a:rPr lang="vi-VN"/>
              <a:t> </a:t>
            </a:r>
            <a:r>
              <a:rPr lang="vi-VN" err="1"/>
              <a:t>trữ</a:t>
            </a:r>
            <a:r>
              <a:rPr lang="vi-VN"/>
              <a:t> </a:t>
            </a:r>
            <a:r>
              <a:rPr lang="vi-VN" err="1"/>
              <a:t>và</a:t>
            </a:r>
            <a:r>
              <a:rPr lang="vi-VN"/>
              <a:t> </a:t>
            </a:r>
            <a:r>
              <a:rPr lang="vi-VN" err="1"/>
              <a:t>cuối</a:t>
            </a:r>
            <a:r>
              <a:rPr lang="vi-VN"/>
              <a:t> </a:t>
            </a:r>
            <a:r>
              <a:rPr lang="vi-VN" err="1"/>
              <a:t>cùng</a:t>
            </a:r>
            <a:r>
              <a:rPr lang="vi-VN"/>
              <a:t> </a:t>
            </a:r>
            <a:r>
              <a:rPr lang="vi-VN" err="1"/>
              <a:t>được</a:t>
            </a:r>
            <a:r>
              <a:rPr lang="vi-VN"/>
              <a:t> </a:t>
            </a:r>
            <a:r>
              <a:rPr lang="vi-VN" err="1"/>
              <a:t>khai</a:t>
            </a:r>
            <a:r>
              <a:rPr lang="vi-VN"/>
              <a:t> </a:t>
            </a:r>
            <a:r>
              <a:rPr lang="vi-VN" err="1"/>
              <a:t>thác</a:t>
            </a:r>
            <a:r>
              <a:rPr lang="vi-VN"/>
              <a:t> </a:t>
            </a:r>
            <a:r>
              <a:rPr lang="vi-VN" err="1"/>
              <a:t>bởi</a:t>
            </a:r>
            <a:r>
              <a:rPr lang="vi-VN"/>
              <a:t> </a:t>
            </a:r>
            <a:r>
              <a:rPr lang="vi-VN" err="1"/>
              <a:t>các</a:t>
            </a:r>
            <a:r>
              <a:rPr lang="vi-VN"/>
              <a:t> </a:t>
            </a:r>
            <a:r>
              <a:rPr lang="vi-VN" err="1"/>
              <a:t>mô</a:t>
            </a:r>
            <a:r>
              <a:rPr lang="vi-VN"/>
              <a:t> </a:t>
            </a:r>
            <a:r>
              <a:rPr lang="vi-VN" err="1"/>
              <a:t>hình</a:t>
            </a:r>
            <a:r>
              <a:rPr lang="vi-VN"/>
              <a:t> </a:t>
            </a:r>
            <a:r>
              <a:rPr lang="vi-VN" err="1"/>
              <a:t>học</a:t>
            </a:r>
            <a:r>
              <a:rPr lang="vi-VN"/>
              <a:t> </a:t>
            </a:r>
            <a:r>
              <a:rPr lang="vi-VN" err="1"/>
              <a:t>máy</a:t>
            </a:r>
            <a:r>
              <a:rPr lang="vi-VN"/>
              <a:t> </a:t>
            </a:r>
            <a:r>
              <a:rPr lang="vi-VN" err="1"/>
              <a:t>và</a:t>
            </a:r>
            <a:r>
              <a:rPr lang="vi-VN"/>
              <a:t> </a:t>
            </a:r>
            <a:r>
              <a:rPr lang="vi-VN" err="1"/>
              <a:t>các</a:t>
            </a:r>
            <a:r>
              <a:rPr lang="vi-VN"/>
              <a:t> </a:t>
            </a:r>
            <a:r>
              <a:rPr lang="vi-VN" err="1"/>
              <a:t>tác</a:t>
            </a:r>
            <a:r>
              <a:rPr lang="vi-VN"/>
              <a:t> </a:t>
            </a:r>
            <a:r>
              <a:rPr lang="vi-VN" err="1"/>
              <a:t>tử</a:t>
            </a:r>
            <a:r>
              <a:rPr lang="vi-VN"/>
              <a:t> (agent) </a:t>
            </a:r>
            <a:r>
              <a:rPr lang="vi-VN" err="1"/>
              <a:t>trong</a:t>
            </a:r>
            <a:r>
              <a:rPr lang="vi-VN"/>
              <a:t> </a:t>
            </a:r>
            <a:r>
              <a:rPr lang="vi-VN" err="1"/>
              <a:t>hệ</a:t>
            </a:r>
            <a:r>
              <a:rPr lang="vi-VN"/>
              <a:t> </a:t>
            </a:r>
            <a:r>
              <a:rPr lang="vi-VN" err="1"/>
              <a:t>thống</a:t>
            </a:r>
            <a:r>
              <a:rPr lang="vi-VN"/>
              <a:t>.</a:t>
            </a:r>
          </a:p>
          <a:p>
            <a:pPr>
              <a:buNone/>
            </a:pPr>
            <a:br>
              <a:rPr lang="vi-VN"/>
            </a:br>
            <a:endParaRPr lang="vi-VN"/>
          </a:p>
          <a:p>
            <a:pPr>
              <a:buNone/>
            </a:pPr>
            <a:r>
              <a:rPr lang="vi-VN" b="1"/>
              <a:t>1. </a:t>
            </a:r>
            <a:r>
              <a:rPr lang="vi-VN" b="1" err="1"/>
              <a:t>Nguồn</a:t>
            </a:r>
            <a:r>
              <a:rPr lang="vi-VN" b="1"/>
              <a:t> </a:t>
            </a:r>
            <a:r>
              <a:rPr lang="vi-VN" b="1" err="1"/>
              <a:t>dữ</a:t>
            </a:r>
            <a:r>
              <a:rPr lang="vi-VN" b="1"/>
              <a:t> liệu – MovieLens 100K Dataset</a:t>
            </a:r>
            <a:endParaRPr lang="vi-VN"/>
          </a:p>
          <a:p>
            <a:pPr>
              <a:buNone/>
            </a:pPr>
            <a:r>
              <a:rPr lang="vi-VN" err="1"/>
              <a:t>Hệ</a:t>
            </a:r>
            <a:r>
              <a:rPr lang="vi-VN"/>
              <a:t> </a:t>
            </a:r>
            <a:r>
              <a:rPr lang="vi-VN" err="1"/>
              <a:t>thống</a:t>
            </a:r>
            <a:r>
              <a:rPr lang="vi-VN"/>
              <a:t> </a:t>
            </a:r>
            <a:r>
              <a:rPr lang="vi-VN" err="1"/>
              <a:t>sử</a:t>
            </a:r>
            <a:r>
              <a:rPr lang="vi-VN"/>
              <a:t> </a:t>
            </a:r>
            <a:r>
              <a:rPr lang="vi-VN" err="1"/>
              <a:t>dụng</a:t>
            </a:r>
            <a:r>
              <a:rPr lang="vi-VN"/>
              <a:t> </a:t>
            </a:r>
            <a:r>
              <a:rPr lang="vi-VN" b="1"/>
              <a:t>MovieLens 100K Dataset</a:t>
            </a:r>
            <a:r>
              <a:rPr lang="vi-VN"/>
              <a:t> </a:t>
            </a:r>
            <a:r>
              <a:rPr lang="vi-VN" err="1"/>
              <a:t>làm</a:t>
            </a:r>
            <a:r>
              <a:rPr lang="vi-VN"/>
              <a:t> </a:t>
            </a:r>
            <a:r>
              <a:rPr lang="vi-VN" err="1"/>
              <a:t>nguồn</a:t>
            </a:r>
            <a:r>
              <a:rPr lang="vi-VN"/>
              <a:t> </a:t>
            </a:r>
            <a:r>
              <a:rPr lang="vi-VN" err="1"/>
              <a:t>dữ</a:t>
            </a:r>
            <a:r>
              <a:rPr lang="vi-VN"/>
              <a:t> </a:t>
            </a:r>
            <a:r>
              <a:rPr lang="vi-VN" err="1"/>
              <a:t>liệu</a:t>
            </a:r>
            <a:r>
              <a:rPr lang="vi-VN"/>
              <a:t> ban </a:t>
            </a:r>
            <a:r>
              <a:rPr lang="vi-VN" err="1"/>
              <a:t>đầu</a:t>
            </a:r>
            <a:r>
              <a:rPr lang="vi-VN"/>
              <a:t>, bao </a:t>
            </a:r>
            <a:r>
              <a:rPr lang="vi-VN" err="1"/>
              <a:t>gồm</a:t>
            </a:r>
            <a:r>
              <a:rPr lang="vi-VN"/>
              <a:t>:</a:t>
            </a:r>
          </a:p>
          <a:p>
            <a:pPr marL="171450" indent="-171450"/>
            <a:r>
              <a:rPr lang="vi-VN"/>
              <a:t>Thông tin </a:t>
            </a:r>
            <a:r>
              <a:rPr lang="vi-VN" err="1"/>
              <a:t>người</a:t>
            </a:r>
            <a:r>
              <a:rPr lang="vi-VN"/>
              <a:t> dùng (user)</a:t>
            </a:r>
          </a:p>
          <a:p>
            <a:pPr marL="171450" indent="-171450"/>
            <a:r>
              <a:rPr lang="vi-VN"/>
              <a:t>Thông tin phim (item)</a:t>
            </a:r>
          </a:p>
          <a:p>
            <a:pPr marL="171450" indent="-171450"/>
            <a:r>
              <a:rPr lang="vi-VN"/>
              <a:t>Dữ liệu đánh giá (rating)</a:t>
            </a:r>
          </a:p>
          <a:p>
            <a:pPr indent="0">
              <a:buNone/>
            </a:pPr>
            <a:r>
              <a:rPr lang="vi-VN"/>
              <a:t>Đây là bộ dữ liệu phổ biến trong nghiên cứu hệ thống gợi ý, đảm bảo tính chuẩn hóa và khả năng so sánh kết quả.</a:t>
            </a:r>
          </a:p>
          <a:p>
            <a:pPr>
              <a:buNone/>
            </a:pPr>
            <a:br>
              <a:rPr lang="vi-VN"/>
            </a:br>
            <a:endParaRPr lang="vi-VN"/>
          </a:p>
          <a:p>
            <a:pPr>
              <a:buNone/>
            </a:pPr>
            <a:r>
              <a:rPr lang="vi-VN" b="1"/>
              <a:t>2. Preprocessing Pipeline (Tiền xử lý dữ liệu)</a:t>
            </a:r>
            <a:endParaRPr lang="vi-VN"/>
          </a:p>
          <a:p>
            <a:pPr>
              <a:buNone/>
            </a:pPr>
            <a:r>
              <a:rPr lang="vi-VN"/>
              <a:t>Trước khi đưa vào hệ thống, dữ liệu phải được tiền xử lý để đảm bảo chất lượng và tính nhất quán.</a:t>
            </a:r>
          </a:p>
          <a:p>
            <a:pPr>
              <a:buNone/>
            </a:pPr>
            <a:r>
              <a:rPr lang="vi-VN" b="1"/>
              <a:t>2.1. Cleaning &amp; Encoding</a:t>
            </a:r>
            <a:endParaRPr lang="vi-VN"/>
          </a:p>
          <a:p>
            <a:pPr>
              <a:buNone/>
            </a:pPr>
            <a:r>
              <a:rPr lang="vi-VN"/>
              <a:t>Giai đoạn này thực hiện:</a:t>
            </a:r>
          </a:p>
          <a:p>
            <a:pPr marL="171450" indent="-171450"/>
            <a:r>
              <a:rPr lang="vi-VN"/>
              <a:t>Loại bỏ dữ liệu thiếu, trùng lặp</a:t>
            </a:r>
          </a:p>
          <a:p>
            <a:pPr marL="171450" indent="-171450"/>
            <a:r>
              <a:rPr lang="vi-VN"/>
              <a:t>Chuẩn hóa định dạng (ID, timestamp, rating)</a:t>
            </a:r>
          </a:p>
          <a:p>
            <a:pPr marL="171450" indent="-171450"/>
            <a:r>
              <a:rPr lang="vi-VN"/>
              <a:t>Mã hóa dữ liệu (encoding) để phù hợp với mô hình học máy</a:t>
            </a:r>
          </a:p>
          <a:p>
            <a:pPr indent="0">
              <a:buNone/>
            </a:pPr>
            <a:r>
              <a:rPr lang="vi-VN"/>
              <a:t>Kết quả của bước này là dữ liệu sạch, sẵn sàng cho quá trình huấn luyện.</a:t>
            </a:r>
          </a:p>
          <a:p>
            <a:pPr>
              <a:buNone/>
            </a:pPr>
            <a:r>
              <a:rPr lang="vi-VN" b="1"/>
              <a:t>2.2. Splitting Strategy</a:t>
            </a:r>
            <a:endParaRPr lang="vi-VN"/>
          </a:p>
          <a:p>
            <a:pPr>
              <a:buNone/>
            </a:pPr>
            <a:r>
              <a:rPr lang="vi-VN"/>
              <a:t>Dữ liệu sau khi làm sạch được chia theo chiến lược:</a:t>
            </a:r>
          </a:p>
          <a:p>
            <a:pPr marL="171450" indent="-171450"/>
            <a:r>
              <a:rPr lang="vi-VN" b="1"/>
              <a:t>train.csv</a:t>
            </a:r>
            <a:r>
              <a:rPr lang="vi-VN"/>
              <a:t>: dùng để huấn luyện mô hình</a:t>
            </a:r>
          </a:p>
          <a:p>
            <a:pPr marL="171450" indent="-171450"/>
            <a:r>
              <a:rPr lang="vi-VN" b="1"/>
              <a:t>dev.csv</a:t>
            </a:r>
            <a:r>
              <a:rPr lang="vi-VN"/>
              <a:t>: dùng để tinh chỉnh tham số (validation)</a:t>
            </a:r>
          </a:p>
          <a:p>
            <a:pPr marL="171450" indent="-171450"/>
            <a:r>
              <a:rPr lang="vi-VN" b="1"/>
              <a:t>test.csv</a:t>
            </a:r>
            <a:r>
              <a:rPr lang="vi-VN"/>
              <a:t>: dùng để đánh giá mô hình</a:t>
            </a:r>
          </a:p>
          <a:p>
            <a:pPr indent="0">
              <a:buNone/>
            </a:pPr>
            <a:r>
              <a:rPr lang="vi-VN"/>
              <a:t>Việc tách dữ liệu giúp tránh overfitting và đánh giá khách quan hiệu năng mô hình.</a:t>
            </a:r>
          </a:p>
          <a:p>
            <a:pPr>
              <a:buNone/>
            </a:pPr>
            <a:br>
              <a:rPr lang="vi-VN"/>
            </a:br>
            <a:endParaRPr lang="vi-VN"/>
          </a:p>
          <a:p>
            <a:pPr>
              <a:buNone/>
            </a:pPr>
            <a:r>
              <a:rPr lang="vi-VN" b="1"/>
              <a:t>3. File Storage (CSV Files)</a:t>
            </a:r>
            <a:endParaRPr lang="vi-VN"/>
          </a:p>
          <a:p>
            <a:pPr>
              <a:buNone/>
            </a:pPr>
            <a:r>
              <a:rPr lang="vi-VN"/>
              <a:t>Sau tiền xử lý, dữ liệu được lưu tạm thời ở dạng </a:t>
            </a:r>
            <a:r>
              <a:rPr lang="vi-VN" b="1"/>
              <a:t>CSV</a:t>
            </a:r>
            <a:r>
              <a:rPr lang="vi-VN"/>
              <a:t> để dễ truy cập và tái sử dụng:</a:t>
            </a:r>
          </a:p>
          <a:p>
            <a:pPr marL="171450" indent="-171450"/>
            <a:r>
              <a:rPr lang="vi-VN" b="1"/>
              <a:t>user.csv</a:t>
            </a:r>
            <a:r>
              <a:rPr lang="vi-VN"/>
              <a:t>: thông tin người dùng</a:t>
            </a:r>
          </a:p>
          <a:p>
            <a:pPr marL="171450" indent="-171450"/>
            <a:r>
              <a:rPr lang="vi-VN" b="1"/>
              <a:t>item.csv</a:t>
            </a:r>
            <a:r>
              <a:rPr lang="vi-VN"/>
              <a:t>: thông tin phim</a:t>
            </a:r>
          </a:p>
          <a:p>
            <a:pPr marL="171450" indent="-171450"/>
            <a:r>
              <a:rPr lang="vi-VN" b="1"/>
              <a:t>train.csv</a:t>
            </a:r>
            <a:r>
              <a:rPr lang="vi-VN"/>
              <a:t>, </a:t>
            </a:r>
            <a:r>
              <a:rPr lang="vi-VN" b="1"/>
              <a:t>dev.csv</a:t>
            </a:r>
            <a:r>
              <a:rPr lang="vi-VN"/>
              <a:t>, </a:t>
            </a:r>
            <a:r>
              <a:rPr lang="vi-VN" b="1"/>
              <a:t>test.csv</a:t>
            </a:r>
            <a:r>
              <a:rPr lang="vi-VN"/>
              <a:t>: dữ liệu đánh giá đã được chia</a:t>
            </a:r>
          </a:p>
          <a:p>
            <a:pPr indent="0">
              <a:buNone/>
            </a:pPr>
            <a:r>
              <a:rPr lang="vi-VN"/>
              <a:t>Dạng lưu trữ này giúp tách biệt dữ liệu thô và dữ liệu đã xử lý.</a:t>
            </a:r>
          </a:p>
          <a:p>
            <a:pPr>
              <a:buNone/>
            </a:pPr>
            <a:br>
              <a:rPr lang="vi-VN"/>
            </a:br>
            <a:endParaRPr lang="vi-VN"/>
          </a:p>
          <a:p>
            <a:pPr>
              <a:buNone/>
            </a:pPr>
            <a:r>
              <a:rPr lang="vi-VN" b="1"/>
              <a:t>4. Database Storage – SQLite</a:t>
            </a:r>
            <a:endParaRPr lang="vi-VN"/>
          </a:p>
          <a:p>
            <a:pPr>
              <a:buNone/>
            </a:pPr>
            <a:r>
              <a:rPr lang="vi-VN"/>
              <a:t>Hệ thống sử dụng </a:t>
            </a:r>
            <a:r>
              <a:rPr lang="vi-VN" b="1"/>
              <a:t>SQLite</a:t>
            </a:r>
            <a:r>
              <a:rPr lang="vi-VN"/>
              <a:t> làm cơ sở dữ liệu trung tâm (database.db) để phục vụ các tác vụ truy vấn nhanh.</a:t>
            </a:r>
          </a:p>
          <a:p>
            <a:pPr>
              <a:buNone/>
            </a:pPr>
            <a:r>
              <a:rPr lang="vi-VN" b="1"/>
              <a:t>Cấu trúc bảng</a:t>
            </a:r>
            <a:endParaRPr lang="vi-VN"/>
          </a:p>
          <a:p>
            <a:pPr marL="171450" indent="-171450"/>
            <a:r>
              <a:rPr lang="vi-VN" b="1"/>
              <a:t>users</a:t>
            </a:r>
            <a:r>
              <a:rPr lang="vi-VN"/>
              <a:t>: lưu thông tin người dùng</a:t>
            </a:r>
          </a:p>
          <a:p>
            <a:pPr marL="171450" indent="-171450"/>
            <a:r>
              <a:rPr lang="vi-VN" b="1"/>
              <a:t>items</a:t>
            </a:r>
            <a:r>
              <a:rPr lang="vi-VN"/>
              <a:t>: lưu thông tin phim</a:t>
            </a:r>
          </a:p>
          <a:p>
            <a:pPr marL="171450" indent="-171450"/>
            <a:r>
              <a:rPr lang="vi-VN" b="1"/>
              <a:t>ratings</a:t>
            </a:r>
            <a:r>
              <a:rPr lang="vi-VN"/>
              <a:t>: lưu lịch sử đánh giá</a:t>
            </a:r>
          </a:p>
          <a:p>
            <a:pPr indent="0">
              <a:buNone/>
            </a:pPr>
            <a:r>
              <a:rPr lang="vi-VN"/>
              <a:t>Dữ liệu từ user.csv, item.csv và một phần từ train.csv được import vào database.</a:t>
            </a:r>
          </a:p>
          <a:p>
            <a:pPr>
              <a:buNone/>
            </a:pPr>
            <a:br>
              <a:rPr lang="vi-VN"/>
            </a:br>
            <a:endParaRPr lang="vi-VN"/>
          </a:p>
          <a:p>
            <a:pPr>
              <a:buNone/>
            </a:pPr>
            <a:r>
              <a:rPr lang="vi-VN" b="1"/>
              <a:t>5. System Consumers (Các thành phần sử dụng dữ liệu)</a:t>
            </a:r>
            <a:endParaRPr lang="vi-VN"/>
          </a:p>
          <a:p>
            <a:pPr>
              <a:buNone/>
            </a:pPr>
            <a:r>
              <a:rPr lang="vi-VN" b="1"/>
              <a:t>5.1. Training Models</a:t>
            </a:r>
            <a:endParaRPr lang="vi-VN"/>
          </a:p>
          <a:p>
            <a:pPr>
              <a:buNone/>
            </a:pPr>
            <a:r>
              <a:rPr lang="vi-VN"/>
              <a:t>Các mô hình gợi ý sử dụng dữ liệu từ:</a:t>
            </a:r>
          </a:p>
          <a:p>
            <a:pPr marL="171450" indent="-171450"/>
            <a:r>
              <a:rPr lang="vi-VN"/>
              <a:t>Database</a:t>
            </a:r>
          </a:p>
          <a:p>
            <a:pPr marL="171450" indent="-171450"/>
            <a:r>
              <a:rPr lang="vi-VN"/>
              <a:t>File train.csv</a:t>
            </a:r>
          </a:p>
          <a:p>
            <a:pPr indent="0">
              <a:buNone/>
            </a:pPr>
            <a:r>
              <a:rPr lang="vi-VN"/>
              <a:t>Các mô hình được huấn luyện bao gồm:</a:t>
            </a:r>
          </a:p>
          <a:p>
            <a:pPr marL="171450" indent="-171450"/>
            <a:r>
              <a:rPr lang="vi-VN" b="1"/>
              <a:t>Matrix Factorization (MF)</a:t>
            </a:r>
            <a:endParaRPr lang="vi-VN"/>
          </a:p>
          <a:p>
            <a:pPr marL="171450" indent="-171450"/>
            <a:r>
              <a:rPr lang="vi-VN" b="1"/>
              <a:t>SASRec (Sequential Recommendation)</a:t>
            </a:r>
            <a:endParaRPr lang="vi-VN"/>
          </a:p>
          <a:p>
            <a:pPr indent="0">
              <a:buNone/>
            </a:pPr>
            <a:r>
              <a:rPr lang="vi-VN"/>
              <a:t>Các mô hình này tạo ra embedding hoặc tham số phục vụ dự đoán.</a:t>
            </a:r>
          </a:p>
          <a:p>
            <a:pPr>
              <a:buNone/>
            </a:pPr>
            <a:br>
              <a:rPr lang="vi-VN"/>
            </a:br>
            <a:endParaRPr lang="vi-VN"/>
          </a:p>
          <a:p>
            <a:pPr>
              <a:buNone/>
            </a:pPr>
            <a:r>
              <a:rPr lang="vi-VN" b="1"/>
              <a:t>5.2. Agents (Searcher, Analyst)</a:t>
            </a:r>
            <a:endParaRPr lang="vi-VN"/>
          </a:p>
          <a:p>
            <a:pPr>
              <a:buNone/>
            </a:pPr>
            <a:r>
              <a:rPr lang="vi-VN"/>
              <a:t>Các agent trong hệ thống Multi-Agent System truy xuất dữ liệu từ:</a:t>
            </a:r>
          </a:p>
          <a:p>
            <a:pPr marL="171450" indent="-171450"/>
            <a:r>
              <a:rPr lang="vi-VN"/>
              <a:t>Database SQLite (để tìm kiếm, lọc, phân tích)</a:t>
            </a:r>
          </a:p>
          <a:p>
            <a:pPr marL="171450" indent="-171450"/>
            <a:r>
              <a:rPr lang="vi-VN"/>
              <a:t>Metadata phim từ items.csv</a:t>
            </a:r>
          </a:p>
          <a:p>
            <a:pPr indent="0">
              <a:buNone/>
            </a:pPr>
            <a:r>
              <a:rPr lang="vi-VN"/>
              <a:t>Ví dụ:</a:t>
            </a:r>
          </a:p>
          <a:p>
            <a:pPr marL="171450" indent="-171450"/>
            <a:r>
              <a:rPr lang="vi-VN" b="1"/>
              <a:t>Searcher Agent</a:t>
            </a:r>
            <a:r>
              <a:rPr lang="vi-VN"/>
              <a:t>: truy vấn dữ liệu theo bộ lọc</a:t>
            </a:r>
          </a:p>
          <a:p>
            <a:pPr marL="171450" indent="-171450"/>
            <a:r>
              <a:rPr lang="vi-VN" b="1"/>
              <a:t>Analyst Agent</a:t>
            </a:r>
            <a:r>
              <a:rPr lang="vi-VN"/>
              <a:t>: tổng hợp dữ liệu, phân tích kết quả mô hình</a:t>
            </a:r>
          </a:p>
          <a:p>
            <a:pPr indent="0">
              <a:buNone/>
            </a:pPr>
            <a:r>
              <a:rPr lang="vi-VN"/>
              <a:t>Các agent hoạt động độc lập nhưng chia sẻ chung nguồn dữ liệu đã được chuẩn hóa.</a:t>
            </a:r>
          </a:p>
          <a:p>
            <a:pPr>
              <a:buNone/>
            </a:pPr>
            <a:br>
              <a:rPr lang="vi-VN"/>
            </a:br>
            <a:endParaRPr lang="vi-VN"/>
          </a:p>
          <a:p>
            <a:pPr>
              <a:buNone/>
            </a:pPr>
            <a:r>
              <a:rPr lang="vi-VN" b="1"/>
              <a:t>6. Tổng kết luồng dữ liệu</a:t>
            </a:r>
            <a:endParaRPr lang="vi-VN"/>
          </a:p>
          <a:p>
            <a:pPr>
              <a:buNone/>
            </a:pPr>
            <a:r>
              <a:rPr lang="vi-VN"/>
              <a:t>Luồng dữ liệu tổng quát trong hệ thống:</a:t>
            </a:r>
          </a:p>
          <a:p>
            <a:pPr>
              <a:buNone/>
            </a:pPr>
            <a:r>
              <a:rPr lang="vi-VN" b="1"/>
              <a:t>MovieLens 100K → Preprocessing → CSV Files → SQLite Database → (Models + Agents)</a:t>
            </a:r>
            <a:endParaRPr lang="vi-VN"/>
          </a:p>
          <a:p>
            <a:pPr>
              <a:buNone/>
            </a:pPr>
            <a:r>
              <a:rPr lang="vi-VN"/>
              <a:t>Sơ đồ cho thấy:</a:t>
            </a:r>
          </a:p>
          <a:p>
            <a:pPr marL="171450" indent="-171450"/>
            <a:r>
              <a:rPr lang="vi-VN"/>
              <a:t>Dữ liệu được xử lý tuần tự và có kiểm soát</a:t>
            </a:r>
          </a:p>
          <a:p>
            <a:pPr marL="171450" indent="-171450"/>
            <a:r>
              <a:rPr lang="vi-VN"/>
              <a:t>Tách biệt rõ các giai đoạn: tiền xử lý – lưu trữ – khai thác</a:t>
            </a:r>
          </a:p>
          <a:p>
            <a:pPr marL="171450" indent="-171450"/>
            <a:r>
              <a:rPr lang="vi-VN"/>
              <a:t>Hỗ trợ song song cho mô hình học máy và hệ thống Multi-Agent</a:t>
            </a:r>
          </a:p>
          <a:p>
            <a:pPr indent="0">
              <a:buNone/>
            </a:pPr>
            <a:br>
              <a:rPr lang="vi-VN"/>
            </a:br>
            <a:endParaRPr lang="vi-VN"/>
          </a:p>
          <a:p>
            <a:pPr>
              <a:buNone/>
            </a:pPr>
            <a:r>
              <a:rPr lang="vi-VN" b="1"/>
              <a:t>7. Ý nghĩa của sơ đồ</a:t>
            </a:r>
            <a:endParaRPr lang="vi-VN"/>
          </a:p>
          <a:p>
            <a:pPr>
              <a:buNone/>
            </a:pPr>
            <a:r>
              <a:rPr lang="vi-VN"/>
              <a:t>Sơ đồ Data Flow &amp; Storage Diagram giúp:</a:t>
            </a:r>
          </a:p>
          <a:p>
            <a:pPr marL="171450" indent="-171450"/>
            <a:r>
              <a:rPr lang="vi-VN"/>
              <a:t>Làm rõ cách dữ liệu được chuẩn bị và quản lý</a:t>
            </a:r>
          </a:p>
          <a:p>
            <a:pPr marL="171450" indent="-171450"/>
            <a:r>
              <a:rPr lang="vi-VN"/>
              <a:t>Giải thích nguồn dữ liệu của các agent và mô hình</a:t>
            </a:r>
          </a:p>
          <a:p>
            <a:pPr marL="171450" indent="-171450"/>
            <a:r>
              <a:rPr lang="vi-VN"/>
              <a:t>Đảm bảo tính tái lập (reproducibility) cho nghiên cứu</a:t>
            </a:r>
          </a:p>
          <a:p>
            <a:pPr marL="171450" indent="-171450"/>
            <a:r>
              <a:rPr lang="vi-VN"/>
              <a:t>Hỗ trợ mở rộng hệ thống trong tương lai</a:t>
            </a:r>
          </a:p>
          <a:p>
            <a:pPr marL="0" lvl="0" indent="0" algn="l">
              <a:spcBef>
                <a:spcPts val="0"/>
              </a:spcBef>
              <a:spcAft>
                <a:spcPts val="0"/>
              </a:spcAft>
              <a:buNone/>
            </a:pPr>
            <a:endParaRPr lang="vi-VN"/>
          </a:p>
        </p:txBody>
      </p:sp>
    </p:spTree>
    <p:extLst>
      <p:ext uri="{BB962C8B-B14F-4D97-AF65-F5344CB8AC3E}">
        <p14:creationId xmlns:p14="http://schemas.microsoft.com/office/powerpoint/2010/main" val="391673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87B9A17C-E942-7A9B-D218-51D1FBC65324}"/>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D283BA3F-B877-AF6C-E913-EE0E29A8FA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A68002D7-3678-62D6-D593-BEE20A02B8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err="1"/>
              <a:t>Mỗi</a:t>
            </a:r>
            <a:r>
              <a:rPr lang="en-US"/>
              <a:t> system </a:t>
            </a:r>
            <a:r>
              <a:rPr lang="en-US" err="1"/>
              <a:t>được</a:t>
            </a:r>
            <a:r>
              <a:rPr lang="en-US"/>
              <a:t> thiết </a:t>
            </a:r>
            <a:r>
              <a:rPr lang="en-US" err="1"/>
              <a:t>kế</a:t>
            </a:r>
            <a:r>
              <a:rPr lang="en-US"/>
              <a:t> </a:t>
            </a:r>
            <a:r>
              <a:rPr lang="en-US" err="1"/>
              <a:t>với</a:t>
            </a:r>
            <a:r>
              <a:rPr lang="en-US"/>
              <a:t> </a:t>
            </a:r>
            <a:r>
              <a:rPr lang="en-US" b="1" err="1"/>
              <a:t>kiến</a:t>
            </a:r>
            <a:r>
              <a:rPr lang="en-US" b="1"/>
              <a:t> </a:t>
            </a:r>
            <a:r>
              <a:rPr lang="en-US" b="1" err="1"/>
              <a:t>trúc</a:t>
            </a:r>
            <a:r>
              <a:rPr lang="en-US" b="1"/>
              <a:t> agent</a:t>
            </a:r>
            <a:r>
              <a:rPr lang="en-US"/>
              <a:t> </a:t>
            </a:r>
            <a:r>
              <a:rPr lang="en-US" err="1"/>
              <a:t>và</a:t>
            </a:r>
            <a:r>
              <a:rPr lang="en-US"/>
              <a:t> </a:t>
            </a:r>
            <a:r>
              <a:rPr lang="en-US" b="1" err="1"/>
              <a:t>khả</a:t>
            </a:r>
            <a:r>
              <a:rPr lang="en-US" b="1"/>
              <a:t> </a:t>
            </a:r>
            <a:r>
              <a:rPr lang="en-US" b="1" err="1"/>
              <a:t>năng</a:t>
            </a:r>
            <a:r>
              <a:rPr lang="en-US" b="1"/>
              <a:t> reasoning</a:t>
            </a:r>
            <a:r>
              <a:rPr lang="en-US"/>
              <a:t> </a:t>
            </a:r>
            <a:r>
              <a:rPr lang="en-US" err="1"/>
              <a:t>khác</a:t>
            </a:r>
            <a:r>
              <a:rPr lang="en-US"/>
              <a:t> </a:t>
            </a:r>
            <a:r>
              <a:rPr lang="en-US" err="1"/>
              <a:t>nhau</a:t>
            </a:r>
            <a:r>
              <a:rPr lang="en-US"/>
              <a:t>, </a:t>
            </a:r>
            <a:r>
              <a:rPr lang="en-US" err="1"/>
              <a:t>nên</a:t>
            </a:r>
            <a:r>
              <a:rPr lang="en-US"/>
              <a:t> </a:t>
            </a:r>
            <a:r>
              <a:rPr lang="en-US" err="1"/>
              <a:t>phù</a:t>
            </a:r>
            <a:r>
              <a:rPr lang="en-US"/>
              <a:t> </a:t>
            </a:r>
            <a:r>
              <a:rPr lang="en-US" err="1"/>
              <a:t>hợp</a:t>
            </a:r>
            <a:r>
              <a:rPr lang="en-US"/>
              <a:t> </a:t>
            </a:r>
            <a:r>
              <a:rPr lang="en-US" err="1"/>
              <a:t>với</a:t>
            </a:r>
            <a:r>
              <a:rPr lang="en-US"/>
              <a:t> </a:t>
            </a:r>
            <a:r>
              <a:rPr lang="en-US" err="1"/>
              <a:t>các</a:t>
            </a:r>
            <a:r>
              <a:rPr lang="en-US"/>
              <a:t> tasks </a:t>
            </a:r>
            <a:r>
              <a:rPr lang="en-US" err="1"/>
              <a:t>khác</a:t>
            </a:r>
            <a:r>
              <a:rPr lang="en-US"/>
              <a:t> </a:t>
            </a:r>
            <a:r>
              <a:rPr lang="en-US" err="1"/>
              <a:t>nhau</a:t>
            </a:r>
            <a:r>
              <a:rPr lang="en-US"/>
              <a:t>:</a:t>
            </a:r>
          </a:p>
          <a:p>
            <a:pPr>
              <a:buNone/>
            </a:pPr>
            <a:br>
              <a:rPr lang="en-US"/>
            </a:br>
            <a:endParaRPr lang="en-US"/>
          </a:p>
          <a:p>
            <a:pPr>
              <a:buNone/>
            </a:pPr>
            <a:r>
              <a:rPr lang="en-US" b="1"/>
              <a:t>1. </a:t>
            </a:r>
            <a:r>
              <a:rPr lang="en-US" b="1" err="1"/>
              <a:t>ReAct</a:t>
            </a:r>
            <a:r>
              <a:rPr lang="en-US" b="1"/>
              <a:t> &amp; Reflection Systems</a:t>
            </a:r>
            <a:r>
              <a:rPr lang="en-US"/>
              <a:t> → Rating + Sequential + Explanation</a:t>
            </a:r>
          </a:p>
          <a:p>
            <a:pPr marL="171450" indent="-171450"/>
            <a:r>
              <a:rPr lang="en-US" err="1"/>
              <a:t>Có</a:t>
            </a:r>
            <a:r>
              <a:rPr lang="en-US"/>
              <a:t> </a:t>
            </a:r>
            <a:r>
              <a:rPr lang="en-US" b="1"/>
              <a:t>reasoning-acting loop</a:t>
            </a:r>
            <a:r>
              <a:rPr lang="en-US"/>
              <a:t> </a:t>
            </a:r>
            <a:r>
              <a:rPr lang="en-US" err="1"/>
              <a:t>mạnh</a:t>
            </a:r>
            <a:r>
              <a:rPr lang="en-US"/>
              <a:t> </a:t>
            </a:r>
            <a:r>
              <a:rPr lang="en-US" err="1"/>
              <a:t>mẽ</a:t>
            </a:r>
          </a:p>
          <a:p>
            <a:pPr marL="171450" indent="-171450"/>
            <a:r>
              <a:rPr lang="en-US" err="1"/>
              <a:t>Xử</a:t>
            </a:r>
            <a:r>
              <a:rPr lang="en-US"/>
              <a:t> </a:t>
            </a:r>
            <a:r>
              <a:rPr lang="en-US" err="1"/>
              <a:t>lý</a:t>
            </a:r>
            <a:r>
              <a:rPr lang="en-US"/>
              <a:t> </a:t>
            </a:r>
            <a:r>
              <a:rPr lang="en-US" err="1"/>
              <a:t>được</a:t>
            </a:r>
            <a:r>
              <a:rPr lang="en-US"/>
              <a:t> </a:t>
            </a:r>
            <a:r>
              <a:rPr lang="en-US" err="1"/>
              <a:t>cả</a:t>
            </a:r>
            <a:r>
              <a:rPr lang="en-US"/>
              <a:t> </a:t>
            </a:r>
            <a:r>
              <a:rPr lang="en-US" b="1"/>
              <a:t>numerical prediction</a:t>
            </a:r>
            <a:r>
              <a:rPr lang="en-US"/>
              <a:t> (rating), </a:t>
            </a:r>
            <a:r>
              <a:rPr lang="en-US" b="1"/>
              <a:t>sequential logic</a:t>
            </a:r>
            <a:r>
              <a:rPr lang="en-US"/>
              <a:t> (</a:t>
            </a:r>
            <a:r>
              <a:rPr lang="en-US" err="1"/>
              <a:t>chuỗi</a:t>
            </a:r>
            <a:r>
              <a:rPr lang="en-US"/>
              <a:t> </a:t>
            </a:r>
            <a:r>
              <a:rPr lang="en-US" err="1"/>
              <a:t>đề</a:t>
            </a:r>
            <a:r>
              <a:rPr lang="en-US"/>
              <a:t> </a:t>
            </a:r>
            <a:r>
              <a:rPr lang="en-US" err="1"/>
              <a:t>xuất</a:t>
            </a:r>
            <a:r>
              <a:rPr lang="en-US"/>
              <a:t>), </a:t>
            </a:r>
            <a:r>
              <a:rPr lang="en-US" err="1"/>
              <a:t>và</a:t>
            </a:r>
            <a:r>
              <a:rPr lang="en-US"/>
              <a:t> </a:t>
            </a:r>
            <a:r>
              <a:rPr lang="en-US" b="1"/>
              <a:t>explanation generation</a:t>
            </a:r>
            <a:r>
              <a:rPr lang="en-US"/>
              <a:t> (</a:t>
            </a:r>
            <a:r>
              <a:rPr lang="en-US" err="1"/>
              <a:t>giải</a:t>
            </a:r>
            <a:r>
              <a:rPr lang="en-US"/>
              <a:t> </a:t>
            </a:r>
            <a:r>
              <a:rPr lang="en-US" err="1"/>
              <a:t>thích</a:t>
            </a:r>
            <a:r>
              <a:rPr lang="en-US"/>
              <a:t> why)</a:t>
            </a:r>
          </a:p>
          <a:p>
            <a:pPr marL="171450" indent="-171450"/>
            <a:r>
              <a:rPr lang="en-US"/>
              <a:t>Reflection </a:t>
            </a:r>
            <a:r>
              <a:rPr lang="en-US" err="1"/>
              <a:t>thêm</a:t>
            </a:r>
            <a:r>
              <a:rPr lang="en-US"/>
              <a:t> </a:t>
            </a:r>
            <a:r>
              <a:rPr lang="en-US" err="1"/>
              <a:t>bước</a:t>
            </a:r>
            <a:r>
              <a:rPr lang="en-US"/>
              <a:t> </a:t>
            </a:r>
            <a:r>
              <a:rPr lang="en-US" b="1"/>
              <a:t>self-correction</a:t>
            </a:r>
            <a:r>
              <a:rPr lang="en-US"/>
              <a:t> </a:t>
            </a:r>
            <a:r>
              <a:rPr lang="en-US" err="1"/>
              <a:t>để</a:t>
            </a:r>
            <a:r>
              <a:rPr lang="en-US"/>
              <a:t> </a:t>
            </a:r>
            <a:r>
              <a:rPr lang="en-US" err="1"/>
              <a:t>cải</a:t>
            </a:r>
            <a:r>
              <a:rPr lang="en-US"/>
              <a:t> </a:t>
            </a:r>
            <a:r>
              <a:rPr lang="en-US" err="1"/>
              <a:t>thiện</a:t>
            </a:r>
            <a:r>
              <a:rPr lang="en-US"/>
              <a:t> </a:t>
            </a:r>
            <a:r>
              <a:rPr lang="en-US" err="1"/>
              <a:t>chất</a:t>
            </a:r>
            <a:r>
              <a:rPr lang="en-US"/>
              <a:t> </a:t>
            </a:r>
            <a:r>
              <a:rPr lang="en-US" err="1"/>
              <a:t>lượng</a:t>
            </a:r>
          </a:p>
          <a:p>
            <a:pPr indent="0">
              <a:buNone/>
            </a:pPr>
            <a:br>
              <a:rPr lang="en-US"/>
            </a:br>
            <a:endParaRPr lang="en-US"/>
          </a:p>
          <a:p>
            <a:pPr>
              <a:buNone/>
            </a:pPr>
            <a:r>
              <a:rPr lang="en-US" b="1"/>
              <a:t>2. </a:t>
            </a:r>
            <a:r>
              <a:rPr lang="en-US" b="1" err="1"/>
              <a:t>ChatSystem</a:t>
            </a:r>
            <a:r>
              <a:rPr lang="en-US"/>
              <a:t> → CHỈ Conversational</a:t>
            </a:r>
          </a:p>
          <a:p>
            <a:pPr marL="171450" indent="-171450"/>
            <a:r>
              <a:rPr lang="en-US" err="1"/>
              <a:t>Thiết</a:t>
            </a:r>
            <a:r>
              <a:rPr lang="en-US"/>
              <a:t> </a:t>
            </a:r>
            <a:r>
              <a:rPr lang="en-US" err="1"/>
              <a:t>kế</a:t>
            </a:r>
            <a:r>
              <a:rPr lang="en-US"/>
              <a:t> </a:t>
            </a:r>
            <a:r>
              <a:rPr lang="en-US" err="1"/>
              <a:t>cho</a:t>
            </a:r>
            <a:r>
              <a:rPr lang="en-US"/>
              <a:t> </a:t>
            </a:r>
            <a:r>
              <a:rPr lang="en-US" b="1"/>
              <a:t>dialogue flow</a:t>
            </a:r>
            <a:r>
              <a:rPr lang="en-US"/>
              <a:t>, </a:t>
            </a:r>
            <a:r>
              <a:rPr lang="en-US" err="1"/>
              <a:t>không</a:t>
            </a:r>
            <a:r>
              <a:rPr lang="en-US"/>
              <a:t> </a:t>
            </a:r>
            <a:r>
              <a:rPr lang="en-US" err="1"/>
              <a:t>có</a:t>
            </a:r>
            <a:r>
              <a:rPr lang="en-US"/>
              <a:t> </a:t>
            </a:r>
            <a:r>
              <a:rPr lang="en-US" err="1"/>
              <a:t>cấu</a:t>
            </a:r>
            <a:r>
              <a:rPr lang="en-US"/>
              <a:t> </a:t>
            </a:r>
            <a:r>
              <a:rPr lang="en-US" err="1"/>
              <a:t>trúc</a:t>
            </a:r>
            <a:r>
              <a:rPr lang="en-US"/>
              <a:t> </a:t>
            </a:r>
            <a:r>
              <a:rPr lang="en-US" err="1"/>
              <a:t>cho</a:t>
            </a:r>
            <a:r>
              <a:rPr lang="en-US"/>
              <a:t> analytical tasks</a:t>
            </a:r>
          </a:p>
          <a:p>
            <a:pPr marL="171450" indent="-171450"/>
            <a:r>
              <a:rPr lang="en-US"/>
              <a:t>Focus </a:t>
            </a:r>
            <a:r>
              <a:rPr lang="en-US" err="1"/>
              <a:t>vào</a:t>
            </a:r>
            <a:r>
              <a:rPr lang="en-US"/>
              <a:t> </a:t>
            </a:r>
            <a:r>
              <a:rPr lang="en-US" b="1"/>
              <a:t>natural conversation</a:t>
            </a:r>
            <a:r>
              <a:rPr lang="en-US"/>
              <a:t>, </a:t>
            </a:r>
            <a:r>
              <a:rPr lang="en-US" err="1"/>
              <a:t>không</a:t>
            </a:r>
            <a:r>
              <a:rPr lang="en-US"/>
              <a:t> </a:t>
            </a:r>
            <a:r>
              <a:rPr lang="en-US" err="1"/>
              <a:t>phải</a:t>
            </a:r>
            <a:r>
              <a:rPr lang="en-US"/>
              <a:t> prediction hay reasoning </a:t>
            </a:r>
            <a:r>
              <a:rPr lang="en-US" err="1"/>
              <a:t>phức</a:t>
            </a:r>
            <a:r>
              <a:rPr lang="en-US"/>
              <a:t> </a:t>
            </a:r>
            <a:r>
              <a:rPr lang="en-US" err="1"/>
              <a:t>tạp</a:t>
            </a:r>
          </a:p>
          <a:p>
            <a:pPr indent="0">
              <a:buNone/>
            </a:pPr>
            <a:br>
              <a:rPr lang="en-US"/>
            </a:br>
            <a:endParaRPr lang="en-US"/>
          </a:p>
          <a:p>
            <a:pPr>
              <a:buNone/>
            </a:pPr>
            <a:r>
              <a:rPr lang="en-US" b="1"/>
              <a:t>3. </a:t>
            </a:r>
            <a:r>
              <a:rPr lang="en-US" b="1" err="1"/>
              <a:t>AnalyseSystem</a:t>
            </a:r>
            <a:r>
              <a:rPr lang="en-US"/>
              <a:t> → Rating + Sequential </a:t>
            </a:r>
            <a:r>
              <a:rPr lang="en-US" i="1"/>
              <a:t>(</a:t>
            </a:r>
            <a:r>
              <a:rPr lang="en-US" i="1" err="1"/>
              <a:t>tùy</a:t>
            </a:r>
            <a:r>
              <a:rPr lang="en-US" i="1"/>
              <a:t> config)</a:t>
            </a:r>
            <a:endParaRPr lang="en-US"/>
          </a:p>
          <a:p>
            <a:pPr marL="171450" indent="-171450"/>
            <a:r>
              <a:rPr lang="en-US" err="1"/>
              <a:t>Mục</a:t>
            </a:r>
            <a:r>
              <a:rPr lang="en-US"/>
              <a:t> </a:t>
            </a:r>
            <a:r>
              <a:rPr lang="en-US" err="1"/>
              <a:t>đích</a:t>
            </a:r>
            <a:r>
              <a:rPr lang="en-US"/>
              <a:t> </a:t>
            </a:r>
            <a:r>
              <a:rPr lang="en-US" b="1" err="1"/>
              <a:t>đánh</a:t>
            </a:r>
            <a:r>
              <a:rPr lang="en-US" b="1"/>
              <a:t> </a:t>
            </a:r>
            <a:r>
              <a:rPr lang="en-US" b="1" err="1"/>
              <a:t>giá</a:t>
            </a:r>
            <a:r>
              <a:rPr lang="en-US" b="1"/>
              <a:t> </a:t>
            </a:r>
            <a:r>
              <a:rPr lang="en-US" b="1" err="1"/>
              <a:t>mô</a:t>
            </a:r>
            <a:r>
              <a:rPr lang="en-US" b="1"/>
              <a:t> </a:t>
            </a:r>
            <a:r>
              <a:rPr lang="en-US" b="1" err="1"/>
              <a:t>hình</a:t>
            </a:r>
            <a:r>
              <a:rPr lang="en-US"/>
              <a:t>, </a:t>
            </a:r>
            <a:r>
              <a:rPr lang="en-US" err="1"/>
              <a:t>không</a:t>
            </a:r>
            <a:r>
              <a:rPr lang="en-US"/>
              <a:t> </a:t>
            </a:r>
            <a:r>
              <a:rPr lang="en-US" err="1"/>
              <a:t>phải</a:t>
            </a:r>
            <a:r>
              <a:rPr lang="en-US"/>
              <a:t> production recommendation</a:t>
            </a:r>
          </a:p>
          <a:p>
            <a:pPr marL="171450" indent="-171450"/>
            <a:r>
              <a:rPr lang="en-US" err="1"/>
              <a:t>Chạy</a:t>
            </a:r>
            <a:r>
              <a:rPr lang="en-US"/>
              <a:t> experiments </a:t>
            </a:r>
            <a:r>
              <a:rPr lang="en-US" err="1"/>
              <a:t>trên</a:t>
            </a:r>
            <a:r>
              <a:rPr lang="en-US"/>
              <a:t> </a:t>
            </a:r>
            <a:r>
              <a:rPr lang="en-US" err="1"/>
              <a:t>các</a:t>
            </a:r>
            <a:r>
              <a:rPr lang="en-US"/>
              <a:t> metrics </a:t>
            </a:r>
            <a:r>
              <a:rPr lang="en-US" err="1"/>
              <a:t>cụ</a:t>
            </a:r>
            <a:r>
              <a:rPr lang="en-US"/>
              <a:t> </a:t>
            </a:r>
            <a:r>
              <a:rPr lang="en-US" err="1"/>
              <a:t>thể</a:t>
            </a:r>
            <a:r>
              <a:rPr lang="en-US"/>
              <a:t> </a:t>
            </a:r>
            <a:r>
              <a:rPr lang="en-US" err="1"/>
              <a:t>theo</a:t>
            </a:r>
            <a:r>
              <a:rPr lang="en-US"/>
              <a:t> </a:t>
            </a:r>
            <a:r>
              <a:rPr lang="en-US" b="1"/>
              <a:t>config evaluation</a:t>
            </a:r>
            <a:endParaRPr lang="en-US"/>
          </a:p>
          <a:p>
            <a:pPr indent="0">
              <a:buNone/>
            </a:pPr>
            <a:br>
              <a:rPr lang="en-US"/>
            </a:br>
            <a:endParaRPr lang="en-US"/>
          </a:p>
          <a:p>
            <a:pPr>
              <a:buNone/>
            </a:pPr>
            <a:r>
              <a:rPr lang="en-US" b="1"/>
              <a:t>4. </a:t>
            </a:r>
            <a:r>
              <a:rPr lang="en-US" b="1" err="1"/>
              <a:t>CollaborationSystem</a:t>
            </a:r>
            <a:r>
              <a:rPr lang="en-US"/>
              <a:t> → Sequential + Explanation + Conversational </a:t>
            </a:r>
            <a:r>
              <a:rPr lang="en-US" i="1"/>
              <a:t>(config)</a:t>
            </a:r>
            <a:endParaRPr lang="en-US"/>
          </a:p>
          <a:p>
            <a:pPr marL="171450" indent="-171450"/>
            <a:r>
              <a:rPr lang="en-US" b="1"/>
              <a:t>Multi-agent coordination</a:t>
            </a:r>
            <a:r>
              <a:rPr lang="en-US"/>
              <a:t> </a:t>
            </a:r>
            <a:r>
              <a:rPr lang="en-US" err="1"/>
              <a:t>phù</a:t>
            </a:r>
            <a:r>
              <a:rPr lang="en-US"/>
              <a:t> </a:t>
            </a:r>
            <a:r>
              <a:rPr lang="en-US" err="1"/>
              <a:t>hợp</a:t>
            </a:r>
            <a:r>
              <a:rPr lang="en-US"/>
              <a:t> tasks </a:t>
            </a:r>
            <a:r>
              <a:rPr lang="en-US" err="1"/>
              <a:t>phức</a:t>
            </a:r>
            <a:r>
              <a:rPr lang="en-US"/>
              <a:t> </a:t>
            </a:r>
            <a:r>
              <a:rPr lang="en-US" err="1"/>
              <a:t>tạp</a:t>
            </a:r>
            <a:r>
              <a:rPr lang="en-US"/>
              <a:t> </a:t>
            </a:r>
            <a:r>
              <a:rPr lang="en-US" err="1"/>
              <a:t>cần</a:t>
            </a:r>
            <a:r>
              <a:rPr lang="en-US"/>
              <a:t> </a:t>
            </a:r>
            <a:r>
              <a:rPr lang="en-US" err="1"/>
              <a:t>nhiều</a:t>
            </a:r>
            <a:r>
              <a:rPr lang="en-US"/>
              <a:t> </a:t>
            </a:r>
            <a:r>
              <a:rPr lang="en-US" err="1"/>
              <a:t>bước</a:t>
            </a:r>
          </a:p>
          <a:p>
            <a:pPr marL="171450" indent="-171450"/>
            <a:r>
              <a:rPr lang="en-US"/>
              <a:t>Sequential &amp; Explanation </a:t>
            </a:r>
            <a:r>
              <a:rPr lang="en-US" err="1"/>
              <a:t>cần</a:t>
            </a:r>
            <a:r>
              <a:rPr lang="en-US"/>
              <a:t> </a:t>
            </a:r>
            <a:r>
              <a:rPr lang="en-US" b="1" err="1"/>
              <a:t>phân</a:t>
            </a:r>
            <a:r>
              <a:rPr lang="en-US" b="1"/>
              <a:t> </a:t>
            </a:r>
            <a:r>
              <a:rPr lang="en-US" b="1" err="1"/>
              <a:t>công</a:t>
            </a:r>
            <a:r>
              <a:rPr lang="en-US" b="1"/>
              <a:t> agents</a:t>
            </a:r>
            <a:r>
              <a:rPr lang="en-US"/>
              <a:t> (</a:t>
            </a:r>
            <a:r>
              <a:rPr lang="en-US" err="1"/>
              <a:t>tìm</a:t>
            </a:r>
            <a:r>
              <a:rPr lang="en-US"/>
              <a:t> pattern → refine → explain)</a:t>
            </a:r>
          </a:p>
          <a:p>
            <a:pPr marL="171450" indent="-171450"/>
            <a:r>
              <a:rPr lang="en-US"/>
              <a:t>Conversational </a:t>
            </a:r>
            <a:r>
              <a:rPr lang="en-US" err="1"/>
              <a:t>có</a:t>
            </a:r>
            <a:r>
              <a:rPr lang="en-US"/>
              <a:t> </a:t>
            </a:r>
            <a:r>
              <a:rPr lang="en-US" err="1"/>
              <a:t>thể</a:t>
            </a:r>
            <a:r>
              <a:rPr lang="en-US"/>
              <a:t> </a:t>
            </a:r>
            <a:r>
              <a:rPr lang="en-US" err="1"/>
              <a:t>thêm</a:t>
            </a:r>
            <a:r>
              <a:rPr lang="en-US"/>
              <a:t> </a:t>
            </a:r>
            <a:r>
              <a:rPr lang="en-US" b="1"/>
              <a:t>dialogue agent</a:t>
            </a:r>
            <a:r>
              <a:rPr lang="en-US"/>
              <a:t> </a:t>
            </a:r>
            <a:r>
              <a:rPr lang="en-US" err="1"/>
              <a:t>khi</a:t>
            </a:r>
            <a:r>
              <a:rPr lang="en-US"/>
              <a:t> </a:t>
            </a:r>
            <a:r>
              <a:rPr lang="en-US" err="1"/>
              <a:t>cần</a:t>
            </a:r>
          </a:p>
          <a:p>
            <a:pPr marL="171450" indent="-171450"/>
            <a:endParaRPr lang="en-US"/>
          </a:p>
          <a:p>
            <a:pPr marL="171450" indent="-171450"/>
            <a:r>
              <a:rPr lang="en-US"/>
              <a:t>Reasoning systems → analytical tasks</a:t>
            </a:r>
          </a:p>
          <a:p>
            <a:pPr marL="171450" indent="-171450"/>
            <a:r>
              <a:rPr lang="en-US"/>
              <a:t>Dialogue systems → conversational tasks</a:t>
            </a:r>
          </a:p>
          <a:p>
            <a:pPr marL="171450" indent="-171450"/>
            <a:r>
              <a:rPr lang="en-US"/>
              <a:t>Evaluation systems → testing tasks</a:t>
            </a:r>
          </a:p>
          <a:p>
            <a:pPr marL="171450" indent="-171450"/>
            <a:r>
              <a:rPr lang="en-US"/>
              <a:t>Multi-agent systems → complex coordinated tasks</a:t>
            </a:r>
          </a:p>
          <a:p>
            <a:pPr marL="0" indent="0">
              <a:buNone/>
            </a:pPr>
            <a:endParaRPr lang="en-US"/>
          </a:p>
        </p:txBody>
      </p:sp>
    </p:spTree>
    <p:extLst>
      <p:ext uri="{BB962C8B-B14F-4D97-AF65-F5344CB8AC3E}">
        <p14:creationId xmlns:p14="http://schemas.microsoft.com/office/powerpoint/2010/main" val="134047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87B9A17C-E942-7A9B-D218-51D1FBC65324}"/>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D283BA3F-B877-AF6C-E913-EE0E29A8FA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A68002D7-3678-62D6-D593-BEE20A02B8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b="1"/>
              <a:t>Collaborative Filtering (CF)</a:t>
            </a:r>
            <a:endParaRPr lang="en-US"/>
          </a:p>
          <a:p>
            <a:pPr marL="0" indent="0">
              <a:buNone/>
            </a:pPr>
            <a:r>
              <a:rPr lang="en-US"/>
              <a:t>Collaborative Filtering là phương pháp gợi ý dựa trên hành vi và đánh giá của người dùng trong quá khứ, giả định rằng </a:t>
            </a:r>
            <a:r>
              <a:rPr lang="en-US" b="1"/>
              <a:t>những người dùng có hành vi tương tự sẽ có sở thích tương tự</a:t>
            </a:r>
            <a:r>
              <a:rPr lang="en-US"/>
              <a:t>.</a:t>
            </a:r>
          </a:p>
          <a:p>
            <a:pPr marL="0" indent="0">
              <a:buNone/>
            </a:pPr>
            <a:r>
              <a:rPr lang="en-US" b="1"/>
              <a:t>1. Memory-based Collaborative Filtering</a:t>
            </a:r>
          </a:p>
          <a:p>
            <a:pPr marL="0" indent="0">
              <a:buNone/>
            </a:pPr>
            <a:r>
              <a:rPr lang="en-US" b="1"/>
              <a:t>(Item-based k-Nearest Neighbors – ItemKNN)</a:t>
            </a:r>
          </a:p>
          <a:p>
            <a:pPr marL="0" indent="0">
              <a:buNone/>
            </a:pPr>
            <a:r>
              <a:rPr lang="en-US"/>
              <a:t>Phương pháp này đưa ra gợi ý dựa trên </a:t>
            </a:r>
            <a:r>
              <a:rPr lang="en-US" b="1"/>
              <a:t>độ tương đồng giữa các item</a:t>
            </a:r>
            <a:r>
              <a:rPr lang="en-US"/>
              <a:t>, được tính toán trực tiếp từ ma trận user–item (ví dụ: cosine similarity, Pearson correlation).</a:t>
            </a:r>
          </a:p>
          <a:p>
            <a:pPr marL="0" indent="0">
              <a:buNone/>
            </a:pPr>
            <a:r>
              <a:rPr lang="en-US" b="1"/>
              <a:t>Nguyên lý hoạt động:</a:t>
            </a:r>
          </a:p>
          <a:p>
            <a:pPr marL="171450" indent="-171450"/>
            <a:r>
              <a:rPr lang="en-US"/>
              <a:t>Xác định các item tương tự với item mà người dùng đã tương tác</a:t>
            </a:r>
          </a:p>
          <a:p>
            <a:pPr marL="171450" indent="-171450"/>
            <a:r>
              <a:rPr lang="en-US"/>
              <a:t>Gợi ý các item có mức độ tương đồng cao nhất</a:t>
            </a:r>
          </a:p>
          <a:p>
            <a:pPr marL="0" indent="0">
              <a:buNone/>
            </a:pPr>
            <a:r>
              <a:rPr lang="en-US" b="1"/>
              <a:t>Ưu điểm:</a:t>
            </a:r>
          </a:p>
          <a:p>
            <a:pPr marL="171450" indent="-171450"/>
            <a:r>
              <a:rPr lang="en-US"/>
              <a:t>Cấu trúc đơn giản, dễ triển khai</a:t>
            </a:r>
          </a:p>
          <a:p>
            <a:pPr marL="171450" indent="-171450"/>
            <a:r>
              <a:rPr lang="en-US"/>
              <a:t>Dễ giải thích kết quả cho người dùng (explainability cao)</a:t>
            </a:r>
          </a:p>
          <a:p>
            <a:pPr marL="171450" indent="-171450"/>
            <a:r>
              <a:rPr lang="en-US"/>
              <a:t>Không cần quá trình huấn luyện phức tạp</a:t>
            </a:r>
          </a:p>
          <a:p>
            <a:pPr marL="0" indent="0">
              <a:buNone/>
            </a:pPr>
            <a:r>
              <a:rPr lang="en-US" b="1"/>
              <a:t>Nhược điểm:</a:t>
            </a:r>
          </a:p>
          <a:p>
            <a:pPr marL="171450" indent="-171450"/>
            <a:r>
              <a:rPr lang="en-US"/>
              <a:t>Tốn nhiều bộ nhớ để lưu trữ ma trận tương đồng giữa các item</a:t>
            </a:r>
          </a:p>
          <a:p>
            <a:pPr marL="171450" indent="-171450"/>
            <a:r>
              <a:rPr lang="en-US"/>
              <a:t>Khó mở rộng khi số lượng item lớn</a:t>
            </a:r>
          </a:p>
          <a:p>
            <a:pPr marL="171450" indent="-171450"/>
            <a:r>
              <a:rPr lang="en-US"/>
              <a:t>Hiệu năng giảm trong trường hợp dữ liệu thưa (sparse)</a:t>
            </a:r>
          </a:p>
          <a:p>
            <a:pPr marL="0" indent="0" algn="ctr">
              <a:buNone/>
            </a:pPr>
            <a:br>
              <a:rPr lang="en-US"/>
            </a:br>
            <a:endParaRPr lang="en-US"/>
          </a:p>
          <a:p>
            <a:pPr marL="0" indent="0">
              <a:buNone/>
            </a:pPr>
            <a:r>
              <a:rPr lang="en-US" b="1"/>
              <a:t>2. Model-based Collaborative Filtering</a:t>
            </a:r>
          </a:p>
          <a:p>
            <a:pPr marL="0" indent="0">
              <a:buNone/>
            </a:pPr>
            <a:r>
              <a:rPr lang="en-US" b="1"/>
              <a:t>(Matrix Factorization – MF)</a:t>
            </a:r>
          </a:p>
          <a:p>
            <a:pPr marL="0" indent="0">
              <a:buNone/>
            </a:pPr>
            <a:r>
              <a:rPr lang="en-US"/>
              <a:t>Phương pháp này phân rã ma trận user–item thành các </a:t>
            </a:r>
            <a:r>
              <a:rPr lang="en-US" b="1"/>
              <a:t>vector đặc trưng ẩn (latent features)</a:t>
            </a:r>
            <a:r>
              <a:rPr lang="en-US"/>
              <a:t> đại diện cho người dùng và item.</a:t>
            </a:r>
          </a:p>
          <a:p>
            <a:pPr marL="0" indent="0">
              <a:buNone/>
            </a:pPr>
            <a:r>
              <a:rPr lang="en-US" b="1"/>
              <a:t>Nguyên lý hoạt động:</a:t>
            </a:r>
          </a:p>
          <a:p>
            <a:pPr marL="171450" indent="-171450"/>
            <a:r>
              <a:rPr lang="en-US"/>
              <a:t>Biểu diễn mỗi người dùng và item trong không gian đặc trưng ẩn</a:t>
            </a:r>
          </a:p>
          <a:p>
            <a:pPr marL="171450" indent="-171450"/>
            <a:r>
              <a:rPr lang="en-US"/>
              <a:t>Dự đoán mức độ yêu thích dựa trên tích vô hướng của các vector đặc trưng</a:t>
            </a:r>
          </a:p>
          <a:p>
            <a:pPr marL="0" indent="0">
              <a:buNone/>
            </a:pPr>
            <a:r>
              <a:rPr lang="en-US" b="1"/>
              <a:t>Ưu điểm:</a:t>
            </a:r>
          </a:p>
          <a:p>
            <a:pPr marL="171450" indent="-171450"/>
            <a:r>
              <a:rPr lang="en-US"/>
              <a:t>Khả năng mô hình hóa sở thích người dùng ở mức sâu và trừu tượng hơn so với ItemKNN</a:t>
            </a:r>
          </a:p>
          <a:p>
            <a:pPr marL="171450" indent="-171450"/>
            <a:r>
              <a:rPr lang="en-US"/>
              <a:t>Hiệu quả tốt với dữ liệu thưa</a:t>
            </a:r>
          </a:p>
          <a:p>
            <a:pPr marL="171450" indent="-171450"/>
            <a:r>
              <a:rPr lang="en-US"/>
              <a:t>Dễ tích hợp vào các hệ thống học máy hiện đại</a:t>
            </a:r>
          </a:p>
          <a:p>
            <a:pPr marL="0" indent="0">
              <a:buNone/>
            </a:pPr>
            <a:r>
              <a:rPr lang="en-US" b="1"/>
              <a:t>Nhược điểm:</a:t>
            </a:r>
          </a:p>
          <a:p>
            <a:pPr marL="171450" indent="-171450"/>
            <a:r>
              <a:rPr lang="en-US"/>
              <a:t>Quá trình huấn luyện phức tạp hơn</a:t>
            </a:r>
          </a:p>
          <a:p>
            <a:pPr marL="171450" indent="-171450"/>
            <a:r>
              <a:rPr lang="en-US"/>
              <a:t>Kết quả khó giải thích hơn so với phương pháp memory-based</a:t>
            </a:r>
          </a:p>
          <a:p>
            <a:pPr marL="171450" indent="-171450"/>
            <a:r>
              <a:rPr lang="en-US"/>
              <a:t>Cần điều chỉnh nhiều siêu tham số</a:t>
            </a:r>
          </a:p>
          <a:p>
            <a:pPr marL="0" indent="0" algn="ctr">
              <a:buNone/>
            </a:pPr>
            <a:br>
              <a:rPr lang="en-US"/>
            </a:br>
            <a:endParaRPr lang="en-US"/>
          </a:p>
          <a:p>
            <a:pPr marL="0" indent="0">
              <a:buNone/>
            </a:pPr>
            <a:r>
              <a:rPr lang="en-US" b="1"/>
              <a:t>Hạn chế chung của Collaborative Filtering</a:t>
            </a:r>
          </a:p>
          <a:p>
            <a:pPr marL="0" indent="0">
              <a:buNone/>
            </a:pPr>
            <a:r>
              <a:rPr lang="en-US"/>
              <a:t>Mặc dù hiệu quả trong nhiều hệ thống gợi ý, các phương pháp CF truyền thống vẫn tồn tại một số hạn chế:</a:t>
            </a:r>
          </a:p>
          <a:p>
            <a:pPr marL="171450" indent="-171450"/>
            <a:r>
              <a:rPr lang="en-US"/>
              <a:t>Mang tính </a:t>
            </a:r>
            <a:r>
              <a:rPr lang="en-US" b="1"/>
              <a:t>tĩnh</a:t>
            </a:r>
            <a:r>
              <a:rPr lang="en-US"/>
              <a:t>, không xét đến </a:t>
            </a:r>
            <a:r>
              <a:rPr lang="en-US" b="1"/>
              <a:t>thứ tự thời gian của tương tác</a:t>
            </a:r>
          </a:p>
          <a:p>
            <a:pPr marL="171450" indent="-171450"/>
            <a:r>
              <a:rPr lang="en-US"/>
              <a:t>Không phản ánh kịp thời sự thay đổi sở thích của người dùng</a:t>
            </a:r>
          </a:p>
          <a:p>
            <a:pPr marL="171450" indent="-171450"/>
            <a:r>
              <a:rPr lang="en-US"/>
              <a:t>Gặp khó khăn trong các bài toán có tính ngữ cảnh hoặc hành vi theo chuỗi (sequential behavior)</a:t>
            </a:r>
          </a:p>
          <a:p>
            <a:pPr>
              <a:buNone/>
            </a:pPr>
            <a:endParaRPr lang="en-US" b="1"/>
          </a:p>
          <a:p>
            <a:pPr>
              <a:buNone/>
            </a:pPr>
            <a:r>
              <a:rPr lang="en-US" b="1"/>
              <a:t>1. Matrix Factorization</a:t>
            </a:r>
            <a:endParaRPr lang="en-US"/>
          </a:p>
          <a:p>
            <a:pPr>
              <a:buNone/>
            </a:pPr>
            <a:r>
              <a:rPr lang="en-US" err="1"/>
              <a:t>Đối</a:t>
            </a:r>
            <a:r>
              <a:rPr lang="en-US"/>
              <a:t> </a:t>
            </a:r>
            <a:r>
              <a:rPr lang="en-US" err="1"/>
              <a:t>với</a:t>
            </a:r>
            <a:r>
              <a:rPr lang="en-US"/>
              <a:t> </a:t>
            </a:r>
            <a:r>
              <a:rPr lang="en-US" err="1"/>
              <a:t>phương</a:t>
            </a:r>
            <a:r>
              <a:rPr lang="en-US"/>
              <a:t> </a:t>
            </a:r>
            <a:r>
              <a:rPr lang="en-US" err="1"/>
              <a:t>pháp</a:t>
            </a:r>
            <a:r>
              <a:rPr lang="en-US"/>
              <a:t> Matrix Factorization, </a:t>
            </a:r>
            <a:r>
              <a:rPr lang="en-US" err="1"/>
              <a:t>mô</a:t>
            </a:r>
            <a:r>
              <a:rPr lang="en-US"/>
              <a:t> </a:t>
            </a:r>
            <a:r>
              <a:rPr lang="en-US" err="1"/>
              <a:t>hình</a:t>
            </a:r>
            <a:r>
              <a:rPr lang="en-US"/>
              <a:t> </a:t>
            </a:r>
            <a:r>
              <a:rPr lang="en-US" err="1"/>
              <a:t>được</a:t>
            </a:r>
            <a:r>
              <a:rPr lang="en-US"/>
              <a:t> </a:t>
            </a:r>
            <a:r>
              <a:rPr lang="en-US" err="1"/>
              <a:t>huấn</a:t>
            </a:r>
            <a:r>
              <a:rPr lang="en-US"/>
              <a:t> </a:t>
            </a:r>
            <a:r>
              <a:rPr lang="en-US" err="1"/>
              <a:t>luyện</a:t>
            </a:r>
            <a:r>
              <a:rPr lang="en-US"/>
              <a:t> </a:t>
            </a:r>
            <a:r>
              <a:rPr lang="en-US" err="1"/>
              <a:t>dựa</a:t>
            </a:r>
            <a:r>
              <a:rPr lang="en-US"/>
              <a:t> </a:t>
            </a:r>
            <a:r>
              <a:rPr lang="en-US" err="1"/>
              <a:t>trên</a:t>
            </a:r>
            <a:r>
              <a:rPr lang="en-US"/>
              <a:t> </a:t>
            </a:r>
            <a:r>
              <a:rPr lang="en-US" err="1"/>
              <a:t>việc</a:t>
            </a:r>
            <a:r>
              <a:rPr lang="en-US"/>
              <a:t> </a:t>
            </a:r>
            <a:r>
              <a:rPr lang="en-US" err="1"/>
              <a:t>phân</a:t>
            </a:r>
            <a:r>
              <a:rPr lang="en-US"/>
              <a:t> </a:t>
            </a:r>
            <a:r>
              <a:rPr lang="en-US" err="1"/>
              <a:t>rã</a:t>
            </a:r>
            <a:r>
              <a:rPr lang="en-US"/>
              <a:t> ma </a:t>
            </a:r>
            <a:r>
              <a:rPr lang="en-US" err="1"/>
              <a:t>trận</a:t>
            </a:r>
            <a:r>
              <a:rPr lang="en-US"/>
              <a:t> </a:t>
            </a:r>
            <a:r>
              <a:rPr lang="en-US" err="1"/>
              <a:t>người</a:t>
            </a:r>
            <a:r>
              <a:rPr lang="en-US"/>
              <a:t> </a:t>
            </a:r>
            <a:r>
              <a:rPr lang="en-US" err="1"/>
              <a:t>dùng</a:t>
            </a:r>
            <a:r>
              <a:rPr lang="en-US"/>
              <a:t> – </a:t>
            </a:r>
            <a:r>
              <a:rPr lang="en-US" err="1"/>
              <a:t>sản</a:t>
            </a:r>
            <a:r>
              <a:rPr lang="en-US"/>
              <a:t> </a:t>
            </a:r>
            <a:r>
              <a:rPr lang="en-US" err="1"/>
              <a:t>phẩm</a:t>
            </a:r>
            <a:r>
              <a:rPr lang="en-US"/>
              <a:t> </a:t>
            </a:r>
            <a:r>
              <a:rPr lang="en-US" err="1"/>
              <a:t>thành</a:t>
            </a:r>
            <a:r>
              <a:rPr lang="en-US"/>
              <a:t> </a:t>
            </a:r>
            <a:r>
              <a:rPr lang="en-US" err="1"/>
              <a:t>hai</a:t>
            </a:r>
            <a:r>
              <a:rPr lang="en-US"/>
              <a:t> ma </a:t>
            </a:r>
            <a:r>
              <a:rPr lang="en-US" err="1"/>
              <a:t>trận</a:t>
            </a:r>
            <a:r>
              <a:rPr lang="en-US"/>
              <a:t> </a:t>
            </a:r>
            <a:r>
              <a:rPr lang="en-US" err="1"/>
              <a:t>tiềm</a:t>
            </a:r>
            <a:r>
              <a:rPr lang="en-US"/>
              <a:t> </a:t>
            </a:r>
            <a:r>
              <a:rPr lang="en-US" err="1"/>
              <a:t>ẩn</a:t>
            </a:r>
            <a:r>
              <a:rPr lang="en-US"/>
              <a:t>. Các </a:t>
            </a:r>
            <a:r>
              <a:rPr lang="en-US" err="1"/>
              <a:t>tham</a:t>
            </a:r>
            <a:r>
              <a:rPr lang="en-US"/>
              <a:t> </a:t>
            </a:r>
            <a:r>
              <a:rPr lang="en-US" err="1"/>
              <a:t>số</a:t>
            </a:r>
            <a:r>
              <a:rPr lang="en-US"/>
              <a:t> </a:t>
            </a:r>
            <a:r>
              <a:rPr lang="en-US" err="1"/>
              <a:t>chính</a:t>
            </a:r>
            <a:r>
              <a:rPr lang="en-US"/>
              <a:t> </a:t>
            </a:r>
            <a:r>
              <a:rPr lang="en-US" err="1"/>
              <a:t>gồm</a:t>
            </a:r>
            <a:r>
              <a:rPr lang="en-US"/>
              <a:t>:</a:t>
            </a:r>
          </a:p>
          <a:p>
            <a:pPr>
              <a:buNone/>
            </a:pPr>
            <a:r>
              <a:rPr lang="en-US"/>
              <a:t>•    </a:t>
            </a:r>
            <a:r>
              <a:rPr lang="en-US" err="1"/>
              <a:t>n_factors</a:t>
            </a:r>
            <a:r>
              <a:rPr lang="en-US"/>
              <a:t> = 50: </a:t>
            </a:r>
            <a:r>
              <a:rPr lang="en-US" err="1"/>
              <a:t>số</a:t>
            </a:r>
            <a:r>
              <a:rPr lang="en-US"/>
              <a:t> </a:t>
            </a:r>
            <a:r>
              <a:rPr lang="en-US" err="1"/>
              <a:t>chiều</a:t>
            </a:r>
            <a:r>
              <a:rPr lang="en-US"/>
              <a:t> </a:t>
            </a:r>
            <a:r>
              <a:rPr lang="en-US" err="1"/>
              <a:t>không</a:t>
            </a:r>
            <a:r>
              <a:rPr lang="en-US"/>
              <a:t> </a:t>
            </a:r>
            <a:r>
              <a:rPr lang="en-US" err="1"/>
              <a:t>gian</a:t>
            </a:r>
            <a:r>
              <a:rPr lang="en-US"/>
              <a:t> latent </a:t>
            </a:r>
            <a:r>
              <a:rPr lang="en-US" err="1"/>
              <a:t>để</a:t>
            </a:r>
            <a:r>
              <a:rPr lang="en-US"/>
              <a:t> </a:t>
            </a:r>
            <a:r>
              <a:rPr lang="en-US" err="1"/>
              <a:t>biểu</a:t>
            </a:r>
            <a:r>
              <a:rPr lang="en-US"/>
              <a:t> </a:t>
            </a:r>
            <a:r>
              <a:rPr lang="en-US" err="1"/>
              <a:t>diễn</a:t>
            </a:r>
            <a:r>
              <a:rPr lang="en-US"/>
              <a:t> </a:t>
            </a:r>
            <a:r>
              <a:rPr lang="en-US" err="1"/>
              <a:t>người</a:t>
            </a:r>
            <a:r>
              <a:rPr lang="en-US"/>
              <a:t> </a:t>
            </a:r>
            <a:r>
              <a:rPr lang="en-US" err="1"/>
              <a:t>dùng</a:t>
            </a:r>
            <a:r>
              <a:rPr lang="en-US"/>
              <a:t> </a:t>
            </a:r>
            <a:r>
              <a:rPr lang="en-US" err="1"/>
              <a:t>và</a:t>
            </a:r>
            <a:r>
              <a:rPr lang="en-US"/>
              <a:t> item.</a:t>
            </a:r>
          </a:p>
          <a:p>
            <a:pPr>
              <a:buNone/>
            </a:pPr>
            <a:r>
              <a:rPr lang="en-US"/>
              <a:t>•    </a:t>
            </a:r>
            <a:r>
              <a:rPr lang="en-US" err="1"/>
              <a:t>learning_rate</a:t>
            </a:r>
            <a:r>
              <a:rPr lang="en-US"/>
              <a:t> = 0.001: </a:t>
            </a:r>
            <a:r>
              <a:rPr lang="en-US" err="1"/>
              <a:t>tốc</a:t>
            </a:r>
            <a:r>
              <a:rPr lang="en-US"/>
              <a:t> </a:t>
            </a:r>
            <a:r>
              <a:rPr lang="en-US" err="1"/>
              <a:t>độ</a:t>
            </a:r>
            <a:r>
              <a:rPr lang="en-US"/>
              <a:t> </a:t>
            </a:r>
            <a:r>
              <a:rPr lang="en-US" err="1"/>
              <a:t>học</a:t>
            </a:r>
            <a:r>
              <a:rPr lang="en-US"/>
              <a:t> </a:t>
            </a:r>
            <a:r>
              <a:rPr lang="en-US" err="1"/>
              <a:t>tối</a:t>
            </a:r>
            <a:r>
              <a:rPr lang="en-US"/>
              <a:t> </a:t>
            </a:r>
            <a:r>
              <a:rPr lang="en-US" err="1"/>
              <a:t>ưu</a:t>
            </a:r>
            <a:r>
              <a:rPr lang="en-US"/>
              <a:t> </a:t>
            </a:r>
            <a:r>
              <a:rPr lang="en-US" err="1"/>
              <a:t>để</a:t>
            </a:r>
            <a:r>
              <a:rPr lang="en-US"/>
              <a:t> </a:t>
            </a:r>
            <a:r>
              <a:rPr lang="en-US" err="1"/>
              <a:t>tránh</a:t>
            </a:r>
            <a:r>
              <a:rPr lang="en-US"/>
              <a:t> </a:t>
            </a:r>
            <a:r>
              <a:rPr lang="en-US" err="1"/>
              <a:t>học</a:t>
            </a:r>
            <a:r>
              <a:rPr lang="en-US"/>
              <a:t> </a:t>
            </a:r>
            <a:r>
              <a:rPr lang="en-US" err="1"/>
              <a:t>quá</a:t>
            </a:r>
            <a:r>
              <a:rPr lang="en-US"/>
              <a:t> </a:t>
            </a:r>
            <a:r>
              <a:rPr lang="en-US" err="1"/>
              <a:t>nhanh</a:t>
            </a:r>
            <a:r>
              <a:rPr lang="en-US"/>
              <a:t> </a:t>
            </a:r>
            <a:r>
              <a:rPr lang="en-US" err="1"/>
              <a:t>hoặc</a:t>
            </a:r>
            <a:r>
              <a:rPr lang="en-US"/>
              <a:t> </a:t>
            </a:r>
            <a:r>
              <a:rPr lang="en-US" err="1"/>
              <a:t>quá</a:t>
            </a:r>
            <a:r>
              <a:rPr lang="en-US"/>
              <a:t> </a:t>
            </a:r>
            <a:r>
              <a:rPr lang="en-US" err="1"/>
              <a:t>chậm</a:t>
            </a:r>
            <a:r>
              <a:rPr lang="en-US"/>
              <a:t>.</a:t>
            </a:r>
          </a:p>
          <a:p>
            <a:pPr>
              <a:buNone/>
            </a:pPr>
            <a:r>
              <a:rPr lang="en-US"/>
              <a:t>•    </a:t>
            </a:r>
            <a:r>
              <a:rPr lang="en-US" err="1"/>
              <a:t>batch_size</a:t>
            </a:r>
            <a:r>
              <a:rPr lang="en-US"/>
              <a:t> = 256: </a:t>
            </a:r>
            <a:r>
              <a:rPr lang="en-US" err="1"/>
              <a:t>kích</a:t>
            </a:r>
            <a:r>
              <a:rPr lang="en-US"/>
              <a:t> </a:t>
            </a:r>
            <a:r>
              <a:rPr lang="en-US" err="1"/>
              <a:t>thước</a:t>
            </a:r>
            <a:r>
              <a:rPr lang="en-US"/>
              <a:t> </a:t>
            </a:r>
            <a:r>
              <a:rPr lang="en-US" err="1"/>
              <a:t>mỗi</a:t>
            </a:r>
            <a:r>
              <a:rPr lang="en-US"/>
              <a:t> </a:t>
            </a:r>
            <a:r>
              <a:rPr lang="en-US" err="1"/>
              <a:t>lô</a:t>
            </a:r>
            <a:r>
              <a:rPr lang="en-US"/>
              <a:t> </a:t>
            </a:r>
            <a:r>
              <a:rPr lang="en-US" err="1"/>
              <a:t>dữ</a:t>
            </a:r>
            <a:r>
              <a:rPr lang="en-US"/>
              <a:t> </a:t>
            </a:r>
            <a:r>
              <a:rPr lang="en-US" err="1"/>
              <a:t>liệu</a:t>
            </a:r>
            <a:r>
              <a:rPr lang="en-US"/>
              <a:t> </a:t>
            </a:r>
            <a:r>
              <a:rPr lang="en-US" err="1"/>
              <a:t>trong</a:t>
            </a:r>
            <a:r>
              <a:rPr lang="en-US"/>
              <a:t> </a:t>
            </a:r>
            <a:r>
              <a:rPr lang="en-US" err="1"/>
              <a:t>quá</a:t>
            </a:r>
            <a:r>
              <a:rPr lang="en-US"/>
              <a:t> </a:t>
            </a:r>
            <a:r>
              <a:rPr lang="en-US" err="1"/>
              <a:t>trình</a:t>
            </a:r>
            <a:r>
              <a:rPr lang="en-US"/>
              <a:t> </a:t>
            </a:r>
            <a:r>
              <a:rPr lang="en-US" err="1"/>
              <a:t>huấn</a:t>
            </a:r>
            <a:r>
              <a:rPr lang="en-US"/>
              <a:t> </a:t>
            </a:r>
            <a:r>
              <a:rPr lang="en-US" err="1"/>
              <a:t>luyện</a:t>
            </a:r>
            <a:r>
              <a:rPr lang="en-US"/>
              <a:t>.</a:t>
            </a:r>
          </a:p>
          <a:p>
            <a:pPr>
              <a:buNone/>
            </a:pPr>
            <a:r>
              <a:rPr lang="en-US"/>
              <a:t>•    epochs = 50: </a:t>
            </a:r>
            <a:r>
              <a:rPr lang="en-US" err="1"/>
              <a:t>số</a:t>
            </a:r>
            <a:r>
              <a:rPr lang="en-US"/>
              <a:t> </a:t>
            </a:r>
            <a:r>
              <a:rPr lang="en-US" err="1"/>
              <a:t>vòng</a:t>
            </a:r>
            <a:r>
              <a:rPr lang="en-US"/>
              <a:t> </a:t>
            </a:r>
            <a:r>
              <a:rPr lang="en-US" err="1"/>
              <a:t>lặp</a:t>
            </a:r>
            <a:r>
              <a:rPr lang="en-US"/>
              <a:t> </a:t>
            </a:r>
            <a:r>
              <a:rPr lang="en-US" err="1"/>
              <a:t>huấn</a:t>
            </a:r>
            <a:r>
              <a:rPr lang="en-US"/>
              <a:t> </a:t>
            </a:r>
            <a:r>
              <a:rPr lang="en-US" err="1"/>
              <a:t>luyện</a:t>
            </a:r>
            <a:r>
              <a:rPr lang="en-US"/>
              <a:t> </a:t>
            </a:r>
            <a:r>
              <a:rPr lang="en-US" err="1"/>
              <a:t>toàn</a:t>
            </a:r>
            <a:r>
              <a:rPr lang="en-US"/>
              <a:t> </a:t>
            </a:r>
            <a:r>
              <a:rPr lang="en-US" err="1"/>
              <a:t>bộ</a:t>
            </a:r>
            <a:r>
              <a:rPr lang="en-US"/>
              <a:t> </a:t>
            </a:r>
            <a:r>
              <a:rPr lang="en-US" err="1"/>
              <a:t>tập</a:t>
            </a:r>
            <a:r>
              <a:rPr lang="en-US"/>
              <a:t> </a:t>
            </a:r>
            <a:r>
              <a:rPr lang="en-US" err="1"/>
              <a:t>dữ</a:t>
            </a:r>
            <a:r>
              <a:rPr lang="en-US"/>
              <a:t> </a:t>
            </a:r>
            <a:r>
              <a:rPr lang="en-US" err="1"/>
              <a:t>liệu</a:t>
            </a:r>
            <a:r>
              <a:rPr lang="en-US"/>
              <a:t>.</a:t>
            </a:r>
          </a:p>
          <a:p>
            <a:pPr>
              <a:buNone/>
            </a:pPr>
            <a:r>
              <a:rPr lang="en-US"/>
              <a:t>•    regularization = 0.1: </a:t>
            </a:r>
            <a:r>
              <a:rPr lang="en-US" err="1"/>
              <a:t>hệ</a:t>
            </a:r>
            <a:r>
              <a:rPr lang="en-US"/>
              <a:t> </a:t>
            </a:r>
            <a:r>
              <a:rPr lang="en-US" err="1"/>
              <a:t>số</a:t>
            </a:r>
            <a:r>
              <a:rPr lang="en-US"/>
              <a:t> </a:t>
            </a:r>
            <a:r>
              <a:rPr lang="en-US" err="1"/>
              <a:t>phạt</a:t>
            </a:r>
            <a:r>
              <a:rPr lang="en-US"/>
              <a:t> </a:t>
            </a:r>
            <a:r>
              <a:rPr lang="en-US" err="1"/>
              <a:t>nhằm</a:t>
            </a:r>
            <a:r>
              <a:rPr lang="en-US"/>
              <a:t> </a:t>
            </a:r>
            <a:r>
              <a:rPr lang="en-US" err="1"/>
              <a:t>hạn</a:t>
            </a:r>
            <a:r>
              <a:rPr lang="en-US"/>
              <a:t> </a:t>
            </a:r>
            <a:r>
              <a:rPr lang="en-US" err="1"/>
              <a:t>chế</a:t>
            </a:r>
            <a:r>
              <a:rPr lang="en-US"/>
              <a:t> overfitting.</a:t>
            </a:r>
          </a:p>
          <a:p>
            <a:pPr>
              <a:buNone/>
            </a:pPr>
            <a:r>
              <a:rPr lang="en-US" err="1"/>
              <a:t>Mục</a:t>
            </a:r>
            <a:r>
              <a:rPr lang="en-US"/>
              <a:t> </a:t>
            </a:r>
            <a:r>
              <a:rPr lang="en-US" err="1"/>
              <a:t>tiêu</a:t>
            </a:r>
            <a:r>
              <a:rPr lang="en-US"/>
              <a:t> </a:t>
            </a:r>
            <a:r>
              <a:rPr lang="en-US" err="1"/>
              <a:t>của</a:t>
            </a:r>
            <a:r>
              <a:rPr lang="en-US"/>
              <a:t> </a:t>
            </a:r>
            <a:r>
              <a:rPr lang="en-US" err="1"/>
              <a:t>cấu</a:t>
            </a:r>
            <a:r>
              <a:rPr lang="en-US"/>
              <a:t> </a:t>
            </a:r>
            <a:r>
              <a:rPr lang="en-US" err="1"/>
              <a:t>hình</a:t>
            </a:r>
            <a:r>
              <a:rPr lang="en-US"/>
              <a:t> </a:t>
            </a:r>
            <a:r>
              <a:rPr lang="en-US" err="1"/>
              <a:t>này</a:t>
            </a:r>
            <a:r>
              <a:rPr lang="en-US"/>
              <a:t> </a:t>
            </a:r>
            <a:r>
              <a:rPr lang="en-US" err="1"/>
              <a:t>là</a:t>
            </a:r>
            <a:r>
              <a:rPr lang="en-US"/>
              <a:t> </a:t>
            </a:r>
            <a:r>
              <a:rPr lang="en-US" err="1"/>
              <a:t>cân</a:t>
            </a:r>
            <a:r>
              <a:rPr lang="en-US"/>
              <a:t> </a:t>
            </a:r>
            <a:r>
              <a:rPr lang="en-US" err="1"/>
              <a:t>bằng</a:t>
            </a:r>
            <a:r>
              <a:rPr lang="en-US"/>
              <a:t> </a:t>
            </a:r>
            <a:r>
              <a:rPr lang="en-US" err="1"/>
              <a:t>giữa</a:t>
            </a:r>
            <a:r>
              <a:rPr lang="en-US"/>
              <a:t> </a:t>
            </a:r>
            <a:r>
              <a:rPr lang="en-US" err="1"/>
              <a:t>chất</a:t>
            </a:r>
            <a:r>
              <a:rPr lang="en-US"/>
              <a:t> </a:t>
            </a:r>
            <a:r>
              <a:rPr lang="en-US" err="1"/>
              <a:t>lượng</a:t>
            </a:r>
            <a:r>
              <a:rPr lang="en-US"/>
              <a:t> </a:t>
            </a:r>
            <a:r>
              <a:rPr lang="en-US" err="1"/>
              <a:t>dự</a:t>
            </a:r>
            <a:r>
              <a:rPr lang="en-US"/>
              <a:t> </a:t>
            </a:r>
            <a:r>
              <a:rPr lang="en-US" err="1"/>
              <a:t>đoán</a:t>
            </a:r>
            <a:r>
              <a:rPr lang="en-US"/>
              <a:t> </a:t>
            </a:r>
            <a:r>
              <a:rPr lang="en-US" err="1"/>
              <a:t>và</a:t>
            </a:r>
            <a:r>
              <a:rPr lang="en-US"/>
              <a:t> </a:t>
            </a:r>
            <a:r>
              <a:rPr lang="en-US" err="1"/>
              <a:t>thời</a:t>
            </a:r>
            <a:r>
              <a:rPr lang="en-US"/>
              <a:t> </a:t>
            </a:r>
            <a:r>
              <a:rPr lang="en-US" err="1"/>
              <a:t>gian</a:t>
            </a:r>
            <a:r>
              <a:rPr lang="en-US"/>
              <a:t> </a:t>
            </a:r>
            <a:r>
              <a:rPr lang="en-US" err="1"/>
              <a:t>huấn</a:t>
            </a:r>
            <a:r>
              <a:rPr lang="en-US"/>
              <a:t> </a:t>
            </a:r>
            <a:r>
              <a:rPr lang="en-US" err="1"/>
              <a:t>luyện</a:t>
            </a:r>
            <a:r>
              <a:rPr lang="en-US"/>
              <a:t>.</a:t>
            </a:r>
          </a:p>
          <a:p>
            <a:pPr>
              <a:buNone/>
            </a:pPr>
            <a:r>
              <a:rPr lang="en-US" b="1"/>
              <a:t>2. Collaborative Filtering</a:t>
            </a:r>
          </a:p>
          <a:p>
            <a:pPr>
              <a:buNone/>
            </a:pPr>
            <a:r>
              <a:rPr lang="en-US" err="1"/>
              <a:t>Với</a:t>
            </a:r>
            <a:r>
              <a:rPr lang="en-US"/>
              <a:t> </a:t>
            </a:r>
            <a:r>
              <a:rPr lang="en-US" err="1"/>
              <a:t>phương</a:t>
            </a:r>
            <a:r>
              <a:rPr lang="en-US"/>
              <a:t> </a:t>
            </a:r>
            <a:r>
              <a:rPr lang="en-US" err="1"/>
              <a:t>pháp</a:t>
            </a:r>
            <a:r>
              <a:rPr lang="en-US"/>
              <a:t> </a:t>
            </a:r>
            <a:r>
              <a:rPr lang="en-US" err="1"/>
              <a:t>lọc</a:t>
            </a:r>
            <a:r>
              <a:rPr lang="en-US"/>
              <a:t> </a:t>
            </a:r>
            <a:r>
              <a:rPr lang="en-US" err="1"/>
              <a:t>cộng</a:t>
            </a:r>
            <a:r>
              <a:rPr lang="en-US"/>
              <a:t> </a:t>
            </a:r>
            <a:r>
              <a:rPr lang="en-US" err="1"/>
              <a:t>tác</a:t>
            </a:r>
            <a:r>
              <a:rPr lang="en-US"/>
              <a:t>, </a:t>
            </a:r>
            <a:r>
              <a:rPr lang="en-US" err="1"/>
              <a:t>mô</a:t>
            </a:r>
            <a:r>
              <a:rPr lang="en-US"/>
              <a:t> </a:t>
            </a:r>
            <a:r>
              <a:rPr lang="en-US" err="1"/>
              <a:t>hình</a:t>
            </a:r>
            <a:r>
              <a:rPr lang="en-US"/>
              <a:t> </a:t>
            </a:r>
            <a:r>
              <a:rPr lang="en-US" err="1"/>
              <a:t>dựa</a:t>
            </a:r>
            <a:r>
              <a:rPr lang="en-US"/>
              <a:t> </a:t>
            </a:r>
            <a:r>
              <a:rPr lang="en-US" err="1"/>
              <a:t>trên</a:t>
            </a:r>
            <a:r>
              <a:rPr lang="en-US"/>
              <a:t> </a:t>
            </a:r>
            <a:r>
              <a:rPr lang="en-US" err="1"/>
              <a:t>việc</a:t>
            </a:r>
            <a:r>
              <a:rPr lang="en-US"/>
              <a:t> </a:t>
            </a:r>
            <a:r>
              <a:rPr lang="en-US" err="1"/>
              <a:t>tìm</a:t>
            </a:r>
            <a:r>
              <a:rPr lang="en-US"/>
              <a:t> </a:t>
            </a:r>
            <a:r>
              <a:rPr lang="en-US" err="1"/>
              <a:t>các</a:t>
            </a:r>
            <a:r>
              <a:rPr lang="en-US"/>
              <a:t> </a:t>
            </a:r>
            <a:r>
              <a:rPr lang="en-US" err="1"/>
              <a:t>tập</a:t>
            </a:r>
            <a:r>
              <a:rPr lang="en-US"/>
              <a:t> </a:t>
            </a:r>
            <a:r>
              <a:rPr lang="en-US" err="1"/>
              <a:t>người</a:t>
            </a:r>
            <a:r>
              <a:rPr lang="en-US"/>
              <a:t> </a:t>
            </a:r>
            <a:r>
              <a:rPr lang="en-US" err="1"/>
              <a:t>dùng</a:t>
            </a:r>
            <a:r>
              <a:rPr lang="en-US"/>
              <a:t> </a:t>
            </a:r>
            <a:r>
              <a:rPr lang="en-US" err="1"/>
              <a:t>hoặc</a:t>
            </a:r>
            <a:r>
              <a:rPr lang="en-US"/>
              <a:t> </a:t>
            </a:r>
            <a:r>
              <a:rPr lang="en-US" err="1"/>
              <a:t>sản</a:t>
            </a:r>
            <a:r>
              <a:rPr lang="en-US"/>
              <a:t> </a:t>
            </a:r>
            <a:r>
              <a:rPr lang="en-US" err="1"/>
              <a:t>phẩm</a:t>
            </a:r>
            <a:r>
              <a:rPr lang="en-US"/>
              <a:t> </a:t>
            </a:r>
            <a:r>
              <a:rPr lang="en-US" err="1"/>
              <a:t>có</a:t>
            </a:r>
            <a:r>
              <a:rPr lang="en-US"/>
              <a:t> </a:t>
            </a:r>
            <a:r>
              <a:rPr lang="en-US" err="1"/>
              <a:t>đặc</a:t>
            </a:r>
            <a:r>
              <a:rPr lang="en-US"/>
              <a:t> </a:t>
            </a:r>
            <a:r>
              <a:rPr lang="en-US" err="1"/>
              <a:t>điểm</a:t>
            </a:r>
            <a:r>
              <a:rPr lang="en-US"/>
              <a:t> </a:t>
            </a:r>
            <a:r>
              <a:rPr lang="en-US" err="1"/>
              <a:t>tương</a:t>
            </a:r>
            <a:r>
              <a:rPr lang="en-US"/>
              <a:t> </a:t>
            </a:r>
            <a:r>
              <a:rPr lang="en-US" err="1"/>
              <a:t>đồng</a:t>
            </a:r>
            <a:r>
              <a:rPr lang="en-US"/>
              <a:t>.</a:t>
            </a:r>
          </a:p>
          <a:p>
            <a:pPr>
              <a:buNone/>
            </a:pPr>
            <a:r>
              <a:rPr lang="en-US" err="1"/>
              <a:t>Cấu</a:t>
            </a:r>
            <a:r>
              <a:rPr lang="en-US"/>
              <a:t> </a:t>
            </a:r>
            <a:r>
              <a:rPr lang="en-US" err="1"/>
              <a:t>hình</a:t>
            </a:r>
            <a:r>
              <a:rPr lang="en-US"/>
              <a:t> </a:t>
            </a:r>
            <a:r>
              <a:rPr lang="en-US" err="1"/>
              <a:t>chính</a:t>
            </a:r>
            <a:r>
              <a:rPr lang="en-US"/>
              <a:t> bao </a:t>
            </a:r>
            <a:r>
              <a:rPr lang="en-US" err="1"/>
              <a:t>gồm</a:t>
            </a:r>
            <a:r>
              <a:rPr lang="en-US"/>
              <a:t>:</a:t>
            </a:r>
          </a:p>
          <a:p>
            <a:pPr>
              <a:buNone/>
            </a:pPr>
            <a:r>
              <a:rPr lang="en-US"/>
              <a:t>•    </a:t>
            </a:r>
            <a:r>
              <a:rPr lang="en-US" err="1"/>
              <a:t>cf_type</a:t>
            </a:r>
            <a:r>
              <a:rPr lang="en-US"/>
              <a:t> = </a:t>
            </a:r>
            <a:r>
              <a:rPr lang="en-US" err="1"/>
              <a:t>user_based</a:t>
            </a:r>
            <a:r>
              <a:rPr lang="en-US"/>
              <a:t>: </a:t>
            </a:r>
            <a:r>
              <a:rPr lang="en-US" err="1"/>
              <a:t>mô</a:t>
            </a:r>
            <a:r>
              <a:rPr lang="en-US"/>
              <a:t> </a:t>
            </a:r>
            <a:r>
              <a:rPr lang="en-US" err="1"/>
              <a:t>hình</a:t>
            </a:r>
            <a:r>
              <a:rPr lang="en-US"/>
              <a:t> </a:t>
            </a:r>
            <a:r>
              <a:rPr lang="en-US" err="1"/>
              <a:t>dựa</a:t>
            </a:r>
            <a:r>
              <a:rPr lang="en-US"/>
              <a:t> </a:t>
            </a:r>
            <a:r>
              <a:rPr lang="en-US" err="1"/>
              <a:t>trên</a:t>
            </a:r>
            <a:r>
              <a:rPr lang="en-US"/>
              <a:t> </a:t>
            </a:r>
            <a:r>
              <a:rPr lang="en-US" err="1"/>
              <a:t>tương</a:t>
            </a:r>
            <a:r>
              <a:rPr lang="en-US"/>
              <a:t> </a:t>
            </a:r>
            <a:r>
              <a:rPr lang="en-US" err="1"/>
              <a:t>đồng</a:t>
            </a:r>
            <a:r>
              <a:rPr lang="en-US"/>
              <a:t> </a:t>
            </a:r>
            <a:r>
              <a:rPr lang="en-US" err="1"/>
              <a:t>người</a:t>
            </a:r>
            <a:r>
              <a:rPr lang="en-US"/>
              <a:t> </a:t>
            </a:r>
            <a:r>
              <a:rPr lang="en-US" err="1"/>
              <a:t>dùng</a:t>
            </a:r>
            <a:r>
              <a:rPr lang="en-US"/>
              <a:t>.</a:t>
            </a:r>
          </a:p>
          <a:p>
            <a:pPr>
              <a:buNone/>
            </a:pPr>
            <a:r>
              <a:rPr lang="en-US"/>
              <a:t>•    </a:t>
            </a:r>
            <a:r>
              <a:rPr lang="en-US" err="1"/>
              <a:t>similarity_method</a:t>
            </a:r>
            <a:r>
              <a:rPr lang="en-US"/>
              <a:t> = </a:t>
            </a:r>
            <a:r>
              <a:rPr lang="en-US" err="1"/>
              <a:t>pearson</a:t>
            </a:r>
            <a:r>
              <a:rPr lang="en-US"/>
              <a:t>: </a:t>
            </a:r>
            <a:r>
              <a:rPr lang="en-US" err="1"/>
              <a:t>sử</a:t>
            </a:r>
            <a:r>
              <a:rPr lang="en-US"/>
              <a:t> </a:t>
            </a:r>
            <a:r>
              <a:rPr lang="en-US" err="1"/>
              <a:t>dụng</a:t>
            </a:r>
            <a:r>
              <a:rPr lang="en-US"/>
              <a:t> </a:t>
            </a:r>
            <a:r>
              <a:rPr lang="en-US" err="1"/>
              <a:t>hệ</a:t>
            </a:r>
            <a:r>
              <a:rPr lang="en-US"/>
              <a:t> </a:t>
            </a:r>
            <a:r>
              <a:rPr lang="en-US" err="1"/>
              <a:t>số</a:t>
            </a:r>
            <a:r>
              <a:rPr lang="en-US"/>
              <a:t> </a:t>
            </a:r>
            <a:r>
              <a:rPr lang="en-US" err="1"/>
              <a:t>tương</a:t>
            </a:r>
            <a:r>
              <a:rPr lang="en-US"/>
              <a:t> </a:t>
            </a:r>
            <a:r>
              <a:rPr lang="en-US" err="1"/>
              <a:t>quan</a:t>
            </a:r>
            <a:r>
              <a:rPr lang="en-US"/>
              <a:t> Pearson </a:t>
            </a:r>
            <a:r>
              <a:rPr lang="en-US" err="1"/>
              <a:t>để</a:t>
            </a:r>
            <a:r>
              <a:rPr lang="en-US"/>
              <a:t> </a:t>
            </a:r>
            <a:r>
              <a:rPr lang="en-US" err="1"/>
              <a:t>tính</a:t>
            </a:r>
            <a:r>
              <a:rPr lang="en-US"/>
              <a:t> </a:t>
            </a:r>
            <a:r>
              <a:rPr lang="en-US" err="1"/>
              <a:t>mức</a:t>
            </a:r>
            <a:r>
              <a:rPr lang="en-US"/>
              <a:t> </a:t>
            </a:r>
            <a:r>
              <a:rPr lang="en-US" err="1"/>
              <a:t>độ</a:t>
            </a:r>
            <a:r>
              <a:rPr lang="en-US"/>
              <a:t> </a:t>
            </a:r>
            <a:r>
              <a:rPr lang="en-US" err="1"/>
              <a:t>giống</a:t>
            </a:r>
            <a:r>
              <a:rPr lang="en-US"/>
              <a:t> </a:t>
            </a:r>
            <a:r>
              <a:rPr lang="en-US" err="1"/>
              <a:t>nhau</a:t>
            </a:r>
            <a:r>
              <a:rPr lang="en-US"/>
              <a:t>.</a:t>
            </a:r>
          </a:p>
          <a:p>
            <a:pPr>
              <a:buNone/>
            </a:pPr>
            <a:r>
              <a:rPr lang="en-US"/>
              <a:t>•    </a:t>
            </a:r>
            <a:r>
              <a:rPr lang="en-US" err="1"/>
              <a:t>k_neighbors</a:t>
            </a:r>
            <a:r>
              <a:rPr lang="en-US"/>
              <a:t> = 50: </a:t>
            </a:r>
            <a:r>
              <a:rPr lang="en-US" err="1"/>
              <a:t>số</a:t>
            </a:r>
            <a:r>
              <a:rPr lang="en-US"/>
              <a:t> </a:t>
            </a:r>
            <a:r>
              <a:rPr lang="en-US" err="1"/>
              <a:t>lượng</a:t>
            </a:r>
            <a:r>
              <a:rPr lang="en-US"/>
              <a:t> </a:t>
            </a:r>
            <a:r>
              <a:rPr lang="en-US" err="1"/>
              <a:t>hàng</a:t>
            </a:r>
            <a:r>
              <a:rPr lang="en-US"/>
              <a:t> </a:t>
            </a:r>
            <a:r>
              <a:rPr lang="en-US" err="1"/>
              <a:t>xóm</a:t>
            </a:r>
            <a:r>
              <a:rPr lang="en-US"/>
              <a:t> </a:t>
            </a:r>
            <a:r>
              <a:rPr lang="en-US" err="1"/>
              <a:t>gần</a:t>
            </a:r>
            <a:r>
              <a:rPr lang="en-US"/>
              <a:t> </a:t>
            </a:r>
            <a:r>
              <a:rPr lang="en-US" err="1"/>
              <a:t>nhất</a:t>
            </a:r>
            <a:r>
              <a:rPr lang="en-US"/>
              <a:t> </a:t>
            </a:r>
            <a:r>
              <a:rPr lang="en-US" err="1"/>
              <a:t>được</a:t>
            </a:r>
            <a:r>
              <a:rPr lang="en-US"/>
              <a:t> </a:t>
            </a:r>
            <a:r>
              <a:rPr lang="en-US" err="1"/>
              <a:t>xem</a:t>
            </a:r>
            <a:r>
              <a:rPr lang="en-US"/>
              <a:t> </a:t>
            </a:r>
            <a:r>
              <a:rPr lang="en-US" err="1"/>
              <a:t>xét</a:t>
            </a:r>
            <a:r>
              <a:rPr lang="en-US"/>
              <a:t> </a:t>
            </a:r>
            <a:r>
              <a:rPr lang="en-US" err="1"/>
              <a:t>trong</a:t>
            </a:r>
            <a:r>
              <a:rPr lang="en-US"/>
              <a:t> </a:t>
            </a:r>
            <a:r>
              <a:rPr lang="en-US" err="1"/>
              <a:t>quá</a:t>
            </a:r>
            <a:r>
              <a:rPr lang="en-US"/>
              <a:t> </a:t>
            </a:r>
            <a:r>
              <a:rPr lang="en-US" err="1"/>
              <a:t>trình</a:t>
            </a:r>
            <a:r>
              <a:rPr lang="en-US"/>
              <a:t> </a:t>
            </a:r>
            <a:r>
              <a:rPr lang="en-US" err="1"/>
              <a:t>dự</a:t>
            </a:r>
            <a:r>
              <a:rPr lang="en-US"/>
              <a:t> </a:t>
            </a:r>
            <a:r>
              <a:rPr lang="en-US" err="1"/>
              <a:t>đoán</a:t>
            </a:r>
            <a:r>
              <a:rPr lang="en-US"/>
              <a:t>.</a:t>
            </a:r>
          </a:p>
          <a:p>
            <a:pPr>
              <a:buNone/>
            </a:pPr>
            <a:r>
              <a:rPr lang="en-US"/>
              <a:t>•    </a:t>
            </a:r>
            <a:r>
              <a:rPr lang="en-US" err="1"/>
              <a:t>min_common_items</a:t>
            </a:r>
            <a:r>
              <a:rPr lang="en-US"/>
              <a:t> = 5: </a:t>
            </a:r>
            <a:r>
              <a:rPr lang="en-US" err="1"/>
              <a:t>yêu</a:t>
            </a:r>
            <a:r>
              <a:rPr lang="en-US"/>
              <a:t> </a:t>
            </a:r>
            <a:r>
              <a:rPr lang="en-US" err="1"/>
              <a:t>cầu</a:t>
            </a:r>
            <a:r>
              <a:rPr lang="en-US"/>
              <a:t> </a:t>
            </a:r>
            <a:r>
              <a:rPr lang="en-US" err="1"/>
              <a:t>tối</a:t>
            </a:r>
            <a:r>
              <a:rPr lang="en-US"/>
              <a:t> </a:t>
            </a:r>
            <a:r>
              <a:rPr lang="en-US" err="1"/>
              <a:t>thiểu</a:t>
            </a:r>
            <a:r>
              <a:rPr lang="en-US"/>
              <a:t> 5 items </a:t>
            </a:r>
            <a:r>
              <a:rPr lang="en-US" err="1"/>
              <a:t>chung</a:t>
            </a:r>
            <a:r>
              <a:rPr lang="en-US"/>
              <a:t> </a:t>
            </a:r>
            <a:r>
              <a:rPr lang="en-US" err="1"/>
              <a:t>để</a:t>
            </a:r>
            <a:r>
              <a:rPr lang="en-US"/>
              <a:t> </a:t>
            </a:r>
            <a:r>
              <a:rPr lang="en-US" err="1"/>
              <a:t>tính</a:t>
            </a:r>
            <a:r>
              <a:rPr lang="en-US"/>
              <a:t> similarity.</a:t>
            </a:r>
          </a:p>
          <a:p>
            <a:pPr>
              <a:buNone/>
            </a:pPr>
            <a:r>
              <a:rPr lang="en-US"/>
              <a:t>•    </a:t>
            </a:r>
            <a:r>
              <a:rPr lang="en-US" err="1"/>
              <a:t>min_common_users</a:t>
            </a:r>
            <a:r>
              <a:rPr lang="en-US"/>
              <a:t> = 2: </a:t>
            </a:r>
            <a:r>
              <a:rPr lang="en-US" err="1"/>
              <a:t>yêu</a:t>
            </a:r>
            <a:r>
              <a:rPr lang="en-US"/>
              <a:t> </a:t>
            </a:r>
            <a:r>
              <a:rPr lang="en-US" err="1"/>
              <a:t>cầu</a:t>
            </a:r>
            <a:r>
              <a:rPr lang="en-US"/>
              <a:t> </a:t>
            </a:r>
            <a:r>
              <a:rPr lang="en-US" err="1"/>
              <a:t>tối</a:t>
            </a:r>
            <a:r>
              <a:rPr lang="en-US"/>
              <a:t> </a:t>
            </a:r>
            <a:r>
              <a:rPr lang="en-US" err="1"/>
              <a:t>thiểu</a:t>
            </a:r>
            <a:r>
              <a:rPr lang="en-US"/>
              <a:t> 2 </a:t>
            </a:r>
            <a:r>
              <a:rPr lang="en-US" err="1"/>
              <a:t>người</a:t>
            </a:r>
            <a:r>
              <a:rPr lang="en-US"/>
              <a:t> </a:t>
            </a:r>
            <a:r>
              <a:rPr lang="en-US" err="1"/>
              <a:t>dùng</a:t>
            </a:r>
            <a:r>
              <a:rPr lang="en-US"/>
              <a:t> </a:t>
            </a:r>
            <a:r>
              <a:rPr lang="en-US" err="1"/>
              <a:t>chung</a:t>
            </a:r>
            <a:r>
              <a:rPr lang="en-US"/>
              <a:t> </a:t>
            </a:r>
            <a:r>
              <a:rPr lang="en-US" err="1"/>
              <a:t>đối</a:t>
            </a:r>
            <a:r>
              <a:rPr lang="en-US"/>
              <a:t> </a:t>
            </a:r>
            <a:r>
              <a:rPr lang="en-US" err="1"/>
              <a:t>với</a:t>
            </a:r>
            <a:r>
              <a:rPr lang="en-US"/>
              <a:t> item-based.</a:t>
            </a:r>
          </a:p>
          <a:p>
            <a:pPr>
              <a:buNone/>
            </a:pPr>
            <a:r>
              <a:rPr lang="en-US"/>
              <a:t>Các </a:t>
            </a:r>
            <a:r>
              <a:rPr lang="en-US" err="1"/>
              <a:t>tham</a:t>
            </a:r>
            <a:r>
              <a:rPr lang="en-US"/>
              <a:t> </a:t>
            </a:r>
            <a:r>
              <a:rPr lang="en-US" err="1"/>
              <a:t>số</a:t>
            </a:r>
            <a:r>
              <a:rPr lang="en-US"/>
              <a:t> </a:t>
            </a:r>
            <a:r>
              <a:rPr lang="en-US" err="1"/>
              <a:t>này</a:t>
            </a:r>
            <a:r>
              <a:rPr lang="en-US"/>
              <a:t> </a:t>
            </a:r>
            <a:r>
              <a:rPr lang="en-US" err="1"/>
              <a:t>giúp</a:t>
            </a:r>
            <a:r>
              <a:rPr lang="en-US"/>
              <a:t> </a:t>
            </a:r>
            <a:r>
              <a:rPr lang="en-US" err="1"/>
              <a:t>mô</a:t>
            </a:r>
            <a:r>
              <a:rPr lang="en-US"/>
              <a:t> </a:t>
            </a:r>
            <a:r>
              <a:rPr lang="en-US" err="1"/>
              <a:t>hình</a:t>
            </a:r>
            <a:r>
              <a:rPr lang="en-US"/>
              <a:t> </a:t>
            </a:r>
            <a:r>
              <a:rPr lang="en-US" err="1"/>
              <a:t>ổn</a:t>
            </a:r>
            <a:r>
              <a:rPr lang="en-US"/>
              <a:t> </a:t>
            </a:r>
            <a:r>
              <a:rPr lang="en-US" err="1"/>
              <a:t>định</a:t>
            </a:r>
            <a:r>
              <a:rPr lang="en-US"/>
              <a:t> </a:t>
            </a:r>
            <a:r>
              <a:rPr lang="en-US" err="1"/>
              <a:t>hơn</a:t>
            </a:r>
            <a:r>
              <a:rPr lang="en-US"/>
              <a:t> </a:t>
            </a:r>
            <a:r>
              <a:rPr lang="en-US" err="1"/>
              <a:t>và</a:t>
            </a:r>
            <a:r>
              <a:rPr lang="en-US"/>
              <a:t> </a:t>
            </a:r>
            <a:r>
              <a:rPr lang="en-US" err="1"/>
              <a:t>tránh</a:t>
            </a:r>
            <a:r>
              <a:rPr lang="en-US"/>
              <a:t> </a:t>
            </a:r>
            <a:r>
              <a:rPr lang="en-US" err="1"/>
              <a:t>trường</a:t>
            </a:r>
            <a:r>
              <a:rPr lang="en-US"/>
              <a:t> </a:t>
            </a:r>
            <a:r>
              <a:rPr lang="en-US" err="1"/>
              <a:t>hợp</a:t>
            </a:r>
            <a:r>
              <a:rPr lang="en-US"/>
              <a:t> </a:t>
            </a:r>
            <a:r>
              <a:rPr lang="en-US" err="1"/>
              <a:t>dữ</a:t>
            </a:r>
            <a:r>
              <a:rPr lang="en-US"/>
              <a:t> </a:t>
            </a:r>
            <a:r>
              <a:rPr lang="en-US" err="1"/>
              <a:t>liệu</a:t>
            </a:r>
            <a:r>
              <a:rPr lang="en-US"/>
              <a:t> </a:t>
            </a:r>
            <a:r>
              <a:rPr lang="en-US" err="1"/>
              <a:t>quá</a:t>
            </a:r>
            <a:r>
              <a:rPr lang="en-US"/>
              <a:t> </a:t>
            </a:r>
            <a:r>
              <a:rPr lang="en-US" err="1"/>
              <a:t>thưa</a:t>
            </a:r>
            <a:r>
              <a:rPr lang="en-US"/>
              <a:t> </a:t>
            </a:r>
            <a:r>
              <a:rPr lang="en-US" err="1"/>
              <a:t>gây</a:t>
            </a:r>
            <a:r>
              <a:rPr lang="en-US"/>
              <a:t> </a:t>
            </a:r>
            <a:r>
              <a:rPr lang="en-US" err="1"/>
              <a:t>nhiễu</a:t>
            </a:r>
            <a:r>
              <a:rPr lang="en-US"/>
              <a:t>.</a:t>
            </a:r>
          </a:p>
          <a:p>
            <a:pPr>
              <a:buNone/>
            </a:pPr>
            <a:r>
              <a:rPr lang="en-US" b="1"/>
              <a:t>3. </a:t>
            </a:r>
            <a:r>
              <a:rPr lang="en-US" b="1" err="1"/>
              <a:t>SASRec</a:t>
            </a:r>
            <a:r>
              <a:rPr lang="en-US" b="1"/>
              <a:t> (Self-Attentive Sequential Recommendation)</a:t>
            </a:r>
          </a:p>
          <a:p>
            <a:pPr>
              <a:buNone/>
            </a:pPr>
            <a:r>
              <a:rPr lang="en-US" err="1"/>
              <a:t>SASRec</a:t>
            </a:r>
            <a:r>
              <a:rPr lang="en-US"/>
              <a:t> </a:t>
            </a:r>
            <a:r>
              <a:rPr lang="en-US" err="1"/>
              <a:t>là</a:t>
            </a:r>
            <a:r>
              <a:rPr lang="en-US"/>
              <a:t> </a:t>
            </a:r>
            <a:r>
              <a:rPr lang="en-US" err="1"/>
              <a:t>mô</a:t>
            </a:r>
            <a:r>
              <a:rPr lang="en-US"/>
              <a:t> </a:t>
            </a:r>
            <a:r>
              <a:rPr lang="en-US" err="1"/>
              <a:t>hình</a:t>
            </a:r>
            <a:r>
              <a:rPr lang="en-US"/>
              <a:t> </a:t>
            </a:r>
            <a:r>
              <a:rPr lang="en-US" err="1"/>
              <a:t>gợi</a:t>
            </a:r>
            <a:r>
              <a:rPr lang="en-US"/>
              <a:t> ý </a:t>
            </a:r>
            <a:r>
              <a:rPr lang="en-US" err="1"/>
              <a:t>theo</a:t>
            </a:r>
            <a:r>
              <a:rPr lang="en-US"/>
              <a:t> </a:t>
            </a:r>
            <a:r>
              <a:rPr lang="en-US" err="1"/>
              <a:t>chuỗi</a:t>
            </a:r>
            <a:r>
              <a:rPr lang="en-US"/>
              <a:t>, </a:t>
            </a:r>
            <a:r>
              <a:rPr lang="en-US" err="1"/>
              <a:t>sử</a:t>
            </a:r>
            <a:r>
              <a:rPr lang="en-US"/>
              <a:t> </a:t>
            </a:r>
            <a:r>
              <a:rPr lang="en-US" err="1"/>
              <a:t>dụng</a:t>
            </a:r>
            <a:r>
              <a:rPr lang="en-US"/>
              <a:t> </a:t>
            </a:r>
            <a:r>
              <a:rPr lang="en-US" err="1"/>
              <a:t>cơ</a:t>
            </a:r>
            <a:r>
              <a:rPr lang="en-US"/>
              <a:t> </a:t>
            </a:r>
            <a:r>
              <a:rPr lang="en-US" err="1"/>
              <a:t>chế</a:t>
            </a:r>
            <a:r>
              <a:rPr lang="en-US"/>
              <a:t> self-attention </a:t>
            </a:r>
            <a:r>
              <a:rPr lang="en-US" err="1"/>
              <a:t>để</a:t>
            </a:r>
            <a:r>
              <a:rPr lang="en-US"/>
              <a:t> </a:t>
            </a:r>
            <a:r>
              <a:rPr lang="en-US" err="1"/>
              <a:t>học</a:t>
            </a:r>
            <a:r>
              <a:rPr lang="en-US"/>
              <a:t> </a:t>
            </a:r>
            <a:r>
              <a:rPr lang="en-US" err="1"/>
              <a:t>thói</a:t>
            </a:r>
            <a:r>
              <a:rPr lang="en-US"/>
              <a:t> </a:t>
            </a:r>
            <a:r>
              <a:rPr lang="en-US" err="1"/>
              <a:t>quen</a:t>
            </a:r>
            <a:r>
              <a:rPr lang="en-US"/>
              <a:t> </a:t>
            </a:r>
            <a:r>
              <a:rPr lang="en-US" err="1"/>
              <a:t>tương</a:t>
            </a:r>
            <a:r>
              <a:rPr lang="en-US"/>
              <a:t> </a:t>
            </a:r>
            <a:r>
              <a:rPr lang="en-US" err="1"/>
              <a:t>tác</a:t>
            </a:r>
            <a:r>
              <a:rPr lang="en-US"/>
              <a:t> </a:t>
            </a:r>
            <a:r>
              <a:rPr lang="en-US" err="1"/>
              <a:t>của</a:t>
            </a:r>
            <a:r>
              <a:rPr lang="en-US"/>
              <a:t> </a:t>
            </a:r>
            <a:r>
              <a:rPr lang="en-US" err="1"/>
              <a:t>người</a:t>
            </a:r>
            <a:r>
              <a:rPr lang="en-US"/>
              <a:t> </a:t>
            </a:r>
            <a:r>
              <a:rPr lang="en-US" err="1"/>
              <a:t>dùng</a:t>
            </a:r>
            <a:r>
              <a:rPr lang="en-US"/>
              <a:t> </a:t>
            </a:r>
            <a:r>
              <a:rPr lang="en-US" err="1"/>
              <a:t>theo</a:t>
            </a:r>
            <a:r>
              <a:rPr lang="en-US"/>
              <a:t> </a:t>
            </a:r>
            <a:r>
              <a:rPr lang="en-US" err="1"/>
              <a:t>thời</a:t>
            </a:r>
            <a:r>
              <a:rPr lang="en-US"/>
              <a:t> </a:t>
            </a:r>
            <a:r>
              <a:rPr lang="en-US" err="1"/>
              <a:t>gian</a:t>
            </a:r>
            <a:r>
              <a:rPr lang="en-US"/>
              <a:t>.</a:t>
            </a:r>
          </a:p>
          <a:p>
            <a:pPr>
              <a:buNone/>
            </a:pPr>
            <a:r>
              <a:rPr lang="en-US"/>
              <a:t>Các </a:t>
            </a:r>
            <a:r>
              <a:rPr lang="en-US" err="1"/>
              <a:t>tham</a:t>
            </a:r>
            <a:r>
              <a:rPr lang="en-US"/>
              <a:t> </a:t>
            </a:r>
            <a:r>
              <a:rPr lang="en-US" err="1"/>
              <a:t>số</a:t>
            </a:r>
            <a:r>
              <a:rPr lang="en-US"/>
              <a:t>:</a:t>
            </a:r>
          </a:p>
          <a:p>
            <a:pPr>
              <a:buNone/>
            </a:pPr>
            <a:r>
              <a:rPr lang="en-US"/>
              <a:t>•    </a:t>
            </a:r>
            <a:r>
              <a:rPr lang="en-US" err="1"/>
              <a:t>cf_type</a:t>
            </a:r>
            <a:r>
              <a:rPr lang="en-US"/>
              <a:t> = </a:t>
            </a:r>
            <a:r>
              <a:rPr lang="en-US" err="1"/>
              <a:t>user_based</a:t>
            </a:r>
            <a:endParaRPr lang="en-US"/>
          </a:p>
          <a:p>
            <a:pPr>
              <a:buNone/>
            </a:pPr>
            <a:r>
              <a:rPr lang="en-US"/>
              <a:t>•    </a:t>
            </a:r>
            <a:r>
              <a:rPr lang="en-US" err="1"/>
              <a:t>similarity_method</a:t>
            </a:r>
            <a:r>
              <a:rPr lang="en-US"/>
              <a:t> = </a:t>
            </a:r>
            <a:r>
              <a:rPr lang="en-US" err="1"/>
              <a:t>pearson</a:t>
            </a:r>
            <a:endParaRPr lang="en-US"/>
          </a:p>
          <a:p>
            <a:pPr>
              <a:buNone/>
            </a:pPr>
            <a:r>
              <a:rPr lang="en-US"/>
              <a:t>•    </a:t>
            </a:r>
            <a:r>
              <a:rPr lang="en-US" err="1"/>
              <a:t>k_neighbors</a:t>
            </a:r>
            <a:r>
              <a:rPr lang="en-US"/>
              <a:t> = 50</a:t>
            </a:r>
          </a:p>
          <a:p>
            <a:pPr>
              <a:buNone/>
            </a:pPr>
            <a:r>
              <a:rPr lang="en-US"/>
              <a:t>•    </a:t>
            </a:r>
            <a:r>
              <a:rPr lang="en-US" err="1"/>
              <a:t>min_common_items</a:t>
            </a:r>
            <a:r>
              <a:rPr lang="en-US"/>
              <a:t> = 5</a:t>
            </a:r>
          </a:p>
          <a:p>
            <a:pPr>
              <a:buNone/>
            </a:pPr>
            <a:r>
              <a:rPr lang="en-US"/>
              <a:t>•    </a:t>
            </a:r>
            <a:r>
              <a:rPr lang="en-US" err="1"/>
              <a:t>min_common_users</a:t>
            </a:r>
            <a:r>
              <a:rPr lang="en-US"/>
              <a:t> = 2</a:t>
            </a:r>
          </a:p>
          <a:p>
            <a:pPr>
              <a:buNone/>
            </a:pPr>
            <a:r>
              <a:rPr lang="en-US" err="1"/>
              <a:t>Mặc</a:t>
            </a:r>
            <a:r>
              <a:rPr lang="en-US"/>
              <a:t> </a:t>
            </a:r>
            <a:r>
              <a:rPr lang="en-US" err="1"/>
              <a:t>dù</a:t>
            </a:r>
            <a:r>
              <a:rPr lang="en-US"/>
              <a:t> </a:t>
            </a:r>
            <a:r>
              <a:rPr lang="en-US" err="1"/>
              <a:t>được</a:t>
            </a:r>
            <a:r>
              <a:rPr lang="en-US"/>
              <a:t> </a:t>
            </a:r>
            <a:r>
              <a:rPr lang="en-US" err="1"/>
              <a:t>thiết</a:t>
            </a:r>
            <a:r>
              <a:rPr lang="en-US"/>
              <a:t> </a:t>
            </a:r>
            <a:r>
              <a:rPr lang="en-US" err="1"/>
              <a:t>kế</a:t>
            </a:r>
            <a:r>
              <a:rPr lang="en-US"/>
              <a:t> </a:t>
            </a:r>
            <a:r>
              <a:rPr lang="en-US" err="1"/>
              <a:t>theo</a:t>
            </a:r>
            <a:r>
              <a:rPr lang="en-US"/>
              <a:t> </a:t>
            </a:r>
            <a:r>
              <a:rPr lang="en-US" err="1"/>
              <a:t>hướng</a:t>
            </a:r>
            <a:r>
              <a:rPr lang="en-US"/>
              <a:t> </a:t>
            </a:r>
            <a:r>
              <a:rPr lang="en-US" err="1"/>
              <a:t>gợi</a:t>
            </a:r>
            <a:r>
              <a:rPr lang="en-US"/>
              <a:t> ý </a:t>
            </a:r>
            <a:r>
              <a:rPr lang="en-US" err="1"/>
              <a:t>tuần</a:t>
            </a:r>
            <a:r>
              <a:rPr lang="en-US"/>
              <a:t> </a:t>
            </a:r>
            <a:r>
              <a:rPr lang="en-US" err="1"/>
              <a:t>tự</a:t>
            </a:r>
            <a:r>
              <a:rPr lang="en-US"/>
              <a:t>, </a:t>
            </a:r>
            <a:r>
              <a:rPr lang="en-US" err="1"/>
              <a:t>trong</a:t>
            </a:r>
            <a:r>
              <a:rPr lang="en-US"/>
              <a:t> </a:t>
            </a:r>
            <a:r>
              <a:rPr lang="en-US" err="1"/>
              <a:t>đề</a:t>
            </a:r>
            <a:r>
              <a:rPr lang="en-US"/>
              <a:t> </a:t>
            </a:r>
            <a:r>
              <a:rPr lang="en-US" err="1"/>
              <a:t>tài</a:t>
            </a:r>
            <a:r>
              <a:rPr lang="en-US"/>
              <a:t> </a:t>
            </a:r>
            <a:r>
              <a:rPr lang="en-US" err="1"/>
              <a:t>này</a:t>
            </a:r>
            <a:r>
              <a:rPr lang="en-US"/>
              <a:t> </a:t>
            </a:r>
            <a:r>
              <a:rPr lang="en-US" err="1"/>
              <a:t>mô</a:t>
            </a:r>
            <a:r>
              <a:rPr lang="en-US"/>
              <a:t> </a:t>
            </a:r>
            <a:r>
              <a:rPr lang="en-US" err="1"/>
              <a:t>hình</a:t>
            </a:r>
            <a:r>
              <a:rPr lang="en-US"/>
              <a:t> </a:t>
            </a:r>
            <a:r>
              <a:rPr lang="en-US" err="1"/>
              <a:t>được</a:t>
            </a:r>
            <a:r>
              <a:rPr lang="en-US"/>
              <a:t> </a:t>
            </a:r>
            <a:r>
              <a:rPr lang="en-US" err="1"/>
              <a:t>cấu</a:t>
            </a:r>
            <a:r>
              <a:rPr lang="en-US"/>
              <a:t> </a:t>
            </a:r>
            <a:r>
              <a:rPr lang="en-US" err="1"/>
              <a:t>hình</a:t>
            </a:r>
            <a:r>
              <a:rPr lang="en-US"/>
              <a:t> </a:t>
            </a:r>
            <a:r>
              <a:rPr lang="en-US" err="1"/>
              <a:t>lại</a:t>
            </a:r>
            <a:r>
              <a:rPr lang="en-US"/>
              <a:t> </a:t>
            </a:r>
            <a:r>
              <a:rPr lang="en-US" err="1"/>
              <a:t>để</a:t>
            </a:r>
            <a:r>
              <a:rPr lang="en-US"/>
              <a:t> </a:t>
            </a:r>
            <a:r>
              <a:rPr lang="en-US" err="1"/>
              <a:t>phù</a:t>
            </a:r>
            <a:r>
              <a:rPr lang="en-US"/>
              <a:t> </a:t>
            </a:r>
            <a:r>
              <a:rPr lang="en-US" err="1"/>
              <a:t>hợp</a:t>
            </a:r>
            <a:r>
              <a:rPr lang="en-US"/>
              <a:t> </a:t>
            </a:r>
            <a:r>
              <a:rPr lang="en-US" err="1"/>
              <a:t>với</a:t>
            </a:r>
            <a:r>
              <a:rPr lang="en-US"/>
              <a:t> </a:t>
            </a:r>
            <a:r>
              <a:rPr lang="en-US" err="1"/>
              <a:t>cấu</a:t>
            </a:r>
            <a:r>
              <a:rPr lang="en-US"/>
              <a:t> </a:t>
            </a:r>
            <a:r>
              <a:rPr lang="en-US" err="1"/>
              <a:t>trúc</a:t>
            </a:r>
            <a:r>
              <a:rPr lang="en-US"/>
              <a:t> </a:t>
            </a:r>
            <a:r>
              <a:rPr lang="en-US" err="1"/>
              <a:t>dữ</a:t>
            </a:r>
            <a:r>
              <a:rPr lang="en-US"/>
              <a:t> </a:t>
            </a:r>
            <a:r>
              <a:rPr lang="en-US" err="1"/>
              <a:t>liệu</a:t>
            </a:r>
            <a:r>
              <a:rPr lang="en-US"/>
              <a:t> MovieLens 100K, </a:t>
            </a:r>
            <a:r>
              <a:rPr lang="en-US" err="1"/>
              <a:t>đồng</a:t>
            </a:r>
            <a:r>
              <a:rPr lang="en-US"/>
              <a:t> </a:t>
            </a:r>
            <a:r>
              <a:rPr lang="en-US" err="1"/>
              <a:t>thời</a:t>
            </a:r>
            <a:r>
              <a:rPr lang="en-US"/>
              <a:t> </a:t>
            </a:r>
            <a:r>
              <a:rPr lang="en-US" err="1"/>
              <a:t>cho</a:t>
            </a:r>
            <a:r>
              <a:rPr lang="en-US"/>
              <a:t> </a:t>
            </a:r>
            <a:r>
              <a:rPr lang="en-US" err="1"/>
              <a:t>phép</a:t>
            </a:r>
            <a:r>
              <a:rPr lang="en-US"/>
              <a:t> so </a:t>
            </a:r>
            <a:r>
              <a:rPr lang="en-US" err="1"/>
              <a:t>sánh</a:t>
            </a:r>
            <a:r>
              <a:rPr lang="en-US"/>
              <a:t> </a:t>
            </a:r>
            <a:r>
              <a:rPr lang="en-US" err="1"/>
              <a:t>công</a:t>
            </a:r>
            <a:r>
              <a:rPr lang="en-US"/>
              <a:t> </a:t>
            </a:r>
            <a:r>
              <a:rPr lang="en-US" err="1"/>
              <a:t>bằng</a:t>
            </a:r>
            <a:r>
              <a:rPr lang="en-US"/>
              <a:t> </a:t>
            </a:r>
            <a:r>
              <a:rPr lang="en-US" err="1"/>
              <a:t>với</a:t>
            </a:r>
            <a:r>
              <a:rPr lang="en-US"/>
              <a:t> Collaborative Filtering </a:t>
            </a:r>
            <a:r>
              <a:rPr lang="en-US" err="1"/>
              <a:t>truyền</a:t>
            </a:r>
            <a:r>
              <a:rPr lang="en-US"/>
              <a:t> </a:t>
            </a:r>
            <a:r>
              <a:rPr lang="en-US" err="1"/>
              <a:t>thống</a:t>
            </a:r>
            <a:r>
              <a:rPr lang="en-US"/>
              <a:t>.</a:t>
            </a:r>
          </a:p>
          <a:p>
            <a:pPr>
              <a:buNone/>
            </a:pPr>
            <a:r>
              <a:rPr lang="en-US" b="1" err="1"/>
              <a:t>Tổng</a:t>
            </a:r>
            <a:r>
              <a:rPr lang="en-US" b="1"/>
              <a:t> </a:t>
            </a:r>
            <a:r>
              <a:rPr lang="en-US" b="1" err="1"/>
              <a:t>kết</a:t>
            </a:r>
            <a:endParaRPr lang="en-US" b="1"/>
          </a:p>
          <a:p>
            <a:pPr marL="0" indent="0">
              <a:buNone/>
            </a:pPr>
            <a:r>
              <a:rPr lang="en-US"/>
              <a:t>Slide </a:t>
            </a:r>
            <a:r>
              <a:rPr lang="en-US" err="1"/>
              <a:t>này</a:t>
            </a:r>
            <a:r>
              <a:rPr lang="en-US"/>
              <a:t> </a:t>
            </a:r>
            <a:r>
              <a:rPr lang="en-US" err="1"/>
              <a:t>cho</a:t>
            </a:r>
            <a:r>
              <a:rPr lang="en-US"/>
              <a:t> </a:t>
            </a:r>
            <a:r>
              <a:rPr lang="en-US" err="1"/>
              <a:t>thấy</a:t>
            </a:r>
            <a:r>
              <a:rPr lang="en-US"/>
              <a:t> </a:t>
            </a:r>
            <a:r>
              <a:rPr lang="en-US" err="1"/>
              <a:t>sự</a:t>
            </a:r>
            <a:r>
              <a:rPr lang="en-US"/>
              <a:t> </a:t>
            </a:r>
            <a:r>
              <a:rPr lang="en-US" err="1"/>
              <a:t>đa</a:t>
            </a:r>
            <a:r>
              <a:rPr lang="en-US"/>
              <a:t> </a:t>
            </a:r>
            <a:r>
              <a:rPr lang="en-US" err="1"/>
              <a:t>dạng</a:t>
            </a:r>
            <a:r>
              <a:rPr lang="en-US"/>
              <a:t> </a:t>
            </a:r>
            <a:r>
              <a:rPr lang="en-US" err="1"/>
              <a:t>trong</a:t>
            </a:r>
            <a:r>
              <a:rPr lang="en-US"/>
              <a:t> </a:t>
            </a:r>
            <a:r>
              <a:rPr lang="en-US" err="1"/>
              <a:t>cách</a:t>
            </a:r>
            <a:r>
              <a:rPr lang="en-US"/>
              <a:t> </a:t>
            </a:r>
            <a:r>
              <a:rPr lang="en-US" err="1"/>
              <a:t>tiếp</a:t>
            </a:r>
            <a:r>
              <a:rPr lang="en-US"/>
              <a:t> </a:t>
            </a:r>
            <a:r>
              <a:rPr lang="en-US" err="1"/>
              <a:t>cận</a:t>
            </a:r>
            <a:r>
              <a:rPr lang="en-US"/>
              <a:t> </a:t>
            </a:r>
            <a:r>
              <a:rPr lang="en-US" err="1"/>
              <a:t>bài</a:t>
            </a:r>
            <a:r>
              <a:rPr lang="en-US"/>
              <a:t> </a:t>
            </a:r>
            <a:r>
              <a:rPr lang="en-US" err="1"/>
              <a:t>toán</a:t>
            </a:r>
            <a:r>
              <a:rPr lang="en-US"/>
              <a:t> </a:t>
            </a:r>
            <a:r>
              <a:rPr lang="en-US" err="1"/>
              <a:t>gợi</a:t>
            </a:r>
            <a:r>
              <a:rPr lang="en-US"/>
              <a:t> ý – </a:t>
            </a:r>
            <a:r>
              <a:rPr lang="en-US" err="1"/>
              <a:t>từ</a:t>
            </a:r>
            <a:r>
              <a:rPr lang="en-US"/>
              <a:t> </a:t>
            </a:r>
            <a:r>
              <a:rPr lang="en-US" err="1"/>
              <a:t>mô</a:t>
            </a:r>
            <a:r>
              <a:rPr lang="en-US"/>
              <a:t> </a:t>
            </a:r>
            <a:r>
              <a:rPr lang="en-US" err="1"/>
              <a:t>hình</a:t>
            </a:r>
            <a:r>
              <a:rPr lang="en-US"/>
              <a:t> </a:t>
            </a:r>
            <a:r>
              <a:rPr lang="en-US" err="1"/>
              <a:t>tuyến</a:t>
            </a:r>
            <a:r>
              <a:rPr lang="en-US"/>
              <a:t> </a:t>
            </a:r>
            <a:r>
              <a:rPr lang="en-US" err="1"/>
              <a:t>tính</a:t>
            </a:r>
            <a:r>
              <a:rPr lang="en-US"/>
              <a:t> </a:t>
            </a:r>
            <a:r>
              <a:rPr lang="en-US" err="1"/>
              <a:t>như</a:t>
            </a:r>
            <a:r>
              <a:rPr lang="en-US"/>
              <a:t> Matrix Factorization </a:t>
            </a:r>
            <a:r>
              <a:rPr lang="en-US" err="1"/>
              <a:t>đến</a:t>
            </a:r>
            <a:r>
              <a:rPr lang="en-US"/>
              <a:t> </a:t>
            </a:r>
            <a:r>
              <a:rPr lang="en-US" err="1"/>
              <a:t>mô</a:t>
            </a:r>
            <a:r>
              <a:rPr lang="en-US"/>
              <a:t> </a:t>
            </a:r>
            <a:r>
              <a:rPr lang="en-US" err="1"/>
              <a:t>hình</a:t>
            </a:r>
            <a:r>
              <a:rPr lang="en-US"/>
              <a:t> </a:t>
            </a:r>
            <a:r>
              <a:rPr lang="en-US" err="1"/>
              <a:t>dựa</a:t>
            </a:r>
            <a:r>
              <a:rPr lang="en-US"/>
              <a:t> </a:t>
            </a:r>
            <a:r>
              <a:rPr lang="en-US" err="1"/>
              <a:t>trên</a:t>
            </a:r>
            <a:r>
              <a:rPr lang="en-US"/>
              <a:t> </a:t>
            </a:r>
            <a:r>
              <a:rPr lang="en-US" err="1"/>
              <a:t>tương</a:t>
            </a:r>
            <a:r>
              <a:rPr lang="en-US"/>
              <a:t> </a:t>
            </a:r>
            <a:r>
              <a:rPr lang="en-US" err="1"/>
              <a:t>đồng</a:t>
            </a:r>
            <a:r>
              <a:rPr lang="en-US"/>
              <a:t> </a:t>
            </a:r>
            <a:r>
              <a:rPr lang="en-US" err="1"/>
              <a:t>và</a:t>
            </a:r>
            <a:r>
              <a:rPr lang="en-US"/>
              <a:t> </a:t>
            </a:r>
            <a:r>
              <a:rPr lang="en-US" err="1"/>
              <a:t>mô</a:t>
            </a:r>
            <a:r>
              <a:rPr lang="en-US"/>
              <a:t> </a:t>
            </a:r>
            <a:r>
              <a:rPr lang="en-US" err="1"/>
              <a:t>hình</a:t>
            </a:r>
            <a:r>
              <a:rPr lang="en-US"/>
              <a:t> </a:t>
            </a:r>
            <a:r>
              <a:rPr lang="en-US" err="1"/>
              <a:t>dựa</a:t>
            </a:r>
            <a:r>
              <a:rPr lang="en-US"/>
              <a:t> </a:t>
            </a:r>
            <a:r>
              <a:rPr lang="en-US" err="1"/>
              <a:t>trên</a:t>
            </a:r>
            <a:r>
              <a:rPr lang="en-US"/>
              <a:t> </a:t>
            </a:r>
            <a:r>
              <a:rPr lang="en-US" err="1"/>
              <a:t>chuỗi</a:t>
            </a:r>
            <a:r>
              <a:rPr lang="en-US"/>
              <a:t> </a:t>
            </a:r>
            <a:r>
              <a:rPr lang="en-US" err="1"/>
              <a:t>hiện</a:t>
            </a:r>
            <a:r>
              <a:rPr lang="en-US"/>
              <a:t> </a:t>
            </a:r>
            <a:r>
              <a:rPr lang="en-US" err="1"/>
              <a:t>đại</a:t>
            </a:r>
            <a:r>
              <a:rPr lang="en-US"/>
              <a:t> </a:t>
            </a:r>
            <a:r>
              <a:rPr lang="en-US" err="1"/>
              <a:t>như</a:t>
            </a:r>
            <a:r>
              <a:rPr lang="en-US"/>
              <a:t> </a:t>
            </a:r>
            <a:r>
              <a:rPr lang="en-US" err="1"/>
              <a:t>SASRec</a:t>
            </a:r>
            <a:r>
              <a:rPr lang="en-US"/>
              <a:t>. </a:t>
            </a:r>
            <a:r>
              <a:rPr lang="en-US" err="1"/>
              <a:t>Việc</a:t>
            </a:r>
            <a:r>
              <a:rPr lang="en-US"/>
              <a:t> </a:t>
            </a:r>
            <a:r>
              <a:rPr lang="en-US" err="1"/>
              <a:t>trình</a:t>
            </a:r>
            <a:r>
              <a:rPr lang="en-US"/>
              <a:t> </a:t>
            </a:r>
            <a:r>
              <a:rPr lang="en-US" err="1"/>
              <a:t>bày</a:t>
            </a:r>
            <a:r>
              <a:rPr lang="en-US"/>
              <a:t> </a:t>
            </a:r>
            <a:r>
              <a:rPr lang="en-US" err="1"/>
              <a:t>rõ</a:t>
            </a:r>
            <a:r>
              <a:rPr lang="en-US"/>
              <a:t> </a:t>
            </a:r>
            <a:r>
              <a:rPr lang="en-US" err="1"/>
              <a:t>ràng</a:t>
            </a:r>
            <a:r>
              <a:rPr lang="en-US"/>
              <a:t> </a:t>
            </a:r>
            <a:r>
              <a:rPr lang="en-US" err="1"/>
              <a:t>các</a:t>
            </a:r>
            <a:r>
              <a:rPr lang="en-US"/>
              <a:t> </a:t>
            </a:r>
            <a:r>
              <a:rPr lang="en-US" err="1"/>
              <a:t>tham</a:t>
            </a:r>
            <a:r>
              <a:rPr lang="en-US"/>
              <a:t> </a:t>
            </a:r>
            <a:r>
              <a:rPr lang="en-US" err="1"/>
              <a:t>số</a:t>
            </a:r>
            <a:r>
              <a:rPr lang="en-US"/>
              <a:t> </a:t>
            </a:r>
            <a:r>
              <a:rPr lang="en-US" err="1"/>
              <a:t>giúp</a:t>
            </a:r>
            <a:r>
              <a:rPr lang="en-US"/>
              <a:t> </a:t>
            </a:r>
            <a:r>
              <a:rPr lang="en-US" err="1"/>
              <a:t>minh</a:t>
            </a:r>
            <a:r>
              <a:rPr lang="en-US"/>
              <a:t> </a:t>
            </a:r>
            <a:r>
              <a:rPr lang="en-US" err="1"/>
              <a:t>bạch</a:t>
            </a:r>
            <a:r>
              <a:rPr lang="en-US"/>
              <a:t> </a:t>
            </a:r>
            <a:r>
              <a:rPr lang="en-US" err="1"/>
              <a:t>hóa</a:t>
            </a:r>
            <a:r>
              <a:rPr lang="en-US"/>
              <a:t> </a:t>
            </a:r>
            <a:r>
              <a:rPr lang="en-US" err="1"/>
              <a:t>quá</a:t>
            </a:r>
            <a:r>
              <a:rPr lang="en-US"/>
              <a:t> </a:t>
            </a:r>
            <a:r>
              <a:rPr lang="en-US" err="1"/>
              <a:t>trình</a:t>
            </a:r>
            <a:r>
              <a:rPr lang="en-US"/>
              <a:t> </a:t>
            </a:r>
            <a:r>
              <a:rPr lang="en-US" err="1"/>
              <a:t>huấn</a:t>
            </a:r>
            <a:r>
              <a:rPr lang="en-US"/>
              <a:t> </a:t>
            </a:r>
            <a:r>
              <a:rPr lang="en-US" err="1"/>
              <a:t>luyện</a:t>
            </a:r>
            <a:r>
              <a:rPr lang="en-US"/>
              <a:t> </a:t>
            </a:r>
            <a:r>
              <a:rPr lang="en-US" err="1"/>
              <a:t>và</a:t>
            </a:r>
            <a:r>
              <a:rPr lang="en-US"/>
              <a:t> </a:t>
            </a:r>
            <a:r>
              <a:rPr lang="en-US" err="1"/>
              <a:t>tạo</a:t>
            </a:r>
            <a:r>
              <a:rPr lang="en-US"/>
              <a:t> </a:t>
            </a:r>
            <a:r>
              <a:rPr lang="en-US" err="1"/>
              <a:t>nền</a:t>
            </a:r>
            <a:r>
              <a:rPr lang="en-US"/>
              <a:t> </a:t>
            </a:r>
            <a:r>
              <a:rPr lang="en-US" err="1"/>
              <a:t>tảng</a:t>
            </a:r>
            <a:r>
              <a:rPr lang="en-US"/>
              <a:t> </a:t>
            </a:r>
            <a:r>
              <a:rPr lang="en-US" err="1"/>
              <a:t>cho</a:t>
            </a:r>
            <a:r>
              <a:rPr lang="en-US"/>
              <a:t> </a:t>
            </a:r>
            <a:r>
              <a:rPr lang="en-US" err="1"/>
              <a:t>phần</a:t>
            </a:r>
            <a:r>
              <a:rPr lang="en-US"/>
              <a:t> </a:t>
            </a:r>
            <a:r>
              <a:rPr lang="en-US" err="1"/>
              <a:t>đánh</a:t>
            </a:r>
            <a:r>
              <a:rPr lang="en-US"/>
              <a:t> </a:t>
            </a:r>
            <a:r>
              <a:rPr lang="en-US" err="1"/>
              <a:t>giá</a:t>
            </a:r>
            <a:r>
              <a:rPr lang="en-US"/>
              <a:t> </a:t>
            </a:r>
            <a:r>
              <a:rPr lang="en-US" err="1"/>
              <a:t>hiệu</a:t>
            </a:r>
            <a:r>
              <a:rPr lang="en-US"/>
              <a:t> </a:t>
            </a:r>
            <a:r>
              <a:rPr lang="en-US" err="1"/>
              <a:t>quả</a:t>
            </a:r>
            <a:r>
              <a:rPr lang="en-US"/>
              <a:t> </a:t>
            </a:r>
            <a:r>
              <a:rPr lang="en-US" err="1"/>
              <a:t>của</a:t>
            </a:r>
            <a:r>
              <a:rPr lang="en-US"/>
              <a:t> </a:t>
            </a:r>
            <a:r>
              <a:rPr lang="en-US" err="1"/>
              <a:t>từng</a:t>
            </a:r>
            <a:r>
              <a:rPr lang="en-US"/>
              <a:t> </a:t>
            </a:r>
            <a:r>
              <a:rPr lang="en-US" err="1"/>
              <a:t>mô</a:t>
            </a:r>
            <a:r>
              <a:rPr lang="en-US"/>
              <a:t> </a:t>
            </a:r>
            <a:r>
              <a:rPr lang="en-US" err="1"/>
              <a:t>hình</a:t>
            </a:r>
            <a:r>
              <a:rPr lang="en-US"/>
              <a:t> </a:t>
            </a:r>
            <a:r>
              <a:rPr lang="en-US" err="1"/>
              <a:t>trong</a:t>
            </a:r>
            <a:r>
              <a:rPr lang="en-US"/>
              <a:t> </a:t>
            </a:r>
            <a:r>
              <a:rPr lang="en-US" err="1"/>
              <a:t>các</a:t>
            </a:r>
            <a:r>
              <a:rPr lang="en-US"/>
              <a:t> </a:t>
            </a:r>
            <a:r>
              <a:rPr lang="en-US" err="1"/>
              <a:t>chương</a:t>
            </a:r>
            <a:r>
              <a:rPr lang="en-US"/>
              <a:t> </a:t>
            </a:r>
            <a:r>
              <a:rPr lang="en-US" err="1"/>
              <a:t>tiếp</a:t>
            </a:r>
            <a:r>
              <a:rPr lang="en-US"/>
              <a:t> </a:t>
            </a:r>
            <a:r>
              <a:rPr lang="en-US" err="1"/>
              <a:t>theo.</a:t>
            </a:r>
            <a:endParaRPr err="1"/>
          </a:p>
        </p:txBody>
      </p:sp>
    </p:spTree>
    <p:extLst>
      <p:ext uri="{BB962C8B-B14F-4D97-AF65-F5344CB8AC3E}">
        <p14:creationId xmlns:p14="http://schemas.microsoft.com/office/powerpoint/2010/main" val="733448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4E18CA27-0F4E-9FDF-EBC4-2451D407B76E}"/>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F4ECEC49-2EDF-8DBB-D0C7-06A7FD3712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4AD4E70C-97F8-BDA7-5E0F-37B16CC4A2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b="1"/>
              <a:t>Collaborative Filtering (CF)</a:t>
            </a:r>
            <a:endParaRPr lang="en-US"/>
          </a:p>
          <a:p>
            <a:pPr marL="0" indent="0">
              <a:buNone/>
            </a:pPr>
            <a:r>
              <a:rPr lang="en-US"/>
              <a:t>Collaborative Filtering là phương pháp gợi ý dựa trên hành vi và đánh giá của người dùng trong quá khứ, giả định rằng </a:t>
            </a:r>
            <a:r>
              <a:rPr lang="en-US" b="1"/>
              <a:t>những người dùng có hành vi tương tự sẽ có sở thích tương tự</a:t>
            </a:r>
            <a:r>
              <a:rPr lang="en-US"/>
              <a:t>.</a:t>
            </a:r>
          </a:p>
          <a:p>
            <a:pPr marL="0" indent="0">
              <a:buNone/>
            </a:pPr>
            <a:r>
              <a:rPr lang="en-US" b="1"/>
              <a:t>1. Memory-based Collaborative Filtering</a:t>
            </a:r>
          </a:p>
          <a:p>
            <a:pPr marL="0" indent="0">
              <a:buNone/>
            </a:pPr>
            <a:r>
              <a:rPr lang="en-US" b="1"/>
              <a:t>(Item-based k-Nearest Neighbors – ItemKNN)</a:t>
            </a:r>
          </a:p>
          <a:p>
            <a:pPr marL="0" indent="0">
              <a:buNone/>
            </a:pPr>
            <a:r>
              <a:rPr lang="en-US"/>
              <a:t>Phương pháp này đưa ra gợi ý dựa trên </a:t>
            </a:r>
            <a:r>
              <a:rPr lang="en-US" b="1"/>
              <a:t>độ tương đồng giữa các item</a:t>
            </a:r>
            <a:r>
              <a:rPr lang="en-US"/>
              <a:t>, được tính toán trực tiếp từ ma trận user–item (ví dụ: cosine similarity, Pearson correlation).</a:t>
            </a:r>
          </a:p>
          <a:p>
            <a:pPr marL="0" indent="0">
              <a:buNone/>
            </a:pPr>
            <a:r>
              <a:rPr lang="en-US" b="1"/>
              <a:t>Nguyên lý hoạt động:</a:t>
            </a:r>
          </a:p>
          <a:p>
            <a:pPr marL="171450" indent="-171450"/>
            <a:r>
              <a:rPr lang="en-US"/>
              <a:t>Xác định các item tương tự với item mà người dùng đã tương tác</a:t>
            </a:r>
          </a:p>
          <a:p>
            <a:pPr marL="171450" indent="-171450"/>
            <a:r>
              <a:rPr lang="en-US"/>
              <a:t>Gợi ý các item có mức độ tương đồng cao nhất</a:t>
            </a:r>
          </a:p>
          <a:p>
            <a:pPr marL="0" indent="0">
              <a:buNone/>
            </a:pPr>
            <a:r>
              <a:rPr lang="en-US" b="1"/>
              <a:t>Ưu điểm:</a:t>
            </a:r>
          </a:p>
          <a:p>
            <a:pPr marL="171450" indent="-171450"/>
            <a:r>
              <a:rPr lang="en-US"/>
              <a:t>Cấu trúc đơn giản, dễ triển khai</a:t>
            </a:r>
          </a:p>
          <a:p>
            <a:pPr marL="171450" indent="-171450"/>
            <a:r>
              <a:rPr lang="en-US"/>
              <a:t>Dễ giải thích kết quả cho người dùng (explainability cao)</a:t>
            </a:r>
          </a:p>
          <a:p>
            <a:pPr marL="171450" indent="-171450"/>
            <a:r>
              <a:rPr lang="en-US"/>
              <a:t>Không cần quá trình huấn luyện phức tạp</a:t>
            </a:r>
          </a:p>
          <a:p>
            <a:pPr marL="0" indent="0">
              <a:buNone/>
            </a:pPr>
            <a:r>
              <a:rPr lang="en-US" b="1"/>
              <a:t>Nhược điểm:</a:t>
            </a:r>
          </a:p>
          <a:p>
            <a:pPr marL="171450" indent="-171450"/>
            <a:r>
              <a:rPr lang="en-US"/>
              <a:t>Tốn nhiều bộ nhớ để lưu trữ ma trận tương đồng giữa các item</a:t>
            </a:r>
          </a:p>
          <a:p>
            <a:pPr marL="171450" indent="-171450"/>
            <a:r>
              <a:rPr lang="en-US"/>
              <a:t>Khó mở rộng khi số lượng item lớn</a:t>
            </a:r>
          </a:p>
          <a:p>
            <a:pPr marL="171450" indent="-171450"/>
            <a:r>
              <a:rPr lang="en-US"/>
              <a:t>Hiệu năng giảm trong trường hợp dữ liệu thưa (sparse)</a:t>
            </a:r>
          </a:p>
          <a:p>
            <a:pPr marL="0" indent="0" algn="ctr">
              <a:buNone/>
            </a:pPr>
            <a:br>
              <a:rPr lang="en-US"/>
            </a:br>
            <a:endParaRPr lang="en-US"/>
          </a:p>
          <a:p>
            <a:pPr marL="0" indent="0">
              <a:buNone/>
            </a:pPr>
            <a:r>
              <a:rPr lang="en-US" b="1"/>
              <a:t>2. Model-based Collaborative Filtering</a:t>
            </a:r>
          </a:p>
          <a:p>
            <a:pPr marL="0" indent="0">
              <a:buNone/>
            </a:pPr>
            <a:r>
              <a:rPr lang="en-US" b="1"/>
              <a:t>(Matrix Factorization – MF)</a:t>
            </a:r>
          </a:p>
          <a:p>
            <a:pPr marL="0" indent="0">
              <a:buNone/>
            </a:pPr>
            <a:r>
              <a:rPr lang="en-US"/>
              <a:t>Phương pháp này phân rã ma trận user–item thành các </a:t>
            </a:r>
            <a:r>
              <a:rPr lang="en-US" b="1"/>
              <a:t>vector đặc trưng ẩn (latent features)</a:t>
            </a:r>
            <a:r>
              <a:rPr lang="en-US"/>
              <a:t> đại diện cho người dùng và item.</a:t>
            </a:r>
          </a:p>
          <a:p>
            <a:pPr marL="0" indent="0">
              <a:buNone/>
            </a:pPr>
            <a:r>
              <a:rPr lang="en-US" b="1"/>
              <a:t>Nguyên lý hoạt động:</a:t>
            </a:r>
          </a:p>
          <a:p>
            <a:pPr marL="171450" indent="-171450"/>
            <a:r>
              <a:rPr lang="en-US"/>
              <a:t>Biểu diễn mỗi người dùng và item trong không gian đặc trưng ẩn</a:t>
            </a:r>
          </a:p>
          <a:p>
            <a:pPr marL="171450" indent="-171450"/>
            <a:r>
              <a:rPr lang="en-US"/>
              <a:t>Dự đoán mức độ yêu thích dựa trên tích vô hướng của các vector đặc trưng</a:t>
            </a:r>
          </a:p>
          <a:p>
            <a:pPr marL="0" indent="0">
              <a:buNone/>
            </a:pPr>
            <a:r>
              <a:rPr lang="en-US" b="1"/>
              <a:t>Ưu điểm:</a:t>
            </a:r>
          </a:p>
          <a:p>
            <a:pPr marL="171450" indent="-171450"/>
            <a:r>
              <a:rPr lang="en-US"/>
              <a:t>Khả năng mô hình hóa sở thích người dùng ở mức sâu và trừu tượng hơn so với ItemKNN</a:t>
            </a:r>
          </a:p>
          <a:p>
            <a:pPr marL="171450" indent="-171450"/>
            <a:r>
              <a:rPr lang="en-US"/>
              <a:t>Hiệu quả tốt với dữ liệu thưa</a:t>
            </a:r>
          </a:p>
          <a:p>
            <a:pPr marL="171450" indent="-171450"/>
            <a:r>
              <a:rPr lang="en-US"/>
              <a:t>Dễ tích hợp vào các hệ thống học máy hiện đại</a:t>
            </a:r>
          </a:p>
          <a:p>
            <a:pPr marL="0" indent="0">
              <a:buNone/>
            </a:pPr>
            <a:r>
              <a:rPr lang="en-US" b="1"/>
              <a:t>Nhược điểm:</a:t>
            </a:r>
          </a:p>
          <a:p>
            <a:pPr marL="171450" indent="-171450"/>
            <a:r>
              <a:rPr lang="en-US"/>
              <a:t>Quá trình huấn luyện phức tạp hơn</a:t>
            </a:r>
          </a:p>
          <a:p>
            <a:pPr marL="171450" indent="-171450"/>
            <a:r>
              <a:rPr lang="en-US"/>
              <a:t>Kết quả khó giải thích hơn so với phương pháp memory-based</a:t>
            </a:r>
          </a:p>
          <a:p>
            <a:pPr marL="171450" indent="-171450"/>
            <a:r>
              <a:rPr lang="en-US"/>
              <a:t>Cần điều chỉnh nhiều siêu tham số</a:t>
            </a:r>
          </a:p>
          <a:p>
            <a:pPr marL="0" indent="0" algn="ctr">
              <a:buNone/>
            </a:pPr>
            <a:br>
              <a:rPr lang="en-US"/>
            </a:br>
            <a:endParaRPr lang="en-US"/>
          </a:p>
          <a:p>
            <a:pPr marL="0" indent="0">
              <a:buNone/>
            </a:pPr>
            <a:r>
              <a:rPr lang="en-US" b="1"/>
              <a:t>Hạn chế chung của Collaborative Filtering</a:t>
            </a:r>
          </a:p>
          <a:p>
            <a:pPr marL="0" indent="0">
              <a:buNone/>
            </a:pPr>
            <a:r>
              <a:rPr lang="en-US"/>
              <a:t>Mặc dù hiệu quả trong nhiều hệ thống gợi ý, các phương pháp CF truyền thống vẫn tồn tại một số hạn chế:</a:t>
            </a:r>
          </a:p>
          <a:p>
            <a:pPr marL="171450" indent="-171450"/>
            <a:r>
              <a:rPr lang="en-US"/>
              <a:t>Mang tính </a:t>
            </a:r>
            <a:r>
              <a:rPr lang="en-US" b="1"/>
              <a:t>tĩnh</a:t>
            </a:r>
            <a:r>
              <a:rPr lang="en-US"/>
              <a:t>, không xét đến </a:t>
            </a:r>
            <a:r>
              <a:rPr lang="en-US" b="1"/>
              <a:t>thứ tự thời gian của tương tác</a:t>
            </a:r>
          </a:p>
          <a:p>
            <a:pPr marL="171450" indent="-171450"/>
            <a:r>
              <a:rPr lang="en-US"/>
              <a:t>Không phản ánh kịp thời sự thay đổi sở thích của người dùng</a:t>
            </a:r>
          </a:p>
          <a:p>
            <a:pPr marL="171450" indent="-171450"/>
            <a:r>
              <a:rPr lang="en-US"/>
              <a:t>Gặp khó khăn trong các bài toán có tính ngữ cảnh hoặc hành vi theo chuỗi (sequential behavior)</a:t>
            </a:r>
          </a:p>
          <a:p>
            <a:pPr>
              <a:buNone/>
            </a:pPr>
            <a:endParaRPr lang="en-US" b="1"/>
          </a:p>
          <a:p>
            <a:pPr>
              <a:buNone/>
            </a:pPr>
            <a:r>
              <a:rPr lang="en-US" b="1"/>
              <a:t>1. Matrix Factorization</a:t>
            </a:r>
            <a:endParaRPr lang="en-US"/>
          </a:p>
          <a:p>
            <a:pPr>
              <a:buNone/>
            </a:pPr>
            <a:r>
              <a:rPr lang="en-US" err="1"/>
              <a:t>Đối</a:t>
            </a:r>
            <a:r>
              <a:rPr lang="en-US"/>
              <a:t> </a:t>
            </a:r>
            <a:r>
              <a:rPr lang="en-US" err="1"/>
              <a:t>với</a:t>
            </a:r>
            <a:r>
              <a:rPr lang="en-US"/>
              <a:t> </a:t>
            </a:r>
            <a:r>
              <a:rPr lang="en-US" err="1"/>
              <a:t>phương</a:t>
            </a:r>
            <a:r>
              <a:rPr lang="en-US"/>
              <a:t> </a:t>
            </a:r>
            <a:r>
              <a:rPr lang="en-US" err="1"/>
              <a:t>pháp</a:t>
            </a:r>
            <a:r>
              <a:rPr lang="en-US"/>
              <a:t> Matrix Factorization, </a:t>
            </a:r>
            <a:r>
              <a:rPr lang="en-US" err="1"/>
              <a:t>mô</a:t>
            </a:r>
            <a:r>
              <a:rPr lang="en-US"/>
              <a:t> </a:t>
            </a:r>
            <a:r>
              <a:rPr lang="en-US" err="1"/>
              <a:t>hình</a:t>
            </a:r>
            <a:r>
              <a:rPr lang="en-US"/>
              <a:t> </a:t>
            </a:r>
            <a:r>
              <a:rPr lang="en-US" err="1"/>
              <a:t>được</a:t>
            </a:r>
            <a:r>
              <a:rPr lang="en-US"/>
              <a:t> </a:t>
            </a:r>
            <a:r>
              <a:rPr lang="en-US" err="1"/>
              <a:t>huấn</a:t>
            </a:r>
            <a:r>
              <a:rPr lang="en-US"/>
              <a:t> </a:t>
            </a:r>
            <a:r>
              <a:rPr lang="en-US" err="1"/>
              <a:t>luyện</a:t>
            </a:r>
            <a:r>
              <a:rPr lang="en-US"/>
              <a:t> </a:t>
            </a:r>
            <a:r>
              <a:rPr lang="en-US" err="1"/>
              <a:t>dựa</a:t>
            </a:r>
            <a:r>
              <a:rPr lang="en-US"/>
              <a:t> </a:t>
            </a:r>
            <a:r>
              <a:rPr lang="en-US" err="1"/>
              <a:t>trên</a:t>
            </a:r>
            <a:r>
              <a:rPr lang="en-US"/>
              <a:t> </a:t>
            </a:r>
            <a:r>
              <a:rPr lang="en-US" err="1"/>
              <a:t>việc</a:t>
            </a:r>
            <a:r>
              <a:rPr lang="en-US"/>
              <a:t> </a:t>
            </a:r>
            <a:r>
              <a:rPr lang="en-US" err="1"/>
              <a:t>phân</a:t>
            </a:r>
            <a:r>
              <a:rPr lang="en-US"/>
              <a:t> </a:t>
            </a:r>
            <a:r>
              <a:rPr lang="en-US" err="1"/>
              <a:t>rã</a:t>
            </a:r>
            <a:r>
              <a:rPr lang="en-US"/>
              <a:t> ma </a:t>
            </a:r>
            <a:r>
              <a:rPr lang="en-US" err="1"/>
              <a:t>trận</a:t>
            </a:r>
            <a:r>
              <a:rPr lang="en-US"/>
              <a:t> </a:t>
            </a:r>
            <a:r>
              <a:rPr lang="en-US" err="1"/>
              <a:t>người</a:t>
            </a:r>
            <a:r>
              <a:rPr lang="en-US"/>
              <a:t> </a:t>
            </a:r>
            <a:r>
              <a:rPr lang="en-US" err="1"/>
              <a:t>dùng</a:t>
            </a:r>
            <a:r>
              <a:rPr lang="en-US"/>
              <a:t> – </a:t>
            </a:r>
            <a:r>
              <a:rPr lang="en-US" err="1"/>
              <a:t>sản</a:t>
            </a:r>
            <a:r>
              <a:rPr lang="en-US"/>
              <a:t> </a:t>
            </a:r>
            <a:r>
              <a:rPr lang="en-US" err="1"/>
              <a:t>phẩm</a:t>
            </a:r>
            <a:r>
              <a:rPr lang="en-US"/>
              <a:t> </a:t>
            </a:r>
            <a:r>
              <a:rPr lang="en-US" err="1"/>
              <a:t>thành</a:t>
            </a:r>
            <a:r>
              <a:rPr lang="en-US"/>
              <a:t> </a:t>
            </a:r>
            <a:r>
              <a:rPr lang="en-US" err="1"/>
              <a:t>hai</a:t>
            </a:r>
            <a:r>
              <a:rPr lang="en-US"/>
              <a:t> ma </a:t>
            </a:r>
            <a:r>
              <a:rPr lang="en-US" err="1"/>
              <a:t>trận</a:t>
            </a:r>
            <a:r>
              <a:rPr lang="en-US"/>
              <a:t> </a:t>
            </a:r>
            <a:r>
              <a:rPr lang="en-US" err="1"/>
              <a:t>tiềm</a:t>
            </a:r>
            <a:r>
              <a:rPr lang="en-US"/>
              <a:t> </a:t>
            </a:r>
            <a:r>
              <a:rPr lang="en-US" err="1"/>
              <a:t>ẩn</a:t>
            </a:r>
            <a:r>
              <a:rPr lang="en-US"/>
              <a:t>. Các </a:t>
            </a:r>
            <a:r>
              <a:rPr lang="en-US" err="1"/>
              <a:t>tham</a:t>
            </a:r>
            <a:r>
              <a:rPr lang="en-US"/>
              <a:t> </a:t>
            </a:r>
            <a:r>
              <a:rPr lang="en-US" err="1"/>
              <a:t>số</a:t>
            </a:r>
            <a:r>
              <a:rPr lang="en-US"/>
              <a:t> </a:t>
            </a:r>
            <a:r>
              <a:rPr lang="en-US" err="1"/>
              <a:t>chính</a:t>
            </a:r>
            <a:r>
              <a:rPr lang="en-US"/>
              <a:t> </a:t>
            </a:r>
            <a:r>
              <a:rPr lang="en-US" err="1"/>
              <a:t>gồm</a:t>
            </a:r>
            <a:r>
              <a:rPr lang="en-US"/>
              <a:t>:</a:t>
            </a:r>
          </a:p>
          <a:p>
            <a:pPr>
              <a:buNone/>
            </a:pPr>
            <a:r>
              <a:rPr lang="en-US"/>
              <a:t>•    </a:t>
            </a:r>
            <a:r>
              <a:rPr lang="en-US" err="1"/>
              <a:t>n_factors</a:t>
            </a:r>
            <a:r>
              <a:rPr lang="en-US"/>
              <a:t> = 50: </a:t>
            </a:r>
            <a:r>
              <a:rPr lang="en-US" err="1"/>
              <a:t>số</a:t>
            </a:r>
            <a:r>
              <a:rPr lang="en-US"/>
              <a:t> </a:t>
            </a:r>
            <a:r>
              <a:rPr lang="en-US" err="1"/>
              <a:t>chiều</a:t>
            </a:r>
            <a:r>
              <a:rPr lang="en-US"/>
              <a:t> </a:t>
            </a:r>
            <a:r>
              <a:rPr lang="en-US" err="1"/>
              <a:t>không</a:t>
            </a:r>
            <a:r>
              <a:rPr lang="en-US"/>
              <a:t> </a:t>
            </a:r>
            <a:r>
              <a:rPr lang="en-US" err="1"/>
              <a:t>gian</a:t>
            </a:r>
            <a:r>
              <a:rPr lang="en-US"/>
              <a:t> latent </a:t>
            </a:r>
            <a:r>
              <a:rPr lang="en-US" err="1"/>
              <a:t>để</a:t>
            </a:r>
            <a:r>
              <a:rPr lang="en-US"/>
              <a:t> </a:t>
            </a:r>
            <a:r>
              <a:rPr lang="en-US" err="1"/>
              <a:t>biểu</a:t>
            </a:r>
            <a:r>
              <a:rPr lang="en-US"/>
              <a:t> </a:t>
            </a:r>
            <a:r>
              <a:rPr lang="en-US" err="1"/>
              <a:t>diễn</a:t>
            </a:r>
            <a:r>
              <a:rPr lang="en-US"/>
              <a:t> </a:t>
            </a:r>
            <a:r>
              <a:rPr lang="en-US" err="1"/>
              <a:t>người</a:t>
            </a:r>
            <a:r>
              <a:rPr lang="en-US"/>
              <a:t> </a:t>
            </a:r>
            <a:r>
              <a:rPr lang="en-US" err="1"/>
              <a:t>dùng</a:t>
            </a:r>
            <a:r>
              <a:rPr lang="en-US"/>
              <a:t> </a:t>
            </a:r>
            <a:r>
              <a:rPr lang="en-US" err="1"/>
              <a:t>và</a:t>
            </a:r>
            <a:r>
              <a:rPr lang="en-US"/>
              <a:t> item.</a:t>
            </a:r>
          </a:p>
          <a:p>
            <a:pPr>
              <a:buNone/>
            </a:pPr>
            <a:r>
              <a:rPr lang="en-US"/>
              <a:t>•    </a:t>
            </a:r>
            <a:r>
              <a:rPr lang="en-US" err="1"/>
              <a:t>learning_rate</a:t>
            </a:r>
            <a:r>
              <a:rPr lang="en-US"/>
              <a:t> = 0.001: </a:t>
            </a:r>
            <a:r>
              <a:rPr lang="en-US" err="1"/>
              <a:t>tốc</a:t>
            </a:r>
            <a:r>
              <a:rPr lang="en-US"/>
              <a:t> </a:t>
            </a:r>
            <a:r>
              <a:rPr lang="en-US" err="1"/>
              <a:t>độ</a:t>
            </a:r>
            <a:r>
              <a:rPr lang="en-US"/>
              <a:t> </a:t>
            </a:r>
            <a:r>
              <a:rPr lang="en-US" err="1"/>
              <a:t>học</a:t>
            </a:r>
            <a:r>
              <a:rPr lang="en-US"/>
              <a:t> </a:t>
            </a:r>
            <a:r>
              <a:rPr lang="en-US" err="1"/>
              <a:t>tối</a:t>
            </a:r>
            <a:r>
              <a:rPr lang="en-US"/>
              <a:t> </a:t>
            </a:r>
            <a:r>
              <a:rPr lang="en-US" err="1"/>
              <a:t>ưu</a:t>
            </a:r>
            <a:r>
              <a:rPr lang="en-US"/>
              <a:t> </a:t>
            </a:r>
            <a:r>
              <a:rPr lang="en-US" err="1"/>
              <a:t>để</a:t>
            </a:r>
            <a:r>
              <a:rPr lang="en-US"/>
              <a:t> </a:t>
            </a:r>
            <a:r>
              <a:rPr lang="en-US" err="1"/>
              <a:t>tránh</a:t>
            </a:r>
            <a:r>
              <a:rPr lang="en-US"/>
              <a:t> </a:t>
            </a:r>
            <a:r>
              <a:rPr lang="en-US" err="1"/>
              <a:t>học</a:t>
            </a:r>
            <a:r>
              <a:rPr lang="en-US"/>
              <a:t> </a:t>
            </a:r>
            <a:r>
              <a:rPr lang="en-US" err="1"/>
              <a:t>quá</a:t>
            </a:r>
            <a:r>
              <a:rPr lang="en-US"/>
              <a:t> </a:t>
            </a:r>
            <a:r>
              <a:rPr lang="en-US" err="1"/>
              <a:t>nhanh</a:t>
            </a:r>
            <a:r>
              <a:rPr lang="en-US"/>
              <a:t> </a:t>
            </a:r>
            <a:r>
              <a:rPr lang="en-US" err="1"/>
              <a:t>hoặc</a:t>
            </a:r>
            <a:r>
              <a:rPr lang="en-US"/>
              <a:t> </a:t>
            </a:r>
            <a:r>
              <a:rPr lang="en-US" err="1"/>
              <a:t>quá</a:t>
            </a:r>
            <a:r>
              <a:rPr lang="en-US"/>
              <a:t> </a:t>
            </a:r>
            <a:r>
              <a:rPr lang="en-US" err="1"/>
              <a:t>chậm</a:t>
            </a:r>
            <a:r>
              <a:rPr lang="en-US"/>
              <a:t>.</a:t>
            </a:r>
          </a:p>
          <a:p>
            <a:pPr>
              <a:buNone/>
            </a:pPr>
            <a:r>
              <a:rPr lang="en-US"/>
              <a:t>•    </a:t>
            </a:r>
            <a:r>
              <a:rPr lang="en-US" err="1"/>
              <a:t>batch_size</a:t>
            </a:r>
            <a:r>
              <a:rPr lang="en-US"/>
              <a:t> = 256: </a:t>
            </a:r>
            <a:r>
              <a:rPr lang="en-US" err="1"/>
              <a:t>kích</a:t>
            </a:r>
            <a:r>
              <a:rPr lang="en-US"/>
              <a:t> </a:t>
            </a:r>
            <a:r>
              <a:rPr lang="en-US" err="1"/>
              <a:t>thước</a:t>
            </a:r>
            <a:r>
              <a:rPr lang="en-US"/>
              <a:t> </a:t>
            </a:r>
            <a:r>
              <a:rPr lang="en-US" err="1"/>
              <a:t>mỗi</a:t>
            </a:r>
            <a:r>
              <a:rPr lang="en-US"/>
              <a:t> </a:t>
            </a:r>
            <a:r>
              <a:rPr lang="en-US" err="1"/>
              <a:t>lô</a:t>
            </a:r>
            <a:r>
              <a:rPr lang="en-US"/>
              <a:t> </a:t>
            </a:r>
            <a:r>
              <a:rPr lang="en-US" err="1"/>
              <a:t>dữ</a:t>
            </a:r>
            <a:r>
              <a:rPr lang="en-US"/>
              <a:t> </a:t>
            </a:r>
            <a:r>
              <a:rPr lang="en-US" err="1"/>
              <a:t>liệu</a:t>
            </a:r>
            <a:r>
              <a:rPr lang="en-US"/>
              <a:t> </a:t>
            </a:r>
            <a:r>
              <a:rPr lang="en-US" err="1"/>
              <a:t>trong</a:t>
            </a:r>
            <a:r>
              <a:rPr lang="en-US"/>
              <a:t> </a:t>
            </a:r>
            <a:r>
              <a:rPr lang="en-US" err="1"/>
              <a:t>quá</a:t>
            </a:r>
            <a:r>
              <a:rPr lang="en-US"/>
              <a:t> </a:t>
            </a:r>
            <a:r>
              <a:rPr lang="en-US" err="1"/>
              <a:t>trình</a:t>
            </a:r>
            <a:r>
              <a:rPr lang="en-US"/>
              <a:t> </a:t>
            </a:r>
            <a:r>
              <a:rPr lang="en-US" err="1"/>
              <a:t>huấn</a:t>
            </a:r>
            <a:r>
              <a:rPr lang="en-US"/>
              <a:t> </a:t>
            </a:r>
            <a:r>
              <a:rPr lang="en-US" err="1"/>
              <a:t>luyện</a:t>
            </a:r>
            <a:r>
              <a:rPr lang="en-US"/>
              <a:t>.</a:t>
            </a:r>
          </a:p>
          <a:p>
            <a:pPr>
              <a:buNone/>
            </a:pPr>
            <a:r>
              <a:rPr lang="en-US"/>
              <a:t>•    epochs = 50: </a:t>
            </a:r>
            <a:r>
              <a:rPr lang="en-US" err="1"/>
              <a:t>số</a:t>
            </a:r>
            <a:r>
              <a:rPr lang="en-US"/>
              <a:t> </a:t>
            </a:r>
            <a:r>
              <a:rPr lang="en-US" err="1"/>
              <a:t>vòng</a:t>
            </a:r>
            <a:r>
              <a:rPr lang="en-US"/>
              <a:t> </a:t>
            </a:r>
            <a:r>
              <a:rPr lang="en-US" err="1"/>
              <a:t>lặp</a:t>
            </a:r>
            <a:r>
              <a:rPr lang="en-US"/>
              <a:t> </a:t>
            </a:r>
            <a:r>
              <a:rPr lang="en-US" err="1"/>
              <a:t>huấn</a:t>
            </a:r>
            <a:r>
              <a:rPr lang="en-US"/>
              <a:t> </a:t>
            </a:r>
            <a:r>
              <a:rPr lang="en-US" err="1"/>
              <a:t>luyện</a:t>
            </a:r>
            <a:r>
              <a:rPr lang="en-US"/>
              <a:t> </a:t>
            </a:r>
            <a:r>
              <a:rPr lang="en-US" err="1"/>
              <a:t>toàn</a:t>
            </a:r>
            <a:r>
              <a:rPr lang="en-US"/>
              <a:t> </a:t>
            </a:r>
            <a:r>
              <a:rPr lang="en-US" err="1"/>
              <a:t>bộ</a:t>
            </a:r>
            <a:r>
              <a:rPr lang="en-US"/>
              <a:t> </a:t>
            </a:r>
            <a:r>
              <a:rPr lang="en-US" err="1"/>
              <a:t>tập</a:t>
            </a:r>
            <a:r>
              <a:rPr lang="en-US"/>
              <a:t> </a:t>
            </a:r>
            <a:r>
              <a:rPr lang="en-US" err="1"/>
              <a:t>dữ</a:t>
            </a:r>
            <a:r>
              <a:rPr lang="en-US"/>
              <a:t> </a:t>
            </a:r>
            <a:r>
              <a:rPr lang="en-US" err="1"/>
              <a:t>liệu</a:t>
            </a:r>
            <a:r>
              <a:rPr lang="en-US"/>
              <a:t>.</a:t>
            </a:r>
          </a:p>
          <a:p>
            <a:pPr>
              <a:buNone/>
            </a:pPr>
            <a:r>
              <a:rPr lang="en-US"/>
              <a:t>•    regularization = 0.1: </a:t>
            </a:r>
            <a:r>
              <a:rPr lang="en-US" err="1"/>
              <a:t>hệ</a:t>
            </a:r>
            <a:r>
              <a:rPr lang="en-US"/>
              <a:t> </a:t>
            </a:r>
            <a:r>
              <a:rPr lang="en-US" err="1"/>
              <a:t>số</a:t>
            </a:r>
            <a:r>
              <a:rPr lang="en-US"/>
              <a:t> </a:t>
            </a:r>
            <a:r>
              <a:rPr lang="en-US" err="1"/>
              <a:t>phạt</a:t>
            </a:r>
            <a:r>
              <a:rPr lang="en-US"/>
              <a:t> </a:t>
            </a:r>
            <a:r>
              <a:rPr lang="en-US" err="1"/>
              <a:t>nhằm</a:t>
            </a:r>
            <a:r>
              <a:rPr lang="en-US"/>
              <a:t> </a:t>
            </a:r>
            <a:r>
              <a:rPr lang="en-US" err="1"/>
              <a:t>hạn</a:t>
            </a:r>
            <a:r>
              <a:rPr lang="en-US"/>
              <a:t> </a:t>
            </a:r>
            <a:r>
              <a:rPr lang="en-US" err="1"/>
              <a:t>chế</a:t>
            </a:r>
            <a:r>
              <a:rPr lang="en-US"/>
              <a:t> overfitting.</a:t>
            </a:r>
          </a:p>
          <a:p>
            <a:pPr>
              <a:buNone/>
            </a:pPr>
            <a:r>
              <a:rPr lang="en-US" err="1"/>
              <a:t>Mục</a:t>
            </a:r>
            <a:r>
              <a:rPr lang="en-US"/>
              <a:t> </a:t>
            </a:r>
            <a:r>
              <a:rPr lang="en-US" err="1"/>
              <a:t>tiêu</a:t>
            </a:r>
            <a:r>
              <a:rPr lang="en-US"/>
              <a:t> </a:t>
            </a:r>
            <a:r>
              <a:rPr lang="en-US" err="1"/>
              <a:t>của</a:t>
            </a:r>
            <a:r>
              <a:rPr lang="en-US"/>
              <a:t> </a:t>
            </a:r>
            <a:r>
              <a:rPr lang="en-US" err="1"/>
              <a:t>cấu</a:t>
            </a:r>
            <a:r>
              <a:rPr lang="en-US"/>
              <a:t> </a:t>
            </a:r>
            <a:r>
              <a:rPr lang="en-US" err="1"/>
              <a:t>hình</a:t>
            </a:r>
            <a:r>
              <a:rPr lang="en-US"/>
              <a:t> </a:t>
            </a:r>
            <a:r>
              <a:rPr lang="en-US" err="1"/>
              <a:t>này</a:t>
            </a:r>
            <a:r>
              <a:rPr lang="en-US"/>
              <a:t> </a:t>
            </a:r>
            <a:r>
              <a:rPr lang="en-US" err="1"/>
              <a:t>là</a:t>
            </a:r>
            <a:r>
              <a:rPr lang="en-US"/>
              <a:t> </a:t>
            </a:r>
            <a:r>
              <a:rPr lang="en-US" err="1"/>
              <a:t>cân</a:t>
            </a:r>
            <a:r>
              <a:rPr lang="en-US"/>
              <a:t> </a:t>
            </a:r>
            <a:r>
              <a:rPr lang="en-US" err="1"/>
              <a:t>bằng</a:t>
            </a:r>
            <a:r>
              <a:rPr lang="en-US"/>
              <a:t> </a:t>
            </a:r>
            <a:r>
              <a:rPr lang="en-US" err="1"/>
              <a:t>giữa</a:t>
            </a:r>
            <a:r>
              <a:rPr lang="en-US"/>
              <a:t> </a:t>
            </a:r>
            <a:r>
              <a:rPr lang="en-US" err="1"/>
              <a:t>chất</a:t>
            </a:r>
            <a:r>
              <a:rPr lang="en-US"/>
              <a:t> </a:t>
            </a:r>
            <a:r>
              <a:rPr lang="en-US" err="1"/>
              <a:t>lượng</a:t>
            </a:r>
            <a:r>
              <a:rPr lang="en-US"/>
              <a:t> </a:t>
            </a:r>
            <a:r>
              <a:rPr lang="en-US" err="1"/>
              <a:t>dự</a:t>
            </a:r>
            <a:r>
              <a:rPr lang="en-US"/>
              <a:t> </a:t>
            </a:r>
            <a:r>
              <a:rPr lang="en-US" err="1"/>
              <a:t>đoán</a:t>
            </a:r>
            <a:r>
              <a:rPr lang="en-US"/>
              <a:t> </a:t>
            </a:r>
            <a:r>
              <a:rPr lang="en-US" err="1"/>
              <a:t>và</a:t>
            </a:r>
            <a:r>
              <a:rPr lang="en-US"/>
              <a:t> </a:t>
            </a:r>
            <a:r>
              <a:rPr lang="en-US" err="1"/>
              <a:t>thời</a:t>
            </a:r>
            <a:r>
              <a:rPr lang="en-US"/>
              <a:t> </a:t>
            </a:r>
            <a:r>
              <a:rPr lang="en-US" err="1"/>
              <a:t>gian</a:t>
            </a:r>
            <a:r>
              <a:rPr lang="en-US"/>
              <a:t> </a:t>
            </a:r>
            <a:r>
              <a:rPr lang="en-US" err="1"/>
              <a:t>huấn</a:t>
            </a:r>
            <a:r>
              <a:rPr lang="en-US"/>
              <a:t> </a:t>
            </a:r>
            <a:r>
              <a:rPr lang="en-US" err="1"/>
              <a:t>luyện</a:t>
            </a:r>
            <a:r>
              <a:rPr lang="en-US"/>
              <a:t>.</a:t>
            </a:r>
          </a:p>
          <a:p>
            <a:pPr>
              <a:buNone/>
            </a:pPr>
            <a:r>
              <a:rPr lang="en-US" b="1"/>
              <a:t>2. Collaborative Filtering</a:t>
            </a:r>
          </a:p>
          <a:p>
            <a:pPr>
              <a:buNone/>
            </a:pPr>
            <a:r>
              <a:rPr lang="en-US" err="1"/>
              <a:t>Với</a:t>
            </a:r>
            <a:r>
              <a:rPr lang="en-US"/>
              <a:t> </a:t>
            </a:r>
            <a:r>
              <a:rPr lang="en-US" err="1"/>
              <a:t>phương</a:t>
            </a:r>
            <a:r>
              <a:rPr lang="en-US"/>
              <a:t> </a:t>
            </a:r>
            <a:r>
              <a:rPr lang="en-US" err="1"/>
              <a:t>pháp</a:t>
            </a:r>
            <a:r>
              <a:rPr lang="en-US"/>
              <a:t> </a:t>
            </a:r>
            <a:r>
              <a:rPr lang="en-US" err="1"/>
              <a:t>lọc</a:t>
            </a:r>
            <a:r>
              <a:rPr lang="en-US"/>
              <a:t> </a:t>
            </a:r>
            <a:r>
              <a:rPr lang="en-US" err="1"/>
              <a:t>cộng</a:t>
            </a:r>
            <a:r>
              <a:rPr lang="en-US"/>
              <a:t> </a:t>
            </a:r>
            <a:r>
              <a:rPr lang="en-US" err="1"/>
              <a:t>tác</a:t>
            </a:r>
            <a:r>
              <a:rPr lang="en-US"/>
              <a:t>, </a:t>
            </a:r>
            <a:r>
              <a:rPr lang="en-US" err="1"/>
              <a:t>mô</a:t>
            </a:r>
            <a:r>
              <a:rPr lang="en-US"/>
              <a:t> </a:t>
            </a:r>
            <a:r>
              <a:rPr lang="en-US" err="1"/>
              <a:t>hình</a:t>
            </a:r>
            <a:r>
              <a:rPr lang="en-US"/>
              <a:t> </a:t>
            </a:r>
            <a:r>
              <a:rPr lang="en-US" err="1"/>
              <a:t>dựa</a:t>
            </a:r>
            <a:r>
              <a:rPr lang="en-US"/>
              <a:t> </a:t>
            </a:r>
            <a:r>
              <a:rPr lang="en-US" err="1"/>
              <a:t>trên</a:t>
            </a:r>
            <a:r>
              <a:rPr lang="en-US"/>
              <a:t> </a:t>
            </a:r>
            <a:r>
              <a:rPr lang="en-US" err="1"/>
              <a:t>việc</a:t>
            </a:r>
            <a:r>
              <a:rPr lang="en-US"/>
              <a:t> </a:t>
            </a:r>
            <a:r>
              <a:rPr lang="en-US" err="1"/>
              <a:t>tìm</a:t>
            </a:r>
            <a:r>
              <a:rPr lang="en-US"/>
              <a:t> </a:t>
            </a:r>
            <a:r>
              <a:rPr lang="en-US" err="1"/>
              <a:t>các</a:t>
            </a:r>
            <a:r>
              <a:rPr lang="en-US"/>
              <a:t> </a:t>
            </a:r>
            <a:r>
              <a:rPr lang="en-US" err="1"/>
              <a:t>tập</a:t>
            </a:r>
            <a:r>
              <a:rPr lang="en-US"/>
              <a:t> </a:t>
            </a:r>
            <a:r>
              <a:rPr lang="en-US" err="1"/>
              <a:t>người</a:t>
            </a:r>
            <a:r>
              <a:rPr lang="en-US"/>
              <a:t> </a:t>
            </a:r>
            <a:r>
              <a:rPr lang="en-US" err="1"/>
              <a:t>dùng</a:t>
            </a:r>
            <a:r>
              <a:rPr lang="en-US"/>
              <a:t> </a:t>
            </a:r>
            <a:r>
              <a:rPr lang="en-US" err="1"/>
              <a:t>hoặc</a:t>
            </a:r>
            <a:r>
              <a:rPr lang="en-US"/>
              <a:t> </a:t>
            </a:r>
            <a:r>
              <a:rPr lang="en-US" err="1"/>
              <a:t>sản</a:t>
            </a:r>
            <a:r>
              <a:rPr lang="en-US"/>
              <a:t> </a:t>
            </a:r>
            <a:r>
              <a:rPr lang="en-US" err="1"/>
              <a:t>phẩm</a:t>
            </a:r>
            <a:r>
              <a:rPr lang="en-US"/>
              <a:t> </a:t>
            </a:r>
            <a:r>
              <a:rPr lang="en-US" err="1"/>
              <a:t>có</a:t>
            </a:r>
            <a:r>
              <a:rPr lang="en-US"/>
              <a:t> </a:t>
            </a:r>
            <a:r>
              <a:rPr lang="en-US" err="1"/>
              <a:t>đặc</a:t>
            </a:r>
            <a:r>
              <a:rPr lang="en-US"/>
              <a:t> </a:t>
            </a:r>
            <a:r>
              <a:rPr lang="en-US" err="1"/>
              <a:t>điểm</a:t>
            </a:r>
            <a:r>
              <a:rPr lang="en-US"/>
              <a:t> </a:t>
            </a:r>
            <a:r>
              <a:rPr lang="en-US" err="1"/>
              <a:t>tương</a:t>
            </a:r>
            <a:r>
              <a:rPr lang="en-US"/>
              <a:t> </a:t>
            </a:r>
            <a:r>
              <a:rPr lang="en-US" err="1"/>
              <a:t>đồng</a:t>
            </a:r>
            <a:r>
              <a:rPr lang="en-US"/>
              <a:t>.</a:t>
            </a:r>
          </a:p>
          <a:p>
            <a:pPr>
              <a:buNone/>
            </a:pPr>
            <a:r>
              <a:rPr lang="en-US" err="1"/>
              <a:t>Cấu</a:t>
            </a:r>
            <a:r>
              <a:rPr lang="en-US"/>
              <a:t> </a:t>
            </a:r>
            <a:r>
              <a:rPr lang="en-US" err="1"/>
              <a:t>hình</a:t>
            </a:r>
            <a:r>
              <a:rPr lang="en-US"/>
              <a:t> </a:t>
            </a:r>
            <a:r>
              <a:rPr lang="en-US" err="1"/>
              <a:t>chính</a:t>
            </a:r>
            <a:r>
              <a:rPr lang="en-US"/>
              <a:t> bao </a:t>
            </a:r>
            <a:r>
              <a:rPr lang="en-US" err="1"/>
              <a:t>gồm</a:t>
            </a:r>
            <a:r>
              <a:rPr lang="en-US"/>
              <a:t>:</a:t>
            </a:r>
          </a:p>
          <a:p>
            <a:pPr>
              <a:buNone/>
            </a:pPr>
            <a:r>
              <a:rPr lang="en-US"/>
              <a:t>•    </a:t>
            </a:r>
            <a:r>
              <a:rPr lang="en-US" err="1"/>
              <a:t>cf_type</a:t>
            </a:r>
            <a:r>
              <a:rPr lang="en-US"/>
              <a:t> = </a:t>
            </a:r>
            <a:r>
              <a:rPr lang="en-US" err="1"/>
              <a:t>user_based</a:t>
            </a:r>
            <a:r>
              <a:rPr lang="en-US"/>
              <a:t>: </a:t>
            </a:r>
            <a:r>
              <a:rPr lang="en-US" err="1"/>
              <a:t>mô</a:t>
            </a:r>
            <a:r>
              <a:rPr lang="en-US"/>
              <a:t> </a:t>
            </a:r>
            <a:r>
              <a:rPr lang="en-US" err="1"/>
              <a:t>hình</a:t>
            </a:r>
            <a:r>
              <a:rPr lang="en-US"/>
              <a:t> </a:t>
            </a:r>
            <a:r>
              <a:rPr lang="en-US" err="1"/>
              <a:t>dựa</a:t>
            </a:r>
            <a:r>
              <a:rPr lang="en-US"/>
              <a:t> </a:t>
            </a:r>
            <a:r>
              <a:rPr lang="en-US" err="1"/>
              <a:t>trên</a:t>
            </a:r>
            <a:r>
              <a:rPr lang="en-US"/>
              <a:t> </a:t>
            </a:r>
            <a:r>
              <a:rPr lang="en-US" err="1"/>
              <a:t>tương</a:t>
            </a:r>
            <a:r>
              <a:rPr lang="en-US"/>
              <a:t> </a:t>
            </a:r>
            <a:r>
              <a:rPr lang="en-US" err="1"/>
              <a:t>đồng</a:t>
            </a:r>
            <a:r>
              <a:rPr lang="en-US"/>
              <a:t> </a:t>
            </a:r>
            <a:r>
              <a:rPr lang="en-US" err="1"/>
              <a:t>người</a:t>
            </a:r>
            <a:r>
              <a:rPr lang="en-US"/>
              <a:t> </a:t>
            </a:r>
            <a:r>
              <a:rPr lang="en-US" err="1"/>
              <a:t>dùng</a:t>
            </a:r>
            <a:r>
              <a:rPr lang="en-US"/>
              <a:t>.</a:t>
            </a:r>
          </a:p>
          <a:p>
            <a:pPr>
              <a:buNone/>
            </a:pPr>
            <a:r>
              <a:rPr lang="en-US"/>
              <a:t>•    </a:t>
            </a:r>
            <a:r>
              <a:rPr lang="en-US" err="1"/>
              <a:t>similarity_method</a:t>
            </a:r>
            <a:r>
              <a:rPr lang="en-US"/>
              <a:t> = </a:t>
            </a:r>
            <a:r>
              <a:rPr lang="en-US" err="1"/>
              <a:t>pearson</a:t>
            </a:r>
            <a:r>
              <a:rPr lang="en-US"/>
              <a:t>: </a:t>
            </a:r>
            <a:r>
              <a:rPr lang="en-US" err="1"/>
              <a:t>sử</a:t>
            </a:r>
            <a:r>
              <a:rPr lang="en-US"/>
              <a:t> </a:t>
            </a:r>
            <a:r>
              <a:rPr lang="en-US" err="1"/>
              <a:t>dụng</a:t>
            </a:r>
            <a:r>
              <a:rPr lang="en-US"/>
              <a:t> </a:t>
            </a:r>
            <a:r>
              <a:rPr lang="en-US" err="1"/>
              <a:t>hệ</a:t>
            </a:r>
            <a:r>
              <a:rPr lang="en-US"/>
              <a:t> </a:t>
            </a:r>
            <a:r>
              <a:rPr lang="en-US" err="1"/>
              <a:t>số</a:t>
            </a:r>
            <a:r>
              <a:rPr lang="en-US"/>
              <a:t> </a:t>
            </a:r>
            <a:r>
              <a:rPr lang="en-US" err="1"/>
              <a:t>tương</a:t>
            </a:r>
            <a:r>
              <a:rPr lang="en-US"/>
              <a:t> </a:t>
            </a:r>
            <a:r>
              <a:rPr lang="en-US" err="1"/>
              <a:t>quan</a:t>
            </a:r>
            <a:r>
              <a:rPr lang="en-US"/>
              <a:t> Pearson </a:t>
            </a:r>
            <a:r>
              <a:rPr lang="en-US" err="1"/>
              <a:t>để</a:t>
            </a:r>
            <a:r>
              <a:rPr lang="en-US"/>
              <a:t> </a:t>
            </a:r>
            <a:r>
              <a:rPr lang="en-US" err="1"/>
              <a:t>tính</a:t>
            </a:r>
            <a:r>
              <a:rPr lang="en-US"/>
              <a:t> </a:t>
            </a:r>
            <a:r>
              <a:rPr lang="en-US" err="1"/>
              <a:t>mức</a:t>
            </a:r>
            <a:r>
              <a:rPr lang="en-US"/>
              <a:t> </a:t>
            </a:r>
            <a:r>
              <a:rPr lang="en-US" err="1"/>
              <a:t>độ</a:t>
            </a:r>
            <a:r>
              <a:rPr lang="en-US"/>
              <a:t> </a:t>
            </a:r>
            <a:r>
              <a:rPr lang="en-US" err="1"/>
              <a:t>giống</a:t>
            </a:r>
            <a:r>
              <a:rPr lang="en-US"/>
              <a:t> </a:t>
            </a:r>
            <a:r>
              <a:rPr lang="en-US" err="1"/>
              <a:t>nhau</a:t>
            </a:r>
            <a:r>
              <a:rPr lang="en-US"/>
              <a:t>.</a:t>
            </a:r>
          </a:p>
          <a:p>
            <a:pPr>
              <a:buNone/>
            </a:pPr>
            <a:r>
              <a:rPr lang="en-US"/>
              <a:t>•    </a:t>
            </a:r>
            <a:r>
              <a:rPr lang="en-US" err="1"/>
              <a:t>k_neighbors</a:t>
            </a:r>
            <a:r>
              <a:rPr lang="en-US"/>
              <a:t> = 50: </a:t>
            </a:r>
            <a:r>
              <a:rPr lang="en-US" err="1"/>
              <a:t>số</a:t>
            </a:r>
            <a:r>
              <a:rPr lang="en-US"/>
              <a:t> </a:t>
            </a:r>
            <a:r>
              <a:rPr lang="en-US" err="1"/>
              <a:t>lượng</a:t>
            </a:r>
            <a:r>
              <a:rPr lang="en-US"/>
              <a:t> </a:t>
            </a:r>
            <a:r>
              <a:rPr lang="en-US" err="1"/>
              <a:t>hàng</a:t>
            </a:r>
            <a:r>
              <a:rPr lang="en-US"/>
              <a:t> </a:t>
            </a:r>
            <a:r>
              <a:rPr lang="en-US" err="1"/>
              <a:t>xóm</a:t>
            </a:r>
            <a:r>
              <a:rPr lang="en-US"/>
              <a:t> </a:t>
            </a:r>
            <a:r>
              <a:rPr lang="en-US" err="1"/>
              <a:t>gần</a:t>
            </a:r>
            <a:r>
              <a:rPr lang="en-US"/>
              <a:t> </a:t>
            </a:r>
            <a:r>
              <a:rPr lang="en-US" err="1"/>
              <a:t>nhất</a:t>
            </a:r>
            <a:r>
              <a:rPr lang="en-US"/>
              <a:t> </a:t>
            </a:r>
            <a:r>
              <a:rPr lang="en-US" err="1"/>
              <a:t>được</a:t>
            </a:r>
            <a:r>
              <a:rPr lang="en-US"/>
              <a:t> </a:t>
            </a:r>
            <a:r>
              <a:rPr lang="en-US" err="1"/>
              <a:t>xem</a:t>
            </a:r>
            <a:r>
              <a:rPr lang="en-US"/>
              <a:t> </a:t>
            </a:r>
            <a:r>
              <a:rPr lang="en-US" err="1"/>
              <a:t>xét</a:t>
            </a:r>
            <a:r>
              <a:rPr lang="en-US"/>
              <a:t> </a:t>
            </a:r>
            <a:r>
              <a:rPr lang="en-US" err="1"/>
              <a:t>trong</a:t>
            </a:r>
            <a:r>
              <a:rPr lang="en-US"/>
              <a:t> </a:t>
            </a:r>
            <a:r>
              <a:rPr lang="en-US" err="1"/>
              <a:t>quá</a:t>
            </a:r>
            <a:r>
              <a:rPr lang="en-US"/>
              <a:t> </a:t>
            </a:r>
            <a:r>
              <a:rPr lang="en-US" err="1"/>
              <a:t>trình</a:t>
            </a:r>
            <a:r>
              <a:rPr lang="en-US"/>
              <a:t> </a:t>
            </a:r>
            <a:r>
              <a:rPr lang="en-US" err="1"/>
              <a:t>dự</a:t>
            </a:r>
            <a:r>
              <a:rPr lang="en-US"/>
              <a:t> </a:t>
            </a:r>
            <a:r>
              <a:rPr lang="en-US" err="1"/>
              <a:t>đoán</a:t>
            </a:r>
            <a:r>
              <a:rPr lang="en-US"/>
              <a:t>.</a:t>
            </a:r>
          </a:p>
          <a:p>
            <a:pPr>
              <a:buNone/>
            </a:pPr>
            <a:r>
              <a:rPr lang="en-US"/>
              <a:t>•    </a:t>
            </a:r>
            <a:r>
              <a:rPr lang="en-US" err="1"/>
              <a:t>min_common_items</a:t>
            </a:r>
            <a:r>
              <a:rPr lang="en-US"/>
              <a:t> = 5: </a:t>
            </a:r>
            <a:r>
              <a:rPr lang="en-US" err="1"/>
              <a:t>yêu</a:t>
            </a:r>
            <a:r>
              <a:rPr lang="en-US"/>
              <a:t> </a:t>
            </a:r>
            <a:r>
              <a:rPr lang="en-US" err="1"/>
              <a:t>cầu</a:t>
            </a:r>
            <a:r>
              <a:rPr lang="en-US"/>
              <a:t> </a:t>
            </a:r>
            <a:r>
              <a:rPr lang="en-US" err="1"/>
              <a:t>tối</a:t>
            </a:r>
            <a:r>
              <a:rPr lang="en-US"/>
              <a:t> </a:t>
            </a:r>
            <a:r>
              <a:rPr lang="en-US" err="1"/>
              <a:t>thiểu</a:t>
            </a:r>
            <a:r>
              <a:rPr lang="en-US"/>
              <a:t> 5 items </a:t>
            </a:r>
            <a:r>
              <a:rPr lang="en-US" err="1"/>
              <a:t>chung</a:t>
            </a:r>
            <a:r>
              <a:rPr lang="en-US"/>
              <a:t> </a:t>
            </a:r>
            <a:r>
              <a:rPr lang="en-US" err="1"/>
              <a:t>để</a:t>
            </a:r>
            <a:r>
              <a:rPr lang="en-US"/>
              <a:t> </a:t>
            </a:r>
            <a:r>
              <a:rPr lang="en-US" err="1"/>
              <a:t>tính</a:t>
            </a:r>
            <a:r>
              <a:rPr lang="en-US"/>
              <a:t> similarity.</a:t>
            </a:r>
          </a:p>
          <a:p>
            <a:pPr>
              <a:buNone/>
            </a:pPr>
            <a:r>
              <a:rPr lang="en-US"/>
              <a:t>•    </a:t>
            </a:r>
            <a:r>
              <a:rPr lang="en-US" err="1"/>
              <a:t>min_common_users</a:t>
            </a:r>
            <a:r>
              <a:rPr lang="en-US"/>
              <a:t> = 2: </a:t>
            </a:r>
            <a:r>
              <a:rPr lang="en-US" err="1"/>
              <a:t>yêu</a:t>
            </a:r>
            <a:r>
              <a:rPr lang="en-US"/>
              <a:t> </a:t>
            </a:r>
            <a:r>
              <a:rPr lang="en-US" err="1"/>
              <a:t>cầu</a:t>
            </a:r>
            <a:r>
              <a:rPr lang="en-US"/>
              <a:t> </a:t>
            </a:r>
            <a:r>
              <a:rPr lang="en-US" err="1"/>
              <a:t>tối</a:t>
            </a:r>
            <a:r>
              <a:rPr lang="en-US"/>
              <a:t> </a:t>
            </a:r>
            <a:r>
              <a:rPr lang="en-US" err="1"/>
              <a:t>thiểu</a:t>
            </a:r>
            <a:r>
              <a:rPr lang="en-US"/>
              <a:t> 2 </a:t>
            </a:r>
            <a:r>
              <a:rPr lang="en-US" err="1"/>
              <a:t>người</a:t>
            </a:r>
            <a:r>
              <a:rPr lang="en-US"/>
              <a:t> </a:t>
            </a:r>
            <a:r>
              <a:rPr lang="en-US" err="1"/>
              <a:t>dùng</a:t>
            </a:r>
            <a:r>
              <a:rPr lang="en-US"/>
              <a:t> </a:t>
            </a:r>
            <a:r>
              <a:rPr lang="en-US" err="1"/>
              <a:t>chung</a:t>
            </a:r>
            <a:r>
              <a:rPr lang="en-US"/>
              <a:t> </a:t>
            </a:r>
            <a:r>
              <a:rPr lang="en-US" err="1"/>
              <a:t>đối</a:t>
            </a:r>
            <a:r>
              <a:rPr lang="en-US"/>
              <a:t> </a:t>
            </a:r>
            <a:r>
              <a:rPr lang="en-US" err="1"/>
              <a:t>với</a:t>
            </a:r>
            <a:r>
              <a:rPr lang="en-US"/>
              <a:t> item-based.</a:t>
            </a:r>
          </a:p>
          <a:p>
            <a:pPr>
              <a:buNone/>
            </a:pPr>
            <a:r>
              <a:rPr lang="en-US"/>
              <a:t>Các </a:t>
            </a:r>
            <a:r>
              <a:rPr lang="en-US" err="1"/>
              <a:t>tham</a:t>
            </a:r>
            <a:r>
              <a:rPr lang="en-US"/>
              <a:t> </a:t>
            </a:r>
            <a:r>
              <a:rPr lang="en-US" err="1"/>
              <a:t>số</a:t>
            </a:r>
            <a:r>
              <a:rPr lang="en-US"/>
              <a:t> </a:t>
            </a:r>
            <a:r>
              <a:rPr lang="en-US" err="1"/>
              <a:t>này</a:t>
            </a:r>
            <a:r>
              <a:rPr lang="en-US"/>
              <a:t> </a:t>
            </a:r>
            <a:r>
              <a:rPr lang="en-US" err="1"/>
              <a:t>giúp</a:t>
            </a:r>
            <a:r>
              <a:rPr lang="en-US"/>
              <a:t> </a:t>
            </a:r>
            <a:r>
              <a:rPr lang="en-US" err="1"/>
              <a:t>mô</a:t>
            </a:r>
            <a:r>
              <a:rPr lang="en-US"/>
              <a:t> </a:t>
            </a:r>
            <a:r>
              <a:rPr lang="en-US" err="1"/>
              <a:t>hình</a:t>
            </a:r>
            <a:r>
              <a:rPr lang="en-US"/>
              <a:t> </a:t>
            </a:r>
            <a:r>
              <a:rPr lang="en-US" err="1"/>
              <a:t>ổn</a:t>
            </a:r>
            <a:r>
              <a:rPr lang="en-US"/>
              <a:t> </a:t>
            </a:r>
            <a:r>
              <a:rPr lang="en-US" err="1"/>
              <a:t>định</a:t>
            </a:r>
            <a:r>
              <a:rPr lang="en-US"/>
              <a:t> </a:t>
            </a:r>
            <a:r>
              <a:rPr lang="en-US" err="1"/>
              <a:t>hơn</a:t>
            </a:r>
            <a:r>
              <a:rPr lang="en-US"/>
              <a:t> </a:t>
            </a:r>
            <a:r>
              <a:rPr lang="en-US" err="1"/>
              <a:t>và</a:t>
            </a:r>
            <a:r>
              <a:rPr lang="en-US"/>
              <a:t> </a:t>
            </a:r>
            <a:r>
              <a:rPr lang="en-US" err="1"/>
              <a:t>tránh</a:t>
            </a:r>
            <a:r>
              <a:rPr lang="en-US"/>
              <a:t> </a:t>
            </a:r>
            <a:r>
              <a:rPr lang="en-US" err="1"/>
              <a:t>trường</a:t>
            </a:r>
            <a:r>
              <a:rPr lang="en-US"/>
              <a:t> </a:t>
            </a:r>
            <a:r>
              <a:rPr lang="en-US" err="1"/>
              <a:t>hợp</a:t>
            </a:r>
            <a:r>
              <a:rPr lang="en-US"/>
              <a:t> </a:t>
            </a:r>
            <a:r>
              <a:rPr lang="en-US" err="1"/>
              <a:t>dữ</a:t>
            </a:r>
            <a:r>
              <a:rPr lang="en-US"/>
              <a:t> </a:t>
            </a:r>
            <a:r>
              <a:rPr lang="en-US" err="1"/>
              <a:t>liệu</a:t>
            </a:r>
            <a:r>
              <a:rPr lang="en-US"/>
              <a:t> </a:t>
            </a:r>
            <a:r>
              <a:rPr lang="en-US" err="1"/>
              <a:t>quá</a:t>
            </a:r>
            <a:r>
              <a:rPr lang="en-US"/>
              <a:t> </a:t>
            </a:r>
            <a:r>
              <a:rPr lang="en-US" err="1"/>
              <a:t>thưa</a:t>
            </a:r>
            <a:r>
              <a:rPr lang="en-US"/>
              <a:t> </a:t>
            </a:r>
            <a:r>
              <a:rPr lang="en-US" err="1"/>
              <a:t>gây</a:t>
            </a:r>
            <a:r>
              <a:rPr lang="en-US"/>
              <a:t> </a:t>
            </a:r>
            <a:r>
              <a:rPr lang="en-US" err="1"/>
              <a:t>nhiễu</a:t>
            </a:r>
            <a:r>
              <a:rPr lang="en-US"/>
              <a:t>.</a:t>
            </a:r>
          </a:p>
          <a:p>
            <a:pPr>
              <a:buNone/>
            </a:pPr>
            <a:r>
              <a:rPr lang="en-US" b="1"/>
              <a:t>3. </a:t>
            </a:r>
            <a:r>
              <a:rPr lang="en-US" b="1" err="1"/>
              <a:t>SASRec</a:t>
            </a:r>
            <a:r>
              <a:rPr lang="en-US" b="1"/>
              <a:t> (Self-Attentive Sequential Recommendation)</a:t>
            </a:r>
          </a:p>
          <a:p>
            <a:pPr>
              <a:buNone/>
            </a:pPr>
            <a:r>
              <a:rPr lang="en-US" err="1"/>
              <a:t>SASRec</a:t>
            </a:r>
            <a:r>
              <a:rPr lang="en-US"/>
              <a:t> </a:t>
            </a:r>
            <a:r>
              <a:rPr lang="en-US" err="1"/>
              <a:t>là</a:t>
            </a:r>
            <a:r>
              <a:rPr lang="en-US"/>
              <a:t> </a:t>
            </a:r>
            <a:r>
              <a:rPr lang="en-US" err="1"/>
              <a:t>mô</a:t>
            </a:r>
            <a:r>
              <a:rPr lang="en-US"/>
              <a:t> </a:t>
            </a:r>
            <a:r>
              <a:rPr lang="en-US" err="1"/>
              <a:t>hình</a:t>
            </a:r>
            <a:r>
              <a:rPr lang="en-US"/>
              <a:t> </a:t>
            </a:r>
            <a:r>
              <a:rPr lang="en-US" err="1"/>
              <a:t>gợi</a:t>
            </a:r>
            <a:r>
              <a:rPr lang="en-US"/>
              <a:t> ý </a:t>
            </a:r>
            <a:r>
              <a:rPr lang="en-US" err="1"/>
              <a:t>theo</a:t>
            </a:r>
            <a:r>
              <a:rPr lang="en-US"/>
              <a:t> </a:t>
            </a:r>
            <a:r>
              <a:rPr lang="en-US" err="1"/>
              <a:t>chuỗi</a:t>
            </a:r>
            <a:r>
              <a:rPr lang="en-US"/>
              <a:t>, </a:t>
            </a:r>
            <a:r>
              <a:rPr lang="en-US" err="1"/>
              <a:t>sử</a:t>
            </a:r>
            <a:r>
              <a:rPr lang="en-US"/>
              <a:t> </a:t>
            </a:r>
            <a:r>
              <a:rPr lang="en-US" err="1"/>
              <a:t>dụng</a:t>
            </a:r>
            <a:r>
              <a:rPr lang="en-US"/>
              <a:t> </a:t>
            </a:r>
            <a:r>
              <a:rPr lang="en-US" err="1"/>
              <a:t>cơ</a:t>
            </a:r>
            <a:r>
              <a:rPr lang="en-US"/>
              <a:t> </a:t>
            </a:r>
            <a:r>
              <a:rPr lang="en-US" err="1"/>
              <a:t>chế</a:t>
            </a:r>
            <a:r>
              <a:rPr lang="en-US"/>
              <a:t> self-attention </a:t>
            </a:r>
            <a:r>
              <a:rPr lang="en-US" err="1"/>
              <a:t>để</a:t>
            </a:r>
            <a:r>
              <a:rPr lang="en-US"/>
              <a:t> </a:t>
            </a:r>
            <a:r>
              <a:rPr lang="en-US" err="1"/>
              <a:t>học</a:t>
            </a:r>
            <a:r>
              <a:rPr lang="en-US"/>
              <a:t> </a:t>
            </a:r>
            <a:r>
              <a:rPr lang="en-US" err="1"/>
              <a:t>thói</a:t>
            </a:r>
            <a:r>
              <a:rPr lang="en-US"/>
              <a:t> </a:t>
            </a:r>
            <a:r>
              <a:rPr lang="en-US" err="1"/>
              <a:t>quen</a:t>
            </a:r>
            <a:r>
              <a:rPr lang="en-US"/>
              <a:t> </a:t>
            </a:r>
            <a:r>
              <a:rPr lang="en-US" err="1"/>
              <a:t>tương</a:t>
            </a:r>
            <a:r>
              <a:rPr lang="en-US"/>
              <a:t> </a:t>
            </a:r>
            <a:r>
              <a:rPr lang="en-US" err="1"/>
              <a:t>tác</a:t>
            </a:r>
            <a:r>
              <a:rPr lang="en-US"/>
              <a:t> </a:t>
            </a:r>
            <a:r>
              <a:rPr lang="en-US" err="1"/>
              <a:t>của</a:t>
            </a:r>
            <a:r>
              <a:rPr lang="en-US"/>
              <a:t> </a:t>
            </a:r>
            <a:r>
              <a:rPr lang="en-US" err="1"/>
              <a:t>người</a:t>
            </a:r>
            <a:r>
              <a:rPr lang="en-US"/>
              <a:t> </a:t>
            </a:r>
            <a:r>
              <a:rPr lang="en-US" err="1"/>
              <a:t>dùng</a:t>
            </a:r>
            <a:r>
              <a:rPr lang="en-US"/>
              <a:t> </a:t>
            </a:r>
            <a:r>
              <a:rPr lang="en-US" err="1"/>
              <a:t>theo</a:t>
            </a:r>
            <a:r>
              <a:rPr lang="en-US"/>
              <a:t> </a:t>
            </a:r>
            <a:r>
              <a:rPr lang="en-US" err="1"/>
              <a:t>thời</a:t>
            </a:r>
            <a:r>
              <a:rPr lang="en-US"/>
              <a:t> </a:t>
            </a:r>
            <a:r>
              <a:rPr lang="en-US" err="1"/>
              <a:t>gian</a:t>
            </a:r>
            <a:r>
              <a:rPr lang="en-US"/>
              <a:t>.</a:t>
            </a:r>
          </a:p>
          <a:p>
            <a:pPr>
              <a:buNone/>
            </a:pPr>
            <a:r>
              <a:rPr lang="en-US"/>
              <a:t>Các </a:t>
            </a:r>
            <a:r>
              <a:rPr lang="en-US" err="1"/>
              <a:t>tham</a:t>
            </a:r>
            <a:r>
              <a:rPr lang="en-US"/>
              <a:t> </a:t>
            </a:r>
            <a:r>
              <a:rPr lang="en-US" err="1"/>
              <a:t>số</a:t>
            </a:r>
            <a:r>
              <a:rPr lang="en-US"/>
              <a:t>:</a:t>
            </a:r>
          </a:p>
          <a:p>
            <a:pPr>
              <a:buNone/>
            </a:pPr>
            <a:r>
              <a:rPr lang="en-US"/>
              <a:t>•    </a:t>
            </a:r>
            <a:r>
              <a:rPr lang="en-US" err="1"/>
              <a:t>cf_type</a:t>
            </a:r>
            <a:r>
              <a:rPr lang="en-US"/>
              <a:t> = </a:t>
            </a:r>
            <a:r>
              <a:rPr lang="en-US" err="1"/>
              <a:t>user_based</a:t>
            </a:r>
            <a:endParaRPr lang="en-US"/>
          </a:p>
          <a:p>
            <a:pPr>
              <a:buNone/>
            </a:pPr>
            <a:r>
              <a:rPr lang="en-US"/>
              <a:t>•    </a:t>
            </a:r>
            <a:r>
              <a:rPr lang="en-US" err="1"/>
              <a:t>similarity_method</a:t>
            </a:r>
            <a:r>
              <a:rPr lang="en-US"/>
              <a:t> = </a:t>
            </a:r>
            <a:r>
              <a:rPr lang="en-US" err="1"/>
              <a:t>pearson</a:t>
            </a:r>
            <a:endParaRPr lang="en-US"/>
          </a:p>
          <a:p>
            <a:pPr>
              <a:buNone/>
            </a:pPr>
            <a:r>
              <a:rPr lang="en-US"/>
              <a:t>•    </a:t>
            </a:r>
            <a:r>
              <a:rPr lang="en-US" err="1"/>
              <a:t>k_neighbors</a:t>
            </a:r>
            <a:r>
              <a:rPr lang="en-US"/>
              <a:t> = 50</a:t>
            </a:r>
          </a:p>
          <a:p>
            <a:pPr>
              <a:buNone/>
            </a:pPr>
            <a:r>
              <a:rPr lang="en-US"/>
              <a:t>•    </a:t>
            </a:r>
            <a:r>
              <a:rPr lang="en-US" err="1"/>
              <a:t>min_common_items</a:t>
            </a:r>
            <a:r>
              <a:rPr lang="en-US"/>
              <a:t> = 5</a:t>
            </a:r>
          </a:p>
          <a:p>
            <a:pPr>
              <a:buNone/>
            </a:pPr>
            <a:r>
              <a:rPr lang="en-US"/>
              <a:t>•    </a:t>
            </a:r>
            <a:r>
              <a:rPr lang="en-US" err="1"/>
              <a:t>min_common_users</a:t>
            </a:r>
            <a:r>
              <a:rPr lang="en-US"/>
              <a:t> = 2</a:t>
            </a:r>
          </a:p>
          <a:p>
            <a:pPr>
              <a:buNone/>
            </a:pPr>
            <a:r>
              <a:rPr lang="en-US" err="1"/>
              <a:t>Mặc</a:t>
            </a:r>
            <a:r>
              <a:rPr lang="en-US"/>
              <a:t> </a:t>
            </a:r>
            <a:r>
              <a:rPr lang="en-US" err="1"/>
              <a:t>dù</a:t>
            </a:r>
            <a:r>
              <a:rPr lang="en-US"/>
              <a:t> </a:t>
            </a:r>
            <a:r>
              <a:rPr lang="en-US" err="1"/>
              <a:t>được</a:t>
            </a:r>
            <a:r>
              <a:rPr lang="en-US"/>
              <a:t> </a:t>
            </a:r>
            <a:r>
              <a:rPr lang="en-US" err="1"/>
              <a:t>thiết</a:t>
            </a:r>
            <a:r>
              <a:rPr lang="en-US"/>
              <a:t> </a:t>
            </a:r>
            <a:r>
              <a:rPr lang="en-US" err="1"/>
              <a:t>kế</a:t>
            </a:r>
            <a:r>
              <a:rPr lang="en-US"/>
              <a:t> </a:t>
            </a:r>
            <a:r>
              <a:rPr lang="en-US" err="1"/>
              <a:t>theo</a:t>
            </a:r>
            <a:r>
              <a:rPr lang="en-US"/>
              <a:t> </a:t>
            </a:r>
            <a:r>
              <a:rPr lang="en-US" err="1"/>
              <a:t>hướng</a:t>
            </a:r>
            <a:r>
              <a:rPr lang="en-US"/>
              <a:t> </a:t>
            </a:r>
            <a:r>
              <a:rPr lang="en-US" err="1"/>
              <a:t>gợi</a:t>
            </a:r>
            <a:r>
              <a:rPr lang="en-US"/>
              <a:t> ý </a:t>
            </a:r>
            <a:r>
              <a:rPr lang="en-US" err="1"/>
              <a:t>tuần</a:t>
            </a:r>
            <a:r>
              <a:rPr lang="en-US"/>
              <a:t> </a:t>
            </a:r>
            <a:r>
              <a:rPr lang="en-US" err="1"/>
              <a:t>tự</a:t>
            </a:r>
            <a:r>
              <a:rPr lang="en-US"/>
              <a:t>, </a:t>
            </a:r>
            <a:r>
              <a:rPr lang="en-US" err="1"/>
              <a:t>trong</a:t>
            </a:r>
            <a:r>
              <a:rPr lang="en-US"/>
              <a:t> </a:t>
            </a:r>
            <a:r>
              <a:rPr lang="en-US" err="1"/>
              <a:t>đề</a:t>
            </a:r>
            <a:r>
              <a:rPr lang="en-US"/>
              <a:t> </a:t>
            </a:r>
            <a:r>
              <a:rPr lang="en-US" err="1"/>
              <a:t>tài</a:t>
            </a:r>
            <a:r>
              <a:rPr lang="en-US"/>
              <a:t> </a:t>
            </a:r>
            <a:r>
              <a:rPr lang="en-US" err="1"/>
              <a:t>này</a:t>
            </a:r>
            <a:r>
              <a:rPr lang="en-US"/>
              <a:t> </a:t>
            </a:r>
            <a:r>
              <a:rPr lang="en-US" err="1"/>
              <a:t>mô</a:t>
            </a:r>
            <a:r>
              <a:rPr lang="en-US"/>
              <a:t> </a:t>
            </a:r>
            <a:r>
              <a:rPr lang="en-US" err="1"/>
              <a:t>hình</a:t>
            </a:r>
            <a:r>
              <a:rPr lang="en-US"/>
              <a:t> </a:t>
            </a:r>
            <a:r>
              <a:rPr lang="en-US" err="1"/>
              <a:t>được</a:t>
            </a:r>
            <a:r>
              <a:rPr lang="en-US"/>
              <a:t> </a:t>
            </a:r>
            <a:r>
              <a:rPr lang="en-US" err="1"/>
              <a:t>cấu</a:t>
            </a:r>
            <a:r>
              <a:rPr lang="en-US"/>
              <a:t> </a:t>
            </a:r>
            <a:r>
              <a:rPr lang="en-US" err="1"/>
              <a:t>hình</a:t>
            </a:r>
            <a:r>
              <a:rPr lang="en-US"/>
              <a:t> </a:t>
            </a:r>
            <a:r>
              <a:rPr lang="en-US" err="1"/>
              <a:t>lại</a:t>
            </a:r>
            <a:r>
              <a:rPr lang="en-US"/>
              <a:t> </a:t>
            </a:r>
            <a:r>
              <a:rPr lang="en-US" err="1"/>
              <a:t>để</a:t>
            </a:r>
            <a:r>
              <a:rPr lang="en-US"/>
              <a:t> </a:t>
            </a:r>
            <a:r>
              <a:rPr lang="en-US" err="1"/>
              <a:t>phù</a:t>
            </a:r>
            <a:r>
              <a:rPr lang="en-US"/>
              <a:t> </a:t>
            </a:r>
            <a:r>
              <a:rPr lang="en-US" err="1"/>
              <a:t>hợp</a:t>
            </a:r>
            <a:r>
              <a:rPr lang="en-US"/>
              <a:t> </a:t>
            </a:r>
            <a:r>
              <a:rPr lang="en-US" err="1"/>
              <a:t>với</a:t>
            </a:r>
            <a:r>
              <a:rPr lang="en-US"/>
              <a:t> </a:t>
            </a:r>
            <a:r>
              <a:rPr lang="en-US" err="1"/>
              <a:t>cấu</a:t>
            </a:r>
            <a:r>
              <a:rPr lang="en-US"/>
              <a:t> </a:t>
            </a:r>
            <a:r>
              <a:rPr lang="en-US" err="1"/>
              <a:t>trúc</a:t>
            </a:r>
            <a:r>
              <a:rPr lang="en-US"/>
              <a:t> </a:t>
            </a:r>
            <a:r>
              <a:rPr lang="en-US" err="1"/>
              <a:t>dữ</a:t>
            </a:r>
            <a:r>
              <a:rPr lang="en-US"/>
              <a:t> </a:t>
            </a:r>
            <a:r>
              <a:rPr lang="en-US" err="1"/>
              <a:t>liệu</a:t>
            </a:r>
            <a:r>
              <a:rPr lang="en-US"/>
              <a:t> MovieLens 100K, </a:t>
            </a:r>
            <a:r>
              <a:rPr lang="en-US" err="1"/>
              <a:t>đồng</a:t>
            </a:r>
            <a:r>
              <a:rPr lang="en-US"/>
              <a:t> </a:t>
            </a:r>
            <a:r>
              <a:rPr lang="en-US" err="1"/>
              <a:t>thời</a:t>
            </a:r>
            <a:r>
              <a:rPr lang="en-US"/>
              <a:t> </a:t>
            </a:r>
            <a:r>
              <a:rPr lang="en-US" err="1"/>
              <a:t>cho</a:t>
            </a:r>
            <a:r>
              <a:rPr lang="en-US"/>
              <a:t> </a:t>
            </a:r>
            <a:r>
              <a:rPr lang="en-US" err="1"/>
              <a:t>phép</a:t>
            </a:r>
            <a:r>
              <a:rPr lang="en-US"/>
              <a:t> so </a:t>
            </a:r>
            <a:r>
              <a:rPr lang="en-US" err="1"/>
              <a:t>sánh</a:t>
            </a:r>
            <a:r>
              <a:rPr lang="en-US"/>
              <a:t> </a:t>
            </a:r>
            <a:r>
              <a:rPr lang="en-US" err="1"/>
              <a:t>công</a:t>
            </a:r>
            <a:r>
              <a:rPr lang="en-US"/>
              <a:t> </a:t>
            </a:r>
            <a:r>
              <a:rPr lang="en-US" err="1"/>
              <a:t>bằng</a:t>
            </a:r>
            <a:r>
              <a:rPr lang="en-US"/>
              <a:t> </a:t>
            </a:r>
            <a:r>
              <a:rPr lang="en-US" err="1"/>
              <a:t>với</a:t>
            </a:r>
            <a:r>
              <a:rPr lang="en-US"/>
              <a:t> Collaborative Filtering </a:t>
            </a:r>
            <a:r>
              <a:rPr lang="en-US" err="1"/>
              <a:t>truyền</a:t>
            </a:r>
            <a:r>
              <a:rPr lang="en-US"/>
              <a:t> </a:t>
            </a:r>
            <a:r>
              <a:rPr lang="en-US" err="1"/>
              <a:t>thống</a:t>
            </a:r>
            <a:r>
              <a:rPr lang="en-US"/>
              <a:t>.</a:t>
            </a:r>
          </a:p>
          <a:p>
            <a:pPr>
              <a:buNone/>
            </a:pPr>
            <a:r>
              <a:rPr lang="en-US" b="1" err="1"/>
              <a:t>Tổng</a:t>
            </a:r>
            <a:r>
              <a:rPr lang="en-US" b="1"/>
              <a:t> </a:t>
            </a:r>
            <a:r>
              <a:rPr lang="en-US" b="1" err="1"/>
              <a:t>kết</a:t>
            </a:r>
            <a:endParaRPr lang="en-US" b="1"/>
          </a:p>
          <a:p>
            <a:pPr marL="0" indent="0">
              <a:buNone/>
            </a:pPr>
            <a:r>
              <a:rPr lang="en-US"/>
              <a:t>Slide </a:t>
            </a:r>
            <a:r>
              <a:rPr lang="en-US" err="1"/>
              <a:t>này</a:t>
            </a:r>
            <a:r>
              <a:rPr lang="en-US"/>
              <a:t> </a:t>
            </a:r>
            <a:r>
              <a:rPr lang="en-US" err="1"/>
              <a:t>cho</a:t>
            </a:r>
            <a:r>
              <a:rPr lang="en-US"/>
              <a:t> </a:t>
            </a:r>
            <a:r>
              <a:rPr lang="en-US" err="1"/>
              <a:t>thấy</a:t>
            </a:r>
            <a:r>
              <a:rPr lang="en-US"/>
              <a:t> </a:t>
            </a:r>
            <a:r>
              <a:rPr lang="en-US" err="1"/>
              <a:t>sự</a:t>
            </a:r>
            <a:r>
              <a:rPr lang="en-US"/>
              <a:t> </a:t>
            </a:r>
            <a:r>
              <a:rPr lang="en-US" err="1"/>
              <a:t>đa</a:t>
            </a:r>
            <a:r>
              <a:rPr lang="en-US"/>
              <a:t> </a:t>
            </a:r>
            <a:r>
              <a:rPr lang="en-US" err="1"/>
              <a:t>dạng</a:t>
            </a:r>
            <a:r>
              <a:rPr lang="en-US"/>
              <a:t> </a:t>
            </a:r>
            <a:r>
              <a:rPr lang="en-US" err="1"/>
              <a:t>trong</a:t>
            </a:r>
            <a:r>
              <a:rPr lang="en-US"/>
              <a:t> </a:t>
            </a:r>
            <a:r>
              <a:rPr lang="en-US" err="1"/>
              <a:t>cách</a:t>
            </a:r>
            <a:r>
              <a:rPr lang="en-US"/>
              <a:t> </a:t>
            </a:r>
            <a:r>
              <a:rPr lang="en-US" err="1"/>
              <a:t>tiếp</a:t>
            </a:r>
            <a:r>
              <a:rPr lang="en-US"/>
              <a:t> </a:t>
            </a:r>
            <a:r>
              <a:rPr lang="en-US" err="1"/>
              <a:t>cận</a:t>
            </a:r>
            <a:r>
              <a:rPr lang="en-US"/>
              <a:t> </a:t>
            </a:r>
            <a:r>
              <a:rPr lang="en-US" err="1"/>
              <a:t>bài</a:t>
            </a:r>
            <a:r>
              <a:rPr lang="en-US"/>
              <a:t> </a:t>
            </a:r>
            <a:r>
              <a:rPr lang="en-US" err="1"/>
              <a:t>toán</a:t>
            </a:r>
            <a:r>
              <a:rPr lang="en-US"/>
              <a:t> </a:t>
            </a:r>
            <a:r>
              <a:rPr lang="en-US" err="1"/>
              <a:t>gợi</a:t>
            </a:r>
            <a:r>
              <a:rPr lang="en-US"/>
              <a:t> ý – </a:t>
            </a:r>
            <a:r>
              <a:rPr lang="en-US" err="1"/>
              <a:t>từ</a:t>
            </a:r>
            <a:r>
              <a:rPr lang="en-US"/>
              <a:t> </a:t>
            </a:r>
            <a:r>
              <a:rPr lang="en-US" err="1"/>
              <a:t>mô</a:t>
            </a:r>
            <a:r>
              <a:rPr lang="en-US"/>
              <a:t> </a:t>
            </a:r>
            <a:r>
              <a:rPr lang="en-US" err="1"/>
              <a:t>hình</a:t>
            </a:r>
            <a:r>
              <a:rPr lang="en-US"/>
              <a:t> </a:t>
            </a:r>
            <a:r>
              <a:rPr lang="en-US" err="1"/>
              <a:t>tuyến</a:t>
            </a:r>
            <a:r>
              <a:rPr lang="en-US"/>
              <a:t> </a:t>
            </a:r>
            <a:r>
              <a:rPr lang="en-US" err="1"/>
              <a:t>tính</a:t>
            </a:r>
            <a:r>
              <a:rPr lang="en-US"/>
              <a:t> </a:t>
            </a:r>
            <a:r>
              <a:rPr lang="en-US" err="1"/>
              <a:t>như</a:t>
            </a:r>
            <a:r>
              <a:rPr lang="en-US"/>
              <a:t> Matrix Factorization </a:t>
            </a:r>
            <a:r>
              <a:rPr lang="en-US" err="1"/>
              <a:t>đến</a:t>
            </a:r>
            <a:r>
              <a:rPr lang="en-US"/>
              <a:t> </a:t>
            </a:r>
            <a:r>
              <a:rPr lang="en-US" err="1"/>
              <a:t>mô</a:t>
            </a:r>
            <a:r>
              <a:rPr lang="en-US"/>
              <a:t> </a:t>
            </a:r>
            <a:r>
              <a:rPr lang="en-US" err="1"/>
              <a:t>hình</a:t>
            </a:r>
            <a:r>
              <a:rPr lang="en-US"/>
              <a:t> </a:t>
            </a:r>
            <a:r>
              <a:rPr lang="en-US" err="1"/>
              <a:t>dựa</a:t>
            </a:r>
            <a:r>
              <a:rPr lang="en-US"/>
              <a:t> </a:t>
            </a:r>
            <a:r>
              <a:rPr lang="en-US" err="1"/>
              <a:t>trên</a:t>
            </a:r>
            <a:r>
              <a:rPr lang="en-US"/>
              <a:t> </a:t>
            </a:r>
            <a:r>
              <a:rPr lang="en-US" err="1"/>
              <a:t>tương</a:t>
            </a:r>
            <a:r>
              <a:rPr lang="en-US"/>
              <a:t> </a:t>
            </a:r>
            <a:r>
              <a:rPr lang="en-US" err="1"/>
              <a:t>đồng</a:t>
            </a:r>
            <a:r>
              <a:rPr lang="en-US"/>
              <a:t> </a:t>
            </a:r>
            <a:r>
              <a:rPr lang="en-US" err="1"/>
              <a:t>và</a:t>
            </a:r>
            <a:r>
              <a:rPr lang="en-US"/>
              <a:t> </a:t>
            </a:r>
            <a:r>
              <a:rPr lang="en-US" err="1"/>
              <a:t>mô</a:t>
            </a:r>
            <a:r>
              <a:rPr lang="en-US"/>
              <a:t> </a:t>
            </a:r>
            <a:r>
              <a:rPr lang="en-US" err="1"/>
              <a:t>hình</a:t>
            </a:r>
            <a:r>
              <a:rPr lang="en-US"/>
              <a:t> </a:t>
            </a:r>
            <a:r>
              <a:rPr lang="en-US" err="1"/>
              <a:t>dựa</a:t>
            </a:r>
            <a:r>
              <a:rPr lang="en-US"/>
              <a:t> </a:t>
            </a:r>
            <a:r>
              <a:rPr lang="en-US" err="1"/>
              <a:t>trên</a:t>
            </a:r>
            <a:r>
              <a:rPr lang="en-US"/>
              <a:t> </a:t>
            </a:r>
            <a:r>
              <a:rPr lang="en-US" err="1"/>
              <a:t>chuỗi</a:t>
            </a:r>
            <a:r>
              <a:rPr lang="en-US"/>
              <a:t> </a:t>
            </a:r>
            <a:r>
              <a:rPr lang="en-US" err="1"/>
              <a:t>hiện</a:t>
            </a:r>
            <a:r>
              <a:rPr lang="en-US"/>
              <a:t> </a:t>
            </a:r>
            <a:r>
              <a:rPr lang="en-US" err="1"/>
              <a:t>đại</a:t>
            </a:r>
            <a:r>
              <a:rPr lang="en-US"/>
              <a:t> </a:t>
            </a:r>
            <a:r>
              <a:rPr lang="en-US" err="1"/>
              <a:t>như</a:t>
            </a:r>
            <a:r>
              <a:rPr lang="en-US"/>
              <a:t> </a:t>
            </a:r>
            <a:r>
              <a:rPr lang="en-US" err="1"/>
              <a:t>SASRec</a:t>
            </a:r>
            <a:r>
              <a:rPr lang="en-US"/>
              <a:t>. </a:t>
            </a:r>
            <a:r>
              <a:rPr lang="en-US" err="1"/>
              <a:t>Việc</a:t>
            </a:r>
            <a:r>
              <a:rPr lang="en-US"/>
              <a:t> </a:t>
            </a:r>
            <a:r>
              <a:rPr lang="en-US" err="1"/>
              <a:t>trình</a:t>
            </a:r>
            <a:r>
              <a:rPr lang="en-US"/>
              <a:t> </a:t>
            </a:r>
            <a:r>
              <a:rPr lang="en-US" err="1"/>
              <a:t>bày</a:t>
            </a:r>
            <a:r>
              <a:rPr lang="en-US"/>
              <a:t> </a:t>
            </a:r>
            <a:r>
              <a:rPr lang="en-US" err="1"/>
              <a:t>rõ</a:t>
            </a:r>
            <a:r>
              <a:rPr lang="en-US"/>
              <a:t> </a:t>
            </a:r>
            <a:r>
              <a:rPr lang="en-US" err="1"/>
              <a:t>ràng</a:t>
            </a:r>
            <a:r>
              <a:rPr lang="en-US"/>
              <a:t> </a:t>
            </a:r>
            <a:r>
              <a:rPr lang="en-US" err="1"/>
              <a:t>các</a:t>
            </a:r>
            <a:r>
              <a:rPr lang="en-US"/>
              <a:t> </a:t>
            </a:r>
            <a:r>
              <a:rPr lang="en-US" err="1"/>
              <a:t>tham</a:t>
            </a:r>
            <a:r>
              <a:rPr lang="en-US"/>
              <a:t> </a:t>
            </a:r>
            <a:r>
              <a:rPr lang="en-US" err="1"/>
              <a:t>số</a:t>
            </a:r>
            <a:r>
              <a:rPr lang="en-US"/>
              <a:t> </a:t>
            </a:r>
            <a:r>
              <a:rPr lang="en-US" err="1"/>
              <a:t>giúp</a:t>
            </a:r>
            <a:r>
              <a:rPr lang="en-US"/>
              <a:t> </a:t>
            </a:r>
            <a:r>
              <a:rPr lang="en-US" err="1"/>
              <a:t>minh</a:t>
            </a:r>
            <a:r>
              <a:rPr lang="en-US"/>
              <a:t> </a:t>
            </a:r>
            <a:r>
              <a:rPr lang="en-US" err="1"/>
              <a:t>bạch</a:t>
            </a:r>
            <a:r>
              <a:rPr lang="en-US"/>
              <a:t> </a:t>
            </a:r>
            <a:r>
              <a:rPr lang="en-US" err="1"/>
              <a:t>hóa</a:t>
            </a:r>
            <a:r>
              <a:rPr lang="en-US"/>
              <a:t> </a:t>
            </a:r>
            <a:r>
              <a:rPr lang="en-US" err="1"/>
              <a:t>quá</a:t>
            </a:r>
            <a:r>
              <a:rPr lang="en-US"/>
              <a:t> </a:t>
            </a:r>
            <a:r>
              <a:rPr lang="en-US" err="1"/>
              <a:t>trình</a:t>
            </a:r>
            <a:r>
              <a:rPr lang="en-US"/>
              <a:t> </a:t>
            </a:r>
            <a:r>
              <a:rPr lang="en-US" err="1"/>
              <a:t>huấn</a:t>
            </a:r>
            <a:r>
              <a:rPr lang="en-US"/>
              <a:t> </a:t>
            </a:r>
            <a:r>
              <a:rPr lang="en-US" err="1"/>
              <a:t>luyện</a:t>
            </a:r>
            <a:r>
              <a:rPr lang="en-US"/>
              <a:t> </a:t>
            </a:r>
            <a:r>
              <a:rPr lang="en-US" err="1"/>
              <a:t>và</a:t>
            </a:r>
            <a:r>
              <a:rPr lang="en-US"/>
              <a:t> </a:t>
            </a:r>
            <a:r>
              <a:rPr lang="en-US" err="1"/>
              <a:t>tạo</a:t>
            </a:r>
            <a:r>
              <a:rPr lang="en-US"/>
              <a:t> </a:t>
            </a:r>
            <a:r>
              <a:rPr lang="en-US" err="1"/>
              <a:t>nền</a:t>
            </a:r>
            <a:r>
              <a:rPr lang="en-US"/>
              <a:t> </a:t>
            </a:r>
            <a:r>
              <a:rPr lang="en-US" err="1"/>
              <a:t>tảng</a:t>
            </a:r>
            <a:r>
              <a:rPr lang="en-US"/>
              <a:t> </a:t>
            </a:r>
            <a:r>
              <a:rPr lang="en-US" err="1"/>
              <a:t>cho</a:t>
            </a:r>
            <a:r>
              <a:rPr lang="en-US"/>
              <a:t> </a:t>
            </a:r>
            <a:r>
              <a:rPr lang="en-US" err="1"/>
              <a:t>phần</a:t>
            </a:r>
            <a:r>
              <a:rPr lang="en-US"/>
              <a:t> </a:t>
            </a:r>
            <a:r>
              <a:rPr lang="en-US" err="1"/>
              <a:t>đánh</a:t>
            </a:r>
            <a:r>
              <a:rPr lang="en-US"/>
              <a:t> </a:t>
            </a:r>
            <a:r>
              <a:rPr lang="en-US" err="1"/>
              <a:t>giá</a:t>
            </a:r>
            <a:r>
              <a:rPr lang="en-US"/>
              <a:t> </a:t>
            </a:r>
            <a:r>
              <a:rPr lang="en-US" err="1"/>
              <a:t>hiệu</a:t>
            </a:r>
            <a:r>
              <a:rPr lang="en-US"/>
              <a:t> </a:t>
            </a:r>
            <a:r>
              <a:rPr lang="en-US" err="1"/>
              <a:t>quả</a:t>
            </a:r>
            <a:r>
              <a:rPr lang="en-US"/>
              <a:t> </a:t>
            </a:r>
            <a:r>
              <a:rPr lang="en-US" err="1"/>
              <a:t>của</a:t>
            </a:r>
            <a:r>
              <a:rPr lang="en-US"/>
              <a:t> </a:t>
            </a:r>
            <a:r>
              <a:rPr lang="en-US" err="1"/>
              <a:t>từng</a:t>
            </a:r>
            <a:r>
              <a:rPr lang="en-US"/>
              <a:t> </a:t>
            </a:r>
            <a:r>
              <a:rPr lang="en-US" err="1"/>
              <a:t>mô</a:t>
            </a:r>
            <a:r>
              <a:rPr lang="en-US"/>
              <a:t> </a:t>
            </a:r>
            <a:r>
              <a:rPr lang="en-US" err="1"/>
              <a:t>hình</a:t>
            </a:r>
            <a:r>
              <a:rPr lang="en-US"/>
              <a:t> </a:t>
            </a:r>
            <a:r>
              <a:rPr lang="en-US" err="1"/>
              <a:t>trong</a:t>
            </a:r>
            <a:r>
              <a:rPr lang="en-US"/>
              <a:t> </a:t>
            </a:r>
            <a:r>
              <a:rPr lang="en-US" err="1"/>
              <a:t>các</a:t>
            </a:r>
            <a:r>
              <a:rPr lang="en-US"/>
              <a:t> </a:t>
            </a:r>
            <a:r>
              <a:rPr lang="en-US" err="1"/>
              <a:t>chương</a:t>
            </a:r>
            <a:r>
              <a:rPr lang="en-US"/>
              <a:t> </a:t>
            </a:r>
            <a:r>
              <a:rPr lang="en-US" err="1"/>
              <a:t>tiếp</a:t>
            </a:r>
            <a:r>
              <a:rPr lang="en-US"/>
              <a:t> </a:t>
            </a:r>
            <a:r>
              <a:rPr lang="en-US" err="1"/>
              <a:t>theo.</a:t>
            </a:r>
            <a:endParaRPr err="1"/>
          </a:p>
        </p:txBody>
      </p:sp>
    </p:spTree>
    <p:extLst>
      <p:ext uri="{BB962C8B-B14F-4D97-AF65-F5344CB8AC3E}">
        <p14:creationId xmlns:p14="http://schemas.microsoft.com/office/powerpoint/2010/main" val="3954732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AB82E6FD-5463-4994-7C6E-A0787B7E0963}"/>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69D5520F-1206-44B8-A50D-2DCEF257E2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A606FBBF-E9CB-B8D4-0E7E-BA4059B387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solidFill>
                  <a:schemeClr val="bg2"/>
                </a:solidFill>
              </a:rPr>
              <a:t>User A vector:</a:t>
            </a:r>
            <a:endParaRPr lang="en-US"/>
          </a:p>
          <a:p>
            <a:pPr>
              <a:buNone/>
            </a:pPr>
            <a:r>
              <a:rPr lang="en-US">
                <a:solidFill>
                  <a:schemeClr val="bg2"/>
                </a:solidFill>
              </a:rPr>
              <a:t>U_A=[1.2, 0.8]</a:t>
            </a:r>
            <a:endParaRPr lang="en-US"/>
          </a:p>
          <a:p>
            <a:pPr>
              <a:buNone/>
            </a:pPr>
            <a:r>
              <a:rPr lang="en-US">
                <a:solidFill>
                  <a:schemeClr val="bg2"/>
                </a:solidFill>
              </a:rPr>
              <a:t>Item W vector:</a:t>
            </a:r>
            <a:endParaRPr lang="en-US"/>
          </a:p>
          <a:p>
            <a:pPr>
              <a:buNone/>
            </a:pPr>
            <a:r>
              <a:rPr lang="en-US">
                <a:solidFill>
                  <a:schemeClr val="bg2"/>
                </a:solidFill>
              </a:rPr>
              <a:t>V_W = [1.5, 1.7]</a:t>
            </a:r>
            <a:endParaRPr lang="en-US"/>
          </a:p>
          <a:p>
            <a:pPr>
              <a:buNone/>
            </a:pPr>
            <a:r>
              <a:rPr lang="en-US">
                <a:solidFill>
                  <a:schemeClr val="bg2"/>
                </a:solidFill>
              </a:rPr>
              <a:t>Dot product: 1.2×1.5+0.8×1.7 =1.8 + 1.36 = 3.16</a:t>
            </a:r>
            <a:endParaRPr lang="en-US"/>
          </a:p>
          <a:p>
            <a:pPr>
              <a:buNone/>
            </a:pPr>
            <a:r>
              <a:rPr lang="en-US">
                <a:solidFill>
                  <a:schemeClr val="bg2"/>
                </a:solidFill>
              </a:rPr>
              <a:t>→ MF </a:t>
            </a:r>
            <a:r>
              <a:rPr lang="en-US" err="1">
                <a:solidFill>
                  <a:schemeClr val="bg2"/>
                </a:solidFill>
              </a:rPr>
              <a:t>dự</a:t>
            </a:r>
            <a:r>
              <a:rPr lang="en-US">
                <a:solidFill>
                  <a:schemeClr val="bg2"/>
                </a:solidFill>
              </a:rPr>
              <a:t> </a:t>
            </a:r>
            <a:r>
              <a:rPr lang="en-US" err="1">
                <a:solidFill>
                  <a:schemeClr val="bg2"/>
                </a:solidFill>
              </a:rPr>
              <a:t>đoán</a:t>
            </a:r>
            <a:r>
              <a:rPr lang="en-US">
                <a:solidFill>
                  <a:schemeClr val="bg2"/>
                </a:solidFill>
              </a:rPr>
              <a:t>:</a:t>
            </a:r>
            <a:br>
              <a:rPr lang="en-US">
                <a:solidFill>
                  <a:schemeClr val="bg2"/>
                </a:solidFill>
              </a:rPr>
            </a:br>
            <a:r>
              <a:rPr lang="en-US">
                <a:solidFill>
                  <a:schemeClr val="bg2"/>
                </a:solidFill>
              </a:rPr>
              <a:t> 📌 </a:t>
            </a:r>
            <a:r>
              <a:rPr lang="en-US" b="1">
                <a:solidFill>
                  <a:schemeClr val="bg2"/>
                </a:solidFill>
              </a:rPr>
              <a:t>User A </a:t>
            </a:r>
            <a:r>
              <a:rPr lang="en-US" b="1" err="1">
                <a:solidFill>
                  <a:schemeClr val="bg2"/>
                </a:solidFill>
              </a:rPr>
              <a:t>sẽ</a:t>
            </a:r>
            <a:r>
              <a:rPr lang="en-US" b="1">
                <a:solidFill>
                  <a:schemeClr val="bg2"/>
                </a:solidFill>
              </a:rPr>
              <a:t> </a:t>
            </a:r>
            <a:r>
              <a:rPr lang="en-US" b="1" err="1">
                <a:solidFill>
                  <a:schemeClr val="bg2"/>
                </a:solidFill>
              </a:rPr>
              <a:t>chấm</a:t>
            </a:r>
            <a:r>
              <a:rPr lang="en-US" b="1">
                <a:solidFill>
                  <a:schemeClr val="bg2"/>
                </a:solidFill>
              </a:rPr>
              <a:t> </a:t>
            </a:r>
            <a:r>
              <a:rPr lang="en-US" b="1" err="1">
                <a:solidFill>
                  <a:schemeClr val="bg2"/>
                </a:solidFill>
              </a:rPr>
              <a:t>phim</a:t>
            </a:r>
            <a:r>
              <a:rPr lang="en-US" b="1">
                <a:solidFill>
                  <a:schemeClr val="bg2"/>
                </a:solidFill>
              </a:rPr>
              <a:t> W </a:t>
            </a:r>
            <a:r>
              <a:rPr lang="en-US" b="1" err="1">
                <a:solidFill>
                  <a:schemeClr val="bg2"/>
                </a:solidFill>
              </a:rPr>
              <a:t>khoảng</a:t>
            </a:r>
            <a:r>
              <a:rPr lang="en-US" b="1">
                <a:solidFill>
                  <a:schemeClr val="bg2"/>
                </a:solidFill>
              </a:rPr>
              <a:t> 3.16 </a:t>
            </a:r>
            <a:r>
              <a:rPr lang="en-US" b="1" err="1">
                <a:solidFill>
                  <a:schemeClr val="bg2"/>
                </a:solidFill>
              </a:rPr>
              <a:t>sao</a:t>
            </a:r>
            <a:endParaRPr lang="en-US"/>
          </a:p>
          <a:p>
            <a:pPr marL="0" indent="0">
              <a:buNone/>
            </a:pPr>
            <a:endParaRPr lang="en-US">
              <a:solidFill>
                <a:srgbClr val="158158"/>
              </a:solidFill>
            </a:endParaRPr>
          </a:p>
          <a:p>
            <a:pPr marL="0" indent="0">
              <a:buNone/>
            </a:pPr>
            <a:br>
              <a:rPr lang="en-US" b="1"/>
            </a:br>
            <a:r>
              <a:rPr lang="en-US" b="1"/>
              <a:t>2. Model-based Collaborative Filtering</a:t>
            </a:r>
            <a:endParaRPr lang="en-US"/>
          </a:p>
          <a:p>
            <a:pPr marL="0" indent="0">
              <a:buNone/>
            </a:pPr>
            <a:r>
              <a:rPr lang="en-US" b="1"/>
              <a:t>(Matrix Factorization – MF)</a:t>
            </a:r>
          </a:p>
          <a:p>
            <a:pPr marL="0" indent="0">
              <a:buNone/>
            </a:pPr>
            <a:r>
              <a:rPr lang="en-US"/>
              <a:t>Phương </a:t>
            </a:r>
            <a:r>
              <a:rPr lang="en-US" err="1"/>
              <a:t>pháp</a:t>
            </a:r>
            <a:r>
              <a:rPr lang="en-US"/>
              <a:t> </a:t>
            </a:r>
            <a:r>
              <a:rPr lang="en-US" err="1"/>
              <a:t>này</a:t>
            </a:r>
            <a:r>
              <a:rPr lang="en-US"/>
              <a:t> </a:t>
            </a:r>
            <a:r>
              <a:rPr lang="en-US" err="1"/>
              <a:t>phân</a:t>
            </a:r>
            <a:r>
              <a:rPr lang="en-US"/>
              <a:t> </a:t>
            </a:r>
            <a:r>
              <a:rPr lang="en-US" err="1"/>
              <a:t>rã</a:t>
            </a:r>
            <a:r>
              <a:rPr lang="en-US"/>
              <a:t> ma </a:t>
            </a:r>
            <a:r>
              <a:rPr lang="en-US" err="1"/>
              <a:t>trận</a:t>
            </a:r>
            <a:r>
              <a:rPr lang="en-US"/>
              <a:t> user–item </a:t>
            </a:r>
            <a:r>
              <a:rPr lang="en-US" err="1"/>
              <a:t>thành</a:t>
            </a:r>
            <a:r>
              <a:rPr lang="en-US"/>
              <a:t> </a:t>
            </a:r>
            <a:r>
              <a:rPr lang="en-US" err="1"/>
              <a:t>các</a:t>
            </a:r>
            <a:r>
              <a:rPr lang="en-US"/>
              <a:t> </a:t>
            </a:r>
            <a:r>
              <a:rPr lang="en-US" b="1"/>
              <a:t>vector </a:t>
            </a:r>
            <a:r>
              <a:rPr lang="en-US" b="1" err="1"/>
              <a:t>đặc</a:t>
            </a:r>
            <a:r>
              <a:rPr lang="en-US" b="1"/>
              <a:t> </a:t>
            </a:r>
            <a:r>
              <a:rPr lang="en-US" b="1" err="1"/>
              <a:t>trưng</a:t>
            </a:r>
            <a:r>
              <a:rPr lang="en-US" b="1"/>
              <a:t> </a:t>
            </a:r>
            <a:r>
              <a:rPr lang="en-US" b="1" err="1"/>
              <a:t>ẩn</a:t>
            </a:r>
            <a:r>
              <a:rPr lang="en-US" b="1"/>
              <a:t> (latent features)</a:t>
            </a:r>
            <a:r>
              <a:rPr lang="en-US"/>
              <a:t> </a:t>
            </a:r>
            <a:r>
              <a:rPr lang="en-US" err="1"/>
              <a:t>đại</a:t>
            </a:r>
            <a:r>
              <a:rPr lang="en-US"/>
              <a:t> </a:t>
            </a:r>
            <a:r>
              <a:rPr lang="en-US" err="1"/>
              <a:t>diện</a:t>
            </a:r>
            <a:r>
              <a:rPr lang="en-US"/>
              <a:t> </a:t>
            </a:r>
            <a:r>
              <a:rPr lang="en-US" err="1"/>
              <a:t>cho</a:t>
            </a:r>
            <a:r>
              <a:rPr lang="en-US"/>
              <a:t> </a:t>
            </a:r>
            <a:r>
              <a:rPr lang="en-US" err="1"/>
              <a:t>người</a:t>
            </a:r>
            <a:r>
              <a:rPr lang="en-US"/>
              <a:t> </a:t>
            </a:r>
            <a:r>
              <a:rPr lang="en-US" err="1"/>
              <a:t>dùng</a:t>
            </a:r>
            <a:r>
              <a:rPr lang="en-US"/>
              <a:t> </a:t>
            </a:r>
            <a:r>
              <a:rPr lang="en-US" err="1"/>
              <a:t>và</a:t>
            </a:r>
            <a:r>
              <a:rPr lang="en-US"/>
              <a:t> item.</a:t>
            </a:r>
          </a:p>
          <a:p>
            <a:pPr marL="0" indent="0">
              <a:buNone/>
            </a:pPr>
            <a:r>
              <a:rPr lang="en-US" b="1"/>
              <a:t>Nguyên </a:t>
            </a:r>
            <a:r>
              <a:rPr lang="en-US" b="1" err="1"/>
              <a:t>lý</a:t>
            </a:r>
            <a:r>
              <a:rPr lang="en-US" b="1"/>
              <a:t> </a:t>
            </a:r>
            <a:r>
              <a:rPr lang="en-US" b="1" err="1"/>
              <a:t>hoạt</a:t>
            </a:r>
            <a:r>
              <a:rPr lang="en-US" b="1"/>
              <a:t> </a:t>
            </a:r>
            <a:r>
              <a:rPr lang="en-US" b="1" err="1"/>
              <a:t>động</a:t>
            </a:r>
            <a:r>
              <a:rPr lang="en-US" b="1"/>
              <a:t>:</a:t>
            </a:r>
          </a:p>
          <a:p>
            <a:pPr marL="171450" indent="-171450"/>
            <a:r>
              <a:rPr lang="en-US" err="1"/>
              <a:t>Biểu</a:t>
            </a:r>
            <a:r>
              <a:rPr lang="en-US"/>
              <a:t> </a:t>
            </a:r>
            <a:r>
              <a:rPr lang="en-US" err="1"/>
              <a:t>diễn</a:t>
            </a:r>
            <a:r>
              <a:rPr lang="en-US"/>
              <a:t> </a:t>
            </a:r>
            <a:r>
              <a:rPr lang="en-US" err="1"/>
              <a:t>mỗi</a:t>
            </a:r>
            <a:r>
              <a:rPr lang="en-US"/>
              <a:t> </a:t>
            </a:r>
            <a:r>
              <a:rPr lang="en-US" err="1"/>
              <a:t>người</a:t>
            </a:r>
            <a:r>
              <a:rPr lang="en-US"/>
              <a:t> </a:t>
            </a:r>
            <a:r>
              <a:rPr lang="en-US" err="1"/>
              <a:t>dùng</a:t>
            </a:r>
            <a:r>
              <a:rPr lang="en-US"/>
              <a:t> </a:t>
            </a:r>
            <a:r>
              <a:rPr lang="en-US" err="1"/>
              <a:t>và</a:t>
            </a:r>
            <a:r>
              <a:rPr lang="en-US"/>
              <a:t> item </a:t>
            </a:r>
            <a:r>
              <a:rPr lang="en-US" err="1"/>
              <a:t>trong</a:t>
            </a:r>
            <a:r>
              <a:rPr lang="en-US"/>
              <a:t> </a:t>
            </a:r>
            <a:r>
              <a:rPr lang="en-US" err="1"/>
              <a:t>không</a:t>
            </a:r>
            <a:r>
              <a:rPr lang="en-US"/>
              <a:t> </a:t>
            </a:r>
            <a:r>
              <a:rPr lang="en-US" err="1"/>
              <a:t>gian</a:t>
            </a:r>
            <a:r>
              <a:rPr lang="en-US"/>
              <a:t> </a:t>
            </a:r>
            <a:r>
              <a:rPr lang="en-US" err="1"/>
              <a:t>đặc</a:t>
            </a:r>
            <a:r>
              <a:rPr lang="en-US"/>
              <a:t> </a:t>
            </a:r>
            <a:r>
              <a:rPr lang="en-US" err="1"/>
              <a:t>trưng</a:t>
            </a:r>
            <a:r>
              <a:rPr lang="en-US"/>
              <a:t> </a:t>
            </a:r>
            <a:r>
              <a:rPr lang="en-US" err="1"/>
              <a:t>ẩn</a:t>
            </a:r>
            <a:endParaRPr lang="en-US"/>
          </a:p>
          <a:p>
            <a:pPr marL="171450" indent="-171450"/>
            <a:r>
              <a:rPr lang="en-US" err="1"/>
              <a:t>Dự</a:t>
            </a:r>
            <a:r>
              <a:rPr lang="en-US"/>
              <a:t> </a:t>
            </a:r>
            <a:r>
              <a:rPr lang="en-US" err="1"/>
              <a:t>đoán</a:t>
            </a:r>
            <a:r>
              <a:rPr lang="en-US"/>
              <a:t> </a:t>
            </a:r>
            <a:r>
              <a:rPr lang="en-US" err="1"/>
              <a:t>mức</a:t>
            </a:r>
            <a:r>
              <a:rPr lang="en-US"/>
              <a:t> </a:t>
            </a:r>
            <a:r>
              <a:rPr lang="en-US" err="1"/>
              <a:t>độ</a:t>
            </a:r>
            <a:r>
              <a:rPr lang="en-US"/>
              <a:t> </a:t>
            </a:r>
            <a:r>
              <a:rPr lang="en-US" err="1"/>
              <a:t>yêu</a:t>
            </a:r>
            <a:r>
              <a:rPr lang="en-US"/>
              <a:t> </a:t>
            </a:r>
            <a:r>
              <a:rPr lang="en-US" err="1"/>
              <a:t>thích</a:t>
            </a:r>
            <a:r>
              <a:rPr lang="en-US"/>
              <a:t> </a:t>
            </a:r>
            <a:r>
              <a:rPr lang="en-US" err="1"/>
              <a:t>dựa</a:t>
            </a:r>
            <a:r>
              <a:rPr lang="en-US"/>
              <a:t> </a:t>
            </a:r>
            <a:r>
              <a:rPr lang="en-US" err="1"/>
              <a:t>trên</a:t>
            </a:r>
            <a:r>
              <a:rPr lang="en-US"/>
              <a:t> </a:t>
            </a:r>
            <a:r>
              <a:rPr lang="en-US" err="1"/>
              <a:t>tích</a:t>
            </a:r>
            <a:r>
              <a:rPr lang="en-US"/>
              <a:t> </a:t>
            </a:r>
            <a:r>
              <a:rPr lang="en-US" err="1"/>
              <a:t>vô</a:t>
            </a:r>
            <a:r>
              <a:rPr lang="en-US"/>
              <a:t> </a:t>
            </a:r>
            <a:r>
              <a:rPr lang="en-US" err="1"/>
              <a:t>hướng</a:t>
            </a:r>
            <a:r>
              <a:rPr lang="en-US"/>
              <a:t> </a:t>
            </a:r>
            <a:r>
              <a:rPr lang="en-US" err="1"/>
              <a:t>của</a:t>
            </a:r>
            <a:r>
              <a:rPr lang="en-US"/>
              <a:t> </a:t>
            </a:r>
            <a:r>
              <a:rPr lang="en-US" err="1"/>
              <a:t>các</a:t>
            </a:r>
            <a:r>
              <a:rPr lang="en-US"/>
              <a:t> vector </a:t>
            </a:r>
            <a:r>
              <a:rPr lang="en-US" err="1"/>
              <a:t>đặc</a:t>
            </a:r>
            <a:r>
              <a:rPr lang="en-US"/>
              <a:t> </a:t>
            </a:r>
            <a:r>
              <a:rPr lang="en-US" err="1"/>
              <a:t>trưng</a:t>
            </a:r>
            <a:endParaRPr lang="en-US"/>
          </a:p>
          <a:p>
            <a:pPr marL="0" indent="0">
              <a:buNone/>
            </a:pPr>
            <a:r>
              <a:rPr lang="en-US" b="1" err="1"/>
              <a:t>Ưu</a:t>
            </a:r>
            <a:r>
              <a:rPr lang="en-US" b="1"/>
              <a:t> </a:t>
            </a:r>
            <a:r>
              <a:rPr lang="en-US" b="1" err="1"/>
              <a:t>điểm</a:t>
            </a:r>
            <a:r>
              <a:rPr lang="en-US" b="1"/>
              <a:t>:</a:t>
            </a:r>
          </a:p>
          <a:p>
            <a:pPr marL="171450" indent="-171450"/>
            <a:r>
              <a:rPr lang="en-US" err="1"/>
              <a:t>Khả</a:t>
            </a:r>
            <a:r>
              <a:rPr lang="en-US"/>
              <a:t> </a:t>
            </a:r>
            <a:r>
              <a:rPr lang="en-US" err="1"/>
              <a:t>năng</a:t>
            </a:r>
            <a:r>
              <a:rPr lang="en-US"/>
              <a:t> </a:t>
            </a:r>
            <a:r>
              <a:rPr lang="en-US" err="1"/>
              <a:t>mô</a:t>
            </a:r>
            <a:r>
              <a:rPr lang="en-US"/>
              <a:t> </a:t>
            </a:r>
            <a:r>
              <a:rPr lang="en-US" err="1"/>
              <a:t>hình</a:t>
            </a:r>
            <a:r>
              <a:rPr lang="en-US"/>
              <a:t> </a:t>
            </a:r>
            <a:r>
              <a:rPr lang="en-US" err="1"/>
              <a:t>hóa</a:t>
            </a:r>
            <a:r>
              <a:rPr lang="en-US"/>
              <a:t> </a:t>
            </a:r>
            <a:r>
              <a:rPr lang="en-US" err="1"/>
              <a:t>sở</a:t>
            </a:r>
            <a:r>
              <a:rPr lang="en-US"/>
              <a:t> </a:t>
            </a:r>
            <a:r>
              <a:rPr lang="en-US" err="1"/>
              <a:t>thích</a:t>
            </a:r>
            <a:r>
              <a:rPr lang="en-US"/>
              <a:t> </a:t>
            </a:r>
            <a:r>
              <a:rPr lang="en-US" err="1"/>
              <a:t>người</a:t>
            </a:r>
            <a:r>
              <a:rPr lang="en-US"/>
              <a:t> </a:t>
            </a:r>
            <a:r>
              <a:rPr lang="en-US" err="1"/>
              <a:t>dùng</a:t>
            </a:r>
            <a:r>
              <a:rPr lang="en-US"/>
              <a:t> ở </a:t>
            </a:r>
            <a:r>
              <a:rPr lang="en-US" err="1"/>
              <a:t>mức</a:t>
            </a:r>
            <a:r>
              <a:rPr lang="en-US"/>
              <a:t> </a:t>
            </a:r>
            <a:r>
              <a:rPr lang="en-US" err="1"/>
              <a:t>sâu</a:t>
            </a:r>
            <a:r>
              <a:rPr lang="en-US"/>
              <a:t> </a:t>
            </a:r>
            <a:r>
              <a:rPr lang="en-US" err="1"/>
              <a:t>và</a:t>
            </a:r>
            <a:r>
              <a:rPr lang="en-US"/>
              <a:t> </a:t>
            </a:r>
            <a:r>
              <a:rPr lang="en-US" err="1"/>
              <a:t>trừu</a:t>
            </a:r>
            <a:r>
              <a:rPr lang="en-US"/>
              <a:t> </a:t>
            </a:r>
            <a:r>
              <a:rPr lang="en-US" err="1"/>
              <a:t>tượng</a:t>
            </a:r>
            <a:r>
              <a:rPr lang="en-US"/>
              <a:t> </a:t>
            </a:r>
            <a:r>
              <a:rPr lang="en-US" err="1"/>
              <a:t>hơn</a:t>
            </a:r>
            <a:r>
              <a:rPr lang="en-US"/>
              <a:t> so </a:t>
            </a:r>
            <a:r>
              <a:rPr lang="en-US" err="1"/>
              <a:t>với</a:t>
            </a:r>
            <a:r>
              <a:rPr lang="en-US"/>
              <a:t> </a:t>
            </a:r>
            <a:r>
              <a:rPr lang="en-US" err="1"/>
              <a:t>ItemKNN</a:t>
            </a:r>
            <a:endParaRPr lang="en-US"/>
          </a:p>
          <a:p>
            <a:pPr marL="171450" indent="-171450"/>
            <a:r>
              <a:rPr lang="en-US"/>
              <a:t>Hiệu </a:t>
            </a:r>
            <a:r>
              <a:rPr lang="en-US" err="1"/>
              <a:t>quả</a:t>
            </a:r>
            <a:r>
              <a:rPr lang="en-US"/>
              <a:t> </a:t>
            </a:r>
            <a:r>
              <a:rPr lang="en-US" err="1"/>
              <a:t>tốt</a:t>
            </a:r>
            <a:r>
              <a:rPr lang="en-US"/>
              <a:t> </a:t>
            </a:r>
            <a:r>
              <a:rPr lang="en-US" err="1"/>
              <a:t>với</a:t>
            </a:r>
            <a:r>
              <a:rPr lang="en-US"/>
              <a:t> </a:t>
            </a:r>
            <a:r>
              <a:rPr lang="en-US" err="1"/>
              <a:t>dữ</a:t>
            </a:r>
            <a:r>
              <a:rPr lang="en-US"/>
              <a:t> </a:t>
            </a:r>
            <a:r>
              <a:rPr lang="en-US" err="1"/>
              <a:t>liệu</a:t>
            </a:r>
            <a:r>
              <a:rPr lang="en-US"/>
              <a:t> </a:t>
            </a:r>
            <a:r>
              <a:rPr lang="en-US" err="1"/>
              <a:t>thưa</a:t>
            </a:r>
            <a:endParaRPr lang="en-US"/>
          </a:p>
          <a:p>
            <a:pPr marL="171450" indent="-171450"/>
            <a:r>
              <a:rPr lang="en-US" err="1"/>
              <a:t>Dễ</a:t>
            </a:r>
            <a:r>
              <a:rPr lang="en-US"/>
              <a:t> </a:t>
            </a:r>
            <a:r>
              <a:rPr lang="en-US" err="1"/>
              <a:t>tích</a:t>
            </a:r>
            <a:r>
              <a:rPr lang="en-US"/>
              <a:t> </a:t>
            </a:r>
            <a:r>
              <a:rPr lang="en-US" err="1"/>
              <a:t>hợp</a:t>
            </a:r>
            <a:r>
              <a:rPr lang="en-US"/>
              <a:t> </a:t>
            </a:r>
            <a:r>
              <a:rPr lang="en-US" err="1"/>
              <a:t>vào</a:t>
            </a:r>
            <a:r>
              <a:rPr lang="en-US"/>
              <a:t> </a:t>
            </a:r>
            <a:r>
              <a:rPr lang="en-US" err="1"/>
              <a:t>các</a:t>
            </a:r>
            <a:r>
              <a:rPr lang="en-US"/>
              <a:t> </a:t>
            </a:r>
            <a:r>
              <a:rPr lang="en-US" err="1"/>
              <a:t>hệ</a:t>
            </a:r>
            <a:r>
              <a:rPr lang="en-US"/>
              <a:t> </a:t>
            </a:r>
            <a:r>
              <a:rPr lang="en-US" err="1"/>
              <a:t>thống</a:t>
            </a:r>
            <a:r>
              <a:rPr lang="en-US"/>
              <a:t> </a:t>
            </a:r>
            <a:r>
              <a:rPr lang="en-US" err="1"/>
              <a:t>học</a:t>
            </a:r>
            <a:r>
              <a:rPr lang="en-US"/>
              <a:t> </a:t>
            </a:r>
            <a:r>
              <a:rPr lang="en-US" err="1"/>
              <a:t>máy</a:t>
            </a:r>
            <a:r>
              <a:rPr lang="en-US"/>
              <a:t> </a:t>
            </a:r>
            <a:r>
              <a:rPr lang="en-US" err="1"/>
              <a:t>hiện</a:t>
            </a:r>
            <a:r>
              <a:rPr lang="en-US"/>
              <a:t> </a:t>
            </a:r>
            <a:r>
              <a:rPr lang="en-US" err="1"/>
              <a:t>đại</a:t>
            </a:r>
            <a:endParaRPr lang="en-US"/>
          </a:p>
          <a:p>
            <a:pPr marL="0" indent="0">
              <a:buNone/>
            </a:pPr>
            <a:r>
              <a:rPr lang="en-US" b="1" err="1"/>
              <a:t>Nhược</a:t>
            </a:r>
            <a:r>
              <a:rPr lang="en-US" b="1"/>
              <a:t> </a:t>
            </a:r>
            <a:r>
              <a:rPr lang="en-US" b="1" err="1"/>
              <a:t>điểm</a:t>
            </a:r>
            <a:r>
              <a:rPr lang="en-US" b="1"/>
              <a:t>:</a:t>
            </a:r>
          </a:p>
          <a:p>
            <a:pPr marL="171450" indent="-171450"/>
            <a:r>
              <a:rPr lang="en-US" err="1"/>
              <a:t>Quá</a:t>
            </a:r>
            <a:r>
              <a:rPr lang="en-US"/>
              <a:t> </a:t>
            </a:r>
            <a:r>
              <a:rPr lang="en-US" err="1"/>
              <a:t>trình</a:t>
            </a:r>
            <a:r>
              <a:rPr lang="en-US"/>
              <a:t> </a:t>
            </a:r>
            <a:r>
              <a:rPr lang="en-US" err="1"/>
              <a:t>huấn</a:t>
            </a:r>
            <a:r>
              <a:rPr lang="en-US"/>
              <a:t> </a:t>
            </a:r>
            <a:r>
              <a:rPr lang="en-US" err="1"/>
              <a:t>luyện</a:t>
            </a:r>
            <a:r>
              <a:rPr lang="en-US"/>
              <a:t> </a:t>
            </a:r>
            <a:r>
              <a:rPr lang="en-US" err="1"/>
              <a:t>phức</a:t>
            </a:r>
            <a:r>
              <a:rPr lang="en-US"/>
              <a:t> </a:t>
            </a:r>
            <a:r>
              <a:rPr lang="en-US" err="1"/>
              <a:t>tạp</a:t>
            </a:r>
            <a:r>
              <a:rPr lang="en-US"/>
              <a:t> </a:t>
            </a:r>
            <a:r>
              <a:rPr lang="en-US" err="1"/>
              <a:t>hơn</a:t>
            </a:r>
            <a:endParaRPr lang="en-US"/>
          </a:p>
          <a:p>
            <a:pPr marL="171450" indent="-171450"/>
            <a:r>
              <a:rPr lang="en-US" err="1"/>
              <a:t>Kết</a:t>
            </a:r>
            <a:r>
              <a:rPr lang="en-US"/>
              <a:t> </a:t>
            </a:r>
            <a:r>
              <a:rPr lang="en-US" err="1"/>
              <a:t>quả</a:t>
            </a:r>
            <a:r>
              <a:rPr lang="en-US"/>
              <a:t> </a:t>
            </a:r>
            <a:r>
              <a:rPr lang="en-US" err="1"/>
              <a:t>khó</a:t>
            </a:r>
            <a:r>
              <a:rPr lang="en-US"/>
              <a:t> </a:t>
            </a:r>
            <a:r>
              <a:rPr lang="en-US" err="1"/>
              <a:t>giải</a:t>
            </a:r>
            <a:r>
              <a:rPr lang="en-US"/>
              <a:t> </a:t>
            </a:r>
            <a:r>
              <a:rPr lang="en-US" err="1"/>
              <a:t>thích</a:t>
            </a:r>
            <a:r>
              <a:rPr lang="en-US"/>
              <a:t> </a:t>
            </a:r>
            <a:r>
              <a:rPr lang="en-US" err="1"/>
              <a:t>hơn</a:t>
            </a:r>
            <a:r>
              <a:rPr lang="en-US"/>
              <a:t> so </a:t>
            </a:r>
            <a:r>
              <a:rPr lang="en-US" err="1"/>
              <a:t>với</a:t>
            </a:r>
            <a:r>
              <a:rPr lang="en-US"/>
              <a:t> </a:t>
            </a:r>
            <a:r>
              <a:rPr lang="en-US" err="1"/>
              <a:t>phương</a:t>
            </a:r>
            <a:r>
              <a:rPr lang="en-US"/>
              <a:t> </a:t>
            </a:r>
            <a:r>
              <a:rPr lang="en-US" err="1"/>
              <a:t>pháp</a:t>
            </a:r>
            <a:r>
              <a:rPr lang="en-US"/>
              <a:t> memory-based</a:t>
            </a:r>
          </a:p>
          <a:p>
            <a:pPr marL="171450" indent="-171450"/>
            <a:r>
              <a:rPr lang="en-US" err="1"/>
              <a:t>Cần</a:t>
            </a:r>
            <a:r>
              <a:rPr lang="en-US"/>
              <a:t> </a:t>
            </a:r>
            <a:r>
              <a:rPr lang="en-US" err="1"/>
              <a:t>điều</a:t>
            </a:r>
            <a:r>
              <a:rPr lang="en-US"/>
              <a:t> </a:t>
            </a:r>
            <a:r>
              <a:rPr lang="en-US" err="1"/>
              <a:t>chỉnh</a:t>
            </a:r>
            <a:r>
              <a:rPr lang="en-US"/>
              <a:t> </a:t>
            </a:r>
            <a:r>
              <a:rPr lang="en-US" err="1"/>
              <a:t>nhiều</a:t>
            </a:r>
            <a:r>
              <a:rPr lang="en-US"/>
              <a:t> </a:t>
            </a:r>
            <a:r>
              <a:rPr lang="en-US" err="1"/>
              <a:t>siêu</a:t>
            </a:r>
            <a:r>
              <a:rPr lang="en-US"/>
              <a:t> </a:t>
            </a:r>
            <a:r>
              <a:rPr lang="en-US" err="1"/>
              <a:t>tham</a:t>
            </a:r>
            <a:r>
              <a:rPr lang="en-US"/>
              <a:t> </a:t>
            </a:r>
            <a:r>
              <a:rPr lang="en-US" err="1"/>
              <a:t>số</a:t>
            </a:r>
            <a:endParaRPr lang="en-US"/>
          </a:p>
          <a:p>
            <a:pPr marL="0" indent="0" algn="ctr">
              <a:buNone/>
            </a:pPr>
            <a:br>
              <a:rPr lang="en-US"/>
            </a:br>
            <a:endParaRPr lang="en-US"/>
          </a:p>
          <a:p>
            <a:pPr marL="0" indent="0">
              <a:buNone/>
            </a:pPr>
            <a:r>
              <a:rPr lang="en-US" b="1" err="1"/>
              <a:t>Hạn</a:t>
            </a:r>
            <a:r>
              <a:rPr lang="en-US" b="1"/>
              <a:t> </a:t>
            </a:r>
            <a:r>
              <a:rPr lang="en-US" b="1" err="1"/>
              <a:t>chế</a:t>
            </a:r>
            <a:r>
              <a:rPr lang="en-US" b="1"/>
              <a:t> </a:t>
            </a:r>
            <a:r>
              <a:rPr lang="en-US" b="1" err="1"/>
              <a:t>chung</a:t>
            </a:r>
            <a:r>
              <a:rPr lang="en-US" b="1"/>
              <a:t> </a:t>
            </a:r>
            <a:r>
              <a:rPr lang="en-US" b="1" err="1"/>
              <a:t>của</a:t>
            </a:r>
            <a:r>
              <a:rPr lang="en-US" b="1"/>
              <a:t> Collaborative Filtering</a:t>
            </a:r>
          </a:p>
          <a:p>
            <a:pPr marL="0" indent="0">
              <a:buNone/>
            </a:pPr>
            <a:r>
              <a:rPr lang="en-US" err="1"/>
              <a:t>Mặc</a:t>
            </a:r>
            <a:r>
              <a:rPr lang="en-US"/>
              <a:t> </a:t>
            </a:r>
            <a:r>
              <a:rPr lang="en-US" err="1"/>
              <a:t>dù</a:t>
            </a:r>
            <a:r>
              <a:rPr lang="en-US"/>
              <a:t> </a:t>
            </a:r>
            <a:r>
              <a:rPr lang="en-US" err="1"/>
              <a:t>hiệu</a:t>
            </a:r>
            <a:r>
              <a:rPr lang="en-US"/>
              <a:t> </a:t>
            </a:r>
            <a:r>
              <a:rPr lang="en-US" err="1"/>
              <a:t>quả</a:t>
            </a:r>
            <a:r>
              <a:rPr lang="en-US"/>
              <a:t> </a:t>
            </a:r>
            <a:r>
              <a:rPr lang="en-US" err="1"/>
              <a:t>trong</a:t>
            </a:r>
            <a:r>
              <a:rPr lang="en-US"/>
              <a:t> </a:t>
            </a:r>
            <a:r>
              <a:rPr lang="en-US" err="1"/>
              <a:t>nhiều</a:t>
            </a:r>
            <a:r>
              <a:rPr lang="en-US"/>
              <a:t> </a:t>
            </a:r>
            <a:r>
              <a:rPr lang="en-US" err="1"/>
              <a:t>hệ</a:t>
            </a:r>
            <a:r>
              <a:rPr lang="en-US"/>
              <a:t> </a:t>
            </a:r>
            <a:r>
              <a:rPr lang="en-US" err="1"/>
              <a:t>thống</a:t>
            </a:r>
            <a:r>
              <a:rPr lang="en-US"/>
              <a:t> </a:t>
            </a:r>
            <a:r>
              <a:rPr lang="en-US" err="1"/>
              <a:t>gợi</a:t>
            </a:r>
            <a:r>
              <a:rPr lang="en-US"/>
              <a:t> ý, </a:t>
            </a:r>
            <a:r>
              <a:rPr lang="en-US" err="1"/>
              <a:t>các</a:t>
            </a:r>
            <a:r>
              <a:rPr lang="en-US"/>
              <a:t> </a:t>
            </a:r>
            <a:r>
              <a:rPr lang="en-US" err="1"/>
              <a:t>phương</a:t>
            </a:r>
            <a:r>
              <a:rPr lang="en-US"/>
              <a:t> </a:t>
            </a:r>
            <a:r>
              <a:rPr lang="en-US" err="1"/>
              <a:t>pháp</a:t>
            </a:r>
            <a:r>
              <a:rPr lang="en-US"/>
              <a:t> CF </a:t>
            </a:r>
            <a:r>
              <a:rPr lang="en-US" err="1"/>
              <a:t>truyền</a:t>
            </a:r>
            <a:r>
              <a:rPr lang="en-US"/>
              <a:t> </a:t>
            </a:r>
            <a:r>
              <a:rPr lang="en-US" err="1"/>
              <a:t>thống</a:t>
            </a:r>
            <a:r>
              <a:rPr lang="en-US"/>
              <a:t> </a:t>
            </a:r>
            <a:r>
              <a:rPr lang="en-US" err="1"/>
              <a:t>vẫn</a:t>
            </a:r>
            <a:r>
              <a:rPr lang="en-US"/>
              <a:t> </a:t>
            </a:r>
            <a:r>
              <a:rPr lang="en-US" err="1"/>
              <a:t>tồn</a:t>
            </a:r>
            <a:r>
              <a:rPr lang="en-US"/>
              <a:t> </a:t>
            </a:r>
            <a:r>
              <a:rPr lang="en-US" err="1"/>
              <a:t>tại</a:t>
            </a:r>
            <a:r>
              <a:rPr lang="en-US"/>
              <a:t> </a:t>
            </a:r>
            <a:r>
              <a:rPr lang="en-US" err="1"/>
              <a:t>một</a:t>
            </a:r>
            <a:r>
              <a:rPr lang="en-US"/>
              <a:t> </a:t>
            </a:r>
            <a:r>
              <a:rPr lang="en-US" err="1"/>
              <a:t>số</a:t>
            </a:r>
            <a:r>
              <a:rPr lang="en-US"/>
              <a:t> </a:t>
            </a:r>
            <a:r>
              <a:rPr lang="en-US" err="1"/>
              <a:t>hạn</a:t>
            </a:r>
            <a:r>
              <a:rPr lang="en-US"/>
              <a:t> </a:t>
            </a:r>
            <a:r>
              <a:rPr lang="en-US" err="1"/>
              <a:t>chế</a:t>
            </a:r>
            <a:r>
              <a:rPr lang="en-US"/>
              <a:t>:</a:t>
            </a:r>
          </a:p>
          <a:p>
            <a:pPr marL="171450" indent="-171450"/>
            <a:r>
              <a:rPr lang="en-US"/>
              <a:t>Mang </a:t>
            </a:r>
            <a:r>
              <a:rPr lang="en-US" err="1"/>
              <a:t>tính</a:t>
            </a:r>
            <a:r>
              <a:rPr lang="en-US"/>
              <a:t> </a:t>
            </a:r>
            <a:r>
              <a:rPr lang="en-US" b="1" err="1"/>
              <a:t>tĩnh</a:t>
            </a:r>
            <a:r>
              <a:rPr lang="en-US"/>
              <a:t>, </a:t>
            </a:r>
            <a:r>
              <a:rPr lang="en-US" err="1"/>
              <a:t>không</a:t>
            </a:r>
            <a:r>
              <a:rPr lang="en-US"/>
              <a:t> </a:t>
            </a:r>
            <a:r>
              <a:rPr lang="en-US" err="1"/>
              <a:t>xét</a:t>
            </a:r>
            <a:r>
              <a:rPr lang="en-US"/>
              <a:t> </a:t>
            </a:r>
            <a:r>
              <a:rPr lang="en-US" err="1"/>
              <a:t>đến</a:t>
            </a:r>
            <a:r>
              <a:rPr lang="en-US"/>
              <a:t> </a:t>
            </a:r>
            <a:r>
              <a:rPr lang="en-US" b="1" err="1"/>
              <a:t>thứ</a:t>
            </a:r>
            <a:r>
              <a:rPr lang="en-US" b="1"/>
              <a:t> </a:t>
            </a:r>
            <a:r>
              <a:rPr lang="en-US" b="1" err="1"/>
              <a:t>tự</a:t>
            </a:r>
            <a:r>
              <a:rPr lang="en-US" b="1"/>
              <a:t> </a:t>
            </a:r>
            <a:r>
              <a:rPr lang="en-US" b="1" err="1"/>
              <a:t>thời</a:t>
            </a:r>
            <a:r>
              <a:rPr lang="en-US" b="1"/>
              <a:t> </a:t>
            </a:r>
            <a:r>
              <a:rPr lang="en-US" b="1" err="1"/>
              <a:t>gian</a:t>
            </a:r>
            <a:r>
              <a:rPr lang="en-US" b="1"/>
              <a:t> </a:t>
            </a:r>
            <a:r>
              <a:rPr lang="en-US" b="1" err="1"/>
              <a:t>của</a:t>
            </a:r>
            <a:r>
              <a:rPr lang="en-US" b="1"/>
              <a:t> </a:t>
            </a:r>
            <a:r>
              <a:rPr lang="en-US" b="1" err="1"/>
              <a:t>tương</a:t>
            </a:r>
            <a:r>
              <a:rPr lang="en-US" b="1"/>
              <a:t> </a:t>
            </a:r>
            <a:r>
              <a:rPr lang="en-US" b="1" err="1"/>
              <a:t>tác</a:t>
            </a:r>
            <a:endParaRPr lang="en-US" b="1"/>
          </a:p>
          <a:p>
            <a:pPr marL="171450" indent="-171450"/>
            <a:r>
              <a:rPr lang="en-US" err="1"/>
              <a:t>Không</a:t>
            </a:r>
            <a:r>
              <a:rPr lang="en-US"/>
              <a:t> </a:t>
            </a:r>
            <a:r>
              <a:rPr lang="en-US" err="1"/>
              <a:t>phản</a:t>
            </a:r>
            <a:r>
              <a:rPr lang="en-US"/>
              <a:t> </a:t>
            </a:r>
            <a:r>
              <a:rPr lang="en-US" err="1"/>
              <a:t>ánh</a:t>
            </a:r>
            <a:r>
              <a:rPr lang="en-US"/>
              <a:t> </a:t>
            </a:r>
            <a:r>
              <a:rPr lang="en-US" err="1"/>
              <a:t>kịp</a:t>
            </a:r>
            <a:r>
              <a:rPr lang="en-US"/>
              <a:t> </a:t>
            </a:r>
            <a:r>
              <a:rPr lang="en-US" err="1"/>
              <a:t>thời</a:t>
            </a:r>
            <a:r>
              <a:rPr lang="en-US"/>
              <a:t> </a:t>
            </a:r>
            <a:r>
              <a:rPr lang="en-US" err="1"/>
              <a:t>sự</a:t>
            </a:r>
            <a:r>
              <a:rPr lang="en-US"/>
              <a:t> </a:t>
            </a:r>
            <a:r>
              <a:rPr lang="en-US" err="1"/>
              <a:t>thay</a:t>
            </a:r>
            <a:r>
              <a:rPr lang="en-US"/>
              <a:t> </a:t>
            </a:r>
            <a:r>
              <a:rPr lang="en-US" err="1"/>
              <a:t>đổi</a:t>
            </a:r>
            <a:r>
              <a:rPr lang="en-US"/>
              <a:t> </a:t>
            </a:r>
            <a:r>
              <a:rPr lang="en-US" err="1"/>
              <a:t>sở</a:t>
            </a:r>
            <a:r>
              <a:rPr lang="en-US"/>
              <a:t> </a:t>
            </a:r>
            <a:r>
              <a:rPr lang="en-US" err="1"/>
              <a:t>thích</a:t>
            </a:r>
            <a:r>
              <a:rPr lang="en-US"/>
              <a:t> </a:t>
            </a:r>
            <a:r>
              <a:rPr lang="en-US" err="1"/>
              <a:t>của</a:t>
            </a:r>
            <a:r>
              <a:rPr lang="en-US"/>
              <a:t> </a:t>
            </a:r>
            <a:r>
              <a:rPr lang="en-US" err="1"/>
              <a:t>người</a:t>
            </a:r>
            <a:r>
              <a:rPr lang="en-US"/>
              <a:t> </a:t>
            </a:r>
            <a:r>
              <a:rPr lang="en-US" err="1"/>
              <a:t>dùng</a:t>
            </a:r>
            <a:endParaRPr lang="en-US"/>
          </a:p>
          <a:p>
            <a:pPr marL="171450" indent="-171450"/>
            <a:r>
              <a:rPr lang="en-US" err="1"/>
              <a:t>Gặp</a:t>
            </a:r>
            <a:r>
              <a:rPr lang="en-US"/>
              <a:t> </a:t>
            </a:r>
            <a:r>
              <a:rPr lang="en-US" err="1"/>
              <a:t>khó</a:t>
            </a:r>
            <a:r>
              <a:rPr lang="en-US"/>
              <a:t> </a:t>
            </a:r>
            <a:r>
              <a:rPr lang="en-US" err="1"/>
              <a:t>khăn</a:t>
            </a:r>
            <a:r>
              <a:rPr lang="en-US"/>
              <a:t> </a:t>
            </a:r>
            <a:r>
              <a:rPr lang="en-US" err="1"/>
              <a:t>trong</a:t>
            </a:r>
            <a:r>
              <a:rPr lang="en-US"/>
              <a:t> </a:t>
            </a:r>
            <a:r>
              <a:rPr lang="en-US" err="1"/>
              <a:t>các</a:t>
            </a:r>
            <a:r>
              <a:rPr lang="en-US"/>
              <a:t> </a:t>
            </a:r>
            <a:r>
              <a:rPr lang="en-US" err="1"/>
              <a:t>bài</a:t>
            </a:r>
            <a:r>
              <a:rPr lang="en-US"/>
              <a:t> </a:t>
            </a:r>
            <a:r>
              <a:rPr lang="en-US" err="1"/>
              <a:t>toán</a:t>
            </a:r>
            <a:r>
              <a:rPr lang="en-US"/>
              <a:t> </a:t>
            </a:r>
            <a:r>
              <a:rPr lang="en-US" err="1"/>
              <a:t>có</a:t>
            </a:r>
            <a:r>
              <a:rPr lang="en-US"/>
              <a:t> </a:t>
            </a:r>
            <a:r>
              <a:rPr lang="en-US" err="1"/>
              <a:t>tính</a:t>
            </a:r>
            <a:r>
              <a:rPr lang="en-US"/>
              <a:t> </a:t>
            </a:r>
            <a:r>
              <a:rPr lang="en-US" err="1"/>
              <a:t>ngữ</a:t>
            </a:r>
            <a:r>
              <a:rPr lang="en-US"/>
              <a:t> </a:t>
            </a:r>
            <a:r>
              <a:rPr lang="en-US" err="1"/>
              <a:t>cảnh</a:t>
            </a:r>
            <a:r>
              <a:rPr lang="en-US"/>
              <a:t> </a:t>
            </a:r>
            <a:r>
              <a:rPr lang="en-US" err="1"/>
              <a:t>hoặc</a:t>
            </a:r>
            <a:r>
              <a:rPr lang="en-US"/>
              <a:t> </a:t>
            </a:r>
            <a:r>
              <a:rPr lang="en-US" err="1"/>
              <a:t>hành</a:t>
            </a:r>
            <a:r>
              <a:rPr lang="en-US"/>
              <a:t> vi </a:t>
            </a:r>
            <a:r>
              <a:rPr lang="en-US" err="1"/>
              <a:t>theo</a:t>
            </a:r>
            <a:r>
              <a:rPr lang="en-US"/>
              <a:t> </a:t>
            </a:r>
            <a:r>
              <a:rPr lang="en-US" err="1"/>
              <a:t>chuỗi</a:t>
            </a:r>
            <a:r>
              <a:rPr lang="en-US"/>
              <a:t> (sequential behavior)</a:t>
            </a:r>
          </a:p>
          <a:p>
            <a:pPr>
              <a:buNone/>
            </a:pPr>
            <a:endParaRPr lang="en-US" b="1"/>
          </a:p>
          <a:p>
            <a:pPr>
              <a:buNone/>
            </a:pPr>
            <a:r>
              <a:rPr lang="en-US" b="1"/>
              <a:t>1. Matrix Factorization</a:t>
            </a:r>
            <a:endParaRPr lang="en-US"/>
          </a:p>
          <a:p>
            <a:pPr>
              <a:buNone/>
            </a:pPr>
            <a:r>
              <a:rPr lang="en-US" err="1"/>
              <a:t>Đối</a:t>
            </a:r>
            <a:r>
              <a:rPr lang="en-US"/>
              <a:t> </a:t>
            </a:r>
            <a:r>
              <a:rPr lang="en-US" err="1"/>
              <a:t>với</a:t>
            </a:r>
            <a:r>
              <a:rPr lang="en-US"/>
              <a:t> </a:t>
            </a:r>
            <a:r>
              <a:rPr lang="en-US" err="1"/>
              <a:t>phương</a:t>
            </a:r>
            <a:r>
              <a:rPr lang="en-US"/>
              <a:t> </a:t>
            </a:r>
            <a:r>
              <a:rPr lang="en-US" err="1"/>
              <a:t>pháp</a:t>
            </a:r>
            <a:r>
              <a:rPr lang="en-US"/>
              <a:t> Matrix Factorization, </a:t>
            </a:r>
            <a:r>
              <a:rPr lang="en-US" err="1"/>
              <a:t>mô</a:t>
            </a:r>
            <a:r>
              <a:rPr lang="en-US"/>
              <a:t> </a:t>
            </a:r>
            <a:r>
              <a:rPr lang="en-US" err="1"/>
              <a:t>hình</a:t>
            </a:r>
            <a:r>
              <a:rPr lang="en-US"/>
              <a:t> </a:t>
            </a:r>
            <a:r>
              <a:rPr lang="en-US" err="1"/>
              <a:t>được</a:t>
            </a:r>
            <a:r>
              <a:rPr lang="en-US"/>
              <a:t> </a:t>
            </a:r>
            <a:r>
              <a:rPr lang="en-US" err="1"/>
              <a:t>huấn</a:t>
            </a:r>
            <a:r>
              <a:rPr lang="en-US"/>
              <a:t> </a:t>
            </a:r>
            <a:r>
              <a:rPr lang="en-US" err="1"/>
              <a:t>luyện</a:t>
            </a:r>
            <a:r>
              <a:rPr lang="en-US"/>
              <a:t> </a:t>
            </a:r>
            <a:r>
              <a:rPr lang="en-US" err="1"/>
              <a:t>dựa</a:t>
            </a:r>
            <a:r>
              <a:rPr lang="en-US"/>
              <a:t> </a:t>
            </a:r>
            <a:r>
              <a:rPr lang="en-US" err="1"/>
              <a:t>trên</a:t>
            </a:r>
            <a:r>
              <a:rPr lang="en-US"/>
              <a:t> </a:t>
            </a:r>
            <a:r>
              <a:rPr lang="en-US" err="1"/>
              <a:t>việc</a:t>
            </a:r>
            <a:r>
              <a:rPr lang="en-US"/>
              <a:t> </a:t>
            </a:r>
            <a:r>
              <a:rPr lang="en-US" err="1"/>
              <a:t>phân</a:t>
            </a:r>
            <a:r>
              <a:rPr lang="en-US"/>
              <a:t> </a:t>
            </a:r>
            <a:r>
              <a:rPr lang="en-US" err="1"/>
              <a:t>rã</a:t>
            </a:r>
            <a:r>
              <a:rPr lang="en-US"/>
              <a:t> ma </a:t>
            </a:r>
            <a:r>
              <a:rPr lang="en-US" err="1"/>
              <a:t>trận</a:t>
            </a:r>
            <a:r>
              <a:rPr lang="en-US"/>
              <a:t> </a:t>
            </a:r>
            <a:r>
              <a:rPr lang="en-US" err="1"/>
              <a:t>người</a:t>
            </a:r>
            <a:r>
              <a:rPr lang="en-US"/>
              <a:t> </a:t>
            </a:r>
            <a:r>
              <a:rPr lang="en-US" err="1"/>
              <a:t>dùng</a:t>
            </a:r>
            <a:r>
              <a:rPr lang="en-US"/>
              <a:t> – </a:t>
            </a:r>
            <a:r>
              <a:rPr lang="en-US" err="1"/>
              <a:t>sản</a:t>
            </a:r>
            <a:r>
              <a:rPr lang="en-US"/>
              <a:t> </a:t>
            </a:r>
            <a:r>
              <a:rPr lang="en-US" err="1"/>
              <a:t>phẩm</a:t>
            </a:r>
            <a:r>
              <a:rPr lang="en-US"/>
              <a:t> </a:t>
            </a:r>
            <a:r>
              <a:rPr lang="en-US" err="1"/>
              <a:t>thành</a:t>
            </a:r>
            <a:r>
              <a:rPr lang="en-US"/>
              <a:t> </a:t>
            </a:r>
            <a:r>
              <a:rPr lang="en-US" err="1"/>
              <a:t>hai</a:t>
            </a:r>
            <a:r>
              <a:rPr lang="en-US"/>
              <a:t> ma </a:t>
            </a:r>
            <a:r>
              <a:rPr lang="en-US" err="1"/>
              <a:t>trận</a:t>
            </a:r>
            <a:r>
              <a:rPr lang="en-US"/>
              <a:t> </a:t>
            </a:r>
            <a:r>
              <a:rPr lang="en-US" err="1"/>
              <a:t>tiềm</a:t>
            </a:r>
            <a:r>
              <a:rPr lang="en-US"/>
              <a:t> </a:t>
            </a:r>
            <a:r>
              <a:rPr lang="en-US" err="1"/>
              <a:t>ẩn</a:t>
            </a:r>
            <a:r>
              <a:rPr lang="en-US"/>
              <a:t>. Các </a:t>
            </a:r>
            <a:r>
              <a:rPr lang="en-US" err="1"/>
              <a:t>tham</a:t>
            </a:r>
            <a:r>
              <a:rPr lang="en-US"/>
              <a:t> </a:t>
            </a:r>
            <a:r>
              <a:rPr lang="en-US" err="1"/>
              <a:t>số</a:t>
            </a:r>
            <a:r>
              <a:rPr lang="en-US"/>
              <a:t> </a:t>
            </a:r>
            <a:r>
              <a:rPr lang="en-US" err="1"/>
              <a:t>chính</a:t>
            </a:r>
            <a:r>
              <a:rPr lang="en-US"/>
              <a:t> </a:t>
            </a:r>
            <a:r>
              <a:rPr lang="en-US" err="1"/>
              <a:t>gồm</a:t>
            </a:r>
            <a:r>
              <a:rPr lang="en-US"/>
              <a:t>:</a:t>
            </a:r>
          </a:p>
          <a:p>
            <a:pPr>
              <a:buNone/>
            </a:pPr>
            <a:r>
              <a:rPr lang="en-US"/>
              <a:t>•    </a:t>
            </a:r>
            <a:r>
              <a:rPr lang="en-US" err="1"/>
              <a:t>n_factors</a:t>
            </a:r>
            <a:r>
              <a:rPr lang="en-US"/>
              <a:t> = 50: </a:t>
            </a:r>
            <a:r>
              <a:rPr lang="en-US" err="1"/>
              <a:t>số</a:t>
            </a:r>
            <a:r>
              <a:rPr lang="en-US"/>
              <a:t> </a:t>
            </a:r>
            <a:r>
              <a:rPr lang="en-US" err="1"/>
              <a:t>chiều</a:t>
            </a:r>
            <a:r>
              <a:rPr lang="en-US"/>
              <a:t> </a:t>
            </a:r>
            <a:r>
              <a:rPr lang="en-US" err="1"/>
              <a:t>không</a:t>
            </a:r>
            <a:r>
              <a:rPr lang="en-US"/>
              <a:t> </a:t>
            </a:r>
            <a:r>
              <a:rPr lang="en-US" err="1"/>
              <a:t>gian</a:t>
            </a:r>
            <a:r>
              <a:rPr lang="en-US"/>
              <a:t> latent </a:t>
            </a:r>
            <a:r>
              <a:rPr lang="en-US" err="1"/>
              <a:t>để</a:t>
            </a:r>
            <a:r>
              <a:rPr lang="en-US"/>
              <a:t> </a:t>
            </a:r>
            <a:r>
              <a:rPr lang="en-US" err="1"/>
              <a:t>biểu</a:t>
            </a:r>
            <a:r>
              <a:rPr lang="en-US"/>
              <a:t> </a:t>
            </a:r>
            <a:r>
              <a:rPr lang="en-US" err="1"/>
              <a:t>diễn</a:t>
            </a:r>
            <a:r>
              <a:rPr lang="en-US"/>
              <a:t> </a:t>
            </a:r>
            <a:r>
              <a:rPr lang="en-US" err="1"/>
              <a:t>người</a:t>
            </a:r>
            <a:r>
              <a:rPr lang="en-US"/>
              <a:t> </a:t>
            </a:r>
            <a:r>
              <a:rPr lang="en-US" err="1"/>
              <a:t>dùng</a:t>
            </a:r>
            <a:r>
              <a:rPr lang="en-US"/>
              <a:t> </a:t>
            </a:r>
            <a:r>
              <a:rPr lang="en-US" err="1"/>
              <a:t>và</a:t>
            </a:r>
            <a:r>
              <a:rPr lang="en-US"/>
              <a:t> item.</a:t>
            </a:r>
          </a:p>
          <a:p>
            <a:pPr>
              <a:buNone/>
            </a:pPr>
            <a:r>
              <a:rPr lang="en-US"/>
              <a:t>•    </a:t>
            </a:r>
            <a:r>
              <a:rPr lang="en-US" err="1"/>
              <a:t>learning_rate</a:t>
            </a:r>
            <a:r>
              <a:rPr lang="en-US"/>
              <a:t> = 0.001: </a:t>
            </a:r>
            <a:r>
              <a:rPr lang="en-US" err="1"/>
              <a:t>tốc</a:t>
            </a:r>
            <a:r>
              <a:rPr lang="en-US"/>
              <a:t> </a:t>
            </a:r>
            <a:r>
              <a:rPr lang="en-US" err="1"/>
              <a:t>độ</a:t>
            </a:r>
            <a:r>
              <a:rPr lang="en-US"/>
              <a:t> </a:t>
            </a:r>
            <a:r>
              <a:rPr lang="en-US" err="1"/>
              <a:t>học</a:t>
            </a:r>
            <a:r>
              <a:rPr lang="en-US"/>
              <a:t> </a:t>
            </a:r>
            <a:r>
              <a:rPr lang="en-US" err="1"/>
              <a:t>tối</a:t>
            </a:r>
            <a:r>
              <a:rPr lang="en-US"/>
              <a:t> </a:t>
            </a:r>
            <a:r>
              <a:rPr lang="en-US" err="1"/>
              <a:t>ưu</a:t>
            </a:r>
            <a:r>
              <a:rPr lang="en-US"/>
              <a:t> </a:t>
            </a:r>
            <a:r>
              <a:rPr lang="en-US" err="1"/>
              <a:t>để</a:t>
            </a:r>
            <a:r>
              <a:rPr lang="en-US"/>
              <a:t> </a:t>
            </a:r>
            <a:r>
              <a:rPr lang="en-US" err="1"/>
              <a:t>tránh</a:t>
            </a:r>
            <a:r>
              <a:rPr lang="en-US"/>
              <a:t> </a:t>
            </a:r>
            <a:r>
              <a:rPr lang="en-US" err="1"/>
              <a:t>học</a:t>
            </a:r>
            <a:r>
              <a:rPr lang="en-US"/>
              <a:t> </a:t>
            </a:r>
            <a:r>
              <a:rPr lang="en-US" err="1"/>
              <a:t>quá</a:t>
            </a:r>
            <a:r>
              <a:rPr lang="en-US"/>
              <a:t> </a:t>
            </a:r>
            <a:r>
              <a:rPr lang="en-US" err="1"/>
              <a:t>nhanh</a:t>
            </a:r>
            <a:r>
              <a:rPr lang="en-US"/>
              <a:t> </a:t>
            </a:r>
            <a:r>
              <a:rPr lang="en-US" err="1"/>
              <a:t>hoặc</a:t>
            </a:r>
            <a:r>
              <a:rPr lang="en-US"/>
              <a:t> </a:t>
            </a:r>
            <a:r>
              <a:rPr lang="en-US" err="1"/>
              <a:t>quá</a:t>
            </a:r>
            <a:r>
              <a:rPr lang="en-US"/>
              <a:t> </a:t>
            </a:r>
            <a:r>
              <a:rPr lang="en-US" err="1"/>
              <a:t>chậm</a:t>
            </a:r>
            <a:r>
              <a:rPr lang="en-US"/>
              <a:t>.</a:t>
            </a:r>
          </a:p>
          <a:p>
            <a:pPr>
              <a:buNone/>
            </a:pPr>
            <a:r>
              <a:rPr lang="en-US"/>
              <a:t>•    </a:t>
            </a:r>
            <a:r>
              <a:rPr lang="en-US" err="1"/>
              <a:t>batch_size</a:t>
            </a:r>
            <a:r>
              <a:rPr lang="en-US"/>
              <a:t> = 256: </a:t>
            </a:r>
            <a:r>
              <a:rPr lang="en-US" err="1"/>
              <a:t>kích</a:t>
            </a:r>
            <a:r>
              <a:rPr lang="en-US"/>
              <a:t> </a:t>
            </a:r>
            <a:r>
              <a:rPr lang="en-US" err="1"/>
              <a:t>thước</a:t>
            </a:r>
            <a:r>
              <a:rPr lang="en-US"/>
              <a:t> </a:t>
            </a:r>
            <a:r>
              <a:rPr lang="en-US" err="1"/>
              <a:t>mỗi</a:t>
            </a:r>
            <a:r>
              <a:rPr lang="en-US"/>
              <a:t> </a:t>
            </a:r>
            <a:r>
              <a:rPr lang="en-US" err="1"/>
              <a:t>lô</a:t>
            </a:r>
            <a:r>
              <a:rPr lang="en-US"/>
              <a:t> </a:t>
            </a:r>
            <a:r>
              <a:rPr lang="en-US" err="1"/>
              <a:t>dữ</a:t>
            </a:r>
            <a:r>
              <a:rPr lang="en-US"/>
              <a:t> </a:t>
            </a:r>
            <a:r>
              <a:rPr lang="en-US" err="1"/>
              <a:t>liệu</a:t>
            </a:r>
            <a:r>
              <a:rPr lang="en-US"/>
              <a:t> </a:t>
            </a:r>
            <a:r>
              <a:rPr lang="en-US" err="1"/>
              <a:t>trong</a:t>
            </a:r>
            <a:r>
              <a:rPr lang="en-US"/>
              <a:t> </a:t>
            </a:r>
            <a:r>
              <a:rPr lang="en-US" err="1"/>
              <a:t>quá</a:t>
            </a:r>
            <a:r>
              <a:rPr lang="en-US"/>
              <a:t> </a:t>
            </a:r>
            <a:r>
              <a:rPr lang="en-US" err="1"/>
              <a:t>trình</a:t>
            </a:r>
            <a:r>
              <a:rPr lang="en-US"/>
              <a:t> </a:t>
            </a:r>
            <a:r>
              <a:rPr lang="en-US" err="1"/>
              <a:t>huấn</a:t>
            </a:r>
            <a:r>
              <a:rPr lang="en-US"/>
              <a:t> </a:t>
            </a:r>
            <a:r>
              <a:rPr lang="en-US" err="1"/>
              <a:t>luyện</a:t>
            </a:r>
            <a:r>
              <a:rPr lang="en-US"/>
              <a:t>.</a:t>
            </a:r>
          </a:p>
          <a:p>
            <a:pPr>
              <a:buNone/>
            </a:pPr>
            <a:r>
              <a:rPr lang="en-US"/>
              <a:t>•    epochs = 50: </a:t>
            </a:r>
            <a:r>
              <a:rPr lang="en-US" err="1"/>
              <a:t>số</a:t>
            </a:r>
            <a:r>
              <a:rPr lang="en-US"/>
              <a:t> </a:t>
            </a:r>
            <a:r>
              <a:rPr lang="en-US" err="1"/>
              <a:t>vòng</a:t>
            </a:r>
            <a:r>
              <a:rPr lang="en-US"/>
              <a:t> </a:t>
            </a:r>
            <a:r>
              <a:rPr lang="en-US" err="1"/>
              <a:t>lặp</a:t>
            </a:r>
            <a:r>
              <a:rPr lang="en-US"/>
              <a:t> </a:t>
            </a:r>
            <a:r>
              <a:rPr lang="en-US" err="1"/>
              <a:t>huấn</a:t>
            </a:r>
            <a:r>
              <a:rPr lang="en-US"/>
              <a:t> </a:t>
            </a:r>
            <a:r>
              <a:rPr lang="en-US" err="1"/>
              <a:t>luyện</a:t>
            </a:r>
            <a:r>
              <a:rPr lang="en-US"/>
              <a:t> </a:t>
            </a:r>
            <a:r>
              <a:rPr lang="en-US" err="1"/>
              <a:t>toàn</a:t>
            </a:r>
            <a:r>
              <a:rPr lang="en-US"/>
              <a:t> </a:t>
            </a:r>
            <a:r>
              <a:rPr lang="en-US" err="1"/>
              <a:t>bộ</a:t>
            </a:r>
            <a:r>
              <a:rPr lang="en-US"/>
              <a:t> </a:t>
            </a:r>
            <a:r>
              <a:rPr lang="en-US" err="1"/>
              <a:t>tập</a:t>
            </a:r>
            <a:r>
              <a:rPr lang="en-US"/>
              <a:t> </a:t>
            </a:r>
            <a:r>
              <a:rPr lang="en-US" err="1"/>
              <a:t>dữ</a:t>
            </a:r>
            <a:r>
              <a:rPr lang="en-US"/>
              <a:t> </a:t>
            </a:r>
            <a:r>
              <a:rPr lang="en-US" err="1"/>
              <a:t>liệu</a:t>
            </a:r>
            <a:r>
              <a:rPr lang="en-US"/>
              <a:t>.</a:t>
            </a:r>
          </a:p>
          <a:p>
            <a:pPr>
              <a:buNone/>
            </a:pPr>
            <a:r>
              <a:rPr lang="en-US"/>
              <a:t>•    regularization = 0.1: </a:t>
            </a:r>
            <a:r>
              <a:rPr lang="en-US" err="1"/>
              <a:t>hệ</a:t>
            </a:r>
            <a:r>
              <a:rPr lang="en-US"/>
              <a:t> </a:t>
            </a:r>
            <a:r>
              <a:rPr lang="en-US" err="1"/>
              <a:t>số</a:t>
            </a:r>
            <a:r>
              <a:rPr lang="en-US"/>
              <a:t> </a:t>
            </a:r>
            <a:r>
              <a:rPr lang="en-US" err="1"/>
              <a:t>phạt</a:t>
            </a:r>
            <a:r>
              <a:rPr lang="en-US"/>
              <a:t> </a:t>
            </a:r>
            <a:r>
              <a:rPr lang="en-US" err="1"/>
              <a:t>nhằm</a:t>
            </a:r>
            <a:r>
              <a:rPr lang="en-US"/>
              <a:t> </a:t>
            </a:r>
            <a:r>
              <a:rPr lang="en-US" err="1"/>
              <a:t>hạn</a:t>
            </a:r>
            <a:r>
              <a:rPr lang="en-US"/>
              <a:t> </a:t>
            </a:r>
            <a:r>
              <a:rPr lang="en-US" err="1"/>
              <a:t>chế</a:t>
            </a:r>
            <a:r>
              <a:rPr lang="en-US"/>
              <a:t> overfitting.</a:t>
            </a:r>
          </a:p>
          <a:p>
            <a:pPr>
              <a:buNone/>
            </a:pPr>
            <a:r>
              <a:rPr lang="en-US" err="1"/>
              <a:t>Mục</a:t>
            </a:r>
            <a:r>
              <a:rPr lang="en-US"/>
              <a:t> </a:t>
            </a:r>
            <a:r>
              <a:rPr lang="en-US" err="1"/>
              <a:t>tiêu</a:t>
            </a:r>
            <a:r>
              <a:rPr lang="en-US"/>
              <a:t> </a:t>
            </a:r>
            <a:r>
              <a:rPr lang="en-US" err="1"/>
              <a:t>của</a:t>
            </a:r>
            <a:r>
              <a:rPr lang="en-US"/>
              <a:t> </a:t>
            </a:r>
            <a:r>
              <a:rPr lang="en-US" err="1"/>
              <a:t>cấu</a:t>
            </a:r>
            <a:r>
              <a:rPr lang="en-US"/>
              <a:t> </a:t>
            </a:r>
            <a:r>
              <a:rPr lang="en-US" err="1"/>
              <a:t>hình</a:t>
            </a:r>
            <a:r>
              <a:rPr lang="en-US"/>
              <a:t> </a:t>
            </a:r>
            <a:r>
              <a:rPr lang="en-US" err="1"/>
              <a:t>này</a:t>
            </a:r>
            <a:r>
              <a:rPr lang="en-US"/>
              <a:t> </a:t>
            </a:r>
            <a:r>
              <a:rPr lang="en-US" err="1"/>
              <a:t>là</a:t>
            </a:r>
            <a:r>
              <a:rPr lang="en-US"/>
              <a:t> </a:t>
            </a:r>
            <a:r>
              <a:rPr lang="en-US" err="1"/>
              <a:t>cân</a:t>
            </a:r>
            <a:r>
              <a:rPr lang="en-US"/>
              <a:t> </a:t>
            </a:r>
            <a:r>
              <a:rPr lang="en-US" err="1"/>
              <a:t>bằng</a:t>
            </a:r>
            <a:r>
              <a:rPr lang="en-US"/>
              <a:t> </a:t>
            </a:r>
            <a:r>
              <a:rPr lang="en-US" err="1"/>
              <a:t>giữa</a:t>
            </a:r>
            <a:r>
              <a:rPr lang="en-US"/>
              <a:t> </a:t>
            </a:r>
            <a:r>
              <a:rPr lang="en-US" err="1"/>
              <a:t>chất</a:t>
            </a:r>
            <a:r>
              <a:rPr lang="en-US"/>
              <a:t> </a:t>
            </a:r>
            <a:r>
              <a:rPr lang="en-US" err="1"/>
              <a:t>lượng</a:t>
            </a:r>
            <a:r>
              <a:rPr lang="en-US"/>
              <a:t> </a:t>
            </a:r>
            <a:r>
              <a:rPr lang="en-US" err="1"/>
              <a:t>dự</a:t>
            </a:r>
            <a:r>
              <a:rPr lang="en-US"/>
              <a:t> </a:t>
            </a:r>
            <a:r>
              <a:rPr lang="en-US" err="1"/>
              <a:t>đoán</a:t>
            </a:r>
            <a:r>
              <a:rPr lang="en-US"/>
              <a:t> </a:t>
            </a:r>
            <a:r>
              <a:rPr lang="en-US" err="1"/>
              <a:t>và</a:t>
            </a:r>
            <a:r>
              <a:rPr lang="en-US"/>
              <a:t> </a:t>
            </a:r>
            <a:r>
              <a:rPr lang="en-US" err="1"/>
              <a:t>thời</a:t>
            </a:r>
            <a:r>
              <a:rPr lang="en-US"/>
              <a:t> </a:t>
            </a:r>
            <a:r>
              <a:rPr lang="en-US" err="1"/>
              <a:t>gian</a:t>
            </a:r>
            <a:r>
              <a:rPr lang="en-US"/>
              <a:t> </a:t>
            </a:r>
            <a:r>
              <a:rPr lang="en-US" err="1"/>
              <a:t>huấn</a:t>
            </a:r>
            <a:r>
              <a:rPr lang="en-US"/>
              <a:t> </a:t>
            </a:r>
            <a:r>
              <a:rPr lang="en-US" err="1"/>
              <a:t>luyện</a:t>
            </a:r>
            <a:r>
              <a:rPr lang="en-US"/>
              <a:t>.</a:t>
            </a:r>
            <a:endParaRPr err="1"/>
          </a:p>
        </p:txBody>
      </p:sp>
    </p:spTree>
    <p:extLst>
      <p:ext uri="{BB962C8B-B14F-4D97-AF65-F5344CB8AC3E}">
        <p14:creationId xmlns:p14="http://schemas.microsoft.com/office/powerpoint/2010/main" val="2167334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5944D164-4D19-44E3-E8F5-20901E3D6EAD}"/>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EBBEDCD0-3CE6-6506-DB82-FA4D553DD3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83A24610-2364-90BD-C902-B5762CA772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solidFill>
                  <a:schemeClr val="bg2"/>
                </a:solidFill>
              </a:rPr>
              <a:t>global mean: </a:t>
            </a:r>
            <a:r>
              <a:rPr lang="en-US" err="1"/>
              <a:t>Giá</a:t>
            </a:r>
            <a:r>
              <a:rPr lang="en-US"/>
              <a:t> </a:t>
            </a:r>
            <a:r>
              <a:rPr lang="en-US" err="1"/>
              <a:t>trị</a:t>
            </a:r>
            <a:r>
              <a:rPr lang="en-US"/>
              <a:t> </a:t>
            </a:r>
            <a:r>
              <a:rPr lang="en-US" err="1"/>
              <a:t>trung</a:t>
            </a:r>
            <a:r>
              <a:rPr lang="en-US"/>
              <a:t> </a:t>
            </a:r>
            <a:r>
              <a:rPr lang="en-US" err="1"/>
              <a:t>bình</a:t>
            </a:r>
            <a:r>
              <a:rPr lang="en-US"/>
              <a:t> </a:t>
            </a:r>
            <a:r>
              <a:rPr lang="en-US" err="1"/>
              <a:t>của</a:t>
            </a:r>
            <a:r>
              <a:rPr lang="en-US"/>
              <a:t> </a:t>
            </a:r>
            <a:r>
              <a:rPr lang="en-US" err="1"/>
              <a:t>tất</a:t>
            </a:r>
            <a:r>
              <a:rPr lang="en-US"/>
              <a:t> </a:t>
            </a:r>
            <a:r>
              <a:rPr lang="en-US" err="1"/>
              <a:t>cả</a:t>
            </a:r>
            <a:r>
              <a:rPr lang="en-US"/>
              <a:t> </a:t>
            </a:r>
            <a:r>
              <a:rPr lang="en-US" err="1"/>
              <a:t>các</a:t>
            </a:r>
            <a:r>
              <a:rPr lang="en-US"/>
              <a:t> rating </a:t>
            </a:r>
            <a:r>
              <a:rPr lang="en-US" err="1"/>
              <a:t>trong</a:t>
            </a:r>
            <a:r>
              <a:rPr lang="en-US"/>
              <a:t> </a:t>
            </a:r>
            <a:r>
              <a:rPr lang="en-US" err="1"/>
              <a:t>toàn</a:t>
            </a:r>
            <a:r>
              <a:rPr lang="en-US"/>
              <a:t> </a:t>
            </a:r>
            <a:r>
              <a:rPr lang="en-US" err="1"/>
              <a:t>bộ</a:t>
            </a:r>
            <a:r>
              <a:rPr lang="en-US"/>
              <a:t> dataset.</a:t>
            </a:r>
            <a:br>
              <a:rPr lang="en-US"/>
            </a:br>
            <a:r>
              <a:rPr lang="en-US"/>
              <a:t>Global mean </a:t>
            </a:r>
            <a:r>
              <a:rPr lang="en-US" err="1"/>
              <a:t>được</a:t>
            </a:r>
            <a:r>
              <a:rPr lang="en-US"/>
              <a:t> </a:t>
            </a:r>
            <a:r>
              <a:rPr lang="en-US" err="1"/>
              <a:t>dùng</a:t>
            </a:r>
            <a:r>
              <a:rPr lang="en-US"/>
              <a:t> </a:t>
            </a:r>
            <a:r>
              <a:rPr lang="en-US" err="1"/>
              <a:t>khi</a:t>
            </a:r>
            <a:r>
              <a:rPr lang="en-US"/>
              <a:t>:</a:t>
            </a:r>
          </a:p>
          <a:p>
            <a:pPr marL="171450" indent="-171450"/>
            <a:r>
              <a:rPr lang="en-US"/>
              <a:t>User </a:t>
            </a:r>
            <a:r>
              <a:rPr lang="en-US" b="1" err="1"/>
              <a:t>chưa</a:t>
            </a:r>
            <a:r>
              <a:rPr lang="en-US" b="1"/>
              <a:t> </a:t>
            </a:r>
            <a:r>
              <a:rPr lang="en-US" b="1" err="1"/>
              <a:t>từng</a:t>
            </a:r>
            <a:r>
              <a:rPr lang="en-US" b="1"/>
              <a:t> </a:t>
            </a:r>
            <a:r>
              <a:rPr lang="en-US" b="1" err="1"/>
              <a:t>đánh</a:t>
            </a:r>
            <a:r>
              <a:rPr lang="en-US" b="1"/>
              <a:t> </a:t>
            </a:r>
            <a:r>
              <a:rPr lang="en-US" b="1" err="1"/>
              <a:t>giá</a:t>
            </a:r>
            <a:r>
              <a:rPr lang="en-US"/>
              <a:t> item </a:t>
            </a:r>
            <a:r>
              <a:rPr lang="en-US" err="1"/>
              <a:t>nào</a:t>
            </a:r>
            <a:r>
              <a:rPr lang="en-US"/>
              <a:t> → </a:t>
            </a:r>
            <a:r>
              <a:rPr lang="en-US" err="1"/>
              <a:t>không</a:t>
            </a:r>
            <a:r>
              <a:rPr lang="en-US"/>
              <a:t> </a:t>
            </a:r>
            <a:r>
              <a:rPr lang="en-US" err="1"/>
              <a:t>có</a:t>
            </a:r>
            <a:r>
              <a:rPr lang="en-US"/>
              <a:t> </a:t>
            </a:r>
            <a:r>
              <a:rPr lang="en-US" err="1"/>
              <a:t>thông</a:t>
            </a:r>
            <a:r>
              <a:rPr lang="en-US"/>
              <a:t> tin </a:t>
            </a:r>
            <a:r>
              <a:rPr lang="en-US" err="1"/>
              <a:t>để</a:t>
            </a:r>
            <a:r>
              <a:rPr lang="en-US"/>
              <a:t> </a:t>
            </a:r>
            <a:r>
              <a:rPr lang="en-US" err="1"/>
              <a:t>dự</a:t>
            </a:r>
            <a:r>
              <a:rPr lang="en-US"/>
              <a:t> </a:t>
            </a:r>
            <a:r>
              <a:rPr lang="en-US" err="1"/>
              <a:t>đoán</a:t>
            </a:r>
            <a:r>
              <a:rPr lang="en-US"/>
              <a:t>.</a:t>
            </a:r>
          </a:p>
          <a:p>
            <a:pPr marL="171450" indent="-171450"/>
            <a:r>
              <a:rPr lang="en-US"/>
              <a:t>Item </a:t>
            </a:r>
            <a:r>
              <a:rPr lang="en-US" b="1" err="1"/>
              <a:t>chưa</a:t>
            </a:r>
            <a:r>
              <a:rPr lang="en-US" b="1"/>
              <a:t> </a:t>
            </a:r>
            <a:r>
              <a:rPr lang="en-US" b="1" err="1"/>
              <a:t>từng</a:t>
            </a:r>
            <a:r>
              <a:rPr lang="en-US" b="1"/>
              <a:t> </a:t>
            </a:r>
            <a:r>
              <a:rPr lang="en-US" b="1" err="1"/>
              <a:t>được</a:t>
            </a:r>
            <a:r>
              <a:rPr lang="en-US" b="1"/>
              <a:t> </a:t>
            </a:r>
            <a:r>
              <a:rPr lang="en-US" b="1" err="1"/>
              <a:t>đánh</a:t>
            </a:r>
            <a:r>
              <a:rPr lang="en-US" b="1"/>
              <a:t> </a:t>
            </a:r>
            <a:r>
              <a:rPr lang="en-US" b="1" err="1"/>
              <a:t>giá</a:t>
            </a:r>
            <a:r>
              <a:rPr lang="en-US"/>
              <a:t> → </a:t>
            </a:r>
            <a:r>
              <a:rPr lang="en-US" err="1"/>
              <a:t>không</a:t>
            </a:r>
            <a:r>
              <a:rPr lang="en-US"/>
              <a:t> </a:t>
            </a:r>
            <a:r>
              <a:rPr lang="en-US" err="1"/>
              <a:t>có</a:t>
            </a:r>
            <a:r>
              <a:rPr lang="en-US"/>
              <a:t> </a:t>
            </a:r>
            <a:r>
              <a:rPr lang="en-US" err="1"/>
              <a:t>dữ</a:t>
            </a:r>
            <a:r>
              <a:rPr lang="en-US"/>
              <a:t> </a:t>
            </a:r>
            <a:r>
              <a:rPr lang="en-US" err="1"/>
              <a:t>liệu</a:t>
            </a:r>
            <a:r>
              <a:rPr lang="en-US"/>
              <a:t> </a:t>
            </a:r>
            <a:r>
              <a:rPr lang="en-US" err="1"/>
              <a:t>học</a:t>
            </a:r>
            <a:r>
              <a:rPr lang="en-US"/>
              <a:t> vector latent.</a:t>
            </a:r>
          </a:p>
          <a:p>
            <a:pPr marL="171450" indent="-171450"/>
            <a:r>
              <a:rPr lang="en-US"/>
              <a:t>Trường </a:t>
            </a:r>
            <a:r>
              <a:rPr lang="en-US" err="1"/>
              <a:t>hợp</a:t>
            </a:r>
            <a:r>
              <a:rPr lang="en-US"/>
              <a:t> cold-start </a:t>
            </a:r>
            <a:r>
              <a:rPr lang="en-US" err="1"/>
              <a:t>tuyệt</a:t>
            </a:r>
            <a:r>
              <a:rPr lang="en-US"/>
              <a:t> </a:t>
            </a:r>
            <a:r>
              <a:rPr lang="en-US" err="1"/>
              <a:t>đối</a:t>
            </a:r>
            <a:r>
              <a:rPr lang="en-US"/>
              <a:t> → MF </a:t>
            </a:r>
            <a:r>
              <a:rPr lang="en-US" err="1"/>
              <a:t>không</a:t>
            </a:r>
            <a:r>
              <a:rPr lang="en-US"/>
              <a:t> </a:t>
            </a:r>
            <a:r>
              <a:rPr lang="en-US" err="1"/>
              <a:t>thể</a:t>
            </a:r>
            <a:r>
              <a:rPr lang="en-US"/>
              <a:t> </a:t>
            </a:r>
            <a:r>
              <a:rPr lang="en-US" err="1"/>
              <a:t>suy</a:t>
            </a:r>
            <a:r>
              <a:rPr lang="en-US"/>
              <a:t> </a:t>
            </a:r>
            <a:r>
              <a:rPr lang="en-US" err="1"/>
              <a:t>ra</a:t>
            </a:r>
            <a:r>
              <a:rPr lang="en-US"/>
              <a:t> </a:t>
            </a:r>
            <a:r>
              <a:rPr lang="en-US" err="1"/>
              <a:t>đặc</a:t>
            </a:r>
            <a:r>
              <a:rPr lang="en-US"/>
              <a:t> </a:t>
            </a:r>
            <a:r>
              <a:rPr lang="en-US" err="1"/>
              <a:t>trưng</a:t>
            </a:r>
            <a:r>
              <a:rPr lang="en-US"/>
              <a:t> </a:t>
            </a:r>
            <a:r>
              <a:rPr lang="en-US" err="1"/>
              <a:t>ẩn</a:t>
            </a:r>
            <a:r>
              <a:rPr lang="en-US"/>
              <a:t>.</a:t>
            </a:r>
          </a:p>
          <a:p>
            <a:pPr indent="0">
              <a:buNone/>
            </a:pPr>
            <a:r>
              <a:rPr lang="en-US"/>
              <a:t>Trong </a:t>
            </a:r>
            <a:r>
              <a:rPr lang="en-US" err="1"/>
              <a:t>các</a:t>
            </a:r>
            <a:r>
              <a:rPr lang="en-US"/>
              <a:t> </a:t>
            </a:r>
            <a:r>
              <a:rPr lang="en-US" err="1"/>
              <a:t>tình</a:t>
            </a:r>
            <a:r>
              <a:rPr lang="en-US"/>
              <a:t> </a:t>
            </a:r>
            <a:r>
              <a:rPr lang="en-US" err="1"/>
              <a:t>huống</a:t>
            </a:r>
            <a:r>
              <a:rPr lang="en-US"/>
              <a:t> </a:t>
            </a:r>
            <a:r>
              <a:rPr lang="en-US" err="1"/>
              <a:t>này</a:t>
            </a:r>
            <a:r>
              <a:rPr lang="en-US"/>
              <a:t>, </a:t>
            </a:r>
            <a:r>
              <a:rPr lang="en-US" err="1"/>
              <a:t>trả</a:t>
            </a:r>
            <a:r>
              <a:rPr lang="en-US"/>
              <a:t> </a:t>
            </a:r>
            <a:r>
              <a:rPr lang="en-US" err="1"/>
              <a:t>về</a:t>
            </a:r>
            <a:r>
              <a:rPr lang="en-US"/>
              <a:t> </a:t>
            </a:r>
            <a:r>
              <a:rPr lang="en-US" b="1"/>
              <a:t>global mean</a:t>
            </a:r>
            <a:r>
              <a:rPr lang="en-US"/>
              <a:t> </a:t>
            </a:r>
            <a:r>
              <a:rPr lang="en-US" err="1"/>
              <a:t>giúp</a:t>
            </a:r>
            <a:r>
              <a:rPr lang="en-US"/>
              <a:t> </a:t>
            </a:r>
            <a:r>
              <a:rPr lang="en-US" err="1"/>
              <a:t>mô</a:t>
            </a:r>
            <a:r>
              <a:rPr lang="en-US"/>
              <a:t> </a:t>
            </a:r>
            <a:r>
              <a:rPr lang="en-US" err="1"/>
              <a:t>hình</a:t>
            </a:r>
            <a:r>
              <a:rPr lang="en-US"/>
              <a:t> </a:t>
            </a:r>
            <a:r>
              <a:rPr lang="en-US" err="1"/>
              <a:t>đưa</a:t>
            </a:r>
            <a:r>
              <a:rPr lang="en-US"/>
              <a:t> </a:t>
            </a:r>
            <a:r>
              <a:rPr lang="en-US" err="1"/>
              <a:t>ra</a:t>
            </a:r>
            <a:r>
              <a:rPr lang="en-US"/>
              <a:t> </a:t>
            </a:r>
            <a:r>
              <a:rPr lang="en-US" err="1"/>
              <a:t>dự</a:t>
            </a:r>
            <a:r>
              <a:rPr lang="en-US"/>
              <a:t> </a:t>
            </a:r>
            <a:r>
              <a:rPr lang="en-US" err="1"/>
              <a:t>đoán</a:t>
            </a:r>
            <a:r>
              <a:rPr lang="en-US"/>
              <a:t> </a:t>
            </a:r>
            <a:r>
              <a:rPr lang="en-US" err="1"/>
              <a:t>an</a:t>
            </a:r>
            <a:r>
              <a:rPr lang="en-US"/>
              <a:t> </a:t>
            </a:r>
            <a:r>
              <a:rPr lang="en-US" err="1"/>
              <a:t>toàn</a:t>
            </a:r>
            <a:r>
              <a:rPr lang="en-US"/>
              <a:t>, </a:t>
            </a:r>
            <a:r>
              <a:rPr lang="en-US" err="1"/>
              <a:t>không</a:t>
            </a:r>
            <a:r>
              <a:rPr lang="en-US"/>
              <a:t> </a:t>
            </a:r>
            <a:r>
              <a:rPr lang="en-US" err="1"/>
              <a:t>quá</a:t>
            </a:r>
            <a:r>
              <a:rPr lang="en-US"/>
              <a:t> </a:t>
            </a:r>
            <a:r>
              <a:rPr lang="en-US" err="1"/>
              <a:t>chênh</a:t>
            </a:r>
            <a:r>
              <a:rPr lang="en-US"/>
              <a:t> </a:t>
            </a:r>
            <a:r>
              <a:rPr lang="en-US" err="1"/>
              <a:t>lệch</a:t>
            </a:r>
            <a:r>
              <a:rPr lang="en-US"/>
              <a:t>.</a:t>
            </a:r>
          </a:p>
          <a:p>
            <a:pPr marL="0" indent="0">
              <a:buNone/>
            </a:pPr>
            <a:endParaRPr lang="en-US" b="1"/>
          </a:p>
          <a:p>
            <a:pPr marL="0" indent="0">
              <a:buNone/>
            </a:pPr>
            <a:endParaRPr lang="en-US" b="1"/>
          </a:p>
          <a:p>
            <a:pPr marL="0" indent="0">
              <a:buNone/>
            </a:pPr>
            <a:br>
              <a:rPr lang="en-US" b="1"/>
            </a:br>
            <a:r>
              <a:rPr lang="en-US" b="1"/>
              <a:t>2. Model-based Collaborative Filtering</a:t>
            </a:r>
            <a:endParaRPr lang="en-US"/>
          </a:p>
          <a:p>
            <a:pPr marL="0" indent="0">
              <a:buNone/>
            </a:pPr>
            <a:r>
              <a:rPr lang="en-US" b="1"/>
              <a:t>(Matrix Factorization – MF)</a:t>
            </a:r>
          </a:p>
          <a:p>
            <a:pPr marL="0" indent="0">
              <a:buNone/>
            </a:pPr>
            <a:r>
              <a:rPr lang="en-US"/>
              <a:t>Phương </a:t>
            </a:r>
            <a:r>
              <a:rPr lang="en-US" err="1"/>
              <a:t>pháp</a:t>
            </a:r>
            <a:r>
              <a:rPr lang="en-US"/>
              <a:t> </a:t>
            </a:r>
            <a:r>
              <a:rPr lang="en-US" err="1"/>
              <a:t>này</a:t>
            </a:r>
            <a:r>
              <a:rPr lang="en-US"/>
              <a:t> </a:t>
            </a:r>
            <a:r>
              <a:rPr lang="en-US" err="1"/>
              <a:t>phân</a:t>
            </a:r>
            <a:r>
              <a:rPr lang="en-US"/>
              <a:t> </a:t>
            </a:r>
            <a:r>
              <a:rPr lang="en-US" err="1"/>
              <a:t>rã</a:t>
            </a:r>
            <a:r>
              <a:rPr lang="en-US"/>
              <a:t> ma </a:t>
            </a:r>
            <a:r>
              <a:rPr lang="en-US" err="1"/>
              <a:t>trận</a:t>
            </a:r>
            <a:r>
              <a:rPr lang="en-US"/>
              <a:t> user–item </a:t>
            </a:r>
            <a:r>
              <a:rPr lang="en-US" err="1"/>
              <a:t>thành</a:t>
            </a:r>
            <a:r>
              <a:rPr lang="en-US"/>
              <a:t> </a:t>
            </a:r>
            <a:r>
              <a:rPr lang="en-US" err="1"/>
              <a:t>các</a:t>
            </a:r>
            <a:r>
              <a:rPr lang="en-US"/>
              <a:t> </a:t>
            </a:r>
            <a:r>
              <a:rPr lang="en-US" b="1"/>
              <a:t>vector </a:t>
            </a:r>
            <a:r>
              <a:rPr lang="en-US" b="1" err="1"/>
              <a:t>đặc</a:t>
            </a:r>
            <a:r>
              <a:rPr lang="en-US" b="1"/>
              <a:t> </a:t>
            </a:r>
            <a:r>
              <a:rPr lang="en-US" b="1" err="1"/>
              <a:t>trưng</a:t>
            </a:r>
            <a:r>
              <a:rPr lang="en-US" b="1"/>
              <a:t> </a:t>
            </a:r>
            <a:r>
              <a:rPr lang="en-US" b="1" err="1"/>
              <a:t>ẩn</a:t>
            </a:r>
            <a:r>
              <a:rPr lang="en-US" b="1"/>
              <a:t> (latent features)</a:t>
            </a:r>
            <a:r>
              <a:rPr lang="en-US"/>
              <a:t> </a:t>
            </a:r>
            <a:r>
              <a:rPr lang="en-US" err="1"/>
              <a:t>đại</a:t>
            </a:r>
            <a:r>
              <a:rPr lang="en-US"/>
              <a:t> </a:t>
            </a:r>
            <a:r>
              <a:rPr lang="en-US" err="1"/>
              <a:t>diện</a:t>
            </a:r>
            <a:r>
              <a:rPr lang="en-US"/>
              <a:t> </a:t>
            </a:r>
            <a:r>
              <a:rPr lang="en-US" err="1"/>
              <a:t>cho</a:t>
            </a:r>
            <a:r>
              <a:rPr lang="en-US"/>
              <a:t> </a:t>
            </a:r>
            <a:r>
              <a:rPr lang="en-US" err="1"/>
              <a:t>người</a:t>
            </a:r>
            <a:r>
              <a:rPr lang="en-US"/>
              <a:t> </a:t>
            </a:r>
            <a:r>
              <a:rPr lang="en-US" err="1"/>
              <a:t>dùng</a:t>
            </a:r>
            <a:r>
              <a:rPr lang="en-US"/>
              <a:t> </a:t>
            </a:r>
            <a:r>
              <a:rPr lang="en-US" err="1"/>
              <a:t>và</a:t>
            </a:r>
            <a:r>
              <a:rPr lang="en-US"/>
              <a:t> item.</a:t>
            </a:r>
          </a:p>
          <a:p>
            <a:pPr marL="0" indent="0">
              <a:buNone/>
            </a:pPr>
            <a:r>
              <a:rPr lang="en-US" b="1"/>
              <a:t>Nguyên </a:t>
            </a:r>
            <a:r>
              <a:rPr lang="en-US" b="1" err="1"/>
              <a:t>lý</a:t>
            </a:r>
            <a:r>
              <a:rPr lang="en-US" b="1"/>
              <a:t> </a:t>
            </a:r>
            <a:r>
              <a:rPr lang="en-US" b="1" err="1"/>
              <a:t>hoạt</a:t>
            </a:r>
            <a:r>
              <a:rPr lang="en-US" b="1"/>
              <a:t> </a:t>
            </a:r>
            <a:r>
              <a:rPr lang="en-US" b="1" err="1"/>
              <a:t>động</a:t>
            </a:r>
            <a:r>
              <a:rPr lang="en-US" b="1"/>
              <a:t>:</a:t>
            </a:r>
          </a:p>
          <a:p>
            <a:pPr marL="171450" indent="-171450"/>
            <a:r>
              <a:rPr lang="en-US" err="1"/>
              <a:t>Biểu</a:t>
            </a:r>
            <a:r>
              <a:rPr lang="en-US"/>
              <a:t> </a:t>
            </a:r>
            <a:r>
              <a:rPr lang="en-US" err="1"/>
              <a:t>diễn</a:t>
            </a:r>
            <a:r>
              <a:rPr lang="en-US"/>
              <a:t> </a:t>
            </a:r>
            <a:r>
              <a:rPr lang="en-US" err="1"/>
              <a:t>mỗi</a:t>
            </a:r>
            <a:r>
              <a:rPr lang="en-US"/>
              <a:t> </a:t>
            </a:r>
            <a:r>
              <a:rPr lang="en-US" err="1"/>
              <a:t>người</a:t>
            </a:r>
            <a:r>
              <a:rPr lang="en-US"/>
              <a:t> </a:t>
            </a:r>
            <a:r>
              <a:rPr lang="en-US" err="1"/>
              <a:t>dùng</a:t>
            </a:r>
            <a:r>
              <a:rPr lang="en-US"/>
              <a:t> </a:t>
            </a:r>
            <a:r>
              <a:rPr lang="en-US" err="1"/>
              <a:t>và</a:t>
            </a:r>
            <a:r>
              <a:rPr lang="en-US"/>
              <a:t> item </a:t>
            </a:r>
            <a:r>
              <a:rPr lang="en-US" err="1"/>
              <a:t>trong</a:t>
            </a:r>
            <a:r>
              <a:rPr lang="en-US"/>
              <a:t> </a:t>
            </a:r>
            <a:r>
              <a:rPr lang="en-US" err="1"/>
              <a:t>không</a:t>
            </a:r>
            <a:r>
              <a:rPr lang="en-US"/>
              <a:t> </a:t>
            </a:r>
            <a:r>
              <a:rPr lang="en-US" err="1"/>
              <a:t>gian</a:t>
            </a:r>
            <a:r>
              <a:rPr lang="en-US"/>
              <a:t> </a:t>
            </a:r>
            <a:r>
              <a:rPr lang="en-US" err="1"/>
              <a:t>đặc</a:t>
            </a:r>
            <a:r>
              <a:rPr lang="en-US"/>
              <a:t> </a:t>
            </a:r>
            <a:r>
              <a:rPr lang="en-US" err="1"/>
              <a:t>trưng</a:t>
            </a:r>
            <a:r>
              <a:rPr lang="en-US"/>
              <a:t> </a:t>
            </a:r>
            <a:r>
              <a:rPr lang="en-US" err="1"/>
              <a:t>ẩn</a:t>
            </a:r>
            <a:endParaRPr lang="en-US"/>
          </a:p>
          <a:p>
            <a:pPr marL="171450" indent="-171450"/>
            <a:r>
              <a:rPr lang="en-US" err="1"/>
              <a:t>Dự</a:t>
            </a:r>
            <a:r>
              <a:rPr lang="en-US"/>
              <a:t> </a:t>
            </a:r>
            <a:r>
              <a:rPr lang="en-US" err="1"/>
              <a:t>đoán</a:t>
            </a:r>
            <a:r>
              <a:rPr lang="en-US"/>
              <a:t> </a:t>
            </a:r>
            <a:r>
              <a:rPr lang="en-US" err="1"/>
              <a:t>mức</a:t>
            </a:r>
            <a:r>
              <a:rPr lang="en-US"/>
              <a:t> </a:t>
            </a:r>
            <a:r>
              <a:rPr lang="en-US" err="1"/>
              <a:t>độ</a:t>
            </a:r>
            <a:r>
              <a:rPr lang="en-US"/>
              <a:t> </a:t>
            </a:r>
            <a:r>
              <a:rPr lang="en-US" err="1"/>
              <a:t>yêu</a:t>
            </a:r>
            <a:r>
              <a:rPr lang="en-US"/>
              <a:t> </a:t>
            </a:r>
            <a:r>
              <a:rPr lang="en-US" err="1"/>
              <a:t>thích</a:t>
            </a:r>
            <a:r>
              <a:rPr lang="en-US"/>
              <a:t> </a:t>
            </a:r>
            <a:r>
              <a:rPr lang="en-US" err="1"/>
              <a:t>dựa</a:t>
            </a:r>
            <a:r>
              <a:rPr lang="en-US"/>
              <a:t> </a:t>
            </a:r>
            <a:r>
              <a:rPr lang="en-US" err="1"/>
              <a:t>trên</a:t>
            </a:r>
            <a:r>
              <a:rPr lang="en-US"/>
              <a:t> </a:t>
            </a:r>
            <a:r>
              <a:rPr lang="en-US" err="1"/>
              <a:t>tích</a:t>
            </a:r>
            <a:r>
              <a:rPr lang="en-US"/>
              <a:t> </a:t>
            </a:r>
            <a:r>
              <a:rPr lang="en-US" err="1"/>
              <a:t>vô</a:t>
            </a:r>
            <a:r>
              <a:rPr lang="en-US"/>
              <a:t> </a:t>
            </a:r>
            <a:r>
              <a:rPr lang="en-US" err="1"/>
              <a:t>hướng</a:t>
            </a:r>
            <a:r>
              <a:rPr lang="en-US"/>
              <a:t> </a:t>
            </a:r>
            <a:r>
              <a:rPr lang="en-US" err="1"/>
              <a:t>của</a:t>
            </a:r>
            <a:r>
              <a:rPr lang="en-US"/>
              <a:t> </a:t>
            </a:r>
            <a:r>
              <a:rPr lang="en-US" err="1"/>
              <a:t>các</a:t>
            </a:r>
            <a:r>
              <a:rPr lang="en-US"/>
              <a:t> vector </a:t>
            </a:r>
            <a:r>
              <a:rPr lang="en-US" err="1"/>
              <a:t>đặc</a:t>
            </a:r>
            <a:r>
              <a:rPr lang="en-US"/>
              <a:t> </a:t>
            </a:r>
            <a:r>
              <a:rPr lang="en-US" err="1"/>
              <a:t>trưng</a:t>
            </a:r>
            <a:endParaRPr lang="en-US"/>
          </a:p>
          <a:p>
            <a:pPr marL="0" indent="0">
              <a:buNone/>
            </a:pPr>
            <a:r>
              <a:rPr lang="en-US" b="1" err="1"/>
              <a:t>Ưu</a:t>
            </a:r>
            <a:r>
              <a:rPr lang="en-US" b="1"/>
              <a:t> </a:t>
            </a:r>
            <a:r>
              <a:rPr lang="en-US" b="1" err="1"/>
              <a:t>điểm</a:t>
            </a:r>
            <a:r>
              <a:rPr lang="en-US" b="1"/>
              <a:t>:</a:t>
            </a:r>
          </a:p>
          <a:p>
            <a:pPr marL="171450" indent="-171450"/>
            <a:r>
              <a:rPr lang="en-US" err="1"/>
              <a:t>Khả</a:t>
            </a:r>
            <a:r>
              <a:rPr lang="en-US"/>
              <a:t> </a:t>
            </a:r>
            <a:r>
              <a:rPr lang="en-US" err="1"/>
              <a:t>năng</a:t>
            </a:r>
            <a:r>
              <a:rPr lang="en-US"/>
              <a:t> </a:t>
            </a:r>
            <a:r>
              <a:rPr lang="en-US" err="1"/>
              <a:t>mô</a:t>
            </a:r>
            <a:r>
              <a:rPr lang="en-US"/>
              <a:t> </a:t>
            </a:r>
            <a:r>
              <a:rPr lang="en-US" err="1"/>
              <a:t>hình</a:t>
            </a:r>
            <a:r>
              <a:rPr lang="en-US"/>
              <a:t> </a:t>
            </a:r>
            <a:r>
              <a:rPr lang="en-US" err="1"/>
              <a:t>hóa</a:t>
            </a:r>
            <a:r>
              <a:rPr lang="en-US"/>
              <a:t> </a:t>
            </a:r>
            <a:r>
              <a:rPr lang="en-US" err="1"/>
              <a:t>sở</a:t>
            </a:r>
            <a:r>
              <a:rPr lang="en-US"/>
              <a:t> </a:t>
            </a:r>
            <a:r>
              <a:rPr lang="en-US" err="1"/>
              <a:t>thích</a:t>
            </a:r>
            <a:r>
              <a:rPr lang="en-US"/>
              <a:t> </a:t>
            </a:r>
            <a:r>
              <a:rPr lang="en-US" err="1"/>
              <a:t>người</a:t>
            </a:r>
            <a:r>
              <a:rPr lang="en-US"/>
              <a:t> </a:t>
            </a:r>
            <a:r>
              <a:rPr lang="en-US" err="1"/>
              <a:t>dùng</a:t>
            </a:r>
            <a:r>
              <a:rPr lang="en-US"/>
              <a:t> ở </a:t>
            </a:r>
            <a:r>
              <a:rPr lang="en-US" err="1"/>
              <a:t>mức</a:t>
            </a:r>
            <a:r>
              <a:rPr lang="en-US"/>
              <a:t> </a:t>
            </a:r>
            <a:r>
              <a:rPr lang="en-US" err="1"/>
              <a:t>sâu</a:t>
            </a:r>
            <a:r>
              <a:rPr lang="en-US"/>
              <a:t> </a:t>
            </a:r>
            <a:r>
              <a:rPr lang="en-US" err="1"/>
              <a:t>và</a:t>
            </a:r>
            <a:r>
              <a:rPr lang="en-US"/>
              <a:t> </a:t>
            </a:r>
            <a:r>
              <a:rPr lang="en-US" err="1"/>
              <a:t>trừu</a:t>
            </a:r>
            <a:r>
              <a:rPr lang="en-US"/>
              <a:t> </a:t>
            </a:r>
            <a:r>
              <a:rPr lang="en-US" err="1"/>
              <a:t>tượng</a:t>
            </a:r>
            <a:r>
              <a:rPr lang="en-US"/>
              <a:t> </a:t>
            </a:r>
            <a:r>
              <a:rPr lang="en-US" err="1"/>
              <a:t>hơn</a:t>
            </a:r>
            <a:r>
              <a:rPr lang="en-US"/>
              <a:t> so </a:t>
            </a:r>
            <a:r>
              <a:rPr lang="en-US" err="1"/>
              <a:t>với</a:t>
            </a:r>
            <a:r>
              <a:rPr lang="en-US"/>
              <a:t> </a:t>
            </a:r>
            <a:r>
              <a:rPr lang="en-US" err="1"/>
              <a:t>ItemKNN</a:t>
            </a:r>
            <a:endParaRPr lang="en-US"/>
          </a:p>
          <a:p>
            <a:pPr marL="171450" indent="-171450"/>
            <a:r>
              <a:rPr lang="en-US"/>
              <a:t>Hiệu </a:t>
            </a:r>
            <a:r>
              <a:rPr lang="en-US" err="1"/>
              <a:t>quả</a:t>
            </a:r>
            <a:r>
              <a:rPr lang="en-US"/>
              <a:t> </a:t>
            </a:r>
            <a:r>
              <a:rPr lang="en-US" err="1"/>
              <a:t>tốt</a:t>
            </a:r>
            <a:r>
              <a:rPr lang="en-US"/>
              <a:t> </a:t>
            </a:r>
            <a:r>
              <a:rPr lang="en-US" err="1"/>
              <a:t>với</a:t>
            </a:r>
            <a:r>
              <a:rPr lang="en-US"/>
              <a:t> </a:t>
            </a:r>
            <a:r>
              <a:rPr lang="en-US" err="1"/>
              <a:t>dữ</a:t>
            </a:r>
            <a:r>
              <a:rPr lang="en-US"/>
              <a:t> </a:t>
            </a:r>
            <a:r>
              <a:rPr lang="en-US" err="1"/>
              <a:t>liệu</a:t>
            </a:r>
            <a:r>
              <a:rPr lang="en-US"/>
              <a:t> </a:t>
            </a:r>
            <a:r>
              <a:rPr lang="en-US" err="1"/>
              <a:t>thưa</a:t>
            </a:r>
            <a:endParaRPr lang="en-US"/>
          </a:p>
          <a:p>
            <a:pPr marL="171450" indent="-171450"/>
            <a:r>
              <a:rPr lang="en-US" err="1"/>
              <a:t>Dễ</a:t>
            </a:r>
            <a:r>
              <a:rPr lang="en-US"/>
              <a:t> </a:t>
            </a:r>
            <a:r>
              <a:rPr lang="en-US" err="1"/>
              <a:t>tích</a:t>
            </a:r>
            <a:r>
              <a:rPr lang="en-US"/>
              <a:t> </a:t>
            </a:r>
            <a:r>
              <a:rPr lang="en-US" err="1"/>
              <a:t>hợp</a:t>
            </a:r>
            <a:r>
              <a:rPr lang="en-US"/>
              <a:t> </a:t>
            </a:r>
            <a:r>
              <a:rPr lang="en-US" err="1"/>
              <a:t>vào</a:t>
            </a:r>
            <a:r>
              <a:rPr lang="en-US"/>
              <a:t> </a:t>
            </a:r>
            <a:r>
              <a:rPr lang="en-US" err="1"/>
              <a:t>các</a:t>
            </a:r>
            <a:r>
              <a:rPr lang="en-US"/>
              <a:t> </a:t>
            </a:r>
            <a:r>
              <a:rPr lang="en-US" err="1"/>
              <a:t>hệ</a:t>
            </a:r>
            <a:r>
              <a:rPr lang="en-US"/>
              <a:t> </a:t>
            </a:r>
            <a:r>
              <a:rPr lang="en-US" err="1"/>
              <a:t>thống</a:t>
            </a:r>
            <a:r>
              <a:rPr lang="en-US"/>
              <a:t> </a:t>
            </a:r>
            <a:r>
              <a:rPr lang="en-US" err="1"/>
              <a:t>học</a:t>
            </a:r>
            <a:r>
              <a:rPr lang="en-US"/>
              <a:t> </a:t>
            </a:r>
            <a:r>
              <a:rPr lang="en-US" err="1"/>
              <a:t>máy</a:t>
            </a:r>
            <a:r>
              <a:rPr lang="en-US"/>
              <a:t> </a:t>
            </a:r>
            <a:r>
              <a:rPr lang="en-US" err="1"/>
              <a:t>hiện</a:t>
            </a:r>
            <a:r>
              <a:rPr lang="en-US"/>
              <a:t> </a:t>
            </a:r>
            <a:r>
              <a:rPr lang="en-US" err="1"/>
              <a:t>đại</a:t>
            </a:r>
            <a:endParaRPr lang="en-US"/>
          </a:p>
          <a:p>
            <a:pPr marL="0" indent="0">
              <a:buNone/>
            </a:pPr>
            <a:r>
              <a:rPr lang="en-US" b="1" err="1"/>
              <a:t>Nhược</a:t>
            </a:r>
            <a:r>
              <a:rPr lang="en-US" b="1"/>
              <a:t> </a:t>
            </a:r>
            <a:r>
              <a:rPr lang="en-US" b="1" err="1"/>
              <a:t>điểm</a:t>
            </a:r>
            <a:r>
              <a:rPr lang="en-US" b="1"/>
              <a:t>:</a:t>
            </a:r>
          </a:p>
          <a:p>
            <a:pPr marL="171450" indent="-171450"/>
            <a:r>
              <a:rPr lang="en-US" err="1"/>
              <a:t>Quá</a:t>
            </a:r>
            <a:r>
              <a:rPr lang="en-US"/>
              <a:t> </a:t>
            </a:r>
            <a:r>
              <a:rPr lang="en-US" err="1"/>
              <a:t>trình</a:t>
            </a:r>
            <a:r>
              <a:rPr lang="en-US"/>
              <a:t> </a:t>
            </a:r>
            <a:r>
              <a:rPr lang="en-US" err="1"/>
              <a:t>huấn</a:t>
            </a:r>
            <a:r>
              <a:rPr lang="en-US"/>
              <a:t> </a:t>
            </a:r>
            <a:r>
              <a:rPr lang="en-US" err="1"/>
              <a:t>luyện</a:t>
            </a:r>
            <a:r>
              <a:rPr lang="en-US"/>
              <a:t> </a:t>
            </a:r>
            <a:r>
              <a:rPr lang="en-US" err="1"/>
              <a:t>phức</a:t>
            </a:r>
            <a:r>
              <a:rPr lang="en-US"/>
              <a:t> </a:t>
            </a:r>
            <a:r>
              <a:rPr lang="en-US" err="1"/>
              <a:t>tạp</a:t>
            </a:r>
            <a:r>
              <a:rPr lang="en-US"/>
              <a:t> </a:t>
            </a:r>
            <a:r>
              <a:rPr lang="en-US" err="1"/>
              <a:t>hơn</a:t>
            </a:r>
            <a:endParaRPr lang="en-US"/>
          </a:p>
          <a:p>
            <a:pPr marL="171450" indent="-171450"/>
            <a:r>
              <a:rPr lang="en-US" err="1"/>
              <a:t>Kết</a:t>
            </a:r>
            <a:r>
              <a:rPr lang="en-US"/>
              <a:t> </a:t>
            </a:r>
            <a:r>
              <a:rPr lang="en-US" err="1"/>
              <a:t>quả</a:t>
            </a:r>
            <a:r>
              <a:rPr lang="en-US"/>
              <a:t> </a:t>
            </a:r>
            <a:r>
              <a:rPr lang="en-US" err="1"/>
              <a:t>khó</a:t>
            </a:r>
            <a:r>
              <a:rPr lang="en-US"/>
              <a:t> </a:t>
            </a:r>
            <a:r>
              <a:rPr lang="en-US" err="1"/>
              <a:t>giải</a:t>
            </a:r>
            <a:r>
              <a:rPr lang="en-US"/>
              <a:t> </a:t>
            </a:r>
            <a:r>
              <a:rPr lang="en-US" err="1"/>
              <a:t>thích</a:t>
            </a:r>
            <a:r>
              <a:rPr lang="en-US"/>
              <a:t> </a:t>
            </a:r>
            <a:r>
              <a:rPr lang="en-US" err="1"/>
              <a:t>hơn</a:t>
            </a:r>
            <a:r>
              <a:rPr lang="en-US"/>
              <a:t> so </a:t>
            </a:r>
            <a:r>
              <a:rPr lang="en-US" err="1"/>
              <a:t>với</a:t>
            </a:r>
            <a:r>
              <a:rPr lang="en-US"/>
              <a:t> </a:t>
            </a:r>
            <a:r>
              <a:rPr lang="en-US" err="1"/>
              <a:t>phương</a:t>
            </a:r>
            <a:r>
              <a:rPr lang="en-US"/>
              <a:t> </a:t>
            </a:r>
            <a:r>
              <a:rPr lang="en-US" err="1"/>
              <a:t>pháp</a:t>
            </a:r>
            <a:r>
              <a:rPr lang="en-US"/>
              <a:t> memory-based</a:t>
            </a:r>
          </a:p>
          <a:p>
            <a:pPr marL="171450" indent="-171450"/>
            <a:r>
              <a:rPr lang="en-US" err="1"/>
              <a:t>Cần</a:t>
            </a:r>
            <a:r>
              <a:rPr lang="en-US"/>
              <a:t> </a:t>
            </a:r>
            <a:r>
              <a:rPr lang="en-US" err="1"/>
              <a:t>điều</a:t>
            </a:r>
            <a:r>
              <a:rPr lang="en-US"/>
              <a:t> </a:t>
            </a:r>
            <a:r>
              <a:rPr lang="en-US" err="1"/>
              <a:t>chỉnh</a:t>
            </a:r>
            <a:r>
              <a:rPr lang="en-US"/>
              <a:t> </a:t>
            </a:r>
            <a:r>
              <a:rPr lang="en-US" err="1"/>
              <a:t>nhiều</a:t>
            </a:r>
            <a:r>
              <a:rPr lang="en-US"/>
              <a:t> </a:t>
            </a:r>
            <a:r>
              <a:rPr lang="en-US" err="1"/>
              <a:t>siêu</a:t>
            </a:r>
            <a:r>
              <a:rPr lang="en-US"/>
              <a:t> </a:t>
            </a:r>
            <a:r>
              <a:rPr lang="en-US" err="1"/>
              <a:t>tham</a:t>
            </a:r>
            <a:r>
              <a:rPr lang="en-US"/>
              <a:t> </a:t>
            </a:r>
            <a:r>
              <a:rPr lang="en-US" err="1"/>
              <a:t>số</a:t>
            </a:r>
            <a:endParaRPr lang="en-US"/>
          </a:p>
          <a:p>
            <a:pPr marL="0" indent="0" algn="ctr">
              <a:buNone/>
            </a:pPr>
            <a:br>
              <a:rPr lang="en-US"/>
            </a:br>
            <a:endParaRPr lang="en-US"/>
          </a:p>
          <a:p>
            <a:pPr marL="0" indent="0">
              <a:buNone/>
            </a:pPr>
            <a:r>
              <a:rPr lang="en-US" b="1" err="1"/>
              <a:t>Hạn</a:t>
            </a:r>
            <a:r>
              <a:rPr lang="en-US" b="1"/>
              <a:t> </a:t>
            </a:r>
            <a:r>
              <a:rPr lang="en-US" b="1" err="1"/>
              <a:t>chế</a:t>
            </a:r>
            <a:r>
              <a:rPr lang="en-US" b="1"/>
              <a:t> </a:t>
            </a:r>
            <a:r>
              <a:rPr lang="en-US" b="1" err="1"/>
              <a:t>chung</a:t>
            </a:r>
            <a:r>
              <a:rPr lang="en-US" b="1"/>
              <a:t> </a:t>
            </a:r>
            <a:r>
              <a:rPr lang="en-US" b="1" err="1"/>
              <a:t>của</a:t>
            </a:r>
            <a:r>
              <a:rPr lang="en-US" b="1"/>
              <a:t> Collaborative Filtering</a:t>
            </a:r>
          </a:p>
          <a:p>
            <a:pPr marL="0" indent="0">
              <a:buNone/>
            </a:pPr>
            <a:r>
              <a:rPr lang="en-US" err="1"/>
              <a:t>Mặc</a:t>
            </a:r>
            <a:r>
              <a:rPr lang="en-US"/>
              <a:t> </a:t>
            </a:r>
            <a:r>
              <a:rPr lang="en-US" err="1"/>
              <a:t>dù</a:t>
            </a:r>
            <a:r>
              <a:rPr lang="en-US"/>
              <a:t> </a:t>
            </a:r>
            <a:r>
              <a:rPr lang="en-US" err="1"/>
              <a:t>hiệu</a:t>
            </a:r>
            <a:r>
              <a:rPr lang="en-US"/>
              <a:t> </a:t>
            </a:r>
            <a:r>
              <a:rPr lang="en-US" err="1"/>
              <a:t>quả</a:t>
            </a:r>
            <a:r>
              <a:rPr lang="en-US"/>
              <a:t> </a:t>
            </a:r>
            <a:r>
              <a:rPr lang="en-US" err="1"/>
              <a:t>trong</a:t>
            </a:r>
            <a:r>
              <a:rPr lang="en-US"/>
              <a:t> </a:t>
            </a:r>
            <a:r>
              <a:rPr lang="en-US" err="1"/>
              <a:t>nhiều</a:t>
            </a:r>
            <a:r>
              <a:rPr lang="en-US"/>
              <a:t> </a:t>
            </a:r>
            <a:r>
              <a:rPr lang="en-US" err="1"/>
              <a:t>hệ</a:t>
            </a:r>
            <a:r>
              <a:rPr lang="en-US"/>
              <a:t> </a:t>
            </a:r>
            <a:r>
              <a:rPr lang="en-US" err="1"/>
              <a:t>thống</a:t>
            </a:r>
            <a:r>
              <a:rPr lang="en-US"/>
              <a:t> </a:t>
            </a:r>
            <a:r>
              <a:rPr lang="en-US" err="1"/>
              <a:t>gợi</a:t>
            </a:r>
            <a:r>
              <a:rPr lang="en-US"/>
              <a:t> ý, </a:t>
            </a:r>
            <a:r>
              <a:rPr lang="en-US" err="1"/>
              <a:t>các</a:t>
            </a:r>
            <a:r>
              <a:rPr lang="en-US"/>
              <a:t> </a:t>
            </a:r>
            <a:r>
              <a:rPr lang="en-US" err="1"/>
              <a:t>phương</a:t>
            </a:r>
            <a:r>
              <a:rPr lang="en-US"/>
              <a:t> </a:t>
            </a:r>
            <a:r>
              <a:rPr lang="en-US" err="1"/>
              <a:t>pháp</a:t>
            </a:r>
            <a:r>
              <a:rPr lang="en-US"/>
              <a:t> CF </a:t>
            </a:r>
            <a:r>
              <a:rPr lang="en-US" err="1"/>
              <a:t>truyền</a:t>
            </a:r>
            <a:r>
              <a:rPr lang="en-US"/>
              <a:t> </a:t>
            </a:r>
            <a:r>
              <a:rPr lang="en-US" err="1"/>
              <a:t>thống</a:t>
            </a:r>
            <a:r>
              <a:rPr lang="en-US"/>
              <a:t> </a:t>
            </a:r>
            <a:r>
              <a:rPr lang="en-US" err="1"/>
              <a:t>vẫn</a:t>
            </a:r>
            <a:r>
              <a:rPr lang="en-US"/>
              <a:t> </a:t>
            </a:r>
            <a:r>
              <a:rPr lang="en-US" err="1"/>
              <a:t>tồn</a:t>
            </a:r>
            <a:r>
              <a:rPr lang="en-US"/>
              <a:t> </a:t>
            </a:r>
            <a:r>
              <a:rPr lang="en-US" err="1"/>
              <a:t>tại</a:t>
            </a:r>
            <a:r>
              <a:rPr lang="en-US"/>
              <a:t> </a:t>
            </a:r>
            <a:r>
              <a:rPr lang="en-US" err="1"/>
              <a:t>một</a:t>
            </a:r>
            <a:r>
              <a:rPr lang="en-US"/>
              <a:t> </a:t>
            </a:r>
            <a:r>
              <a:rPr lang="en-US" err="1"/>
              <a:t>số</a:t>
            </a:r>
            <a:r>
              <a:rPr lang="en-US"/>
              <a:t> </a:t>
            </a:r>
            <a:r>
              <a:rPr lang="en-US" err="1"/>
              <a:t>hạn</a:t>
            </a:r>
            <a:r>
              <a:rPr lang="en-US"/>
              <a:t> </a:t>
            </a:r>
            <a:r>
              <a:rPr lang="en-US" err="1"/>
              <a:t>chế</a:t>
            </a:r>
            <a:r>
              <a:rPr lang="en-US"/>
              <a:t>:</a:t>
            </a:r>
          </a:p>
          <a:p>
            <a:pPr marL="171450" indent="-171450"/>
            <a:r>
              <a:rPr lang="en-US"/>
              <a:t>Mang </a:t>
            </a:r>
            <a:r>
              <a:rPr lang="en-US" err="1"/>
              <a:t>tính</a:t>
            </a:r>
            <a:r>
              <a:rPr lang="en-US"/>
              <a:t> </a:t>
            </a:r>
            <a:r>
              <a:rPr lang="en-US" b="1" err="1"/>
              <a:t>tĩnh</a:t>
            </a:r>
            <a:r>
              <a:rPr lang="en-US"/>
              <a:t>, </a:t>
            </a:r>
            <a:r>
              <a:rPr lang="en-US" err="1"/>
              <a:t>không</a:t>
            </a:r>
            <a:r>
              <a:rPr lang="en-US"/>
              <a:t> </a:t>
            </a:r>
            <a:r>
              <a:rPr lang="en-US" err="1"/>
              <a:t>xét</a:t>
            </a:r>
            <a:r>
              <a:rPr lang="en-US"/>
              <a:t> </a:t>
            </a:r>
            <a:r>
              <a:rPr lang="en-US" err="1"/>
              <a:t>đến</a:t>
            </a:r>
            <a:r>
              <a:rPr lang="en-US"/>
              <a:t> </a:t>
            </a:r>
            <a:r>
              <a:rPr lang="en-US" b="1" err="1"/>
              <a:t>thứ</a:t>
            </a:r>
            <a:r>
              <a:rPr lang="en-US" b="1"/>
              <a:t> </a:t>
            </a:r>
            <a:r>
              <a:rPr lang="en-US" b="1" err="1"/>
              <a:t>tự</a:t>
            </a:r>
            <a:r>
              <a:rPr lang="en-US" b="1"/>
              <a:t> </a:t>
            </a:r>
            <a:r>
              <a:rPr lang="en-US" b="1" err="1"/>
              <a:t>thời</a:t>
            </a:r>
            <a:r>
              <a:rPr lang="en-US" b="1"/>
              <a:t> </a:t>
            </a:r>
            <a:r>
              <a:rPr lang="en-US" b="1" err="1"/>
              <a:t>gian</a:t>
            </a:r>
            <a:r>
              <a:rPr lang="en-US" b="1"/>
              <a:t> </a:t>
            </a:r>
            <a:r>
              <a:rPr lang="en-US" b="1" err="1"/>
              <a:t>của</a:t>
            </a:r>
            <a:r>
              <a:rPr lang="en-US" b="1"/>
              <a:t> </a:t>
            </a:r>
            <a:r>
              <a:rPr lang="en-US" b="1" err="1"/>
              <a:t>tương</a:t>
            </a:r>
            <a:r>
              <a:rPr lang="en-US" b="1"/>
              <a:t> </a:t>
            </a:r>
            <a:r>
              <a:rPr lang="en-US" b="1" err="1"/>
              <a:t>tác</a:t>
            </a:r>
            <a:endParaRPr lang="en-US" b="1"/>
          </a:p>
          <a:p>
            <a:pPr marL="171450" indent="-171450"/>
            <a:r>
              <a:rPr lang="en-US" err="1"/>
              <a:t>Không</a:t>
            </a:r>
            <a:r>
              <a:rPr lang="en-US"/>
              <a:t> </a:t>
            </a:r>
            <a:r>
              <a:rPr lang="en-US" err="1"/>
              <a:t>phản</a:t>
            </a:r>
            <a:r>
              <a:rPr lang="en-US"/>
              <a:t> </a:t>
            </a:r>
            <a:r>
              <a:rPr lang="en-US" err="1"/>
              <a:t>ánh</a:t>
            </a:r>
            <a:r>
              <a:rPr lang="en-US"/>
              <a:t> </a:t>
            </a:r>
            <a:r>
              <a:rPr lang="en-US" err="1"/>
              <a:t>kịp</a:t>
            </a:r>
            <a:r>
              <a:rPr lang="en-US"/>
              <a:t> </a:t>
            </a:r>
            <a:r>
              <a:rPr lang="en-US" err="1"/>
              <a:t>thời</a:t>
            </a:r>
            <a:r>
              <a:rPr lang="en-US"/>
              <a:t> </a:t>
            </a:r>
            <a:r>
              <a:rPr lang="en-US" err="1"/>
              <a:t>sự</a:t>
            </a:r>
            <a:r>
              <a:rPr lang="en-US"/>
              <a:t> </a:t>
            </a:r>
            <a:r>
              <a:rPr lang="en-US" err="1"/>
              <a:t>thay</a:t>
            </a:r>
            <a:r>
              <a:rPr lang="en-US"/>
              <a:t> </a:t>
            </a:r>
            <a:r>
              <a:rPr lang="en-US" err="1"/>
              <a:t>đổi</a:t>
            </a:r>
            <a:r>
              <a:rPr lang="en-US"/>
              <a:t> </a:t>
            </a:r>
            <a:r>
              <a:rPr lang="en-US" err="1"/>
              <a:t>sở</a:t>
            </a:r>
            <a:r>
              <a:rPr lang="en-US"/>
              <a:t> </a:t>
            </a:r>
            <a:r>
              <a:rPr lang="en-US" err="1"/>
              <a:t>thích</a:t>
            </a:r>
            <a:r>
              <a:rPr lang="en-US"/>
              <a:t> </a:t>
            </a:r>
            <a:r>
              <a:rPr lang="en-US" err="1"/>
              <a:t>của</a:t>
            </a:r>
            <a:r>
              <a:rPr lang="en-US"/>
              <a:t> </a:t>
            </a:r>
            <a:r>
              <a:rPr lang="en-US" err="1"/>
              <a:t>người</a:t>
            </a:r>
            <a:r>
              <a:rPr lang="en-US"/>
              <a:t> </a:t>
            </a:r>
            <a:r>
              <a:rPr lang="en-US" err="1"/>
              <a:t>dùng</a:t>
            </a:r>
            <a:endParaRPr lang="en-US"/>
          </a:p>
          <a:p>
            <a:pPr marL="171450" indent="-171450"/>
            <a:r>
              <a:rPr lang="en-US" err="1"/>
              <a:t>Gặp</a:t>
            </a:r>
            <a:r>
              <a:rPr lang="en-US"/>
              <a:t> </a:t>
            </a:r>
            <a:r>
              <a:rPr lang="en-US" err="1"/>
              <a:t>khó</a:t>
            </a:r>
            <a:r>
              <a:rPr lang="en-US"/>
              <a:t> </a:t>
            </a:r>
            <a:r>
              <a:rPr lang="en-US" err="1"/>
              <a:t>khăn</a:t>
            </a:r>
            <a:r>
              <a:rPr lang="en-US"/>
              <a:t> </a:t>
            </a:r>
            <a:r>
              <a:rPr lang="en-US" err="1"/>
              <a:t>trong</a:t>
            </a:r>
            <a:r>
              <a:rPr lang="en-US"/>
              <a:t> </a:t>
            </a:r>
            <a:r>
              <a:rPr lang="en-US" err="1"/>
              <a:t>các</a:t>
            </a:r>
            <a:r>
              <a:rPr lang="en-US"/>
              <a:t> </a:t>
            </a:r>
            <a:r>
              <a:rPr lang="en-US" err="1"/>
              <a:t>bài</a:t>
            </a:r>
            <a:r>
              <a:rPr lang="en-US"/>
              <a:t> </a:t>
            </a:r>
            <a:r>
              <a:rPr lang="en-US" err="1"/>
              <a:t>toán</a:t>
            </a:r>
            <a:r>
              <a:rPr lang="en-US"/>
              <a:t> </a:t>
            </a:r>
            <a:r>
              <a:rPr lang="en-US" err="1"/>
              <a:t>có</a:t>
            </a:r>
            <a:r>
              <a:rPr lang="en-US"/>
              <a:t> </a:t>
            </a:r>
            <a:r>
              <a:rPr lang="en-US" err="1"/>
              <a:t>tính</a:t>
            </a:r>
            <a:r>
              <a:rPr lang="en-US"/>
              <a:t> </a:t>
            </a:r>
            <a:r>
              <a:rPr lang="en-US" err="1"/>
              <a:t>ngữ</a:t>
            </a:r>
            <a:r>
              <a:rPr lang="en-US"/>
              <a:t> </a:t>
            </a:r>
            <a:r>
              <a:rPr lang="en-US" err="1"/>
              <a:t>cảnh</a:t>
            </a:r>
            <a:r>
              <a:rPr lang="en-US"/>
              <a:t> </a:t>
            </a:r>
            <a:r>
              <a:rPr lang="en-US" err="1"/>
              <a:t>hoặc</a:t>
            </a:r>
            <a:r>
              <a:rPr lang="en-US"/>
              <a:t> </a:t>
            </a:r>
            <a:r>
              <a:rPr lang="en-US" err="1"/>
              <a:t>hành</a:t>
            </a:r>
            <a:r>
              <a:rPr lang="en-US"/>
              <a:t> vi </a:t>
            </a:r>
            <a:r>
              <a:rPr lang="en-US" err="1"/>
              <a:t>theo</a:t>
            </a:r>
            <a:r>
              <a:rPr lang="en-US"/>
              <a:t> </a:t>
            </a:r>
            <a:r>
              <a:rPr lang="en-US" err="1"/>
              <a:t>chuỗi</a:t>
            </a:r>
            <a:r>
              <a:rPr lang="en-US"/>
              <a:t> (sequential behavior)</a:t>
            </a:r>
          </a:p>
          <a:p>
            <a:pPr>
              <a:buNone/>
            </a:pPr>
            <a:endParaRPr lang="en-US" b="1"/>
          </a:p>
          <a:p>
            <a:pPr>
              <a:buNone/>
            </a:pPr>
            <a:r>
              <a:rPr lang="en-US" b="1"/>
              <a:t>1. Matrix Factorization</a:t>
            </a:r>
            <a:endParaRPr lang="en-US"/>
          </a:p>
          <a:p>
            <a:pPr>
              <a:buNone/>
            </a:pPr>
            <a:r>
              <a:rPr lang="en-US" err="1"/>
              <a:t>Đối</a:t>
            </a:r>
            <a:r>
              <a:rPr lang="en-US"/>
              <a:t> </a:t>
            </a:r>
            <a:r>
              <a:rPr lang="en-US" err="1"/>
              <a:t>với</a:t>
            </a:r>
            <a:r>
              <a:rPr lang="en-US"/>
              <a:t> </a:t>
            </a:r>
            <a:r>
              <a:rPr lang="en-US" err="1"/>
              <a:t>phương</a:t>
            </a:r>
            <a:r>
              <a:rPr lang="en-US"/>
              <a:t> </a:t>
            </a:r>
            <a:r>
              <a:rPr lang="en-US" err="1"/>
              <a:t>pháp</a:t>
            </a:r>
            <a:r>
              <a:rPr lang="en-US"/>
              <a:t> Matrix Factorization, </a:t>
            </a:r>
            <a:r>
              <a:rPr lang="en-US" err="1"/>
              <a:t>mô</a:t>
            </a:r>
            <a:r>
              <a:rPr lang="en-US"/>
              <a:t> </a:t>
            </a:r>
            <a:r>
              <a:rPr lang="en-US" err="1"/>
              <a:t>hình</a:t>
            </a:r>
            <a:r>
              <a:rPr lang="en-US"/>
              <a:t> </a:t>
            </a:r>
            <a:r>
              <a:rPr lang="en-US" err="1"/>
              <a:t>được</a:t>
            </a:r>
            <a:r>
              <a:rPr lang="en-US"/>
              <a:t> </a:t>
            </a:r>
            <a:r>
              <a:rPr lang="en-US" err="1"/>
              <a:t>huấn</a:t>
            </a:r>
            <a:r>
              <a:rPr lang="en-US"/>
              <a:t> </a:t>
            </a:r>
            <a:r>
              <a:rPr lang="en-US" err="1"/>
              <a:t>luyện</a:t>
            </a:r>
            <a:r>
              <a:rPr lang="en-US"/>
              <a:t> </a:t>
            </a:r>
            <a:r>
              <a:rPr lang="en-US" err="1"/>
              <a:t>dựa</a:t>
            </a:r>
            <a:r>
              <a:rPr lang="en-US"/>
              <a:t> </a:t>
            </a:r>
            <a:r>
              <a:rPr lang="en-US" err="1"/>
              <a:t>trên</a:t>
            </a:r>
            <a:r>
              <a:rPr lang="en-US"/>
              <a:t> </a:t>
            </a:r>
            <a:r>
              <a:rPr lang="en-US" err="1"/>
              <a:t>việc</a:t>
            </a:r>
            <a:r>
              <a:rPr lang="en-US"/>
              <a:t> </a:t>
            </a:r>
            <a:r>
              <a:rPr lang="en-US" err="1"/>
              <a:t>phân</a:t>
            </a:r>
            <a:r>
              <a:rPr lang="en-US"/>
              <a:t> </a:t>
            </a:r>
            <a:r>
              <a:rPr lang="en-US" err="1"/>
              <a:t>rã</a:t>
            </a:r>
            <a:r>
              <a:rPr lang="en-US"/>
              <a:t> ma </a:t>
            </a:r>
            <a:r>
              <a:rPr lang="en-US" err="1"/>
              <a:t>trận</a:t>
            </a:r>
            <a:r>
              <a:rPr lang="en-US"/>
              <a:t> </a:t>
            </a:r>
            <a:r>
              <a:rPr lang="en-US" err="1"/>
              <a:t>người</a:t>
            </a:r>
            <a:r>
              <a:rPr lang="en-US"/>
              <a:t> </a:t>
            </a:r>
            <a:r>
              <a:rPr lang="en-US" err="1"/>
              <a:t>dùng</a:t>
            </a:r>
            <a:r>
              <a:rPr lang="en-US"/>
              <a:t> – </a:t>
            </a:r>
            <a:r>
              <a:rPr lang="en-US" err="1"/>
              <a:t>sản</a:t>
            </a:r>
            <a:r>
              <a:rPr lang="en-US"/>
              <a:t> </a:t>
            </a:r>
            <a:r>
              <a:rPr lang="en-US" err="1"/>
              <a:t>phẩm</a:t>
            </a:r>
            <a:r>
              <a:rPr lang="en-US"/>
              <a:t> </a:t>
            </a:r>
            <a:r>
              <a:rPr lang="en-US" err="1"/>
              <a:t>thành</a:t>
            </a:r>
            <a:r>
              <a:rPr lang="en-US"/>
              <a:t> </a:t>
            </a:r>
            <a:r>
              <a:rPr lang="en-US" err="1"/>
              <a:t>hai</a:t>
            </a:r>
            <a:r>
              <a:rPr lang="en-US"/>
              <a:t> ma </a:t>
            </a:r>
            <a:r>
              <a:rPr lang="en-US" err="1"/>
              <a:t>trận</a:t>
            </a:r>
            <a:r>
              <a:rPr lang="en-US"/>
              <a:t> </a:t>
            </a:r>
            <a:r>
              <a:rPr lang="en-US" err="1"/>
              <a:t>tiềm</a:t>
            </a:r>
            <a:r>
              <a:rPr lang="en-US"/>
              <a:t> </a:t>
            </a:r>
            <a:r>
              <a:rPr lang="en-US" err="1"/>
              <a:t>ẩn</a:t>
            </a:r>
            <a:r>
              <a:rPr lang="en-US"/>
              <a:t>. Các </a:t>
            </a:r>
            <a:r>
              <a:rPr lang="en-US" err="1"/>
              <a:t>tham</a:t>
            </a:r>
            <a:r>
              <a:rPr lang="en-US"/>
              <a:t> </a:t>
            </a:r>
            <a:r>
              <a:rPr lang="en-US" err="1"/>
              <a:t>số</a:t>
            </a:r>
            <a:r>
              <a:rPr lang="en-US"/>
              <a:t> </a:t>
            </a:r>
            <a:r>
              <a:rPr lang="en-US" err="1"/>
              <a:t>chính</a:t>
            </a:r>
            <a:r>
              <a:rPr lang="en-US"/>
              <a:t> </a:t>
            </a:r>
            <a:r>
              <a:rPr lang="en-US" err="1"/>
              <a:t>gồm</a:t>
            </a:r>
            <a:r>
              <a:rPr lang="en-US"/>
              <a:t>:</a:t>
            </a:r>
          </a:p>
          <a:p>
            <a:pPr>
              <a:buNone/>
            </a:pPr>
            <a:r>
              <a:rPr lang="en-US"/>
              <a:t>•    </a:t>
            </a:r>
            <a:r>
              <a:rPr lang="en-US" err="1"/>
              <a:t>n_factors</a:t>
            </a:r>
            <a:r>
              <a:rPr lang="en-US"/>
              <a:t> = 50: </a:t>
            </a:r>
            <a:r>
              <a:rPr lang="en-US" err="1"/>
              <a:t>số</a:t>
            </a:r>
            <a:r>
              <a:rPr lang="en-US"/>
              <a:t> </a:t>
            </a:r>
            <a:r>
              <a:rPr lang="en-US" err="1"/>
              <a:t>chiều</a:t>
            </a:r>
            <a:r>
              <a:rPr lang="en-US"/>
              <a:t> </a:t>
            </a:r>
            <a:r>
              <a:rPr lang="en-US" err="1"/>
              <a:t>không</a:t>
            </a:r>
            <a:r>
              <a:rPr lang="en-US"/>
              <a:t> </a:t>
            </a:r>
            <a:r>
              <a:rPr lang="en-US" err="1"/>
              <a:t>gian</a:t>
            </a:r>
            <a:r>
              <a:rPr lang="en-US"/>
              <a:t> latent </a:t>
            </a:r>
            <a:r>
              <a:rPr lang="en-US" err="1"/>
              <a:t>để</a:t>
            </a:r>
            <a:r>
              <a:rPr lang="en-US"/>
              <a:t> </a:t>
            </a:r>
            <a:r>
              <a:rPr lang="en-US" err="1"/>
              <a:t>biểu</a:t>
            </a:r>
            <a:r>
              <a:rPr lang="en-US"/>
              <a:t> </a:t>
            </a:r>
            <a:r>
              <a:rPr lang="en-US" err="1"/>
              <a:t>diễn</a:t>
            </a:r>
            <a:r>
              <a:rPr lang="en-US"/>
              <a:t> </a:t>
            </a:r>
            <a:r>
              <a:rPr lang="en-US" err="1"/>
              <a:t>người</a:t>
            </a:r>
            <a:r>
              <a:rPr lang="en-US"/>
              <a:t> </a:t>
            </a:r>
            <a:r>
              <a:rPr lang="en-US" err="1"/>
              <a:t>dùng</a:t>
            </a:r>
            <a:r>
              <a:rPr lang="en-US"/>
              <a:t> </a:t>
            </a:r>
            <a:r>
              <a:rPr lang="en-US" err="1"/>
              <a:t>và</a:t>
            </a:r>
            <a:r>
              <a:rPr lang="en-US"/>
              <a:t> item.</a:t>
            </a:r>
          </a:p>
          <a:p>
            <a:pPr>
              <a:buNone/>
            </a:pPr>
            <a:r>
              <a:rPr lang="en-US"/>
              <a:t>•    </a:t>
            </a:r>
            <a:r>
              <a:rPr lang="en-US" err="1"/>
              <a:t>learning_rate</a:t>
            </a:r>
            <a:r>
              <a:rPr lang="en-US"/>
              <a:t> = 0.001: </a:t>
            </a:r>
            <a:r>
              <a:rPr lang="en-US" err="1"/>
              <a:t>tốc</a:t>
            </a:r>
            <a:r>
              <a:rPr lang="en-US"/>
              <a:t> </a:t>
            </a:r>
            <a:r>
              <a:rPr lang="en-US" err="1"/>
              <a:t>độ</a:t>
            </a:r>
            <a:r>
              <a:rPr lang="en-US"/>
              <a:t> </a:t>
            </a:r>
            <a:r>
              <a:rPr lang="en-US" err="1"/>
              <a:t>học</a:t>
            </a:r>
            <a:r>
              <a:rPr lang="en-US"/>
              <a:t> </a:t>
            </a:r>
            <a:r>
              <a:rPr lang="en-US" err="1"/>
              <a:t>tối</a:t>
            </a:r>
            <a:r>
              <a:rPr lang="en-US"/>
              <a:t> </a:t>
            </a:r>
            <a:r>
              <a:rPr lang="en-US" err="1"/>
              <a:t>ưu</a:t>
            </a:r>
            <a:r>
              <a:rPr lang="en-US"/>
              <a:t> </a:t>
            </a:r>
            <a:r>
              <a:rPr lang="en-US" err="1"/>
              <a:t>để</a:t>
            </a:r>
            <a:r>
              <a:rPr lang="en-US"/>
              <a:t> </a:t>
            </a:r>
            <a:r>
              <a:rPr lang="en-US" err="1"/>
              <a:t>tránh</a:t>
            </a:r>
            <a:r>
              <a:rPr lang="en-US"/>
              <a:t> </a:t>
            </a:r>
            <a:r>
              <a:rPr lang="en-US" err="1"/>
              <a:t>học</a:t>
            </a:r>
            <a:r>
              <a:rPr lang="en-US"/>
              <a:t> </a:t>
            </a:r>
            <a:r>
              <a:rPr lang="en-US" err="1"/>
              <a:t>quá</a:t>
            </a:r>
            <a:r>
              <a:rPr lang="en-US"/>
              <a:t> </a:t>
            </a:r>
            <a:r>
              <a:rPr lang="en-US" err="1"/>
              <a:t>nhanh</a:t>
            </a:r>
            <a:r>
              <a:rPr lang="en-US"/>
              <a:t> </a:t>
            </a:r>
            <a:r>
              <a:rPr lang="en-US" err="1"/>
              <a:t>hoặc</a:t>
            </a:r>
            <a:r>
              <a:rPr lang="en-US"/>
              <a:t> </a:t>
            </a:r>
            <a:r>
              <a:rPr lang="en-US" err="1"/>
              <a:t>quá</a:t>
            </a:r>
            <a:r>
              <a:rPr lang="en-US"/>
              <a:t> </a:t>
            </a:r>
            <a:r>
              <a:rPr lang="en-US" err="1"/>
              <a:t>chậm</a:t>
            </a:r>
            <a:r>
              <a:rPr lang="en-US"/>
              <a:t>.</a:t>
            </a:r>
          </a:p>
          <a:p>
            <a:pPr>
              <a:buNone/>
            </a:pPr>
            <a:r>
              <a:rPr lang="en-US"/>
              <a:t>•    </a:t>
            </a:r>
            <a:r>
              <a:rPr lang="en-US" err="1"/>
              <a:t>batch_size</a:t>
            </a:r>
            <a:r>
              <a:rPr lang="en-US"/>
              <a:t> = 256: </a:t>
            </a:r>
            <a:r>
              <a:rPr lang="en-US" err="1"/>
              <a:t>kích</a:t>
            </a:r>
            <a:r>
              <a:rPr lang="en-US"/>
              <a:t> </a:t>
            </a:r>
            <a:r>
              <a:rPr lang="en-US" err="1"/>
              <a:t>thước</a:t>
            </a:r>
            <a:r>
              <a:rPr lang="en-US"/>
              <a:t> </a:t>
            </a:r>
            <a:r>
              <a:rPr lang="en-US" err="1"/>
              <a:t>mỗi</a:t>
            </a:r>
            <a:r>
              <a:rPr lang="en-US"/>
              <a:t> </a:t>
            </a:r>
            <a:r>
              <a:rPr lang="en-US" err="1"/>
              <a:t>lô</a:t>
            </a:r>
            <a:r>
              <a:rPr lang="en-US"/>
              <a:t> </a:t>
            </a:r>
            <a:r>
              <a:rPr lang="en-US" err="1"/>
              <a:t>dữ</a:t>
            </a:r>
            <a:r>
              <a:rPr lang="en-US"/>
              <a:t> </a:t>
            </a:r>
            <a:r>
              <a:rPr lang="en-US" err="1"/>
              <a:t>liệu</a:t>
            </a:r>
            <a:r>
              <a:rPr lang="en-US"/>
              <a:t> </a:t>
            </a:r>
            <a:r>
              <a:rPr lang="en-US" err="1"/>
              <a:t>trong</a:t>
            </a:r>
            <a:r>
              <a:rPr lang="en-US"/>
              <a:t> </a:t>
            </a:r>
            <a:r>
              <a:rPr lang="en-US" err="1"/>
              <a:t>quá</a:t>
            </a:r>
            <a:r>
              <a:rPr lang="en-US"/>
              <a:t> </a:t>
            </a:r>
            <a:r>
              <a:rPr lang="en-US" err="1"/>
              <a:t>trình</a:t>
            </a:r>
            <a:r>
              <a:rPr lang="en-US"/>
              <a:t> </a:t>
            </a:r>
            <a:r>
              <a:rPr lang="en-US" err="1"/>
              <a:t>huấn</a:t>
            </a:r>
            <a:r>
              <a:rPr lang="en-US"/>
              <a:t> </a:t>
            </a:r>
            <a:r>
              <a:rPr lang="en-US" err="1"/>
              <a:t>luyện</a:t>
            </a:r>
            <a:r>
              <a:rPr lang="en-US"/>
              <a:t>.</a:t>
            </a:r>
          </a:p>
          <a:p>
            <a:pPr>
              <a:buNone/>
            </a:pPr>
            <a:r>
              <a:rPr lang="en-US"/>
              <a:t>•    epochs = 50: </a:t>
            </a:r>
            <a:r>
              <a:rPr lang="en-US" err="1"/>
              <a:t>số</a:t>
            </a:r>
            <a:r>
              <a:rPr lang="en-US"/>
              <a:t> </a:t>
            </a:r>
            <a:r>
              <a:rPr lang="en-US" err="1"/>
              <a:t>vòng</a:t>
            </a:r>
            <a:r>
              <a:rPr lang="en-US"/>
              <a:t> </a:t>
            </a:r>
            <a:r>
              <a:rPr lang="en-US" err="1"/>
              <a:t>lặp</a:t>
            </a:r>
            <a:r>
              <a:rPr lang="en-US"/>
              <a:t> </a:t>
            </a:r>
            <a:r>
              <a:rPr lang="en-US" err="1"/>
              <a:t>huấn</a:t>
            </a:r>
            <a:r>
              <a:rPr lang="en-US"/>
              <a:t> </a:t>
            </a:r>
            <a:r>
              <a:rPr lang="en-US" err="1"/>
              <a:t>luyện</a:t>
            </a:r>
            <a:r>
              <a:rPr lang="en-US"/>
              <a:t> </a:t>
            </a:r>
            <a:r>
              <a:rPr lang="en-US" err="1"/>
              <a:t>toàn</a:t>
            </a:r>
            <a:r>
              <a:rPr lang="en-US"/>
              <a:t> </a:t>
            </a:r>
            <a:r>
              <a:rPr lang="en-US" err="1"/>
              <a:t>bộ</a:t>
            </a:r>
            <a:r>
              <a:rPr lang="en-US"/>
              <a:t> </a:t>
            </a:r>
            <a:r>
              <a:rPr lang="en-US" err="1"/>
              <a:t>tập</a:t>
            </a:r>
            <a:r>
              <a:rPr lang="en-US"/>
              <a:t> </a:t>
            </a:r>
            <a:r>
              <a:rPr lang="en-US" err="1"/>
              <a:t>dữ</a:t>
            </a:r>
            <a:r>
              <a:rPr lang="en-US"/>
              <a:t> </a:t>
            </a:r>
            <a:r>
              <a:rPr lang="en-US" err="1"/>
              <a:t>liệu</a:t>
            </a:r>
            <a:r>
              <a:rPr lang="en-US"/>
              <a:t>.</a:t>
            </a:r>
          </a:p>
          <a:p>
            <a:pPr>
              <a:buNone/>
            </a:pPr>
            <a:r>
              <a:rPr lang="en-US"/>
              <a:t>•    regularization = 0.1: </a:t>
            </a:r>
            <a:r>
              <a:rPr lang="en-US" err="1"/>
              <a:t>hệ</a:t>
            </a:r>
            <a:r>
              <a:rPr lang="en-US"/>
              <a:t> </a:t>
            </a:r>
            <a:r>
              <a:rPr lang="en-US" err="1"/>
              <a:t>số</a:t>
            </a:r>
            <a:r>
              <a:rPr lang="en-US"/>
              <a:t> </a:t>
            </a:r>
            <a:r>
              <a:rPr lang="en-US" err="1"/>
              <a:t>phạt</a:t>
            </a:r>
            <a:r>
              <a:rPr lang="en-US"/>
              <a:t> </a:t>
            </a:r>
            <a:r>
              <a:rPr lang="en-US" err="1"/>
              <a:t>nhằm</a:t>
            </a:r>
            <a:r>
              <a:rPr lang="en-US"/>
              <a:t> </a:t>
            </a:r>
            <a:r>
              <a:rPr lang="en-US" err="1"/>
              <a:t>hạn</a:t>
            </a:r>
            <a:r>
              <a:rPr lang="en-US"/>
              <a:t> </a:t>
            </a:r>
            <a:r>
              <a:rPr lang="en-US" err="1"/>
              <a:t>chế</a:t>
            </a:r>
            <a:r>
              <a:rPr lang="en-US"/>
              <a:t> overfitting.</a:t>
            </a:r>
          </a:p>
          <a:p>
            <a:pPr>
              <a:buNone/>
            </a:pPr>
            <a:r>
              <a:rPr lang="en-US" err="1"/>
              <a:t>Mục</a:t>
            </a:r>
            <a:r>
              <a:rPr lang="en-US"/>
              <a:t> </a:t>
            </a:r>
            <a:r>
              <a:rPr lang="en-US" err="1"/>
              <a:t>tiêu</a:t>
            </a:r>
            <a:r>
              <a:rPr lang="en-US"/>
              <a:t> </a:t>
            </a:r>
            <a:r>
              <a:rPr lang="en-US" err="1"/>
              <a:t>của</a:t>
            </a:r>
            <a:r>
              <a:rPr lang="en-US"/>
              <a:t> </a:t>
            </a:r>
            <a:r>
              <a:rPr lang="en-US" err="1"/>
              <a:t>cấu</a:t>
            </a:r>
            <a:r>
              <a:rPr lang="en-US"/>
              <a:t> </a:t>
            </a:r>
            <a:r>
              <a:rPr lang="en-US" err="1"/>
              <a:t>hình</a:t>
            </a:r>
            <a:r>
              <a:rPr lang="en-US"/>
              <a:t> </a:t>
            </a:r>
            <a:r>
              <a:rPr lang="en-US" err="1"/>
              <a:t>này</a:t>
            </a:r>
            <a:r>
              <a:rPr lang="en-US"/>
              <a:t> </a:t>
            </a:r>
            <a:r>
              <a:rPr lang="en-US" err="1"/>
              <a:t>là</a:t>
            </a:r>
            <a:r>
              <a:rPr lang="en-US"/>
              <a:t> </a:t>
            </a:r>
            <a:r>
              <a:rPr lang="en-US" err="1"/>
              <a:t>cân</a:t>
            </a:r>
            <a:r>
              <a:rPr lang="en-US"/>
              <a:t> </a:t>
            </a:r>
            <a:r>
              <a:rPr lang="en-US" err="1"/>
              <a:t>bằng</a:t>
            </a:r>
            <a:r>
              <a:rPr lang="en-US"/>
              <a:t> </a:t>
            </a:r>
            <a:r>
              <a:rPr lang="en-US" err="1"/>
              <a:t>giữa</a:t>
            </a:r>
            <a:r>
              <a:rPr lang="en-US"/>
              <a:t> </a:t>
            </a:r>
            <a:r>
              <a:rPr lang="en-US" err="1"/>
              <a:t>chất</a:t>
            </a:r>
            <a:r>
              <a:rPr lang="en-US"/>
              <a:t> </a:t>
            </a:r>
            <a:r>
              <a:rPr lang="en-US" err="1"/>
              <a:t>lượng</a:t>
            </a:r>
            <a:r>
              <a:rPr lang="en-US"/>
              <a:t> </a:t>
            </a:r>
            <a:r>
              <a:rPr lang="en-US" err="1"/>
              <a:t>dự</a:t>
            </a:r>
            <a:r>
              <a:rPr lang="en-US"/>
              <a:t> </a:t>
            </a:r>
            <a:r>
              <a:rPr lang="en-US" err="1"/>
              <a:t>đoán</a:t>
            </a:r>
            <a:r>
              <a:rPr lang="en-US"/>
              <a:t> </a:t>
            </a:r>
            <a:r>
              <a:rPr lang="en-US" err="1"/>
              <a:t>và</a:t>
            </a:r>
            <a:r>
              <a:rPr lang="en-US"/>
              <a:t> </a:t>
            </a:r>
            <a:r>
              <a:rPr lang="en-US" err="1"/>
              <a:t>thời</a:t>
            </a:r>
            <a:r>
              <a:rPr lang="en-US"/>
              <a:t> </a:t>
            </a:r>
            <a:r>
              <a:rPr lang="en-US" err="1"/>
              <a:t>gian</a:t>
            </a:r>
            <a:r>
              <a:rPr lang="en-US"/>
              <a:t> </a:t>
            </a:r>
            <a:r>
              <a:rPr lang="en-US" err="1"/>
              <a:t>huấn</a:t>
            </a:r>
            <a:r>
              <a:rPr lang="en-US"/>
              <a:t> </a:t>
            </a:r>
            <a:r>
              <a:rPr lang="en-US" err="1"/>
              <a:t>luyện</a:t>
            </a:r>
            <a:r>
              <a:rPr lang="en-US"/>
              <a:t>.</a:t>
            </a:r>
            <a:endParaRPr err="1"/>
          </a:p>
        </p:txBody>
      </p:sp>
    </p:spTree>
    <p:extLst>
      <p:ext uri="{BB962C8B-B14F-4D97-AF65-F5344CB8AC3E}">
        <p14:creationId xmlns:p14="http://schemas.microsoft.com/office/powerpoint/2010/main" val="19580437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68236FBC-9193-2BB0-8570-6160D8267073}"/>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FEF0A7B0-1904-D444-CC8D-69D8FF2E3A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DC361E0C-2ABC-3470-5B1E-EC0B94B22B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b="1" dirty="0"/>
              <a:t>Cơ chế Self-Attention</a:t>
            </a:r>
            <a:r>
              <a:rPr lang="vi-VN" dirty="0"/>
              <a:t> là một kỹ thuật cốt lõi trong các mô hình Transformer, cho phép mô hình </a:t>
            </a:r>
            <a:r>
              <a:rPr lang="vi-VN" b="1" dirty="0"/>
              <a:t>tự động xác định mức độ quan trọng của từng phần trong dữ liệu đầu vào đối với nhau</a:t>
            </a:r>
            <a:r>
              <a:rPr lang="vi-VN" dirty="0"/>
              <a:t>, thay vì xử lý tuần tự như RNN.</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 </a:t>
            </a:r>
            <a:r>
              <a:rPr lang="vi-VN" dirty="0"/>
              <a:t>Tóm lại, Self-Attention cho phép mô hình </a:t>
            </a:r>
            <a:r>
              <a:rPr lang="vi-VN" b="1" dirty="0"/>
              <a:t>hiểu ngữ cảnh toàn cục, học quan hệ linh hoạt và song song</a:t>
            </a:r>
            <a:r>
              <a:rPr lang="vi-VN" dirty="0"/>
              <a:t>, là nền tảng giúp các hệ gợi ý hiện đại vượt trội so với các phương pháp truyền thống.</a:t>
            </a:r>
          </a:p>
          <a:p>
            <a:pPr>
              <a:buNone/>
            </a:pPr>
            <a:endParaRPr lang="en-US" dirty="0"/>
          </a:p>
          <a:p>
            <a:pPr>
              <a:buNone/>
            </a:pPr>
            <a:r>
              <a:rPr lang="en-US" dirty="0" err="1"/>
              <a:t>Trong</a:t>
            </a:r>
            <a:r>
              <a:rPr lang="en-US" dirty="0"/>
              <a:t> </a:t>
            </a:r>
            <a:r>
              <a:rPr lang="en-US" dirty="0" err="1"/>
              <a:t>SASRec</a:t>
            </a:r>
            <a:r>
              <a:rPr lang="en-US" dirty="0"/>
              <a:t>, </a:t>
            </a:r>
            <a:r>
              <a:rPr lang="en-US" b="1" dirty="0"/>
              <a:t>input embedding = item embedding + positional embedding</a:t>
            </a:r>
            <a:r>
              <a:rPr lang="en-US" dirty="0"/>
              <a: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b="1" dirty="0"/>
              <a:t>Item embedding</a:t>
            </a:r>
            <a:r>
              <a:rPr lang="vi-VN" dirty="0"/>
              <a:t> là biểu diễn mỗi item (ví dụ: phim) dưới dạng một vector dense trong không gian liên tục.</a:t>
            </a:r>
            <a:br>
              <a:rPr lang="vi-VN" dirty="0"/>
            </a:br>
            <a:r>
              <a:rPr lang="vi-VN" dirty="0"/>
              <a:t>Mỗi vector học được các đặc trưng tiềm ẩn của item dựa trên hành vi tương tác của người dùng.</a:t>
            </a:r>
            <a:br>
              <a:rPr lang="vi-VN" dirty="0"/>
            </a:br>
            <a:r>
              <a:rPr lang="vi-VN" dirty="0"/>
              <a:t>Các item có embedding gần nhau thường có đặc điểm hoặc được người dùng quan tâm tương tự.</a:t>
            </a:r>
            <a:br>
              <a:rPr lang="vi-VN" dirty="0"/>
            </a:br>
            <a:r>
              <a:rPr lang="vi-VN" dirty="0"/>
              <a:t>Trong SASRec, item embedding là thành phần cốt lõi giúp mô hình hiểu </a:t>
            </a:r>
            <a:r>
              <a:rPr lang="vi-VN" i="1" dirty="0"/>
              <a:t>nội dung</a:t>
            </a:r>
            <a:r>
              <a:rPr lang="vi-VN" dirty="0"/>
              <a:t> của chuỗi hành vi.</a:t>
            </a:r>
          </a:p>
          <a:p>
            <a:r>
              <a:rPr lang="en-US" dirty="0"/>
              <a:t>👉 </a:t>
            </a:r>
            <a:r>
              <a:rPr lang="vi-VN" b="1" dirty="0"/>
              <a:t>Vai trò chính:</a:t>
            </a:r>
            <a:endParaRPr lang="vi-VN" dirty="0"/>
          </a:p>
          <a:p>
            <a:pPr>
              <a:buFont typeface="Arial" panose="020B0604020202020204" pitchFamily="34" charset="0"/>
              <a:buChar char="•"/>
            </a:pPr>
            <a:r>
              <a:rPr lang="vi-VN" dirty="0"/>
              <a:t>Biểu diễn sở thích người dùng thông qua các item đã tương tác</a:t>
            </a:r>
          </a:p>
          <a:p>
            <a:pPr>
              <a:buFont typeface="Arial" panose="020B0604020202020204" pitchFamily="34" charset="0"/>
              <a:buChar char="•"/>
            </a:pPr>
            <a:r>
              <a:rPr lang="vi-VN" dirty="0"/>
              <a:t>Cho phép mô hình tính toán độ tương đồng giữa các item</a:t>
            </a:r>
          </a:p>
          <a:p>
            <a:pPr>
              <a:buNone/>
            </a:pPr>
            <a:endParaRPr lang="en-US" b="1" dirty="0"/>
          </a:p>
          <a:p>
            <a:pPr>
              <a:buNone/>
            </a:pPr>
            <a:endParaRPr lang="en-US" b="1" dirty="0"/>
          </a:p>
          <a:p>
            <a:pPr>
              <a:buNone/>
            </a:pPr>
            <a:r>
              <a:rPr lang="vi-VN" b="1" dirty="0"/>
              <a:t>Positional embedding</a:t>
            </a:r>
            <a:r>
              <a:rPr lang="vi-VN" dirty="0"/>
              <a:t> là vector biểu diễn </a:t>
            </a:r>
            <a:r>
              <a:rPr lang="vi-VN" i="1" dirty="0"/>
              <a:t>vị trí</a:t>
            </a:r>
            <a:r>
              <a:rPr lang="vi-VN" dirty="0"/>
              <a:t> của item trong chuỗi tương tác.</a:t>
            </a:r>
            <a:endParaRPr lang="en-US" dirty="0"/>
          </a:p>
          <a:p>
            <a:r>
              <a:rPr lang="vi-VN" dirty="0"/>
              <a:t>Do self-attention không tự nhận biết thứ tự, positional embedding được thêm vào để mô hình phân biệt </a:t>
            </a:r>
            <a:r>
              <a:rPr lang="vi-VN" b="1" dirty="0"/>
              <a:t>thứ tự thời gian</a:t>
            </a:r>
            <a:r>
              <a:rPr lang="vi-VN" dirty="0"/>
              <a:t>.</a:t>
            </a:r>
            <a:br>
              <a:rPr lang="vi-VN" dirty="0"/>
            </a:br>
            <a:r>
              <a:rPr lang="vi-VN" dirty="0"/>
              <a:t>Nhờ đó, mô hình biết item nào xuất hiện trước, item nào xuất hiện sau trong lịch sử người dùng.</a:t>
            </a:r>
            <a:br>
              <a:rPr lang="vi-VN" dirty="0"/>
            </a:br>
            <a:r>
              <a:rPr lang="vi-VN" dirty="0"/>
              <a:t>Điều này đặc biệt quan trọng trong bài toán </a:t>
            </a:r>
            <a:r>
              <a:rPr lang="vi-VN" b="1" dirty="0"/>
              <a:t>sequential recommendation</a:t>
            </a:r>
            <a:r>
              <a:rPr lang="vi-VN" dirty="0"/>
              <a:t>.</a:t>
            </a:r>
          </a:p>
          <a:p>
            <a:r>
              <a:rPr lang="en-US" dirty="0"/>
              <a:t>👉 </a:t>
            </a:r>
            <a:r>
              <a:rPr lang="vi-VN" b="1" dirty="0"/>
              <a:t>Vai trò chính:</a:t>
            </a:r>
            <a:endParaRPr lang="vi-VN" dirty="0"/>
          </a:p>
          <a:p>
            <a:pPr>
              <a:buFont typeface="Arial" panose="020B0604020202020204" pitchFamily="34" charset="0"/>
              <a:buChar char="•"/>
            </a:pPr>
            <a:r>
              <a:rPr lang="vi-VN" dirty="0"/>
              <a:t>Giữ thông tin thứ tự trong chuỗi</a:t>
            </a:r>
          </a:p>
          <a:p>
            <a:pPr>
              <a:buFont typeface="Arial" panose="020B0604020202020204" pitchFamily="34" charset="0"/>
              <a:buChar char="•"/>
            </a:pPr>
            <a:r>
              <a:rPr lang="vi-VN" dirty="0"/>
              <a:t>Giúp mô hình học được hành vi ngắn hạn và dài hạn</a:t>
            </a:r>
          </a:p>
          <a:p>
            <a:pPr>
              <a:buNone/>
            </a:pPr>
            <a:endParaRPr lang="en-US" dirty="0"/>
          </a:p>
        </p:txBody>
      </p:sp>
    </p:spTree>
    <p:extLst>
      <p:ext uri="{BB962C8B-B14F-4D97-AF65-F5344CB8AC3E}">
        <p14:creationId xmlns:p14="http://schemas.microsoft.com/office/powerpoint/2010/main" val="2027791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7EF1EF33-905C-47C1-E4E5-B16DD69044C2}"/>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B7C6E5A3-A97F-AF1A-40CF-DA79E1AE89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7575026D-8CC6-4A7C-DAFE-0E751A5A67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marR="0" lvl="0" indent="0" algn="l" defTabSz="914400" rtl="0" eaLnBrk="1" fontAlgn="auto" latinLnBrk="0" hangingPunct="1">
              <a:lnSpc>
                <a:spcPct val="115000"/>
              </a:lnSpc>
              <a:spcBef>
                <a:spcPts val="0"/>
              </a:spcBef>
              <a:spcAft>
                <a:spcPts val="800"/>
              </a:spcAft>
              <a:buClr>
                <a:srgbClr val="000000"/>
              </a:buClr>
              <a:buSzPts val="1100"/>
              <a:buFont typeface="Arial"/>
              <a:buNone/>
              <a:tabLst/>
              <a:defRPr/>
            </a:pPr>
            <a:r>
              <a:rPr lang="vi-VN" sz="3200" dirty="0"/>
              <a:t>tại sao matrix factorization kém ổn định hơn item-base cf</a:t>
            </a:r>
          </a:p>
          <a:p>
            <a:pPr marL="158750" marR="0" lvl="0" indent="0" algn="l" defTabSz="914400" rtl="0" eaLnBrk="1" fontAlgn="auto" latinLnBrk="0" hangingPunct="1">
              <a:lnSpc>
                <a:spcPct val="115000"/>
              </a:lnSpc>
              <a:spcBef>
                <a:spcPts val="0"/>
              </a:spcBef>
              <a:spcAft>
                <a:spcPts val="800"/>
              </a:spcAft>
              <a:buClr>
                <a:srgbClr val="000000"/>
              </a:buClr>
              <a:buSzPts val="1100"/>
              <a:buFont typeface="Arial"/>
              <a:buNone/>
              <a:tabLst/>
              <a:defRPr/>
            </a:pPr>
            <a:r>
              <a:rPr lang="vi-VN" sz="3200" dirty="0"/>
              <a:t>Với dataset như MovieLens 100K (sparsity cao), MF khó học được vector ẩn đủ tốt cho user/item ít rating.</a:t>
            </a:r>
          </a:p>
          <a:p>
            <a:pPr marL="158750" marR="0" lvl="0" indent="0" algn="l" defTabSz="914400" rtl="0" eaLnBrk="1" fontAlgn="auto" latinLnBrk="0" hangingPunct="1">
              <a:lnSpc>
                <a:spcPct val="115000"/>
              </a:lnSpc>
              <a:spcBef>
                <a:spcPts val="0"/>
              </a:spcBef>
              <a:spcAft>
                <a:spcPts val="800"/>
              </a:spcAft>
              <a:buClr>
                <a:srgbClr val="000000"/>
              </a:buClr>
              <a:buSzPts val="1100"/>
              <a:buFont typeface="Arial"/>
              <a:buNone/>
              <a:tabLst/>
              <a:defRPr/>
            </a:pPr>
            <a:r>
              <a:rPr lang="vi-VN" sz="3200"/>
              <a:t>Item-based CF chỉ dựa trên </a:t>
            </a:r>
            <a:r>
              <a:rPr lang="vi-VN" sz="3200" b="1"/>
              <a:t>các item đã được đánh giá chung</a:t>
            </a:r>
            <a:r>
              <a:rPr lang="vi-VN" sz="3200"/>
              <a:t>, nên ổn định hơn trong điều kiện dữ liệu hạn chế.</a:t>
            </a:r>
          </a:p>
          <a:p>
            <a:pPr marL="158750" indent="0">
              <a:lnSpc>
                <a:spcPct val="115000"/>
              </a:lnSpc>
              <a:spcAft>
                <a:spcPts val="800"/>
              </a:spcAft>
              <a:buNone/>
            </a:pPr>
            <a:endParaRPr lang="en-US" sz="1800" b="1" kern="100">
              <a:effectLst/>
              <a:latin typeface="Times New Roman" panose="02020603050405020304" pitchFamily="18" charset="0"/>
              <a:ea typeface="Arial" panose="020B0604020202020204" pitchFamily="34" charset="0"/>
              <a:cs typeface="Times New Roman" panose="02020603050405020304" pitchFamily="18" charset="0"/>
            </a:endParaRPr>
          </a:p>
          <a:p>
            <a:pPr marL="158750" indent="0">
              <a:lnSpc>
                <a:spcPct val="115000"/>
              </a:lnSpc>
              <a:spcAft>
                <a:spcPts val="800"/>
              </a:spcAft>
              <a:buNone/>
            </a:pPr>
            <a:r>
              <a:rPr lang="vi-VN" sz="1800" b="1" kern="100" dirty="0">
                <a:effectLst/>
                <a:latin typeface="Times New Roman" panose="02020603050405020304" pitchFamily="18" charset="0"/>
                <a:ea typeface="Arial" panose="020B0604020202020204" pitchFamily="34" charset="0"/>
                <a:cs typeface="Times New Roman" panose="02020603050405020304" pitchFamily="18" charset="0"/>
              </a:rPr>
              <a:t>Item-based CF (Collaborative Filtering)</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Là phương pháp gợi ý dựa trên sự giống nhau giữa các item (phim giống phim).</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Nếu người dùng thích phim A, và phim B giống A → hệ thống sẽ gợi ý phim B.</a:t>
            </a:r>
          </a:p>
          <a:p>
            <a:pPr marL="158750" indent="0">
              <a:lnSpc>
                <a:spcPct val="115000"/>
              </a:lnSpc>
              <a:spcAft>
                <a:spcPts val="800"/>
              </a:spcAft>
              <a:buNone/>
            </a:pPr>
            <a:r>
              <a:rPr lang="vi-VN" sz="1800" b="1" kern="100" dirty="0">
                <a:effectLst/>
                <a:latin typeface="Times New Roman" panose="02020603050405020304" pitchFamily="18" charset="0"/>
                <a:ea typeface="Arial" panose="020B0604020202020204" pitchFamily="34" charset="0"/>
                <a:cs typeface="Times New Roman" panose="02020603050405020304" pitchFamily="18" charset="0"/>
              </a:rPr>
              <a:t>Pearson Similarity</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Đo mức độ giống nhau giữa hai item dựa trên độ tương quan tuyến tính giữa các rating.</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Loại bỏ ảnh hưởng của thói quen rating (ví dụ: người thích cho điểm cao hoặc thấp).</a:t>
            </a:r>
          </a:p>
          <a:p>
            <a:pPr marL="158750" indent="0">
              <a:lnSpc>
                <a:spcPct val="115000"/>
              </a:lnSpc>
              <a:spcAft>
                <a:spcPts val="800"/>
              </a:spcAft>
              <a:buNone/>
            </a:pPr>
            <a:r>
              <a:rPr lang="vi-VN" sz="1800" b="1" kern="100" dirty="0">
                <a:effectLst/>
                <a:latin typeface="Times New Roman" panose="02020603050405020304" pitchFamily="18" charset="0"/>
                <a:ea typeface="Arial" panose="020B0604020202020204" pitchFamily="34" charset="0"/>
                <a:cs typeface="Times New Roman" panose="02020603050405020304" pitchFamily="18" charset="0"/>
              </a:rPr>
              <a:t>Cosine Similarity</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Đo góc giữa hai vector rating.</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Không xem xét thói quen rating → kém phù hợp hơn khi dữ liệu là điểm số 1–5.</a:t>
            </a:r>
          </a:p>
          <a:p>
            <a:pPr marL="158750" indent="0">
              <a:lnSpc>
                <a:spcPct val="115000"/>
              </a:lnSpc>
              <a:spcAft>
                <a:spcPts val="800"/>
              </a:spcAft>
              <a:buNone/>
            </a:pPr>
            <a:r>
              <a:rPr lang="vi-VN" sz="1800" b="1" kern="100" dirty="0">
                <a:effectLst/>
                <a:latin typeface="Times New Roman" panose="02020603050405020304" pitchFamily="18" charset="0"/>
                <a:ea typeface="Arial" panose="020B0604020202020204" pitchFamily="34" charset="0"/>
                <a:cs typeface="Times New Roman" panose="02020603050405020304" pitchFamily="18" charset="0"/>
              </a:rPr>
              <a:t>MAE (Mean Absolute Error)</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MAE đo sai số tuyệt đối trung bình giữa rating dự đoán và rating thực tế.</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phản ánh mức độ sai lệch trung bình một cách trực quan và dễ hiểu.</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MAE càng nhỏ thì mô hình dự đoán càng chính xác và ổn định.</a:t>
            </a:r>
          </a:p>
          <a:p>
            <a:pPr marL="158750" indent="0">
              <a:lnSpc>
                <a:spcPct val="115000"/>
              </a:lnSpc>
              <a:spcAft>
                <a:spcPts val="800"/>
              </a:spcAft>
              <a:buNone/>
            </a:pPr>
            <a:r>
              <a:rPr lang="vi-VN" sz="1800" b="1" kern="100" dirty="0">
                <a:effectLst/>
                <a:latin typeface="Times New Roman" panose="02020603050405020304" pitchFamily="18" charset="0"/>
                <a:ea typeface="Arial" panose="020B0604020202020204" pitchFamily="34" charset="0"/>
                <a:cs typeface="Times New Roman" panose="02020603050405020304" pitchFamily="18" charset="0"/>
              </a:rPr>
              <a:t>RMSE (Root Mean Squared Error)</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RMSE càng thấp → dự đoán càng tốt.</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RMSE là căn bậc hai của sai số bình phương trung bình.</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Chỉ số này phạt nặng các lỗi lớn, do đó nhạy cảm hơn với các dự đoán sai nghiêm trọng.</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RMSE được dùng khi cần kiểm soát các sai lệch lớn trong hệ thống gợi ý.</a:t>
            </a:r>
          </a:p>
          <a:p>
            <a:pPr marL="158750" indent="0">
              <a:lnSpc>
                <a:spcPct val="115000"/>
              </a:lnSpc>
              <a:spcAft>
                <a:spcPts val="800"/>
              </a:spcAft>
              <a:buNone/>
            </a:pPr>
            <a:r>
              <a:rPr lang="vi-VN" sz="1800" b="1" kern="100" dirty="0">
                <a:effectLst/>
                <a:latin typeface="Times New Roman" panose="02020603050405020304" pitchFamily="18" charset="0"/>
                <a:ea typeface="Arial" panose="020B0604020202020204" pitchFamily="34" charset="0"/>
                <a:cs typeface="Times New Roman" panose="02020603050405020304" pitchFamily="18" charset="0"/>
              </a:rPr>
              <a:t>MF – Matrix Factorization</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Mô hình phân rã ma trận người dùng–item thành các vector latent (ẩn).</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Tìm sở thích ẩn của người dùng và đặc trưng ẩn của item.</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Hiệu quả nhưng đôi khi kém hơn Item-based CF nếu tương quan item–item rất mạnh.</a:t>
            </a:r>
          </a:p>
          <a:p>
            <a:pPr marL="158750" indent="0">
              <a:lnSpc>
                <a:spcPct val="115000"/>
              </a:lnSpc>
              <a:spcAft>
                <a:spcPts val="800"/>
              </a:spcAft>
              <a:buNone/>
            </a:pPr>
            <a:r>
              <a:rPr lang="vi-VN" sz="1800" b="1" kern="100" dirty="0">
                <a:effectLst/>
                <a:latin typeface="Times New Roman" panose="02020603050405020304" pitchFamily="18" charset="0"/>
                <a:ea typeface="Arial" panose="020B0604020202020204" pitchFamily="34" charset="0"/>
                <a:cs typeface="Times New Roman" panose="02020603050405020304" pitchFamily="18" charset="0"/>
              </a:rPr>
              <a:t>2. Sequential Recommendation – SASRec</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Sequential Recommendation</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Gợi ý dựa trên thứ tự hành vi theo thời gian.</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Ví dụ: người vừa xem phim A → thường sẽ xem phim B → mô hình sẽ dự đoán B.</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SASRec (Self-Attentive Sequential Recommendation)</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Mô hình gợi ý dùng cơ chế Attention giống Transformer để học trình tự người dùng xem phim.</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Tập trung vào các item gần nhất để dự đoán bước tiếp theo.</a:t>
            </a:r>
          </a:p>
          <a:p>
            <a:pPr marL="158750" indent="0">
              <a:lnSpc>
                <a:spcPct val="115000"/>
              </a:lnSpc>
              <a:spcAft>
                <a:spcPts val="800"/>
              </a:spcAft>
              <a:buNone/>
            </a:pPr>
            <a:r>
              <a:rPr lang="vi-VN" sz="1800" b="1" kern="100" dirty="0">
                <a:effectLst/>
                <a:latin typeface="Times New Roman" panose="02020603050405020304" pitchFamily="18" charset="0"/>
                <a:ea typeface="Arial" panose="020B0604020202020204" pitchFamily="34" charset="0"/>
                <a:cs typeface="Times New Roman" panose="02020603050405020304" pitchFamily="18" charset="0"/>
              </a:rPr>
              <a:t>Hit@10</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Hit@10 đo xem item đúng có xuất hiện trong top-10 gợi ý hay không.</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Nếu item thực tế nằm trong danh sách top-10 → được tính là “hit”.</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Chỉ số này phản ánh khả năng đề xuất đúng item quan trọng, không quan tâm đến thứ tự chi tiết.</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 Với Hit@10 = 0.40, mô hình SASRec dự đoán đúng item tiếp theo trong 40% trường hợp.</a:t>
            </a:r>
          </a:p>
          <a:p>
            <a:pPr marL="158750" indent="0">
              <a:lnSpc>
                <a:spcPct val="115000"/>
              </a:lnSpc>
              <a:spcAft>
                <a:spcPts val="800"/>
              </a:spcAft>
              <a:buNone/>
            </a:pPr>
            <a:r>
              <a:rPr lang="vi-VN" sz="1800" b="1" kern="100" dirty="0">
                <a:effectLst/>
                <a:latin typeface="Times New Roman" panose="02020603050405020304" pitchFamily="18" charset="0"/>
                <a:ea typeface="Arial" panose="020B0604020202020204" pitchFamily="34" charset="0"/>
                <a:cs typeface="Times New Roman" panose="02020603050405020304" pitchFamily="18" charset="0"/>
              </a:rPr>
              <a:t>NDCG@5</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NDCG@5 (Normalized Discounted Cumulative Gain) đo chất lượng xếp hạng của top-5 gợi ý.</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Chỉ số này đánh giá cao các item đúng xuất hiện ở vị trí cao hơn trong danh sách.</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NDCG càng cao thì thứ tự gợi ý càng hợp lý và thân thiện với người dùng.</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 Với NDCG@5 = 0.21, SASRec đã học được thứ tự ưu tiên nhưng vẫn bị giới hạn do dataset nhỏ.</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Đo chất lượng xếp hạng (item đúng càng nằm ở vị trí đầu → điểm càng cao).</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NDCG@5 = 0.21 → mô hình dự đoán đúng nhưng chưa xếp đúng ưu tiên ở top 5.</a:t>
            </a:r>
          </a:p>
          <a:p>
            <a:pPr marL="158750" indent="0">
              <a:lnSpc>
                <a:spcPct val="115000"/>
              </a:lnSpc>
              <a:spcAft>
                <a:spcPts val="800"/>
              </a:spcAft>
              <a:buNone/>
            </a:pPr>
            <a:r>
              <a:rPr lang="vi-VN" sz="1800" b="1" kern="100" dirty="0">
                <a:effectLst/>
                <a:latin typeface="Times New Roman" panose="02020603050405020304" pitchFamily="18" charset="0"/>
                <a:ea typeface="Arial" panose="020B0604020202020204" pitchFamily="34" charset="0"/>
                <a:cs typeface="Times New Roman" panose="02020603050405020304" pitchFamily="18" charset="0"/>
              </a:rPr>
              <a:t>1. Rating Prediction</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Pearson similarity đo mức độ tương quan tuyến tính giữa hai người dùng hoặc hai item sau khi đã loại bỏ ảnh hưởng của mức rating trung bình.</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Điều này đặc biệt phù hợp với dữ liệu MovieLens vì các rating nằm trên thang điểm tuyến tính (1–5) và mỗi người dùng có xu hướng chấm điểm khác nhau (người dễ tính, người khó tính).</a:t>
            </a:r>
          </a:p>
          <a:p>
            <a:pPr marL="158750" indent="0">
              <a:lnSpc>
                <a:spcPct val="115000"/>
              </a:lnSpc>
              <a:spcAft>
                <a:spcPts val="800"/>
              </a:spcAft>
              <a:buNone/>
            </a:pPr>
            <a:r>
              <a:rPr lang="vi-VN" sz="1800" b="1" kern="100" dirty="0">
                <a:effectLst/>
                <a:latin typeface="Times New Roman" panose="02020603050405020304" pitchFamily="18" charset="0"/>
                <a:ea typeface="Arial" panose="020B0604020202020204" pitchFamily="34" charset="0"/>
                <a:cs typeface="Times New Roman" panose="02020603050405020304" pitchFamily="18" charset="0"/>
              </a:rPr>
              <a:t>So với Cosine similarity, Pearson giúp:</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Giảm bias do thói quen chấm điểm cá nhân</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Phản ánh tốt hơn sự tương đồng thực sự về sở thích</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Do đó, Item-based CF dùng Pearson cho kết quả vượt trội hơn Cosine trong bài toán rating prediction.</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Các phương pháp dự đoán điểm đánh giá được so sánh bao gồm Item-based Collaborative Filtering và Matrix Factorization.</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Kết quả cho thấy Item-based Collaborative Filtering sử dụng Pearson similarity đạt hiệu quả tốt nhất, với:</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MAE = 0.8633</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RMSE = 1.0941</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Pearson similarity cho kết quả vượt trội hơn Cosine similarity do dữ liệu đánh giá nằm trên thang đo tuyến tính, trong đó Pearson có khả năng chuẩn hóa theo trung bình người dùng, giúp phản ánh tốt hơn mối tương quan thực sự giữa các item.</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Trong khi đó, Matrix Factorization (MF) cho kết quả ổn định với:</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MAE = 0.8790</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Tuy nhiên, MF kém hơn Item-based CF trong bối cảnh bài toán này, nguyên nhân chủ yếu là do mô hình chưa khai thác trực tiếp mối tương quan item–item, vốn đóng vai trò quan trọng trong dữ liệu có mức độ đồng đánh giá cao.</a:t>
            </a:r>
          </a:p>
          <a:p>
            <a:pPr marL="158750" indent="0">
              <a:lnSpc>
                <a:spcPct val="115000"/>
              </a:lnSpc>
              <a:spcAft>
                <a:spcPts val="800"/>
              </a:spcAft>
              <a:buNone/>
            </a:pPr>
            <a:endParaRPr lang="vi-VN" sz="1800" b="0" kern="100" dirty="0">
              <a:effectLst/>
              <a:latin typeface="Times New Roman" panose="02020603050405020304" pitchFamily="18" charset="0"/>
              <a:ea typeface="Arial" panose="020B0604020202020204" pitchFamily="34" charset="0"/>
              <a:cs typeface="Times New Roman" panose="02020603050405020304" pitchFamily="18" charset="0"/>
            </a:endParaRPr>
          </a:p>
          <a:p>
            <a:pPr marL="158750" indent="0">
              <a:lnSpc>
                <a:spcPct val="115000"/>
              </a:lnSpc>
              <a:spcAft>
                <a:spcPts val="800"/>
              </a:spcAft>
              <a:buNone/>
            </a:pPr>
            <a:r>
              <a:rPr lang="vi-VN" sz="1800" b="1" kern="100" dirty="0">
                <a:effectLst/>
                <a:latin typeface="Times New Roman" panose="02020603050405020304" pitchFamily="18" charset="0"/>
                <a:ea typeface="Arial" panose="020B0604020202020204" pitchFamily="34" charset="0"/>
                <a:cs typeface="Times New Roman" panose="02020603050405020304" pitchFamily="18" charset="0"/>
              </a:rPr>
              <a:t>2. Sequential Recommendation (SASRec)</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Đối với bài toán gợi ý theo chuỗi, mô hình SASRec đạt được các chỉ số đánh giá:</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Hit@10 = 0.40</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NDCG@5 = 0.21</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Kết quả cho thấy mô hình đã học được xu hướng hành vi người dùng theo thời gian, xác nhận ưu thế của cơ chế self-attention trong việc khai thác thứ tự và ngữ cảnh của chuỗi tương tác.</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Tuy nhiên, chất lượng xếp hạng vẫn còn hạn chế, chủ yếu do kích thước dataset nhỏ, dẫn đến việc mô hình chưa học được đầy đủ các mẫu hành vi phức tạp và gây ảnh hưởng đến hiệu quả tổng quát hóa.</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Nhận xét tổng quan</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Item-based CF vẫn là lựa chọn hiệu quả cho bài toán dự đoán rating trong bối cảnh dữ liệu tuyến tính và có tính đồng đánh giá cao</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SASRec phù hợp cho bài toán gợi ý theo thời gian, nhưng yêu cầu tập dữ liệu đủ lớn để phát huy tối đa hiệu quả</a:t>
            </a:r>
          </a:p>
          <a:p>
            <a:pPr marL="158750" indent="0">
              <a:lnSpc>
                <a:spcPct val="115000"/>
              </a:lnSpc>
              <a:spcAft>
                <a:spcPts val="800"/>
              </a:spcAft>
              <a:buNone/>
            </a:pPr>
            <a:r>
              <a:rPr lang="vi-VN" sz="1800" b="0" kern="100" dirty="0">
                <a:effectLst/>
                <a:latin typeface="Times New Roman" panose="02020603050405020304" pitchFamily="18" charset="0"/>
                <a:ea typeface="Arial" panose="020B0604020202020204" pitchFamily="34" charset="0"/>
                <a:cs typeface="Times New Roman" panose="02020603050405020304" pitchFamily="18" charset="0"/>
              </a:rPr>
              <a:t>● Kết quả thực nghiệm cho thấy sự cần thiết của việc kết hợp các mô hình tĩnh và động trong hệ thống gợi ý hiện đại</a:t>
            </a:r>
          </a:p>
        </p:txBody>
      </p:sp>
    </p:spTree>
    <p:extLst>
      <p:ext uri="{BB962C8B-B14F-4D97-AF65-F5344CB8AC3E}">
        <p14:creationId xmlns:p14="http://schemas.microsoft.com/office/powerpoint/2010/main" val="11645705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1BBD45CA-5EF4-E5F1-54B3-BEC12B37B2B7}"/>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D1969F7E-6CF1-874C-C88B-A998FD29D5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371E1166-8483-C5F2-8A62-FDD81C8033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b="1"/>
              <a:t>1. Matrix Factorization</a:t>
            </a:r>
          </a:p>
          <a:p>
            <a:pPr>
              <a:buNone/>
            </a:pPr>
            <a:r>
              <a:rPr lang="en-US" err="1"/>
              <a:t>Đối</a:t>
            </a:r>
            <a:r>
              <a:rPr lang="en-US"/>
              <a:t> </a:t>
            </a:r>
            <a:r>
              <a:rPr lang="en-US" err="1"/>
              <a:t>với</a:t>
            </a:r>
            <a:r>
              <a:rPr lang="en-US"/>
              <a:t> </a:t>
            </a:r>
            <a:r>
              <a:rPr lang="en-US" err="1"/>
              <a:t>phương</a:t>
            </a:r>
            <a:r>
              <a:rPr lang="en-US"/>
              <a:t> pháp Matrix Factorization, mô hình được huấn luyện dựa trên việc phân rã ma trận người dùng – sản phẩm thành hai ma trận tiềm ẩn. Các tham số chính gồm:</a:t>
            </a:r>
          </a:p>
          <a:p>
            <a:pPr>
              <a:buNone/>
            </a:pPr>
            <a:r>
              <a:rPr lang="en-US"/>
              <a:t>•    </a:t>
            </a:r>
            <a:r>
              <a:rPr lang="en-US" err="1"/>
              <a:t>n_factors</a:t>
            </a:r>
            <a:r>
              <a:rPr lang="en-US"/>
              <a:t> = 50: số chiều không gian latent để biểu diễn người dùng và item.</a:t>
            </a:r>
          </a:p>
          <a:p>
            <a:pPr>
              <a:buNone/>
            </a:pPr>
            <a:r>
              <a:rPr lang="en-US"/>
              <a:t>•    </a:t>
            </a:r>
            <a:r>
              <a:rPr lang="en-US" err="1"/>
              <a:t>learning_rate</a:t>
            </a:r>
            <a:r>
              <a:rPr lang="en-US"/>
              <a:t> = 0.001: tốc độ học tối ưu để tránh học quá nhanh hoặc quá chậm.</a:t>
            </a:r>
          </a:p>
          <a:p>
            <a:pPr>
              <a:buNone/>
            </a:pPr>
            <a:r>
              <a:rPr lang="en-US"/>
              <a:t>•    </a:t>
            </a:r>
            <a:r>
              <a:rPr lang="en-US" err="1"/>
              <a:t>batch_size</a:t>
            </a:r>
            <a:r>
              <a:rPr lang="en-US"/>
              <a:t> = 256: </a:t>
            </a:r>
            <a:r>
              <a:rPr lang="en-US" err="1"/>
              <a:t>kích</a:t>
            </a:r>
            <a:r>
              <a:rPr lang="en-US"/>
              <a:t> </a:t>
            </a:r>
            <a:r>
              <a:rPr lang="en-US" err="1"/>
              <a:t>thước</a:t>
            </a:r>
            <a:r>
              <a:rPr lang="en-US"/>
              <a:t> </a:t>
            </a:r>
            <a:r>
              <a:rPr lang="en-US" err="1"/>
              <a:t>mỗi</a:t>
            </a:r>
            <a:r>
              <a:rPr lang="en-US"/>
              <a:t> </a:t>
            </a:r>
            <a:r>
              <a:rPr lang="en-US" err="1"/>
              <a:t>lô</a:t>
            </a:r>
            <a:r>
              <a:rPr lang="en-US"/>
              <a:t> </a:t>
            </a:r>
            <a:r>
              <a:rPr lang="en-US" err="1"/>
              <a:t>dữ</a:t>
            </a:r>
            <a:r>
              <a:rPr lang="en-US"/>
              <a:t> </a:t>
            </a:r>
            <a:r>
              <a:rPr lang="en-US" err="1"/>
              <a:t>liệu</a:t>
            </a:r>
            <a:r>
              <a:rPr lang="en-US"/>
              <a:t> </a:t>
            </a:r>
            <a:r>
              <a:rPr lang="en-US" err="1"/>
              <a:t>trong</a:t>
            </a:r>
            <a:r>
              <a:rPr lang="en-US"/>
              <a:t> </a:t>
            </a:r>
            <a:r>
              <a:rPr lang="en-US" err="1"/>
              <a:t>quá</a:t>
            </a:r>
            <a:r>
              <a:rPr lang="en-US"/>
              <a:t> </a:t>
            </a:r>
            <a:r>
              <a:rPr lang="en-US" err="1"/>
              <a:t>trình</a:t>
            </a:r>
            <a:r>
              <a:rPr lang="en-US"/>
              <a:t> </a:t>
            </a:r>
            <a:r>
              <a:rPr lang="en-US" err="1"/>
              <a:t>huấn</a:t>
            </a:r>
            <a:r>
              <a:rPr lang="en-US"/>
              <a:t> </a:t>
            </a:r>
            <a:r>
              <a:rPr lang="en-US" err="1"/>
              <a:t>luyện</a:t>
            </a:r>
            <a:r>
              <a:rPr lang="en-US"/>
              <a:t>.</a:t>
            </a:r>
          </a:p>
          <a:p>
            <a:pPr>
              <a:buNone/>
            </a:pPr>
            <a:r>
              <a:rPr lang="en-US"/>
              <a:t>•    epochs = 50: </a:t>
            </a:r>
            <a:r>
              <a:rPr lang="en-US" err="1"/>
              <a:t>số</a:t>
            </a:r>
            <a:r>
              <a:rPr lang="en-US"/>
              <a:t> </a:t>
            </a:r>
            <a:r>
              <a:rPr lang="en-US" err="1"/>
              <a:t>vòng</a:t>
            </a:r>
            <a:r>
              <a:rPr lang="en-US"/>
              <a:t> </a:t>
            </a:r>
            <a:r>
              <a:rPr lang="en-US" err="1"/>
              <a:t>lặp</a:t>
            </a:r>
            <a:r>
              <a:rPr lang="en-US"/>
              <a:t> </a:t>
            </a:r>
            <a:r>
              <a:rPr lang="en-US" err="1"/>
              <a:t>huấn</a:t>
            </a:r>
            <a:r>
              <a:rPr lang="en-US"/>
              <a:t> </a:t>
            </a:r>
            <a:r>
              <a:rPr lang="en-US" err="1"/>
              <a:t>luyện</a:t>
            </a:r>
            <a:r>
              <a:rPr lang="en-US"/>
              <a:t> </a:t>
            </a:r>
            <a:r>
              <a:rPr lang="en-US" err="1"/>
              <a:t>toàn</a:t>
            </a:r>
            <a:r>
              <a:rPr lang="en-US"/>
              <a:t> </a:t>
            </a:r>
            <a:r>
              <a:rPr lang="en-US" err="1"/>
              <a:t>bộ</a:t>
            </a:r>
            <a:r>
              <a:rPr lang="en-US"/>
              <a:t> </a:t>
            </a:r>
            <a:r>
              <a:rPr lang="en-US" err="1"/>
              <a:t>tập</a:t>
            </a:r>
            <a:r>
              <a:rPr lang="en-US"/>
              <a:t> </a:t>
            </a:r>
            <a:r>
              <a:rPr lang="en-US" err="1"/>
              <a:t>dữ</a:t>
            </a:r>
            <a:r>
              <a:rPr lang="en-US"/>
              <a:t> </a:t>
            </a:r>
            <a:r>
              <a:rPr lang="en-US" err="1"/>
              <a:t>liệu</a:t>
            </a:r>
            <a:r>
              <a:rPr lang="en-US"/>
              <a:t>.</a:t>
            </a:r>
          </a:p>
          <a:p>
            <a:pPr>
              <a:buNone/>
            </a:pPr>
            <a:r>
              <a:rPr lang="en-US"/>
              <a:t>•    regularization = 0.1: </a:t>
            </a:r>
            <a:r>
              <a:rPr lang="en-US" err="1"/>
              <a:t>hệ</a:t>
            </a:r>
            <a:r>
              <a:rPr lang="en-US"/>
              <a:t> </a:t>
            </a:r>
            <a:r>
              <a:rPr lang="en-US" err="1"/>
              <a:t>số</a:t>
            </a:r>
            <a:r>
              <a:rPr lang="en-US"/>
              <a:t> </a:t>
            </a:r>
            <a:r>
              <a:rPr lang="en-US" err="1"/>
              <a:t>phạt</a:t>
            </a:r>
            <a:r>
              <a:rPr lang="en-US"/>
              <a:t> </a:t>
            </a:r>
            <a:r>
              <a:rPr lang="en-US" err="1"/>
              <a:t>nhằm</a:t>
            </a:r>
            <a:r>
              <a:rPr lang="en-US"/>
              <a:t> </a:t>
            </a:r>
            <a:r>
              <a:rPr lang="en-US" err="1"/>
              <a:t>hạn</a:t>
            </a:r>
            <a:r>
              <a:rPr lang="en-US"/>
              <a:t> </a:t>
            </a:r>
            <a:r>
              <a:rPr lang="en-US" err="1"/>
              <a:t>chế</a:t>
            </a:r>
            <a:r>
              <a:rPr lang="en-US"/>
              <a:t> overfitting.</a:t>
            </a:r>
          </a:p>
          <a:p>
            <a:pPr>
              <a:buNone/>
            </a:pPr>
            <a:r>
              <a:rPr lang="en-US" err="1"/>
              <a:t>Mục</a:t>
            </a:r>
            <a:r>
              <a:rPr lang="en-US"/>
              <a:t> </a:t>
            </a:r>
            <a:r>
              <a:rPr lang="en-US" err="1"/>
              <a:t>tiêu</a:t>
            </a:r>
            <a:r>
              <a:rPr lang="en-US"/>
              <a:t> </a:t>
            </a:r>
            <a:r>
              <a:rPr lang="en-US" err="1"/>
              <a:t>của</a:t>
            </a:r>
            <a:r>
              <a:rPr lang="en-US"/>
              <a:t> </a:t>
            </a:r>
            <a:r>
              <a:rPr lang="en-US" err="1"/>
              <a:t>cấu</a:t>
            </a:r>
            <a:r>
              <a:rPr lang="en-US"/>
              <a:t> </a:t>
            </a:r>
            <a:r>
              <a:rPr lang="en-US" err="1"/>
              <a:t>hình</a:t>
            </a:r>
            <a:r>
              <a:rPr lang="en-US"/>
              <a:t> </a:t>
            </a:r>
            <a:r>
              <a:rPr lang="en-US" err="1"/>
              <a:t>này</a:t>
            </a:r>
            <a:r>
              <a:rPr lang="en-US"/>
              <a:t> </a:t>
            </a:r>
            <a:r>
              <a:rPr lang="en-US" err="1"/>
              <a:t>là</a:t>
            </a:r>
            <a:r>
              <a:rPr lang="en-US"/>
              <a:t> </a:t>
            </a:r>
            <a:r>
              <a:rPr lang="en-US" err="1"/>
              <a:t>cân</a:t>
            </a:r>
            <a:r>
              <a:rPr lang="en-US"/>
              <a:t> </a:t>
            </a:r>
            <a:r>
              <a:rPr lang="en-US" err="1"/>
              <a:t>bằng</a:t>
            </a:r>
            <a:r>
              <a:rPr lang="en-US"/>
              <a:t> </a:t>
            </a:r>
            <a:r>
              <a:rPr lang="en-US" err="1"/>
              <a:t>giữa</a:t>
            </a:r>
            <a:r>
              <a:rPr lang="en-US"/>
              <a:t> </a:t>
            </a:r>
            <a:r>
              <a:rPr lang="en-US" err="1"/>
              <a:t>chất</a:t>
            </a:r>
            <a:r>
              <a:rPr lang="en-US"/>
              <a:t> </a:t>
            </a:r>
            <a:r>
              <a:rPr lang="en-US" err="1"/>
              <a:t>lượng</a:t>
            </a:r>
            <a:r>
              <a:rPr lang="en-US"/>
              <a:t> </a:t>
            </a:r>
            <a:r>
              <a:rPr lang="en-US" err="1"/>
              <a:t>dự</a:t>
            </a:r>
            <a:r>
              <a:rPr lang="en-US"/>
              <a:t> </a:t>
            </a:r>
            <a:r>
              <a:rPr lang="en-US" err="1"/>
              <a:t>đoán</a:t>
            </a:r>
            <a:r>
              <a:rPr lang="en-US"/>
              <a:t> </a:t>
            </a:r>
            <a:r>
              <a:rPr lang="en-US" err="1"/>
              <a:t>và</a:t>
            </a:r>
            <a:r>
              <a:rPr lang="en-US"/>
              <a:t> </a:t>
            </a:r>
            <a:r>
              <a:rPr lang="en-US" err="1"/>
              <a:t>thời</a:t>
            </a:r>
            <a:r>
              <a:rPr lang="en-US"/>
              <a:t> </a:t>
            </a:r>
            <a:r>
              <a:rPr lang="en-US" err="1"/>
              <a:t>gian</a:t>
            </a:r>
            <a:r>
              <a:rPr lang="en-US"/>
              <a:t> </a:t>
            </a:r>
            <a:r>
              <a:rPr lang="en-US" err="1"/>
              <a:t>huấn</a:t>
            </a:r>
            <a:r>
              <a:rPr lang="en-US"/>
              <a:t> </a:t>
            </a:r>
            <a:r>
              <a:rPr lang="en-US" err="1"/>
              <a:t>luyện</a:t>
            </a:r>
            <a:r>
              <a:rPr lang="en-US"/>
              <a:t>.</a:t>
            </a:r>
          </a:p>
          <a:p>
            <a:pPr>
              <a:buNone/>
            </a:pPr>
            <a:r>
              <a:rPr lang="en-US" b="1"/>
              <a:t>2. Collaborative Filtering</a:t>
            </a:r>
          </a:p>
          <a:p>
            <a:pPr>
              <a:buNone/>
            </a:pPr>
            <a:r>
              <a:rPr lang="en-US" err="1"/>
              <a:t>Với</a:t>
            </a:r>
            <a:r>
              <a:rPr lang="en-US"/>
              <a:t> </a:t>
            </a:r>
            <a:r>
              <a:rPr lang="en-US" err="1"/>
              <a:t>phương</a:t>
            </a:r>
            <a:r>
              <a:rPr lang="en-US"/>
              <a:t> </a:t>
            </a:r>
            <a:r>
              <a:rPr lang="en-US" err="1"/>
              <a:t>pháp</a:t>
            </a:r>
            <a:r>
              <a:rPr lang="en-US"/>
              <a:t> </a:t>
            </a:r>
            <a:r>
              <a:rPr lang="en-US" err="1"/>
              <a:t>lọc</a:t>
            </a:r>
            <a:r>
              <a:rPr lang="en-US"/>
              <a:t> </a:t>
            </a:r>
            <a:r>
              <a:rPr lang="en-US" err="1"/>
              <a:t>cộng</a:t>
            </a:r>
            <a:r>
              <a:rPr lang="en-US"/>
              <a:t> </a:t>
            </a:r>
            <a:r>
              <a:rPr lang="en-US" err="1"/>
              <a:t>tác</a:t>
            </a:r>
            <a:r>
              <a:rPr lang="en-US"/>
              <a:t>, </a:t>
            </a:r>
            <a:r>
              <a:rPr lang="en-US" err="1"/>
              <a:t>mô</a:t>
            </a:r>
            <a:r>
              <a:rPr lang="en-US"/>
              <a:t> </a:t>
            </a:r>
            <a:r>
              <a:rPr lang="en-US" err="1"/>
              <a:t>hình</a:t>
            </a:r>
            <a:r>
              <a:rPr lang="en-US"/>
              <a:t> </a:t>
            </a:r>
            <a:r>
              <a:rPr lang="en-US" err="1"/>
              <a:t>dựa</a:t>
            </a:r>
            <a:r>
              <a:rPr lang="en-US"/>
              <a:t> </a:t>
            </a:r>
            <a:r>
              <a:rPr lang="en-US" err="1"/>
              <a:t>trên</a:t>
            </a:r>
            <a:r>
              <a:rPr lang="en-US"/>
              <a:t> </a:t>
            </a:r>
            <a:r>
              <a:rPr lang="en-US" err="1"/>
              <a:t>việc</a:t>
            </a:r>
            <a:r>
              <a:rPr lang="en-US"/>
              <a:t> </a:t>
            </a:r>
            <a:r>
              <a:rPr lang="en-US" err="1"/>
              <a:t>tìm</a:t>
            </a:r>
            <a:r>
              <a:rPr lang="en-US"/>
              <a:t> </a:t>
            </a:r>
            <a:r>
              <a:rPr lang="en-US" err="1"/>
              <a:t>các</a:t>
            </a:r>
            <a:r>
              <a:rPr lang="en-US"/>
              <a:t> </a:t>
            </a:r>
            <a:r>
              <a:rPr lang="en-US" err="1"/>
              <a:t>tập</a:t>
            </a:r>
            <a:r>
              <a:rPr lang="en-US"/>
              <a:t> </a:t>
            </a:r>
            <a:r>
              <a:rPr lang="en-US" err="1"/>
              <a:t>người</a:t>
            </a:r>
            <a:r>
              <a:rPr lang="en-US"/>
              <a:t> </a:t>
            </a:r>
            <a:r>
              <a:rPr lang="en-US" err="1"/>
              <a:t>dùng</a:t>
            </a:r>
            <a:r>
              <a:rPr lang="en-US"/>
              <a:t> </a:t>
            </a:r>
            <a:r>
              <a:rPr lang="en-US" err="1"/>
              <a:t>hoặc</a:t>
            </a:r>
            <a:r>
              <a:rPr lang="en-US"/>
              <a:t> </a:t>
            </a:r>
            <a:r>
              <a:rPr lang="en-US" err="1"/>
              <a:t>sản</a:t>
            </a:r>
            <a:r>
              <a:rPr lang="en-US"/>
              <a:t> </a:t>
            </a:r>
            <a:r>
              <a:rPr lang="en-US" err="1"/>
              <a:t>phẩm</a:t>
            </a:r>
            <a:r>
              <a:rPr lang="en-US"/>
              <a:t> </a:t>
            </a:r>
            <a:r>
              <a:rPr lang="en-US" err="1"/>
              <a:t>có</a:t>
            </a:r>
            <a:r>
              <a:rPr lang="en-US"/>
              <a:t> </a:t>
            </a:r>
            <a:r>
              <a:rPr lang="en-US" err="1"/>
              <a:t>đặc</a:t>
            </a:r>
            <a:r>
              <a:rPr lang="en-US"/>
              <a:t> </a:t>
            </a:r>
            <a:r>
              <a:rPr lang="en-US" err="1"/>
              <a:t>điểm</a:t>
            </a:r>
            <a:r>
              <a:rPr lang="en-US"/>
              <a:t> </a:t>
            </a:r>
            <a:r>
              <a:rPr lang="en-US" err="1"/>
              <a:t>tương</a:t>
            </a:r>
            <a:r>
              <a:rPr lang="en-US"/>
              <a:t> </a:t>
            </a:r>
            <a:r>
              <a:rPr lang="en-US" err="1"/>
              <a:t>đồng</a:t>
            </a:r>
            <a:r>
              <a:rPr lang="en-US"/>
              <a:t>.</a:t>
            </a:r>
          </a:p>
          <a:p>
            <a:pPr>
              <a:buNone/>
            </a:pPr>
            <a:r>
              <a:rPr lang="en-US" err="1"/>
              <a:t>Cấu</a:t>
            </a:r>
            <a:r>
              <a:rPr lang="en-US"/>
              <a:t> </a:t>
            </a:r>
            <a:r>
              <a:rPr lang="en-US" err="1"/>
              <a:t>hình</a:t>
            </a:r>
            <a:r>
              <a:rPr lang="en-US"/>
              <a:t> </a:t>
            </a:r>
            <a:r>
              <a:rPr lang="en-US" err="1"/>
              <a:t>chính</a:t>
            </a:r>
            <a:r>
              <a:rPr lang="en-US"/>
              <a:t> bao </a:t>
            </a:r>
            <a:r>
              <a:rPr lang="en-US" err="1"/>
              <a:t>gồm</a:t>
            </a:r>
            <a:r>
              <a:rPr lang="en-US"/>
              <a:t>:</a:t>
            </a:r>
          </a:p>
          <a:p>
            <a:pPr>
              <a:buNone/>
            </a:pPr>
            <a:r>
              <a:rPr lang="en-US"/>
              <a:t>•    </a:t>
            </a:r>
            <a:r>
              <a:rPr lang="en-US" err="1"/>
              <a:t>cf_type</a:t>
            </a:r>
            <a:r>
              <a:rPr lang="en-US"/>
              <a:t> = </a:t>
            </a:r>
            <a:r>
              <a:rPr lang="en-US" err="1"/>
              <a:t>user_based</a:t>
            </a:r>
            <a:r>
              <a:rPr lang="en-US"/>
              <a:t>: </a:t>
            </a:r>
            <a:r>
              <a:rPr lang="en-US" err="1"/>
              <a:t>mô</a:t>
            </a:r>
            <a:r>
              <a:rPr lang="en-US"/>
              <a:t> </a:t>
            </a:r>
            <a:r>
              <a:rPr lang="en-US" err="1"/>
              <a:t>hình</a:t>
            </a:r>
            <a:r>
              <a:rPr lang="en-US"/>
              <a:t> </a:t>
            </a:r>
            <a:r>
              <a:rPr lang="en-US" err="1"/>
              <a:t>dựa</a:t>
            </a:r>
            <a:r>
              <a:rPr lang="en-US"/>
              <a:t> </a:t>
            </a:r>
            <a:r>
              <a:rPr lang="en-US" err="1"/>
              <a:t>trên</a:t>
            </a:r>
            <a:r>
              <a:rPr lang="en-US"/>
              <a:t> </a:t>
            </a:r>
            <a:r>
              <a:rPr lang="en-US" err="1"/>
              <a:t>tương</a:t>
            </a:r>
            <a:r>
              <a:rPr lang="en-US"/>
              <a:t> </a:t>
            </a:r>
            <a:r>
              <a:rPr lang="en-US" err="1"/>
              <a:t>đồng</a:t>
            </a:r>
            <a:r>
              <a:rPr lang="en-US"/>
              <a:t> </a:t>
            </a:r>
            <a:r>
              <a:rPr lang="en-US" err="1"/>
              <a:t>người</a:t>
            </a:r>
            <a:r>
              <a:rPr lang="en-US"/>
              <a:t> </a:t>
            </a:r>
            <a:r>
              <a:rPr lang="en-US" err="1"/>
              <a:t>dùng</a:t>
            </a:r>
            <a:r>
              <a:rPr lang="en-US"/>
              <a:t>.</a:t>
            </a:r>
          </a:p>
          <a:p>
            <a:pPr>
              <a:buNone/>
            </a:pPr>
            <a:r>
              <a:rPr lang="en-US"/>
              <a:t>•    </a:t>
            </a:r>
            <a:r>
              <a:rPr lang="en-US" err="1"/>
              <a:t>similarity_method</a:t>
            </a:r>
            <a:r>
              <a:rPr lang="en-US"/>
              <a:t> = </a:t>
            </a:r>
            <a:r>
              <a:rPr lang="en-US" err="1"/>
              <a:t>pearson</a:t>
            </a:r>
            <a:r>
              <a:rPr lang="en-US"/>
              <a:t>: </a:t>
            </a:r>
            <a:r>
              <a:rPr lang="en-US" err="1"/>
              <a:t>sử</a:t>
            </a:r>
            <a:r>
              <a:rPr lang="en-US"/>
              <a:t> </a:t>
            </a:r>
            <a:r>
              <a:rPr lang="en-US" err="1"/>
              <a:t>dụng</a:t>
            </a:r>
            <a:r>
              <a:rPr lang="en-US"/>
              <a:t> </a:t>
            </a:r>
            <a:r>
              <a:rPr lang="en-US" err="1"/>
              <a:t>hệ</a:t>
            </a:r>
            <a:r>
              <a:rPr lang="en-US"/>
              <a:t> </a:t>
            </a:r>
            <a:r>
              <a:rPr lang="en-US" err="1"/>
              <a:t>số</a:t>
            </a:r>
            <a:r>
              <a:rPr lang="en-US"/>
              <a:t> </a:t>
            </a:r>
            <a:r>
              <a:rPr lang="en-US" err="1"/>
              <a:t>tương</a:t>
            </a:r>
            <a:r>
              <a:rPr lang="en-US"/>
              <a:t> </a:t>
            </a:r>
            <a:r>
              <a:rPr lang="en-US" err="1"/>
              <a:t>quan</a:t>
            </a:r>
            <a:r>
              <a:rPr lang="en-US"/>
              <a:t> Pearson </a:t>
            </a:r>
            <a:r>
              <a:rPr lang="en-US" err="1"/>
              <a:t>để</a:t>
            </a:r>
            <a:r>
              <a:rPr lang="en-US"/>
              <a:t> </a:t>
            </a:r>
            <a:r>
              <a:rPr lang="en-US" err="1"/>
              <a:t>tính</a:t>
            </a:r>
            <a:r>
              <a:rPr lang="en-US"/>
              <a:t> </a:t>
            </a:r>
            <a:r>
              <a:rPr lang="en-US" err="1"/>
              <a:t>mức</a:t>
            </a:r>
            <a:r>
              <a:rPr lang="en-US"/>
              <a:t> </a:t>
            </a:r>
            <a:r>
              <a:rPr lang="en-US" err="1"/>
              <a:t>độ</a:t>
            </a:r>
            <a:r>
              <a:rPr lang="en-US"/>
              <a:t> </a:t>
            </a:r>
            <a:r>
              <a:rPr lang="en-US" err="1"/>
              <a:t>giống</a:t>
            </a:r>
            <a:r>
              <a:rPr lang="en-US"/>
              <a:t> </a:t>
            </a:r>
            <a:r>
              <a:rPr lang="en-US" err="1"/>
              <a:t>nhau</a:t>
            </a:r>
            <a:r>
              <a:rPr lang="en-US"/>
              <a:t>.</a:t>
            </a:r>
          </a:p>
          <a:p>
            <a:pPr>
              <a:buNone/>
            </a:pPr>
            <a:r>
              <a:rPr lang="en-US"/>
              <a:t>•    </a:t>
            </a:r>
            <a:r>
              <a:rPr lang="en-US" err="1"/>
              <a:t>k_neighbors</a:t>
            </a:r>
            <a:r>
              <a:rPr lang="en-US"/>
              <a:t> = 50: </a:t>
            </a:r>
            <a:r>
              <a:rPr lang="en-US" err="1"/>
              <a:t>số</a:t>
            </a:r>
            <a:r>
              <a:rPr lang="en-US"/>
              <a:t> </a:t>
            </a:r>
            <a:r>
              <a:rPr lang="en-US" err="1"/>
              <a:t>lượng</a:t>
            </a:r>
            <a:r>
              <a:rPr lang="en-US"/>
              <a:t> </a:t>
            </a:r>
            <a:r>
              <a:rPr lang="en-US" err="1"/>
              <a:t>hàng</a:t>
            </a:r>
            <a:r>
              <a:rPr lang="en-US"/>
              <a:t> </a:t>
            </a:r>
            <a:r>
              <a:rPr lang="en-US" err="1"/>
              <a:t>xóm</a:t>
            </a:r>
            <a:r>
              <a:rPr lang="en-US"/>
              <a:t> </a:t>
            </a:r>
            <a:r>
              <a:rPr lang="en-US" err="1"/>
              <a:t>gần</a:t>
            </a:r>
            <a:r>
              <a:rPr lang="en-US"/>
              <a:t> </a:t>
            </a:r>
            <a:r>
              <a:rPr lang="en-US" err="1"/>
              <a:t>nhất</a:t>
            </a:r>
            <a:r>
              <a:rPr lang="en-US"/>
              <a:t> </a:t>
            </a:r>
            <a:r>
              <a:rPr lang="en-US" err="1"/>
              <a:t>được</a:t>
            </a:r>
            <a:r>
              <a:rPr lang="en-US"/>
              <a:t> </a:t>
            </a:r>
            <a:r>
              <a:rPr lang="en-US" err="1"/>
              <a:t>xem</a:t>
            </a:r>
            <a:r>
              <a:rPr lang="en-US"/>
              <a:t> </a:t>
            </a:r>
            <a:r>
              <a:rPr lang="en-US" err="1"/>
              <a:t>xét</a:t>
            </a:r>
            <a:r>
              <a:rPr lang="en-US"/>
              <a:t> </a:t>
            </a:r>
            <a:r>
              <a:rPr lang="en-US" err="1"/>
              <a:t>trong</a:t>
            </a:r>
            <a:r>
              <a:rPr lang="en-US"/>
              <a:t> </a:t>
            </a:r>
            <a:r>
              <a:rPr lang="en-US" err="1"/>
              <a:t>quá</a:t>
            </a:r>
            <a:r>
              <a:rPr lang="en-US"/>
              <a:t> </a:t>
            </a:r>
            <a:r>
              <a:rPr lang="en-US" err="1"/>
              <a:t>trình</a:t>
            </a:r>
            <a:r>
              <a:rPr lang="en-US"/>
              <a:t> </a:t>
            </a:r>
            <a:r>
              <a:rPr lang="en-US" err="1"/>
              <a:t>dự</a:t>
            </a:r>
            <a:r>
              <a:rPr lang="en-US"/>
              <a:t> </a:t>
            </a:r>
            <a:r>
              <a:rPr lang="en-US" err="1"/>
              <a:t>đoán</a:t>
            </a:r>
            <a:r>
              <a:rPr lang="en-US"/>
              <a:t>.</a:t>
            </a:r>
          </a:p>
          <a:p>
            <a:pPr>
              <a:buNone/>
            </a:pPr>
            <a:r>
              <a:rPr lang="en-US"/>
              <a:t>•    </a:t>
            </a:r>
            <a:r>
              <a:rPr lang="en-US" err="1"/>
              <a:t>min_common_items</a:t>
            </a:r>
            <a:r>
              <a:rPr lang="en-US"/>
              <a:t> = 5: </a:t>
            </a:r>
            <a:r>
              <a:rPr lang="en-US" err="1"/>
              <a:t>yêu</a:t>
            </a:r>
            <a:r>
              <a:rPr lang="en-US"/>
              <a:t> </a:t>
            </a:r>
            <a:r>
              <a:rPr lang="en-US" err="1"/>
              <a:t>cầu</a:t>
            </a:r>
            <a:r>
              <a:rPr lang="en-US"/>
              <a:t> </a:t>
            </a:r>
            <a:r>
              <a:rPr lang="en-US" err="1"/>
              <a:t>tối</a:t>
            </a:r>
            <a:r>
              <a:rPr lang="en-US"/>
              <a:t> </a:t>
            </a:r>
            <a:r>
              <a:rPr lang="en-US" err="1"/>
              <a:t>thiểu</a:t>
            </a:r>
            <a:r>
              <a:rPr lang="en-US"/>
              <a:t> 5 items </a:t>
            </a:r>
            <a:r>
              <a:rPr lang="en-US" err="1"/>
              <a:t>chung</a:t>
            </a:r>
            <a:r>
              <a:rPr lang="en-US"/>
              <a:t> </a:t>
            </a:r>
            <a:r>
              <a:rPr lang="en-US" err="1"/>
              <a:t>để</a:t>
            </a:r>
            <a:r>
              <a:rPr lang="en-US"/>
              <a:t> </a:t>
            </a:r>
            <a:r>
              <a:rPr lang="en-US" err="1"/>
              <a:t>tính</a:t>
            </a:r>
            <a:r>
              <a:rPr lang="en-US"/>
              <a:t> similarity.</a:t>
            </a:r>
          </a:p>
          <a:p>
            <a:pPr>
              <a:buNone/>
            </a:pPr>
            <a:r>
              <a:rPr lang="en-US"/>
              <a:t>•    </a:t>
            </a:r>
            <a:r>
              <a:rPr lang="en-US" err="1"/>
              <a:t>min_common_users</a:t>
            </a:r>
            <a:r>
              <a:rPr lang="en-US"/>
              <a:t> = 2: </a:t>
            </a:r>
            <a:r>
              <a:rPr lang="en-US" err="1"/>
              <a:t>yêu</a:t>
            </a:r>
            <a:r>
              <a:rPr lang="en-US"/>
              <a:t> </a:t>
            </a:r>
            <a:r>
              <a:rPr lang="en-US" err="1"/>
              <a:t>cầu</a:t>
            </a:r>
            <a:r>
              <a:rPr lang="en-US"/>
              <a:t> </a:t>
            </a:r>
            <a:r>
              <a:rPr lang="en-US" err="1"/>
              <a:t>tối</a:t>
            </a:r>
            <a:r>
              <a:rPr lang="en-US"/>
              <a:t> </a:t>
            </a:r>
            <a:r>
              <a:rPr lang="en-US" err="1"/>
              <a:t>thiểu</a:t>
            </a:r>
            <a:r>
              <a:rPr lang="en-US"/>
              <a:t> 2 </a:t>
            </a:r>
            <a:r>
              <a:rPr lang="en-US" err="1"/>
              <a:t>người</a:t>
            </a:r>
            <a:r>
              <a:rPr lang="en-US"/>
              <a:t> </a:t>
            </a:r>
            <a:r>
              <a:rPr lang="en-US" err="1"/>
              <a:t>dùng</a:t>
            </a:r>
            <a:r>
              <a:rPr lang="en-US"/>
              <a:t> </a:t>
            </a:r>
            <a:r>
              <a:rPr lang="en-US" err="1"/>
              <a:t>chung</a:t>
            </a:r>
            <a:r>
              <a:rPr lang="en-US"/>
              <a:t> </a:t>
            </a:r>
            <a:r>
              <a:rPr lang="en-US" err="1"/>
              <a:t>đối</a:t>
            </a:r>
            <a:r>
              <a:rPr lang="en-US"/>
              <a:t> </a:t>
            </a:r>
            <a:r>
              <a:rPr lang="en-US" err="1"/>
              <a:t>với</a:t>
            </a:r>
            <a:r>
              <a:rPr lang="en-US"/>
              <a:t> item-based.</a:t>
            </a:r>
          </a:p>
          <a:p>
            <a:pPr>
              <a:buNone/>
            </a:pPr>
            <a:r>
              <a:rPr lang="en-US"/>
              <a:t>Các </a:t>
            </a:r>
            <a:r>
              <a:rPr lang="en-US" err="1"/>
              <a:t>tham</a:t>
            </a:r>
            <a:r>
              <a:rPr lang="en-US"/>
              <a:t> </a:t>
            </a:r>
            <a:r>
              <a:rPr lang="en-US" err="1"/>
              <a:t>số</a:t>
            </a:r>
            <a:r>
              <a:rPr lang="en-US"/>
              <a:t> </a:t>
            </a:r>
            <a:r>
              <a:rPr lang="en-US" err="1"/>
              <a:t>này</a:t>
            </a:r>
            <a:r>
              <a:rPr lang="en-US"/>
              <a:t> </a:t>
            </a:r>
            <a:r>
              <a:rPr lang="en-US" err="1"/>
              <a:t>giúp</a:t>
            </a:r>
            <a:r>
              <a:rPr lang="en-US"/>
              <a:t> </a:t>
            </a:r>
            <a:r>
              <a:rPr lang="en-US" err="1"/>
              <a:t>mô</a:t>
            </a:r>
            <a:r>
              <a:rPr lang="en-US"/>
              <a:t> </a:t>
            </a:r>
            <a:r>
              <a:rPr lang="en-US" err="1"/>
              <a:t>hình</a:t>
            </a:r>
            <a:r>
              <a:rPr lang="en-US"/>
              <a:t> </a:t>
            </a:r>
            <a:r>
              <a:rPr lang="en-US" err="1"/>
              <a:t>ổn</a:t>
            </a:r>
            <a:r>
              <a:rPr lang="en-US"/>
              <a:t> </a:t>
            </a:r>
            <a:r>
              <a:rPr lang="en-US" err="1"/>
              <a:t>định</a:t>
            </a:r>
            <a:r>
              <a:rPr lang="en-US"/>
              <a:t> </a:t>
            </a:r>
            <a:r>
              <a:rPr lang="en-US" err="1"/>
              <a:t>hơn</a:t>
            </a:r>
            <a:r>
              <a:rPr lang="en-US"/>
              <a:t> </a:t>
            </a:r>
            <a:r>
              <a:rPr lang="en-US" err="1"/>
              <a:t>và</a:t>
            </a:r>
            <a:r>
              <a:rPr lang="en-US"/>
              <a:t> </a:t>
            </a:r>
            <a:r>
              <a:rPr lang="en-US" err="1"/>
              <a:t>tránh</a:t>
            </a:r>
            <a:r>
              <a:rPr lang="en-US"/>
              <a:t> </a:t>
            </a:r>
            <a:r>
              <a:rPr lang="en-US" err="1"/>
              <a:t>trường</a:t>
            </a:r>
            <a:r>
              <a:rPr lang="en-US"/>
              <a:t> </a:t>
            </a:r>
            <a:r>
              <a:rPr lang="en-US" err="1"/>
              <a:t>hợp</a:t>
            </a:r>
            <a:r>
              <a:rPr lang="en-US"/>
              <a:t> </a:t>
            </a:r>
            <a:r>
              <a:rPr lang="en-US" err="1"/>
              <a:t>dữ</a:t>
            </a:r>
            <a:r>
              <a:rPr lang="en-US"/>
              <a:t> </a:t>
            </a:r>
            <a:r>
              <a:rPr lang="en-US" err="1"/>
              <a:t>liệu</a:t>
            </a:r>
            <a:r>
              <a:rPr lang="en-US"/>
              <a:t> </a:t>
            </a:r>
            <a:r>
              <a:rPr lang="en-US" err="1"/>
              <a:t>quá</a:t>
            </a:r>
            <a:r>
              <a:rPr lang="en-US"/>
              <a:t> </a:t>
            </a:r>
            <a:r>
              <a:rPr lang="en-US" err="1"/>
              <a:t>thưa</a:t>
            </a:r>
            <a:r>
              <a:rPr lang="en-US"/>
              <a:t> </a:t>
            </a:r>
            <a:r>
              <a:rPr lang="en-US" err="1"/>
              <a:t>gây</a:t>
            </a:r>
            <a:r>
              <a:rPr lang="en-US"/>
              <a:t> </a:t>
            </a:r>
            <a:r>
              <a:rPr lang="en-US" err="1"/>
              <a:t>nhiễu</a:t>
            </a:r>
            <a:r>
              <a:rPr lang="en-US"/>
              <a:t>.</a:t>
            </a:r>
          </a:p>
          <a:p>
            <a:pPr>
              <a:buNone/>
            </a:pPr>
            <a:r>
              <a:rPr lang="en-US" b="1"/>
              <a:t>3. </a:t>
            </a:r>
            <a:r>
              <a:rPr lang="en-US" b="1" err="1"/>
              <a:t>SASRec</a:t>
            </a:r>
            <a:r>
              <a:rPr lang="en-US" b="1"/>
              <a:t> (Self-Attentive Sequential Recommendation)</a:t>
            </a:r>
          </a:p>
          <a:p>
            <a:pPr>
              <a:buNone/>
            </a:pPr>
            <a:r>
              <a:rPr lang="en-US" err="1"/>
              <a:t>SASRec</a:t>
            </a:r>
            <a:r>
              <a:rPr lang="en-US"/>
              <a:t> </a:t>
            </a:r>
            <a:r>
              <a:rPr lang="en-US" err="1"/>
              <a:t>là</a:t>
            </a:r>
            <a:r>
              <a:rPr lang="en-US"/>
              <a:t> </a:t>
            </a:r>
            <a:r>
              <a:rPr lang="en-US" err="1"/>
              <a:t>mô</a:t>
            </a:r>
            <a:r>
              <a:rPr lang="en-US"/>
              <a:t> </a:t>
            </a:r>
            <a:r>
              <a:rPr lang="en-US" err="1"/>
              <a:t>hình</a:t>
            </a:r>
            <a:r>
              <a:rPr lang="en-US"/>
              <a:t> </a:t>
            </a:r>
            <a:r>
              <a:rPr lang="en-US" err="1"/>
              <a:t>gợi</a:t>
            </a:r>
            <a:r>
              <a:rPr lang="en-US"/>
              <a:t> ý </a:t>
            </a:r>
            <a:r>
              <a:rPr lang="en-US" err="1"/>
              <a:t>theo</a:t>
            </a:r>
            <a:r>
              <a:rPr lang="en-US"/>
              <a:t> </a:t>
            </a:r>
            <a:r>
              <a:rPr lang="en-US" err="1"/>
              <a:t>chuỗi</a:t>
            </a:r>
            <a:r>
              <a:rPr lang="en-US"/>
              <a:t>, </a:t>
            </a:r>
            <a:r>
              <a:rPr lang="en-US" err="1"/>
              <a:t>sử</a:t>
            </a:r>
            <a:r>
              <a:rPr lang="en-US"/>
              <a:t> </a:t>
            </a:r>
            <a:r>
              <a:rPr lang="en-US" err="1"/>
              <a:t>dụng</a:t>
            </a:r>
            <a:r>
              <a:rPr lang="en-US"/>
              <a:t> </a:t>
            </a:r>
            <a:r>
              <a:rPr lang="en-US" err="1"/>
              <a:t>cơ</a:t>
            </a:r>
            <a:r>
              <a:rPr lang="en-US"/>
              <a:t> </a:t>
            </a:r>
            <a:r>
              <a:rPr lang="en-US" err="1"/>
              <a:t>chế</a:t>
            </a:r>
            <a:r>
              <a:rPr lang="en-US"/>
              <a:t> self-attention </a:t>
            </a:r>
            <a:r>
              <a:rPr lang="en-US" err="1"/>
              <a:t>để</a:t>
            </a:r>
            <a:r>
              <a:rPr lang="en-US"/>
              <a:t> </a:t>
            </a:r>
            <a:r>
              <a:rPr lang="en-US" err="1"/>
              <a:t>học</a:t>
            </a:r>
            <a:r>
              <a:rPr lang="en-US"/>
              <a:t> </a:t>
            </a:r>
            <a:r>
              <a:rPr lang="en-US" err="1"/>
              <a:t>thói</a:t>
            </a:r>
            <a:r>
              <a:rPr lang="en-US"/>
              <a:t> </a:t>
            </a:r>
            <a:r>
              <a:rPr lang="en-US" err="1"/>
              <a:t>quen</a:t>
            </a:r>
            <a:r>
              <a:rPr lang="en-US"/>
              <a:t> </a:t>
            </a:r>
            <a:r>
              <a:rPr lang="en-US" err="1"/>
              <a:t>tương</a:t>
            </a:r>
            <a:r>
              <a:rPr lang="en-US"/>
              <a:t> </a:t>
            </a:r>
            <a:r>
              <a:rPr lang="en-US" err="1"/>
              <a:t>tác</a:t>
            </a:r>
            <a:r>
              <a:rPr lang="en-US"/>
              <a:t> </a:t>
            </a:r>
            <a:r>
              <a:rPr lang="en-US" err="1"/>
              <a:t>của</a:t>
            </a:r>
            <a:r>
              <a:rPr lang="en-US"/>
              <a:t> </a:t>
            </a:r>
            <a:r>
              <a:rPr lang="en-US" err="1"/>
              <a:t>người</a:t>
            </a:r>
            <a:r>
              <a:rPr lang="en-US"/>
              <a:t> </a:t>
            </a:r>
            <a:r>
              <a:rPr lang="en-US" err="1"/>
              <a:t>dùng</a:t>
            </a:r>
            <a:r>
              <a:rPr lang="en-US"/>
              <a:t> </a:t>
            </a:r>
            <a:r>
              <a:rPr lang="en-US" err="1"/>
              <a:t>theo</a:t>
            </a:r>
            <a:r>
              <a:rPr lang="en-US"/>
              <a:t> </a:t>
            </a:r>
            <a:r>
              <a:rPr lang="en-US" err="1"/>
              <a:t>thời</a:t>
            </a:r>
            <a:r>
              <a:rPr lang="en-US"/>
              <a:t> </a:t>
            </a:r>
            <a:r>
              <a:rPr lang="en-US" err="1"/>
              <a:t>gian</a:t>
            </a:r>
            <a:r>
              <a:rPr lang="en-US"/>
              <a:t>.</a:t>
            </a:r>
          </a:p>
          <a:p>
            <a:pPr>
              <a:buNone/>
            </a:pPr>
            <a:r>
              <a:rPr lang="en-US"/>
              <a:t>Các </a:t>
            </a:r>
            <a:r>
              <a:rPr lang="en-US" err="1"/>
              <a:t>tham</a:t>
            </a:r>
            <a:r>
              <a:rPr lang="en-US"/>
              <a:t> </a:t>
            </a:r>
            <a:r>
              <a:rPr lang="en-US" err="1"/>
              <a:t>số</a:t>
            </a:r>
            <a:r>
              <a:rPr lang="en-US"/>
              <a:t>:</a:t>
            </a:r>
          </a:p>
          <a:p>
            <a:pPr>
              <a:buNone/>
            </a:pPr>
            <a:r>
              <a:rPr lang="en-US"/>
              <a:t>•    </a:t>
            </a:r>
            <a:r>
              <a:rPr lang="en-US" err="1"/>
              <a:t>cf_type</a:t>
            </a:r>
            <a:r>
              <a:rPr lang="en-US"/>
              <a:t> = </a:t>
            </a:r>
            <a:r>
              <a:rPr lang="en-US" err="1"/>
              <a:t>user_based</a:t>
            </a:r>
          </a:p>
          <a:p>
            <a:pPr>
              <a:buNone/>
            </a:pPr>
            <a:r>
              <a:rPr lang="en-US"/>
              <a:t>•    </a:t>
            </a:r>
            <a:r>
              <a:rPr lang="en-US" err="1"/>
              <a:t>similarity_method</a:t>
            </a:r>
            <a:r>
              <a:rPr lang="en-US"/>
              <a:t> = </a:t>
            </a:r>
            <a:r>
              <a:rPr lang="en-US" err="1"/>
              <a:t>pearson</a:t>
            </a:r>
          </a:p>
          <a:p>
            <a:pPr>
              <a:buNone/>
            </a:pPr>
            <a:r>
              <a:rPr lang="en-US"/>
              <a:t>•    </a:t>
            </a:r>
            <a:r>
              <a:rPr lang="en-US" err="1"/>
              <a:t>k_neighbors</a:t>
            </a:r>
            <a:r>
              <a:rPr lang="en-US"/>
              <a:t> = 50</a:t>
            </a:r>
          </a:p>
          <a:p>
            <a:pPr>
              <a:buNone/>
            </a:pPr>
            <a:r>
              <a:rPr lang="en-US"/>
              <a:t>•    </a:t>
            </a:r>
            <a:r>
              <a:rPr lang="en-US" err="1"/>
              <a:t>min_common_items</a:t>
            </a:r>
            <a:r>
              <a:rPr lang="en-US"/>
              <a:t> = 5</a:t>
            </a:r>
          </a:p>
          <a:p>
            <a:pPr>
              <a:buNone/>
            </a:pPr>
            <a:r>
              <a:rPr lang="en-US"/>
              <a:t>•    </a:t>
            </a:r>
            <a:r>
              <a:rPr lang="en-US" err="1"/>
              <a:t>min_common_users</a:t>
            </a:r>
            <a:r>
              <a:rPr lang="en-US"/>
              <a:t> = 2</a:t>
            </a:r>
          </a:p>
          <a:p>
            <a:pPr>
              <a:buNone/>
            </a:pPr>
            <a:r>
              <a:rPr lang="en-US" err="1"/>
              <a:t>Mặc</a:t>
            </a:r>
            <a:r>
              <a:rPr lang="en-US"/>
              <a:t> </a:t>
            </a:r>
            <a:r>
              <a:rPr lang="en-US" err="1"/>
              <a:t>dù</a:t>
            </a:r>
            <a:r>
              <a:rPr lang="en-US"/>
              <a:t> </a:t>
            </a:r>
            <a:r>
              <a:rPr lang="en-US" err="1"/>
              <a:t>được</a:t>
            </a:r>
            <a:r>
              <a:rPr lang="en-US"/>
              <a:t> </a:t>
            </a:r>
            <a:r>
              <a:rPr lang="en-US" err="1"/>
              <a:t>thiết</a:t>
            </a:r>
            <a:r>
              <a:rPr lang="en-US"/>
              <a:t> </a:t>
            </a:r>
            <a:r>
              <a:rPr lang="en-US" err="1"/>
              <a:t>kế</a:t>
            </a:r>
            <a:r>
              <a:rPr lang="en-US"/>
              <a:t> </a:t>
            </a:r>
            <a:r>
              <a:rPr lang="en-US" err="1"/>
              <a:t>theo</a:t>
            </a:r>
            <a:r>
              <a:rPr lang="en-US"/>
              <a:t> </a:t>
            </a:r>
            <a:r>
              <a:rPr lang="en-US" err="1"/>
              <a:t>hướng</a:t>
            </a:r>
            <a:r>
              <a:rPr lang="en-US"/>
              <a:t> </a:t>
            </a:r>
            <a:r>
              <a:rPr lang="en-US" err="1"/>
              <a:t>gợi</a:t>
            </a:r>
            <a:r>
              <a:rPr lang="en-US"/>
              <a:t> ý </a:t>
            </a:r>
            <a:r>
              <a:rPr lang="en-US" err="1"/>
              <a:t>tuần</a:t>
            </a:r>
            <a:r>
              <a:rPr lang="en-US"/>
              <a:t> </a:t>
            </a:r>
            <a:r>
              <a:rPr lang="en-US" err="1"/>
              <a:t>tự</a:t>
            </a:r>
            <a:r>
              <a:rPr lang="en-US"/>
              <a:t>, </a:t>
            </a:r>
            <a:r>
              <a:rPr lang="en-US" err="1"/>
              <a:t>trong</a:t>
            </a:r>
            <a:r>
              <a:rPr lang="en-US"/>
              <a:t> </a:t>
            </a:r>
            <a:r>
              <a:rPr lang="en-US" err="1"/>
              <a:t>đề</a:t>
            </a:r>
            <a:r>
              <a:rPr lang="en-US"/>
              <a:t> </a:t>
            </a:r>
            <a:r>
              <a:rPr lang="en-US" err="1"/>
              <a:t>tài</a:t>
            </a:r>
            <a:r>
              <a:rPr lang="en-US"/>
              <a:t> </a:t>
            </a:r>
            <a:r>
              <a:rPr lang="en-US" err="1"/>
              <a:t>này</a:t>
            </a:r>
            <a:r>
              <a:rPr lang="en-US"/>
              <a:t> </a:t>
            </a:r>
            <a:r>
              <a:rPr lang="en-US" err="1"/>
              <a:t>mô</a:t>
            </a:r>
            <a:r>
              <a:rPr lang="en-US"/>
              <a:t> </a:t>
            </a:r>
            <a:r>
              <a:rPr lang="en-US" err="1"/>
              <a:t>hình</a:t>
            </a:r>
            <a:r>
              <a:rPr lang="en-US"/>
              <a:t> </a:t>
            </a:r>
            <a:r>
              <a:rPr lang="en-US" err="1"/>
              <a:t>được</a:t>
            </a:r>
            <a:r>
              <a:rPr lang="en-US"/>
              <a:t> </a:t>
            </a:r>
            <a:r>
              <a:rPr lang="en-US" err="1"/>
              <a:t>cấu</a:t>
            </a:r>
            <a:r>
              <a:rPr lang="en-US"/>
              <a:t> </a:t>
            </a:r>
            <a:r>
              <a:rPr lang="en-US" err="1"/>
              <a:t>hình</a:t>
            </a:r>
            <a:r>
              <a:rPr lang="en-US"/>
              <a:t> </a:t>
            </a:r>
            <a:r>
              <a:rPr lang="en-US" err="1"/>
              <a:t>lại</a:t>
            </a:r>
            <a:r>
              <a:rPr lang="en-US"/>
              <a:t> </a:t>
            </a:r>
            <a:r>
              <a:rPr lang="en-US" err="1"/>
              <a:t>để</a:t>
            </a:r>
            <a:r>
              <a:rPr lang="en-US"/>
              <a:t> </a:t>
            </a:r>
            <a:r>
              <a:rPr lang="en-US" err="1"/>
              <a:t>phù</a:t>
            </a:r>
            <a:r>
              <a:rPr lang="en-US"/>
              <a:t> </a:t>
            </a:r>
            <a:r>
              <a:rPr lang="en-US" err="1"/>
              <a:t>hợp</a:t>
            </a:r>
            <a:r>
              <a:rPr lang="en-US"/>
              <a:t> </a:t>
            </a:r>
            <a:r>
              <a:rPr lang="en-US" err="1"/>
              <a:t>với</a:t>
            </a:r>
            <a:r>
              <a:rPr lang="en-US"/>
              <a:t> </a:t>
            </a:r>
            <a:r>
              <a:rPr lang="en-US" err="1"/>
              <a:t>cấu</a:t>
            </a:r>
            <a:r>
              <a:rPr lang="en-US"/>
              <a:t> </a:t>
            </a:r>
            <a:r>
              <a:rPr lang="en-US" err="1"/>
              <a:t>trúc</a:t>
            </a:r>
            <a:r>
              <a:rPr lang="en-US"/>
              <a:t> </a:t>
            </a:r>
            <a:r>
              <a:rPr lang="en-US" err="1"/>
              <a:t>dữ</a:t>
            </a:r>
            <a:r>
              <a:rPr lang="en-US"/>
              <a:t> </a:t>
            </a:r>
            <a:r>
              <a:rPr lang="en-US" err="1"/>
              <a:t>liệu</a:t>
            </a:r>
            <a:r>
              <a:rPr lang="en-US"/>
              <a:t> MovieLens 100K, </a:t>
            </a:r>
            <a:r>
              <a:rPr lang="en-US" err="1"/>
              <a:t>đồng</a:t>
            </a:r>
            <a:r>
              <a:rPr lang="en-US"/>
              <a:t> </a:t>
            </a:r>
            <a:r>
              <a:rPr lang="en-US" err="1"/>
              <a:t>thời</a:t>
            </a:r>
            <a:r>
              <a:rPr lang="en-US"/>
              <a:t> </a:t>
            </a:r>
            <a:r>
              <a:rPr lang="en-US" err="1"/>
              <a:t>cho</a:t>
            </a:r>
            <a:r>
              <a:rPr lang="en-US"/>
              <a:t> </a:t>
            </a:r>
            <a:r>
              <a:rPr lang="en-US" err="1"/>
              <a:t>phép</a:t>
            </a:r>
            <a:r>
              <a:rPr lang="en-US"/>
              <a:t> so </a:t>
            </a:r>
            <a:r>
              <a:rPr lang="en-US" err="1"/>
              <a:t>sánh</a:t>
            </a:r>
            <a:r>
              <a:rPr lang="en-US"/>
              <a:t> </a:t>
            </a:r>
            <a:r>
              <a:rPr lang="en-US" err="1"/>
              <a:t>công</a:t>
            </a:r>
            <a:r>
              <a:rPr lang="en-US"/>
              <a:t> </a:t>
            </a:r>
            <a:r>
              <a:rPr lang="en-US" err="1"/>
              <a:t>bằng</a:t>
            </a:r>
            <a:r>
              <a:rPr lang="en-US"/>
              <a:t> </a:t>
            </a:r>
            <a:r>
              <a:rPr lang="en-US" err="1"/>
              <a:t>với</a:t>
            </a:r>
            <a:r>
              <a:rPr lang="en-US"/>
              <a:t> Collaborative Filtering </a:t>
            </a:r>
            <a:r>
              <a:rPr lang="en-US" err="1"/>
              <a:t>truyền</a:t>
            </a:r>
            <a:r>
              <a:rPr lang="en-US"/>
              <a:t> </a:t>
            </a:r>
            <a:r>
              <a:rPr lang="en-US" err="1"/>
              <a:t>thống</a:t>
            </a:r>
            <a:r>
              <a:rPr lang="en-US"/>
              <a:t>.</a:t>
            </a:r>
          </a:p>
          <a:p>
            <a:pPr>
              <a:buNone/>
            </a:pPr>
            <a:r>
              <a:rPr lang="en-US" b="1" err="1"/>
              <a:t>Tổng</a:t>
            </a:r>
            <a:r>
              <a:rPr lang="en-US" b="1"/>
              <a:t> </a:t>
            </a:r>
            <a:r>
              <a:rPr lang="en-US" b="1" err="1"/>
              <a:t>kết</a:t>
            </a:r>
            <a:endParaRPr lang="en-US" b="1"/>
          </a:p>
          <a:p>
            <a:pPr marL="0" indent="0">
              <a:buNone/>
            </a:pPr>
            <a:r>
              <a:rPr lang="en-US"/>
              <a:t>Slide </a:t>
            </a:r>
            <a:r>
              <a:rPr lang="en-US" err="1"/>
              <a:t>này</a:t>
            </a:r>
            <a:r>
              <a:rPr lang="en-US"/>
              <a:t> </a:t>
            </a:r>
            <a:r>
              <a:rPr lang="en-US" err="1"/>
              <a:t>cho</a:t>
            </a:r>
            <a:r>
              <a:rPr lang="en-US"/>
              <a:t> </a:t>
            </a:r>
            <a:r>
              <a:rPr lang="en-US" err="1"/>
              <a:t>thấy</a:t>
            </a:r>
            <a:r>
              <a:rPr lang="en-US"/>
              <a:t> </a:t>
            </a:r>
            <a:r>
              <a:rPr lang="en-US" err="1"/>
              <a:t>sự</a:t>
            </a:r>
            <a:r>
              <a:rPr lang="en-US"/>
              <a:t> </a:t>
            </a:r>
            <a:r>
              <a:rPr lang="en-US" err="1"/>
              <a:t>đa</a:t>
            </a:r>
            <a:r>
              <a:rPr lang="en-US"/>
              <a:t> </a:t>
            </a:r>
            <a:r>
              <a:rPr lang="en-US" err="1"/>
              <a:t>dạng</a:t>
            </a:r>
            <a:r>
              <a:rPr lang="en-US"/>
              <a:t> </a:t>
            </a:r>
            <a:r>
              <a:rPr lang="en-US" err="1"/>
              <a:t>trong</a:t>
            </a:r>
            <a:r>
              <a:rPr lang="en-US"/>
              <a:t> </a:t>
            </a:r>
            <a:r>
              <a:rPr lang="en-US" err="1"/>
              <a:t>cách</a:t>
            </a:r>
            <a:r>
              <a:rPr lang="en-US"/>
              <a:t> </a:t>
            </a:r>
            <a:r>
              <a:rPr lang="en-US" err="1"/>
              <a:t>tiếp</a:t>
            </a:r>
            <a:r>
              <a:rPr lang="en-US"/>
              <a:t> </a:t>
            </a:r>
            <a:r>
              <a:rPr lang="en-US" err="1"/>
              <a:t>cận</a:t>
            </a:r>
            <a:r>
              <a:rPr lang="en-US"/>
              <a:t> </a:t>
            </a:r>
            <a:r>
              <a:rPr lang="en-US" err="1"/>
              <a:t>bài</a:t>
            </a:r>
            <a:r>
              <a:rPr lang="en-US"/>
              <a:t> </a:t>
            </a:r>
            <a:r>
              <a:rPr lang="en-US" err="1"/>
              <a:t>toán</a:t>
            </a:r>
            <a:r>
              <a:rPr lang="en-US"/>
              <a:t> </a:t>
            </a:r>
            <a:r>
              <a:rPr lang="en-US" err="1"/>
              <a:t>gợi</a:t>
            </a:r>
            <a:r>
              <a:rPr lang="en-US"/>
              <a:t> ý – </a:t>
            </a:r>
            <a:r>
              <a:rPr lang="en-US" err="1"/>
              <a:t>từ</a:t>
            </a:r>
            <a:r>
              <a:rPr lang="en-US"/>
              <a:t> </a:t>
            </a:r>
            <a:r>
              <a:rPr lang="en-US" err="1"/>
              <a:t>mô</a:t>
            </a:r>
            <a:r>
              <a:rPr lang="en-US"/>
              <a:t> </a:t>
            </a:r>
            <a:r>
              <a:rPr lang="en-US" err="1"/>
              <a:t>hình</a:t>
            </a:r>
            <a:r>
              <a:rPr lang="en-US"/>
              <a:t> </a:t>
            </a:r>
            <a:r>
              <a:rPr lang="en-US" err="1"/>
              <a:t>tuyến</a:t>
            </a:r>
            <a:r>
              <a:rPr lang="en-US"/>
              <a:t> </a:t>
            </a:r>
            <a:r>
              <a:rPr lang="en-US" err="1"/>
              <a:t>tính</a:t>
            </a:r>
            <a:r>
              <a:rPr lang="en-US"/>
              <a:t> </a:t>
            </a:r>
            <a:r>
              <a:rPr lang="en-US" err="1"/>
              <a:t>như</a:t>
            </a:r>
            <a:r>
              <a:rPr lang="en-US"/>
              <a:t> Matrix Factorization </a:t>
            </a:r>
            <a:r>
              <a:rPr lang="en-US" err="1"/>
              <a:t>đến</a:t>
            </a:r>
            <a:r>
              <a:rPr lang="en-US"/>
              <a:t> </a:t>
            </a:r>
            <a:r>
              <a:rPr lang="en-US" err="1"/>
              <a:t>mô</a:t>
            </a:r>
            <a:r>
              <a:rPr lang="en-US"/>
              <a:t> </a:t>
            </a:r>
            <a:r>
              <a:rPr lang="en-US" err="1"/>
              <a:t>hình</a:t>
            </a:r>
            <a:r>
              <a:rPr lang="en-US"/>
              <a:t> </a:t>
            </a:r>
            <a:r>
              <a:rPr lang="en-US" err="1"/>
              <a:t>dựa</a:t>
            </a:r>
            <a:r>
              <a:rPr lang="en-US"/>
              <a:t> </a:t>
            </a:r>
            <a:r>
              <a:rPr lang="en-US" err="1"/>
              <a:t>trên</a:t>
            </a:r>
            <a:r>
              <a:rPr lang="en-US"/>
              <a:t> </a:t>
            </a:r>
            <a:r>
              <a:rPr lang="en-US" err="1"/>
              <a:t>tương</a:t>
            </a:r>
            <a:r>
              <a:rPr lang="en-US"/>
              <a:t> </a:t>
            </a:r>
            <a:r>
              <a:rPr lang="en-US" err="1"/>
              <a:t>đồng</a:t>
            </a:r>
            <a:r>
              <a:rPr lang="en-US"/>
              <a:t> </a:t>
            </a:r>
            <a:r>
              <a:rPr lang="en-US" err="1"/>
              <a:t>và</a:t>
            </a:r>
            <a:r>
              <a:rPr lang="en-US"/>
              <a:t> </a:t>
            </a:r>
            <a:r>
              <a:rPr lang="en-US" err="1"/>
              <a:t>mô</a:t>
            </a:r>
            <a:r>
              <a:rPr lang="en-US"/>
              <a:t> </a:t>
            </a:r>
            <a:r>
              <a:rPr lang="en-US" err="1"/>
              <a:t>hình</a:t>
            </a:r>
            <a:r>
              <a:rPr lang="en-US"/>
              <a:t> </a:t>
            </a:r>
            <a:r>
              <a:rPr lang="en-US" err="1"/>
              <a:t>dựa</a:t>
            </a:r>
            <a:r>
              <a:rPr lang="en-US"/>
              <a:t> </a:t>
            </a:r>
            <a:r>
              <a:rPr lang="en-US" err="1"/>
              <a:t>trên</a:t>
            </a:r>
            <a:r>
              <a:rPr lang="en-US"/>
              <a:t> </a:t>
            </a:r>
            <a:r>
              <a:rPr lang="en-US" err="1"/>
              <a:t>chuỗi</a:t>
            </a:r>
            <a:r>
              <a:rPr lang="en-US"/>
              <a:t> </a:t>
            </a:r>
            <a:r>
              <a:rPr lang="en-US" err="1"/>
              <a:t>hiện</a:t>
            </a:r>
            <a:r>
              <a:rPr lang="en-US"/>
              <a:t> </a:t>
            </a:r>
            <a:r>
              <a:rPr lang="en-US" err="1"/>
              <a:t>đại</a:t>
            </a:r>
            <a:r>
              <a:rPr lang="en-US"/>
              <a:t> </a:t>
            </a:r>
            <a:r>
              <a:rPr lang="en-US" err="1"/>
              <a:t>như</a:t>
            </a:r>
            <a:r>
              <a:rPr lang="en-US"/>
              <a:t> </a:t>
            </a:r>
            <a:r>
              <a:rPr lang="en-US" err="1"/>
              <a:t>SASRec</a:t>
            </a:r>
            <a:r>
              <a:rPr lang="en-US"/>
              <a:t>. </a:t>
            </a:r>
            <a:r>
              <a:rPr lang="en-US" err="1"/>
              <a:t>Việc</a:t>
            </a:r>
            <a:r>
              <a:rPr lang="en-US"/>
              <a:t> </a:t>
            </a:r>
            <a:r>
              <a:rPr lang="en-US" err="1"/>
              <a:t>trình</a:t>
            </a:r>
            <a:r>
              <a:rPr lang="en-US"/>
              <a:t> </a:t>
            </a:r>
            <a:r>
              <a:rPr lang="en-US" err="1"/>
              <a:t>bày</a:t>
            </a:r>
            <a:r>
              <a:rPr lang="en-US"/>
              <a:t> </a:t>
            </a:r>
            <a:r>
              <a:rPr lang="en-US" err="1"/>
              <a:t>rõ</a:t>
            </a:r>
            <a:r>
              <a:rPr lang="en-US"/>
              <a:t> </a:t>
            </a:r>
            <a:r>
              <a:rPr lang="en-US" err="1"/>
              <a:t>ràng</a:t>
            </a:r>
            <a:r>
              <a:rPr lang="en-US"/>
              <a:t> </a:t>
            </a:r>
            <a:r>
              <a:rPr lang="en-US" err="1"/>
              <a:t>các</a:t>
            </a:r>
            <a:r>
              <a:rPr lang="en-US"/>
              <a:t> </a:t>
            </a:r>
            <a:r>
              <a:rPr lang="en-US" err="1"/>
              <a:t>tham</a:t>
            </a:r>
            <a:r>
              <a:rPr lang="en-US"/>
              <a:t> </a:t>
            </a:r>
            <a:r>
              <a:rPr lang="en-US" err="1"/>
              <a:t>số</a:t>
            </a:r>
            <a:r>
              <a:rPr lang="en-US"/>
              <a:t> </a:t>
            </a:r>
            <a:r>
              <a:rPr lang="en-US" err="1"/>
              <a:t>giúp</a:t>
            </a:r>
            <a:r>
              <a:rPr lang="en-US"/>
              <a:t> </a:t>
            </a:r>
            <a:r>
              <a:rPr lang="en-US" err="1"/>
              <a:t>minh</a:t>
            </a:r>
            <a:r>
              <a:rPr lang="en-US"/>
              <a:t> </a:t>
            </a:r>
            <a:r>
              <a:rPr lang="en-US" err="1"/>
              <a:t>bạch</a:t>
            </a:r>
            <a:r>
              <a:rPr lang="en-US"/>
              <a:t> </a:t>
            </a:r>
            <a:r>
              <a:rPr lang="en-US" err="1"/>
              <a:t>hóa</a:t>
            </a:r>
            <a:r>
              <a:rPr lang="en-US"/>
              <a:t> </a:t>
            </a:r>
            <a:r>
              <a:rPr lang="en-US" err="1"/>
              <a:t>quá</a:t>
            </a:r>
            <a:r>
              <a:rPr lang="en-US"/>
              <a:t> </a:t>
            </a:r>
            <a:r>
              <a:rPr lang="en-US" err="1"/>
              <a:t>trình</a:t>
            </a:r>
            <a:r>
              <a:rPr lang="en-US"/>
              <a:t> </a:t>
            </a:r>
            <a:r>
              <a:rPr lang="en-US" err="1"/>
              <a:t>huấn</a:t>
            </a:r>
            <a:r>
              <a:rPr lang="en-US"/>
              <a:t> </a:t>
            </a:r>
            <a:r>
              <a:rPr lang="en-US" err="1"/>
              <a:t>luyện</a:t>
            </a:r>
            <a:r>
              <a:rPr lang="en-US"/>
              <a:t> </a:t>
            </a:r>
            <a:r>
              <a:rPr lang="en-US" err="1"/>
              <a:t>và</a:t>
            </a:r>
            <a:r>
              <a:rPr lang="en-US"/>
              <a:t> </a:t>
            </a:r>
            <a:r>
              <a:rPr lang="en-US" err="1"/>
              <a:t>tạo</a:t>
            </a:r>
            <a:r>
              <a:rPr lang="en-US"/>
              <a:t> </a:t>
            </a:r>
            <a:r>
              <a:rPr lang="en-US" err="1"/>
              <a:t>nền</a:t>
            </a:r>
            <a:r>
              <a:rPr lang="en-US"/>
              <a:t> </a:t>
            </a:r>
            <a:r>
              <a:rPr lang="en-US" err="1"/>
              <a:t>tảng</a:t>
            </a:r>
            <a:r>
              <a:rPr lang="en-US"/>
              <a:t> </a:t>
            </a:r>
            <a:r>
              <a:rPr lang="en-US" err="1"/>
              <a:t>cho</a:t>
            </a:r>
            <a:r>
              <a:rPr lang="en-US"/>
              <a:t> </a:t>
            </a:r>
            <a:r>
              <a:rPr lang="en-US" err="1"/>
              <a:t>phần</a:t>
            </a:r>
            <a:r>
              <a:rPr lang="en-US"/>
              <a:t> </a:t>
            </a:r>
            <a:r>
              <a:rPr lang="en-US" err="1"/>
              <a:t>đánh</a:t>
            </a:r>
            <a:r>
              <a:rPr lang="en-US"/>
              <a:t> </a:t>
            </a:r>
            <a:r>
              <a:rPr lang="en-US" err="1"/>
              <a:t>giá</a:t>
            </a:r>
            <a:r>
              <a:rPr lang="en-US"/>
              <a:t> </a:t>
            </a:r>
            <a:r>
              <a:rPr lang="en-US" err="1"/>
              <a:t>hiệu</a:t>
            </a:r>
            <a:r>
              <a:rPr lang="en-US"/>
              <a:t> </a:t>
            </a:r>
            <a:r>
              <a:rPr lang="en-US" err="1"/>
              <a:t>quả</a:t>
            </a:r>
            <a:r>
              <a:rPr lang="en-US"/>
              <a:t> </a:t>
            </a:r>
            <a:r>
              <a:rPr lang="en-US" err="1"/>
              <a:t>của</a:t>
            </a:r>
            <a:r>
              <a:rPr lang="en-US"/>
              <a:t> </a:t>
            </a:r>
            <a:r>
              <a:rPr lang="en-US" err="1"/>
              <a:t>từng</a:t>
            </a:r>
            <a:r>
              <a:rPr lang="en-US"/>
              <a:t> </a:t>
            </a:r>
            <a:r>
              <a:rPr lang="en-US" err="1"/>
              <a:t>mô</a:t>
            </a:r>
            <a:r>
              <a:rPr lang="en-US"/>
              <a:t> </a:t>
            </a:r>
            <a:r>
              <a:rPr lang="en-US" err="1"/>
              <a:t>hình</a:t>
            </a:r>
            <a:r>
              <a:rPr lang="en-US"/>
              <a:t> </a:t>
            </a:r>
            <a:r>
              <a:rPr lang="en-US" err="1"/>
              <a:t>trong</a:t>
            </a:r>
            <a:r>
              <a:rPr lang="en-US"/>
              <a:t> </a:t>
            </a:r>
            <a:r>
              <a:rPr lang="en-US" err="1"/>
              <a:t>các</a:t>
            </a:r>
            <a:r>
              <a:rPr lang="en-US"/>
              <a:t> </a:t>
            </a:r>
            <a:r>
              <a:rPr lang="en-US" err="1"/>
              <a:t>chương</a:t>
            </a:r>
            <a:r>
              <a:rPr lang="en-US"/>
              <a:t> </a:t>
            </a:r>
            <a:r>
              <a:rPr lang="en-US" err="1"/>
              <a:t>tiếp</a:t>
            </a:r>
            <a:r>
              <a:rPr lang="en-US"/>
              <a:t> </a:t>
            </a:r>
            <a:r>
              <a:rPr lang="en-US" err="1"/>
              <a:t>theo.</a:t>
            </a:r>
            <a:endParaRPr err="1"/>
          </a:p>
        </p:txBody>
      </p:sp>
    </p:spTree>
    <p:extLst>
      <p:ext uri="{BB962C8B-B14F-4D97-AF65-F5344CB8AC3E}">
        <p14:creationId xmlns:p14="http://schemas.microsoft.com/office/powerpoint/2010/main" val="34995218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87B9A17C-E942-7A9B-D218-51D1FBC65324}"/>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D283BA3F-B877-AF6C-E913-EE0E29A8FA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A68002D7-3678-62D6-D593-BEE20A02B8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74640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C6E4BF3B-A45C-E3A2-D402-7887B7D1279C}"/>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36B6B174-4159-4B3A-C8A6-FB09505228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BDEB78F2-4A5F-27EF-6951-DF7A8DD85B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39310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C6E4BF3B-A45C-E3A2-D402-7887B7D1279C}"/>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36B6B174-4159-4B3A-C8A6-FB09505228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BDEB78F2-4A5F-27EF-6951-DF7A8DD85B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2295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C6E4BF3B-A45C-E3A2-D402-7887B7D1279C}"/>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36B6B174-4159-4B3A-C8A6-FB09505228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BDEB78F2-4A5F-27EF-6951-DF7A8DD85B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endParaRPr dirty="0"/>
          </a:p>
        </p:txBody>
      </p:sp>
    </p:spTree>
    <p:extLst>
      <p:ext uri="{BB962C8B-B14F-4D97-AF65-F5344CB8AC3E}">
        <p14:creationId xmlns:p14="http://schemas.microsoft.com/office/powerpoint/2010/main" val="25375947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32A0C991-B7B5-1B29-150D-0DE0E2D3E976}"/>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85F35979-0050-9D1E-6F6E-140905AE39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D58653F5-77D3-5AA3-92F8-F69C550D15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endParaRPr dirty="0"/>
          </a:p>
        </p:txBody>
      </p:sp>
    </p:spTree>
    <p:extLst>
      <p:ext uri="{BB962C8B-B14F-4D97-AF65-F5344CB8AC3E}">
        <p14:creationId xmlns:p14="http://schemas.microsoft.com/office/powerpoint/2010/main" val="15429064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a:extLst>
            <a:ext uri="{FF2B5EF4-FFF2-40B4-BE49-F238E27FC236}">
              <a16:creationId xmlns:a16="http://schemas.microsoft.com/office/drawing/2014/main" id="{38B42532-6671-795C-6A0F-279854525264}"/>
            </a:ext>
          </a:extLst>
        </p:cNvPr>
        <p:cNvGrpSpPr/>
        <p:nvPr/>
      </p:nvGrpSpPr>
      <p:grpSpPr>
        <a:xfrm>
          <a:off x="0" y="0"/>
          <a:ext cx="0" cy="0"/>
          <a:chOff x="0" y="0"/>
          <a:chExt cx="0" cy="0"/>
        </a:xfrm>
      </p:grpSpPr>
      <p:sp>
        <p:nvSpPr>
          <p:cNvPr id="1631" name="Google Shape;1631;g24ed99bf1a4_0_309:notes">
            <a:extLst>
              <a:ext uri="{FF2B5EF4-FFF2-40B4-BE49-F238E27FC236}">
                <a16:creationId xmlns:a16="http://schemas.microsoft.com/office/drawing/2014/main" id="{A83A74E4-278C-1AE5-A008-69629E2548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2" name="Google Shape;1632;g24ed99bf1a4_0_309:notes">
            <a:extLst>
              <a:ext uri="{FF2B5EF4-FFF2-40B4-BE49-F238E27FC236}">
                <a16:creationId xmlns:a16="http://schemas.microsoft.com/office/drawing/2014/main" id="{59332ADD-E8C5-69A4-FFF6-E58BA4DD47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err="1"/>
              <a:t>Dựa</a:t>
            </a:r>
            <a:r>
              <a:rPr lang="en-US"/>
              <a:t> </a:t>
            </a:r>
            <a:r>
              <a:rPr lang="en-US" err="1"/>
              <a:t>trên</a:t>
            </a:r>
            <a:r>
              <a:rPr lang="en-US"/>
              <a:t> </a:t>
            </a:r>
            <a:r>
              <a:rPr lang="en-US" err="1"/>
              <a:t>giao</a:t>
            </a:r>
            <a:r>
              <a:rPr lang="en-US"/>
              <a:t> </a:t>
            </a:r>
            <a:r>
              <a:rPr lang="en-US" err="1"/>
              <a:t>diện</a:t>
            </a:r>
            <a:r>
              <a:rPr lang="en-US"/>
              <a:t> </a:t>
            </a:r>
            <a:r>
              <a:rPr lang="en-US" err="1"/>
              <a:t>hoạt</a:t>
            </a:r>
            <a:r>
              <a:rPr lang="en-US"/>
              <a:t> </a:t>
            </a:r>
            <a:r>
              <a:rPr lang="en-US" err="1"/>
              <a:t>động</a:t>
            </a:r>
            <a:r>
              <a:rPr lang="en-US"/>
              <a:t> </a:t>
            </a:r>
            <a:r>
              <a:rPr lang="en-US" err="1"/>
              <a:t>gợi</a:t>
            </a:r>
            <a:r>
              <a:rPr lang="en-US"/>
              <a:t> ý </a:t>
            </a:r>
            <a:r>
              <a:rPr lang="en-US" err="1"/>
              <a:t>phim</a:t>
            </a:r>
            <a:r>
              <a:rPr lang="en-US"/>
              <a:t> </a:t>
            </a:r>
            <a:r>
              <a:rPr lang="en-US" err="1"/>
              <a:t>trong</a:t>
            </a:r>
            <a:r>
              <a:rPr lang="en-US"/>
              <a:t> </a:t>
            </a:r>
            <a:r>
              <a:rPr lang="en-US" err="1"/>
              <a:t>hình</a:t>
            </a:r>
            <a:r>
              <a:rPr lang="en-US"/>
              <a:t>, </a:t>
            </a:r>
            <a:r>
              <a:rPr lang="en-US" err="1"/>
              <a:t>có</a:t>
            </a:r>
            <a:r>
              <a:rPr lang="en-US"/>
              <a:t> </a:t>
            </a:r>
            <a:r>
              <a:rPr lang="en-US" err="1"/>
              <a:t>thể</a:t>
            </a:r>
            <a:r>
              <a:rPr lang="en-US"/>
              <a:t> </a:t>
            </a:r>
            <a:r>
              <a:rPr lang="en-US" err="1"/>
              <a:t>thấy</a:t>
            </a:r>
            <a:r>
              <a:rPr lang="en-US"/>
              <a:t> </a:t>
            </a:r>
            <a:r>
              <a:rPr lang="en-US" err="1"/>
              <a:t>hệ</a:t>
            </a:r>
            <a:r>
              <a:rPr lang="en-US"/>
              <a:t> </a:t>
            </a:r>
            <a:r>
              <a:rPr lang="en-US" err="1"/>
              <a:t>thống</a:t>
            </a:r>
            <a:r>
              <a:rPr lang="en-US"/>
              <a:t> </a:t>
            </a:r>
            <a:r>
              <a:rPr lang="en-US" err="1"/>
              <a:t>được</a:t>
            </a:r>
            <a:r>
              <a:rPr lang="en-US"/>
              <a:t> </a:t>
            </a:r>
            <a:r>
              <a:rPr lang="en-US" err="1"/>
              <a:t>thiết</a:t>
            </a:r>
            <a:r>
              <a:rPr lang="en-US"/>
              <a:t> </a:t>
            </a:r>
            <a:r>
              <a:rPr lang="en-US" err="1"/>
              <a:t>kế</a:t>
            </a:r>
            <a:r>
              <a:rPr lang="en-US"/>
              <a:t> </a:t>
            </a:r>
            <a:r>
              <a:rPr lang="en-US" err="1"/>
              <a:t>theo</a:t>
            </a:r>
            <a:r>
              <a:rPr lang="en-US"/>
              <a:t> </a:t>
            </a:r>
            <a:r>
              <a:rPr lang="en-US" err="1"/>
              <a:t>hướng</a:t>
            </a:r>
            <a:r>
              <a:rPr lang="en-US"/>
              <a:t> </a:t>
            </a:r>
            <a:r>
              <a:rPr lang="en-US" b="1" err="1"/>
              <a:t>đa</a:t>
            </a:r>
            <a:r>
              <a:rPr lang="en-US" b="1"/>
              <a:t> </a:t>
            </a:r>
            <a:r>
              <a:rPr lang="en-US" b="1" err="1"/>
              <a:t>tác</a:t>
            </a:r>
            <a:r>
              <a:rPr lang="en-US" b="1"/>
              <a:t> </a:t>
            </a:r>
            <a:r>
              <a:rPr lang="en-US" b="1" err="1"/>
              <a:t>tử</a:t>
            </a:r>
            <a:r>
              <a:rPr lang="en-US" b="1"/>
              <a:t> (Multi-Agent)</a:t>
            </a:r>
            <a:r>
              <a:rPr lang="en-US"/>
              <a:t>, </a:t>
            </a:r>
            <a:r>
              <a:rPr lang="en-US" err="1"/>
              <a:t>trong</a:t>
            </a:r>
            <a:r>
              <a:rPr lang="en-US"/>
              <a:t> </a:t>
            </a:r>
            <a:r>
              <a:rPr lang="en-US" err="1"/>
              <a:t>đó</a:t>
            </a:r>
            <a:r>
              <a:rPr lang="en-US"/>
              <a:t> </a:t>
            </a:r>
            <a:r>
              <a:rPr lang="en-US" err="1"/>
              <a:t>mỗi</a:t>
            </a:r>
            <a:r>
              <a:rPr lang="en-US"/>
              <a:t> </a:t>
            </a:r>
            <a:r>
              <a:rPr lang="en-US" err="1"/>
              <a:t>tác</a:t>
            </a:r>
            <a:r>
              <a:rPr lang="en-US"/>
              <a:t> </a:t>
            </a:r>
            <a:r>
              <a:rPr lang="en-US" err="1"/>
              <a:t>tử</a:t>
            </a:r>
            <a:r>
              <a:rPr lang="en-US"/>
              <a:t> </a:t>
            </a:r>
            <a:r>
              <a:rPr lang="en-US" err="1"/>
              <a:t>đảm</a:t>
            </a:r>
            <a:r>
              <a:rPr lang="en-US"/>
              <a:t> </a:t>
            </a:r>
            <a:r>
              <a:rPr lang="en-US" err="1"/>
              <a:t>nhiệm</a:t>
            </a:r>
            <a:r>
              <a:rPr lang="en-US"/>
              <a:t> </a:t>
            </a:r>
            <a:r>
              <a:rPr lang="en-US" err="1"/>
              <a:t>một</a:t>
            </a:r>
            <a:r>
              <a:rPr lang="en-US"/>
              <a:t> </a:t>
            </a:r>
            <a:r>
              <a:rPr lang="en-US" err="1"/>
              <a:t>vai</a:t>
            </a:r>
            <a:r>
              <a:rPr lang="en-US"/>
              <a:t> </a:t>
            </a:r>
            <a:r>
              <a:rPr lang="en-US" err="1"/>
              <a:t>trò</a:t>
            </a:r>
            <a:r>
              <a:rPr lang="en-US"/>
              <a:t> </a:t>
            </a:r>
            <a:r>
              <a:rPr lang="en-US" err="1"/>
              <a:t>cụ</a:t>
            </a:r>
            <a:r>
              <a:rPr lang="en-US"/>
              <a:t> </a:t>
            </a:r>
            <a:r>
              <a:rPr lang="en-US" err="1"/>
              <a:t>thể</a:t>
            </a:r>
            <a:r>
              <a:rPr lang="en-US"/>
              <a:t> </a:t>
            </a:r>
            <a:r>
              <a:rPr lang="en-US" err="1"/>
              <a:t>như</a:t>
            </a:r>
            <a:r>
              <a:rPr lang="en-US"/>
              <a:t> </a:t>
            </a:r>
            <a:r>
              <a:rPr lang="en-US" err="1"/>
              <a:t>phân</a:t>
            </a:r>
            <a:r>
              <a:rPr lang="en-US"/>
              <a:t> </a:t>
            </a:r>
            <a:r>
              <a:rPr lang="en-US" err="1"/>
              <a:t>tích</a:t>
            </a:r>
            <a:r>
              <a:rPr lang="en-US"/>
              <a:t> </a:t>
            </a:r>
            <a:r>
              <a:rPr lang="en-US" err="1"/>
              <a:t>yêu</a:t>
            </a:r>
            <a:r>
              <a:rPr lang="en-US"/>
              <a:t> </a:t>
            </a:r>
            <a:r>
              <a:rPr lang="en-US" err="1"/>
              <a:t>cầu</a:t>
            </a:r>
            <a:r>
              <a:rPr lang="en-US"/>
              <a:t>, </a:t>
            </a:r>
            <a:r>
              <a:rPr lang="en-US" err="1"/>
              <a:t>điều</a:t>
            </a:r>
            <a:r>
              <a:rPr lang="en-US"/>
              <a:t> </a:t>
            </a:r>
            <a:r>
              <a:rPr lang="en-US" err="1"/>
              <a:t>phối</a:t>
            </a:r>
            <a:r>
              <a:rPr lang="en-US"/>
              <a:t> </a:t>
            </a:r>
            <a:r>
              <a:rPr lang="en-US" err="1"/>
              <a:t>tác</a:t>
            </a:r>
            <a:r>
              <a:rPr lang="en-US"/>
              <a:t> </a:t>
            </a:r>
            <a:r>
              <a:rPr lang="en-US" err="1"/>
              <a:t>vụ</a:t>
            </a:r>
            <a:r>
              <a:rPr lang="en-US"/>
              <a:t> </a:t>
            </a:r>
            <a:r>
              <a:rPr lang="en-US" err="1"/>
              <a:t>và</a:t>
            </a:r>
            <a:r>
              <a:rPr lang="en-US"/>
              <a:t> </a:t>
            </a:r>
            <a:r>
              <a:rPr lang="en-US" err="1"/>
              <a:t>truy</a:t>
            </a:r>
            <a:r>
              <a:rPr lang="en-US"/>
              <a:t> </a:t>
            </a:r>
            <a:r>
              <a:rPr lang="en-US" err="1"/>
              <a:t>vấn</a:t>
            </a:r>
            <a:r>
              <a:rPr lang="en-US"/>
              <a:t> </a:t>
            </a:r>
            <a:r>
              <a:rPr lang="en-US" err="1"/>
              <a:t>dữ</a:t>
            </a:r>
            <a:r>
              <a:rPr lang="en-US"/>
              <a:t> </a:t>
            </a:r>
            <a:r>
              <a:rPr lang="en-US" err="1"/>
              <a:t>liệu</a:t>
            </a:r>
            <a:r>
              <a:rPr lang="en-US"/>
              <a:t>. </a:t>
            </a:r>
            <a:r>
              <a:rPr lang="en-US" err="1"/>
              <a:t>Cách</a:t>
            </a:r>
            <a:r>
              <a:rPr lang="en-US"/>
              <a:t> </a:t>
            </a:r>
            <a:r>
              <a:rPr lang="en-US" err="1"/>
              <a:t>tiếp</a:t>
            </a:r>
            <a:r>
              <a:rPr lang="en-US"/>
              <a:t> </a:t>
            </a:r>
            <a:r>
              <a:rPr lang="en-US" err="1"/>
              <a:t>cận</a:t>
            </a:r>
            <a:r>
              <a:rPr lang="en-US"/>
              <a:t> </a:t>
            </a:r>
            <a:r>
              <a:rPr lang="en-US" err="1"/>
              <a:t>này</a:t>
            </a:r>
            <a:r>
              <a:rPr lang="en-US"/>
              <a:t> </a:t>
            </a:r>
            <a:r>
              <a:rPr lang="en-US" err="1"/>
              <a:t>giúp</a:t>
            </a:r>
            <a:r>
              <a:rPr lang="en-US"/>
              <a:t> </a:t>
            </a:r>
            <a:r>
              <a:rPr lang="en-US" err="1"/>
              <a:t>quá</a:t>
            </a:r>
            <a:r>
              <a:rPr lang="en-US"/>
              <a:t> </a:t>
            </a:r>
            <a:r>
              <a:rPr lang="en-US" err="1"/>
              <a:t>trình</a:t>
            </a:r>
            <a:r>
              <a:rPr lang="en-US"/>
              <a:t> </a:t>
            </a:r>
            <a:r>
              <a:rPr lang="en-US" err="1"/>
              <a:t>gợi</a:t>
            </a:r>
            <a:r>
              <a:rPr lang="en-US"/>
              <a:t> ý </a:t>
            </a:r>
            <a:r>
              <a:rPr lang="en-US" err="1"/>
              <a:t>không</a:t>
            </a:r>
            <a:r>
              <a:rPr lang="en-US"/>
              <a:t> </a:t>
            </a:r>
            <a:r>
              <a:rPr lang="en-US" err="1"/>
              <a:t>chỉ</a:t>
            </a:r>
            <a:r>
              <a:rPr lang="en-US"/>
              <a:t> </a:t>
            </a:r>
            <a:r>
              <a:rPr lang="en-US" err="1"/>
              <a:t>tạo</a:t>
            </a:r>
            <a:r>
              <a:rPr lang="en-US"/>
              <a:t> </a:t>
            </a:r>
            <a:r>
              <a:rPr lang="en-US" err="1"/>
              <a:t>ra</a:t>
            </a:r>
            <a:r>
              <a:rPr lang="en-US"/>
              <a:t> </a:t>
            </a:r>
            <a:r>
              <a:rPr lang="en-US" err="1"/>
              <a:t>kết</a:t>
            </a:r>
            <a:r>
              <a:rPr lang="en-US"/>
              <a:t> </a:t>
            </a:r>
            <a:r>
              <a:rPr lang="en-US" err="1"/>
              <a:t>quả</a:t>
            </a:r>
            <a:r>
              <a:rPr lang="en-US"/>
              <a:t>, </a:t>
            </a:r>
            <a:r>
              <a:rPr lang="en-US" err="1"/>
              <a:t>mà</a:t>
            </a:r>
            <a:r>
              <a:rPr lang="en-US"/>
              <a:t> </a:t>
            </a:r>
            <a:r>
              <a:rPr lang="en-US" err="1"/>
              <a:t>còn</a:t>
            </a:r>
            <a:r>
              <a:rPr lang="en-US"/>
              <a:t> </a:t>
            </a:r>
            <a:r>
              <a:rPr lang="en-US" b="1" err="1"/>
              <a:t>minh</a:t>
            </a:r>
            <a:r>
              <a:rPr lang="en-US" b="1"/>
              <a:t> </a:t>
            </a:r>
            <a:r>
              <a:rPr lang="en-US" b="1" err="1"/>
              <a:t>bạch</a:t>
            </a:r>
            <a:r>
              <a:rPr lang="en-US" b="1"/>
              <a:t> </a:t>
            </a:r>
            <a:r>
              <a:rPr lang="en-US" b="1" err="1"/>
              <a:t>hóa</a:t>
            </a:r>
            <a:r>
              <a:rPr lang="en-US" b="1"/>
              <a:t> </a:t>
            </a:r>
            <a:r>
              <a:rPr lang="en-US" b="1" err="1"/>
              <a:t>toàn</a:t>
            </a:r>
            <a:r>
              <a:rPr lang="en-US" b="1"/>
              <a:t> </a:t>
            </a:r>
            <a:r>
              <a:rPr lang="en-US" b="1" err="1"/>
              <a:t>bộ</a:t>
            </a:r>
            <a:r>
              <a:rPr lang="en-US" b="1"/>
              <a:t> </a:t>
            </a:r>
            <a:r>
              <a:rPr lang="en-US" b="1" err="1"/>
              <a:t>luồng</a:t>
            </a:r>
            <a:r>
              <a:rPr lang="en-US" b="1"/>
              <a:t> </a:t>
            </a:r>
            <a:r>
              <a:rPr lang="en-US" b="1" err="1"/>
              <a:t>suy</a:t>
            </a:r>
            <a:r>
              <a:rPr lang="en-US" b="1"/>
              <a:t> </a:t>
            </a:r>
            <a:r>
              <a:rPr lang="en-US" b="1" err="1"/>
              <a:t>luận</a:t>
            </a:r>
            <a:r>
              <a:rPr lang="en-US"/>
              <a:t>, </a:t>
            </a:r>
            <a:r>
              <a:rPr lang="en-US" err="1"/>
              <a:t>thể</a:t>
            </a:r>
            <a:r>
              <a:rPr lang="en-US"/>
              <a:t> </a:t>
            </a:r>
            <a:r>
              <a:rPr lang="en-US" err="1"/>
              <a:t>hiện</a:t>
            </a:r>
            <a:r>
              <a:rPr lang="en-US"/>
              <a:t> qua </a:t>
            </a:r>
            <a:r>
              <a:rPr lang="en-US" err="1"/>
              <a:t>các</a:t>
            </a:r>
            <a:r>
              <a:rPr lang="en-US"/>
              <a:t> </a:t>
            </a:r>
            <a:r>
              <a:rPr lang="en-US" err="1"/>
              <a:t>bước</a:t>
            </a:r>
            <a:r>
              <a:rPr lang="en-US"/>
              <a:t> “Interpreter”, “Manager” </a:t>
            </a:r>
            <a:r>
              <a:rPr lang="en-US" err="1"/>
              <a:t>và</a:t>
            </a:r>
            <a:r>
              <a:rPr lang="en-US"/>
              <a:t> “Searcher”.</a:t>
            </a:r>
          </a:p>
          <a:p>
            <a:pPr>
              <a:buNone/>
            </a:pPr>
            <a:r>
              <a:rPr lang="en-US" err="1"/>
              <a:t>Dựa</a:t>
            </a:r>
            <a:r>
              <a:rPr lang="en-US"/>
              <a:t> </a:t>
            </a:r>
            <a:r>
              <a:rPr lang="en-US" err="1"/>
              <a:t>trên</a:t>
            </a:r>
            <a:r>
              <a:rPr lang="en-US"/>
              <a:t> </a:t>
            </a:r>
            <a:r>
              <a:rPr lang="en-US" err="1"/>
              <a:t>giao</a:t>
            </a:r>
            <a:r>
              <a:rPr lang="en-US"/>
              <a:t> diện hoạt động gợi ý phim trong hình, có thể thấy hệ thống được thiết kế </a:t>
            </a:r>
            <a:r>
              <a:rPr lang="en-US" err="1"/>
              <a:t>theo</a:t>
            </a:r>
            <a:r>
              <a:rPr lang="en-US"/>
              <a:t> </a:t>
            </a:r>
            <a:r>
              <a:rPr lang="en-US" err="1"/>
              <a:t>hướng</a:t>
            </a:r>
            <a:r>
              <a:rPr lang="en-US"/>
              <a:t> </a:t>
            </a:r>
            <a:r>
              <a:rPr lang="en-US" b="1" err="1"/>
              <a:t>đa</a:t>
            </a:r>
            <a:r>
              <a:rPr lang="en-US" b="1"/>
              <a:t> </a:t>
            </a:r>
            <a:r>
              <a:rPr lang="en-US" b="1" err="1"/>
              <a:t>tác</a:t>
            </a:r>
            <a:r>
              <a:rPr lang="en-US" b="1"/>
              <a:t> </a:t>
            </a:r>
            <a:r>
              <a:rPr lang="en-US" b="1" err="1"/>
              <a:t>tử</a:t>
            </a:r>
            <a:r>
              <a:rPr lang="en-US" b="1"/>
              <a:t> (Multi-Agent)</a:t>
            </a:r>
            <a:r>
              <a:rPr lang="en-US"/>
              <a:t>, </a:t>
            </a:r>
            <a:r>
              <a:rPr lang="en-US" err="1"/>
              <a:t>trong</a:t>
            </a:r>
            <a:r>
              <a:rPr lang="en-US"/>
              <a:t> </a:t>
            </a:r>
            <a:r>
              <a:rPr lang="en-US" err="1"/>
              <a:t>đó</a:t>
            </a:r>
            <a:r>
              <a:rPr lang="en-US"/>
              <a:t> </a:t>
            </a:r>
            <a:r>
              <a:rPr lang="en-US" err="1"/>
              <a:t>mỗi</a:t>
            </a:r>
            <a:r>
              <a:rPr lang="en-US"/>
              <a:t> </a:t>
            </a:r>
            <a:r>
              <a:rPr lang="en-US" err="1"/>
              <a:t>tác</a:t>
            </a:r>
            <a:r>
              <a:rPr lang="en-US"/>
              <a:t> </a:t>
            </a:r>
            <a:r>
              <a:rPr lang="en-US" err="1"/>
              <a:t>tử</a:t>
            </a:r>
            <a:r>
              <a:rPr lang="en-US"/>
              <a:t> </a:t>
            </a:r>
            <a:r>
              <a:rPr lang="en-US" err="1"/>
              <a:t>đảm</a:t>
            </a:r>
            <a:r>
              <a:rPr lang="en-US"/>
              <a:t> </a:t>
            </a:r>
            <a:r>
              <a:rPr lang="en-US" err="1"/>
              <a:t>nhiệm</a:t>
            </a:r>
            <a:r>
              <a:rPr lang="en-US"/>
              <a:t> </a:t>
            </a:r>
            <a:r>
              <a:rPr lang="en-US" err="1"/>
              <a:t>một</a:t>
            </a:r>
            <a:r>
              <a:rPr lang="en-US"/>
              <a:t> </a:t>
            </a:r>
            <a:r>
              <a:rPr lang="en-US" err="1"/>
              <a:t>vai</a:t>
            </a:r>
            <a:r>
              <a:rPr lang="en-US"/>
              <a:t> </a:t>
            </a:r>
            <a:r>
              <a:rPr lang="en-US" err="1"/>
              <a:t>trò</a:t>
            </a:r>
            <a:r>
              <a:rPr lang="en-US"/>
              <a:t> </a:t>
            </a:r>
            <a:r>
              <a:rPr lang="en-US" err="1"/>
              <a:t>cụ</a:t>
            </a:r>
            <a:r>
              <a:rPr lang="en-US"/>
              <a:t> </a:t>
            </a:r>
            <a:r>
              <a:rPr lang="en-US" err="1"/>
              <a:t>thể</a:t>
            </a:r>
            <a:r>
              <a:rPr lang="en-US"/>
              <a:t> </a:t>
            </a:r>
            <a:r>
              <a:rPr lang="en-US" err="1"/>
              <a:t>như</a:t>
            </a:r>
            <a:r>
              <a:rPr lang="en-US"/>
              <a:t> </a:t>
            </a:r>
            <a:r>
              <a:rPr lang="en-US" err="1"/>
              <a:t>phân</a:t>
            </a:r>
            <a:r>
              <a:rPr lang="en-US"/>
              <a:t> </a:t>
            </a:r>
            <a:r>
              <a:rPr lang="en-US" err="1"/>
              <a:t>tích</a:t>
            </a:r>
            <a:r>
              <a:rPr lang="en-US"/>
              <a:t> </a:t>
            </a:r>
            <a:r>
              <a:rPr lang="en-US" err="1"/>
              <a:t>yêu</a:t>
            </a:r>
            <a:r>
              <a:rPr lang="en-US"/>
              <a:t> </a:t>
            </a:r>
            <a:r>
              <a:rPr lang="en-US" err="1"/>
              <a:t>cầu</a:t>
            </a:r>
            <a:r>
              <a:rPr lang="en-US"/>
              <a:t>, </a:t>
            </a:r>
            <a:r>
              <a:rPr lang="en-US" err="1"/>
              <a:t>điều</a:t>
            </a:r>
            <a:r>
              <a:rPr lang="en-US"/>
              <a:t> </a:t>
            </a:r>
            <a:r>
              <a:rPr lang="en-US" err="1"/>
              <a:t>phối</a:t>
            </a:r>
            <a:r>
              <a:rPr lang="en-US"/>
              <a:t> </a:t>
            </a:r>
            <a:r>
              <a:rPr lang="en-US" err="1"/>
              <a:t>tác</a:t>
            </a:r>
            <a:r>
              <a:rPr lang="en-US"/>
              <a:t> </a:t>
            </a:r>
            <a:r>
              <a:rPr lang="en-US" err="1"/>
              <a:t>vụ</a:t>
            </a:r>
            <a:r>
              <a:rPr lang="en-US"/>
              <a:t> </a:t>
            </a:r>
            <a:r>
              <a:rPr lang="en-US" err="1"/>
              <a:t>và</a:t>
            </a:r>
            <a:r>
              <a:rPr lang="en-US"/>
              <a:t> </a:t>
            </a:r>
            <a:r>
              <a:rPr lang="en-US" err="1"/>
              <a:t>truy</a:t>
            </a:r>
            <a:r>
              <a:rPr lang="en-US"/>
              <a:t> </a:t>
            </a:r>
            <a:r>
              <a:rPr lang="en-US" err="1"/>
              <a:t>vấn</a:t>
            </a:r>
            <a:r>
              <a:rPr lang="en-US"/>
              <a:t> </a:t>
            </a:r>
            <a:r>
              <a:rPr lang="en-US" err="1"/>
              <a:t>dữ</a:t>
            </a:r>
            <a:r>
              <a:rPr lang="en-US"/>
              <a:t> </a:t>
            </a:r>
            <a:r>
              <a:rPr lang="en-US" err="1"/>
              <a:t>liệu</a:t>
            </a:r>
            <a:r>
              <a:rPr lang="en-US"/>
              <a:t>. </a:t>
            </a:r>
            <a:r>
              <a:rPr lang="en-US" err="1"/>
              <a:t>Cách</a:t>
            </a:r>
            <a:r>
              <a:rPr lang="en-US"/>
              <a:t> </a:t>
            </a:r>
            <a:r>
              <a:rPr lang="en-US" err="1"/>
              <a:t>tiếp</a:t>
            </a:r>
            <a:r>
              <a:rPr lang="en-US"/>
              <a:t> </a:t>
            </a:r>
            <a:r>
              <a:rPr lang="en-US" err="1"/>
              <a:t>cận</a:t>
            </a:r>
            <a:r>
              <a:rPr lang="en-US"/>
              <a:t> </a:t>
            </a:r>
            <a:r>
              <a:rPr lang="en-US" err="1"/>
              <a:t>này</a:t>
            </a:r>
            <a:r>
              <a:rPr lang="en-US"/>
              <a:t> </a:t>
            </a:r>
            <a:r>
              <a:rPr lang="en-US" err="1"/>
              <a:t>giúp</a:t>
            </a:r>
            <a:r>
              <a:rPr lang="en-US"/>
              <a:t> </a:t>
            </a:r>
            <a:r>
              <a:rPr lang="en-US" err="1"/>
              <a:t>quá</a:t>
            </a:r>
            <a:r>
              <a:rPr lang="en-US"/>
              <a:t> </a:t>
            </a:r>
            <a:r>
              <a:rPr lang="en-US" err="1"/>
              <a:t>trình</a:t>
            </a:r>
            <a:r>
              <a:rPr lang="en-US"/>
              <a:t> </a:t>
            </a:r>
            <a:r>
              <a:rPr lang="en-US" err="1"/>
              <a:t>gợi</a:t>
            </a:r>
            <a:r>
              <a:rPr lang="en-US"/>
              <a:t> ý </a:t>
            </a:r>
            <a:r>
              <a:rPr lang="en-US" err="1"/>
              <a:t>không</a:t>
            </a:r>
            <a:r>
              <a:rPr lang="en-US"/>
              <a:t> </a:t>
            </a:r>
            <a:r>
              <a:rPr lang="en-US" err="1"/>
              <a:t>chỉ</a:t>
            </a:r>
            <a:r>
              <a:rPr lang="en-US"/>
              <a:t> </a:t>
            </a:r>
            <a:r>
              <a:rPr lang="en-US" err="1"/>
              <a:t>tạo</a:t>
            </a:r>
            <a:r>
              <a:rPr lang="en-US"/>
              <a:t> </a:t>
            </a:r>
            <a:r>
              <a:rPr lang="en-US" err="1"/>
              <a:t>ra</a:t>
            </a:r>
            <a:r>
              <a:rPr lang="en-US"/>
              <a:t> </a:t>
            </a:r>
            <a:r>
              <a:rPr lang="en-US" err="1"/>
              <a:t>kết</a:t>
            </a:r>
            <a:r>
              <a:rPr lang="en-US"/>
              <a:t> </a:t>
            </a:r>
            <a:r>
              <a:rPr lang="en-US" err="1"/>
              <a:t>quả</a:t>
            </a:r>
            <a:r>
              <a:rPr lang="en-US"/>
              <a:t>, </a:t>
            </a:r>
            <a:r>
              <a:rPr lang="en-US" err="1"/>
              <a:t>mà</a:t>
            </a:r>
            <a:r>
              <a:rPr lang="en-US"/>
              <a:t> </a:t>
            </a:r>
            <a:r>
              <a:rPr lang="en-US" err="1"/>
              <a:t>còn</a:t>
            </a:r>
            <a:r>
              <a:rPr lang="en-US"/>
              <a:t> </a:t>
            </a:r>
            <a:r>
              <a:rPr lang="en-US" b="1" err="1"/>
              <a:t>minh</a:t>
            </a:r>
            <a:r>
              <a:rPr lang="en-US" b="1"/>
              <a:t> </a:t>
            </a:r>
            <a:r>
              <a:rPr lang="en-US" b="1" err="1"/>
              <a:t>bạch</a:t>
            </a:r>
            <a:r>
              <a:rPr lang="en-US" b="1"/>
              <a:t> </a:t>
            </a:r>
            <a:r>
              <a:rPr lang="en-US" b="1" err="1"/>
              <a:t>hóa</a:t>
            </a:r>
            <a:r>
              <a:rPr lang="en-US" b="1"/>
              <a:t> </a:t>
            </a:r>
            <a:r>
              <a:rPr lang="en-US" b="1" err="1"/>
              <a:t>toàn</a:t>
            </a:r>
            <a:r>
              <a:rPr lang="en-US" b="1"/>
              <a:t> </a:t>
            </a:r>
            <a:r>
              <a:rPr lang="en-US" b="1" err="1"/>
              <a:t>bộ</a:t>
            </a:r>
            <a:r>
              <a:rPr lang="en-US" b="1"/>
              <a:t> </a:t>
            </a:r>
            <a:r>
              <a:rPr lang="en-US" b="1" err="1"/>
              <a:t>luồng</a:t>
            </a:r>
            <a:r>
              <a:rPr lang="en-US" b="1"/>
              <a:t> </a:t>
            </a:r>
            <a:r>
              <a:rPr lang="en-US" b="1" err="1"/>
              <a:t>suy</a:t>
            </a:r>
            <a:r>
              <a:rPr lang="en-US" b="1"/>
              <a:t> </a:t>
            </a:r>
            <a:r>
              <a:rPr lang="en-US" b="1" err="1"/>
              <a:t>luận</a:t>
            </a:r>
            <a:r>
              <a:rPr lang="en-US"/>
              <a:t>, </a:t>
            </a:r>
            <a:r>
              <a:rPr lang="en-US" err="1"/>
              <a:t>thể</a:t>
            </a:r>
            <a:r>
              <a:rPr lang="en-US"/>
              <a:t> </a:t>
            </a:r>
            <a:r>
              <a:rPr lang="en-US" err="1"/>
              <a:t>hiện</a:t>
            </a:r>
            <a:r>
              <a:rPr lang="en-US"/>
              <a:t> qua </a:t>
            </a:r>
            <a:r>
              <a:rPr lang="en-US" err="1"/>
              <a:t>các</a:t>
            </a:r>
            <a:r>
              <a:rPr lang="en-US"/>
              <a:t> </a:t>
            </a:r>
            <a:r>
              <a:rPr lang="en-US" err="1"/>
              <a:t>bước</a:t>
            </a:r>
            <a:r>
              <a:rPr lang="en-US"/>
              <a:t> “Interpreter”, “Manager” </a:t>
            </a:r>
            <a:r>
              <a:rPr lang="en-US" err="1"/>
              <a:t>và</a:t>
            </a:r>
            <a:r>
              <a:rPr lang="en-US"/>
              <a:t> “Searcher”.</a:t>
            </a:r>
          </a:p>
          <a:p>
            <a:pPr>
              <a:buNone/>
            </a:pPr>
            <a:r>
              <a:rPr lang="en-US"/>
              <a:t>So </a:t>
            </a:r>
            <a:r>
              <a:rPr lang="en-US" err="1"/>
              <a:t>sánh</a:t>
            </a:r>
            <a:r>
              <a:rPr lang="en-US"/>
              <a:t> </a:t>
            </a:r>
            <a:r>
              <a:rPr lang="en-US" err="1"/>
              <a:t>các</a:t>
            </a:r>
            <a:r>
              <a:rPr lang="en-US"/>
              <a:t> kiến trúc hệ thống</a:t>
            </a:r>
          </a:p>
          <a:p>
            <a:pPr marL="171450" indent="-171450"/>
            <a:r>
              <a:rPr lang="en-US" b="1" err="1"/>
              <a:t>CollaborationSystem</a:t>
            </a:r>
            <a:br>
              <a:rPr lang="en-US" b="1"/>
            </a:br>
            <a:r>
              <a:rPr lang="en-US" b="1"/>
              <a:t> </a:t>
            </a:r>
            <a:r>
              <a:rPr lang="en-US" b="1" err="1"/>
              <a:t>CollaborationSystem</a:t>
            </a:r>
            <a:r>
              <a:rPr lang="en-US" b="1"/>
              <a:t> </a:t>
            </a:r>
            <a:r>
              <a:rPr lang="en-US" b="1" err="1"/>
              <a:t>cung</a:t>
            </a:r>
            <a:r>
              <a:rPr lang="en-US" b="1"/>
              <a:t> </a:t>
            </a:r>
            <a:r>
              <a:rPr lang="en-US" b="1" err="1"/>
              <a:t>cấp</a:t>
            </a:r>
            <a:r>
              <a:rPr lang="en-US" b="1"/>
              <a:t> </a:t>
            </a:r>
            <a:r>
              <a:rPr lang="en-US" b="1" err="1"/>
              <a:t>giải</a:t>
            </a:r>
            <a:r>
              <a:rPr lang="en-US" b="1"/>
              <a:t> </a:t>
            </a:r>
            <a:r>
              <a:rPr lang="en-US" b="1" err="1"/>
              <a:t>thích</a:t>
            </a:r>
            <a:r>
              <a:rPr lang="en-US" b="1"/>
              <a:t> chi </a:t>
            </a:r>
            <a:r>
              <a:rPr lang="en-US" b="1" err="1"/>
              <a:t>tiết</a:t>
            </a:r>
            <a:r>
              <a:rPr lang="en-US" b="1"/>
              <a:t> </a:t>
            </a:r>
            <a:r>
              <a:rPr lang="en-US" b="1" err="1"/>
              <a:t>và</a:t>
            </a:r>
            <a:r>
              <a:rPr lang="en-US" b="1"/>
              <a:t> </a:t>
            </a:r>
            <a:r>
              <a:rPr lang="en-US" b="1" err="1"/>
              <a:t>thông</a:t>
            </a:r>
            <a:r>
              <a:rPr lang="en-US" b="1"/>
              <a:t> tin </a:t>
            </a:r>
            <a:r>
              <a:rPr lang="en-US" b="1" err="1"/>
              <a:t>phong</a:t>
            </a:r>
            <a:r>
              <a:rPr lang="en-US" b="1"/>
              <a:t> </a:t>
            </a:r>
            <a:r>
              <a:rPr lang="en-US" b="1" err="1"/>
              <a:t>phú</a:t>
            </a:r>
            <a:r>
              <a:rPr lang="en-US"/>
              <a:t>, do </a:t>
            </a:r>
            <a:r>
              <a:rPr lang="en-US" err="1"/>
              <a:t>nhiều</a:t>
            </a:r>
            <a:r>
              <a:rPr lang="en-US"/>
              <a:t> </a:t>
            </a:r>
            <a:r>
              <a:rPr lang="en-US" err="1"/>
              <a:t>tác</a:t>
            </a:r>
            <a:r>
              <a:rPr lang="en-US"/>
              <a:t> </a:t>
            </a:r>
            <a:r>
              <a:rPr lang="en-US" err="1"/>
              <a:t>tử</a:t>
            </a:r>
            <a:r>
              <a:rPr lang="en-US"/>
              <a:t> </a:t>
            </a:r>
            <a:r>
              <a:rPr lang="en-US" err="1"/>
              <a:t>cùng</a:t>
            </a:r>
            <a:r>
              <a:rPr lang="en-US"/>
              <a:t> </a:t>
            </a:r>
            <a:r>
              <a:rPr lang="en-US" err="1"/>
              <a:t>tham</a:t>
            </a:r>
            <a:r>
              <a:rPr lang="en-US"/>
              <a:t> </a:t>
            </a:r>
            <a:r>
              <a:rPr lang="en-US" err="1"/>
              <a:t>gia</a:t>
            </a:r>
            <a:r>
              <a:rPr lang="en-US"/>
              <a:t> </a:t>
            </a:r>
            <a:r>
              <a:rPr lang="en-US" err="1"/>
              <a:t>phân</a:t>
            </a:r>
            <a:r>
              <a:rPr lang="en-US"/>
              <a:t> </a:t>
            </a:r>
            <a:r>
              <a:rPr lang="en-US" err="1"/>
              <a:t>tích</a:t>
            </a:r>
            <a:r>
              <a:rPr lang="en-US"/>
              <a:t> </a:t>
            </a:r>
            <a:r>
              <a:rPr lang="en-US" err="1"/>
              <a:t>và</a:t>
            </a:r>
            <a:r>
              <a:rPr lang="en-US"/>
              <a:t> </a:t>
            </a:r>
            <a:r>
              <a:rPr lang="en-US" err="1"/>
              <a:t>đóng</a:t>
            </a:r>
            <a:r>
              <a:rPr lang="en-US"/>
              <a:t> </a:t>
            </a:r>
            <a:r>
              <a:rPr lang="en-US" err="1"/>
              <a:t>góp</a:t>
            </a:r>
            <a:r>
              <a:rPr lang="en-US"/>
              <a:t> </a:t>
            </a:r>
            <a:r>
              <a:rPr lang="en-US" err="1"/>
              <a:t>kết</a:t>
            </a:r>
            <a:r>
              <a:rPr lang="en-US"/>
              <a:t> </a:t>
            </a:r>
            <a:r>
              <a:rPr lang="en-US" err="1"/>
              <a:t>quả</a:t>
            </a:r>
            <a:r>
              <a:rPr lang="en-US"/>
              <a:t>. </a:t>
            </a:r>
            <a:r>
              <a:rPr lang="en-US" err="1"/>
              <a:t>Điều</a:t>
            </a:r>
            <a:r>
              <a:rPr lang="en-US"/>
              <a:t> </a:t>
            </a:r>
            <a:r>
              <a:rPr lang="en-US" err="1"/>
              <a:t>này</a:t>
            </a:r>
            <a:r>
              <a:rPr lang="en-US"/>
              <a:t> </a:t>
            </a:r>
            <a:r>
              <a:rPr lang="en-US" err="1"/>
              <a:t>đặc</a:t>
            </a:r>
            <a:r>
              <a:rPr lang="en-US"/>
              <a:t> </a:t>
            </a:r>
            <a:r>
              <a:rPr lang="en-US" err="1"/>
              <a:t>biệt</a:t>
            </a:r>
            <a:r>
              <a:rPr lang="en-US"/>
              <a:t> </a:t>
            </a:r>
            <a:r>
              <a:rPr lang="en-US" err="1"/>
              <a:t>thể</a:t>
            </a:r>
            <a:r>
              <a:rPr lang="en-US"/>
              <a:t> </a:t>
            </a:r>
            <a:r>
              <a:rPr lang="en-US" err="1"/>
              <a:t>hiện</a:t>
            </a:r>
            <a:r>
              <a:rPr lang="en-US"/>
              <a:t> </a:t>
            </a:r>
            <a:r>
              <a:rPr lang="en-US" err="1"/>
              <a:t>rõ</a:t>
            </a:r>
            <a:r>
              <a:rPr lang="en-US"/>
              <a:t> </a:t>
            </a:r>
            <a:r>
              <a:rPr lang="en-US" err="1"/>
              <a:t>trong</a:t>
            </a:r>
            <a:r>
              <a:rPr lang="en-US"/>
              <a:t> </a:t>
            </a:r>
            <a:r>
              <a:rPr lang="en-US" err="1"/>
              <a:t>giao</a:t>
            </a:r>
            <a:r>
              <a:rPr lang="en-US"/>
              <a:t> </a:t>
            </a:r>
            <a:r>
              <a:rPr lang="en-US" err="1"/>
              <a:t>diện</a:t>
            </a:r>
            <a:r>
              <a:rPr lang="en-US"/>
              <a:t>, </a:t>
            </a:r>
            <a:r>
              <a:rPr lang="en-US" err="1"/>
              <a:t>nơi</a:t>
            </a:r>
            <a:r>
              <a:rPr lang="en-US"/>
              <a:t> </a:t>
            </a:r>
            <a:r>
              <a:rPr lang="en-US" err="1"/>
              <a:t>hệ</a:t>
            </a:r>
            <a:r>
              <a:rPr lang="en-US"/>
              <a:t> </a:t>
            </a:r>
            <a:r>
              <a:rPr lang="en-US" err="1"/>
              <a:t>thống</a:t>
            </a:r>
            <a:r>
              <a:rPr lang="en-US"/>
              <a:t> </a:t>
            </a:r>
            <a:r>
              <a:rPr lang="en-US" err="1"/>
              <a:t>trình</a:t>
            </a:r>
            <a:r>
              <a:rPr lang="en-US"/>
              <a:t> </a:t>
            </a:r>
            <a:r>
              <a:rPr lang="en-US" err="1"/>
              <a:t>bày</a:t>
            </a:r>
            <a:r>
              <a:rPr lang="en-US"/>
              <a:t> </a:t>
            </a:r>
            <a:r>
              <a:rPr lang="en-US" err="1"/>
              <a:t>rõ</a:t>
            </a:r>
            <a:r>
              <a:rPr lang="en-US"/>
              <a:t> </a:t>
            </a:r>
            <a:r>
              <a:rPr lang="en-US" err="1"/>
              <a:t>ràng</a:t>
            </a:r>
            <a:r>
              <a:rPr lang="en-US"/>
              <a:t> </a:t>
            </a:r>
            <a:r>
              <a:rPr lang="en-US" err="1"/>
              <a:t>lý</a:t>
            </a:r>
            <a:r>
              <a:rPr lang="en-US"/>
              <a:t> do </a:t>
            </a:r>
            <a:r>
              <a:rPr lang="en-US" err="1"/>
              <a:t>lựa</a:t>
            </a:r>
            <a:r>
              <a:rPr lang="en-US"/>
              <a:t> </a:t>
            </a:r>
            <a:r>
              <a:rPr lang="en-US" err="1"/>
              <a:t>chọn</a:t>
            </a:r>
            <a:r>
              <a:rPr lang="en-US"/>
              <a:t> </a:t>
            </a:r>
            <a:r>
              <a:rPr lang="en-US" err="1"/>
              <a:t>chiến</a:t>
            </a:r>
            <a:r>
              <a:rPr lang="en-US"/>
              <a:t> </a:t>
            </a:r>
            <a:r>
              <a:rPr lang="en-US" err="1"/>
              <a:t>lược</a:t>
            </a:r>
            <a:r>
              <a:rPr lang="en-US"/>
              <a:t> </a:t>
            </a:r>
            <a:r>
              <a:rPr lang="en-US" err="1"/>
              <a:t>gợi</a:t>
            </a:r>
            <a:r>
              <a:rPr lang="en-US"/>
              <a:t> ý (</a:t>
            </a:r>
            <a:r>
              <a:rPr lang="en-US" err="1"/>
              <a:t>thiếu</a:t>
            </a:r>
            <a:r>
              <a:rPr lang="en-US"/>
              <a:t> </a:t>
            </a:r>
            <a:r>
              <a:rPr lang="en-US" err="1"/>
              <a:t>ngữ</a:t>
            </a:r>
            <a:r>
              <a:rPr lang="en-US"/>
              <a:t> </a:t>
            </a:r>
            <a:r>
              <a:rPr lang="en-US" err="1"/>
              <a:t>cảnh</a:t>
            </a:r>
            <a:r>
              <a:rPr lang="en-US"/>
              <a:t> </a:t>
            </a:r>
            <a:r>
              <a:rPr lang="en-US" err="1"/>
              <a:t>người</a:t>
            </a:r>
            <a:r>
              <a:rPr lang="en-US"/>
              <a:t> </a:t>
            </a:r>
            <a:r>
              <a:rPr lang="en-US" err="1"/>
              <a:t>dùng</a:t>
            </a:r>
            <a:r>
              <a:rPr lang="en-US"/>
              <a:t> → </a:t>
            </a:r>
            <a:r>
              <a:rPr lang="en-US" err="1"/>
              <a:t>ưu</a:t>
            </a:r>
            <a:r>
              <a:rPr lang="en-US"/>
              <a:t> </a:t>
            </a:r>
            <a:r>
              <a:rPr lang="en-US" err="1"/>
              <a:t>tiên</a:t>
            </a:r>
            <a:r>
              <a:rPr lang="en-US"/>
              <a:t> </a:t>
            </a:r>
            <a:r>
              <a:rPr lang="en-US" err="1"/>
              <a:t>tìm</a:t>
            </a:r>
            <a:r>
              <a:rPr lang="en-US"/>
              <a:t> </a:t>
            </a:r>
            <a:r>
              <a:rPr lang="en-US" err="1"/>
              <a:t>kiếm</a:t>
            </a:r>
            <a:r>
              <a:rPr lang="en-US"/>
              <a:t> </a:t>
            </a:r>
            <a:r>
              <a:rPr lang="en-US" err="1"/>
              <a:t>theo</a:t>
            </a:r>
            <a:r>
              <a:rPr lang="en-US"/>
              <a:t> </a:t>
            </a:r>
            <a:r>
              <a:rPr lang="en-US" err="1"/>
              <a:t>độ</a:t>
            </a:r>
            <a:r>
              <a:rPr lang="en-US"/>
              <a:t> </a:t>
            </a:r>
            <a:r>
              <a:rPr lang="en-US" err="1"/>
              <a:t>phổ</a:t>
            </a:r>
            <a:r>
              <a:rPr lang="en-US"/>
              <a:t> </a:t>
            </a:r>
            <a:r>
              <a:rPr lang="en-US" err="1"/>
              <a:t>biến</a:t>
            </a:r>
            <a:r>
              <a:rPr lang="en-US"/>
              <a:t> </a:t>
            </a:r>
            <a:r>
              <a:rPr lang="en-US" err="1"/>
              <a:t>và</a:t>
            </a:r>
            <a:r>
              <a:rPr lang="en-US"/>
              <a:t> </a:t>
            </a:r>
            <a:r>
              <a:rPr lang="en-US" err="1"/>
              <a:t>tương</a:t>
            </a:r>
            <a:r>
              <a:rPr lang="en-US"/>
              <a:t> </a:t>
            </a:r>
            <a:r>
              <a:rPr lang="en-US" err="1"/>
              <a:t>đồng</a:t>
            </a:r>
            <a:r>
              <a:rPr lang="en-US"/>
              <a:t> </a:t>
            </a:r>
            <a:r>
              <a:rPr lang="en-US" err="1"/>
              <a:t>nội</a:t>
            </a:r>
            <a:r>
              <a:rPr lang="en-US"/>
              <a:t> dung). Tuy </a:t>
            </a:r>
            <a:r>
              <a:rPr lang="en-US" err="1"/>
              <a:t>nhiên</a:t>
            </a:r>
            <a:r>
              <a:rPr lang="en-US"/>
              <a:t>, </a:t>
            </a:r>
            <a:r>
              <a:rPr lang="en-US" err="1"/>
              <a:t>cơ</a:t>
            </a:r>
            <a:r>
              <a:rPr lang="en-US"/>
              <a:t> </a:t>
            </a:r>
            <a:r>
              <a:rPr lang="en-US" err="1"/>
              <a:t>chế</a:t>
            </a:r>
            <a:r>
              <a:rPr lang="en-US"/>
              <a:t> </a:t>
            </a:r>
            <a:r>
              <a:rPr lang="en-US" err="1"/>
              <a:t>phối</a:t>
            </a:r>
            <a:r>
              <a:rPr lang="en-US"/>
              <a:t> </a:t>
            </a:r>
            <a:r>
              <a:rPr lang="en-US" err="1"/>
              <a:t>hợp</a:t>
            </a:r>
            <a:r>
              <a:rPr lang="en-US"/>
              <a:t> </a:t>
            </a:r>
            <a:r>
              <a:rPr lang="en-US" err="1"/>
              <a:t>phức</a:t>
            </a:r>
            <a:r>
              <a:rPr lang="en-US"/>
              <a:t> </a:t>
            </a:r>
            <a:r>
              <a:rPr lang="en-US" err="1"/>
              <a:t>tạp</a:t>
            </a:r>
            <a:r>
              <a:rPr lang="en-US"/>
              <a:t> </a:t>
            </a:r>
            <a:r>
              <a:rPr lang="en-US" err="1"/>
              <a:t>giữa</a:t>
            </a:r>
            <a:r>
              <a:rPr lang="en-US"/>
              <a:t> </a:t>
            </a:r>
            <a:r>
              <a:rPr lang="en-US" err="1"/>
              <a:t>các</a:t>
            </a:r>
            <a:r>
              <a:rPr lang="en-US"/>
              <a:t> </a:t>
            </a:r>
            <a:r>
              <a:rPr lang="en-US" err="1"/>
              <a:t>tác</a:t>
            </a:r>
            <a:r>
              <a:rPr lang="en-US"/>
              <a:t> </a:t>
            </a:r>
            <a:r>
              <a:rPr lang="en-US" err="1"/>
              <a:t>tử</a:t>
            </a:r>
            <a:r>
              <a:rPr lang="en-US"/>
              <a:t> </a:t>
            </a:r>
            <a:r>
              <a:rPr lang="en-US" err="1"/>
              <a:t>khiến</a:t>
            </a:r>
            <a:r>
              <a:rPr lang="en-US"/>
              <a:t> </a:t>
            </a:r>
            <a:r>
              <a:rPr lang="en-US" err="1"/>
              <a:t>hệ</a:t>
            </a:r>
            <a:r>
              <a:rPr lang="en-US"/>
              <a:t> </a:t>
            </a:r>
            <a:r>
              <a:rPr lang="en-US" err="1"/>
              <a:t>thống</a:t>
            </a:r>
            <a:r>
              <a:rPr lang="en-US"/>
              <a:t> </a:t>
            </a:r>
            <a:r>
              <a:rPr lang="en-US" b="1" err="1"/>
              <a:t>tốn</a:t>
            </a:r>
            <a:r>
              <a:rPr lang="en-US" b="1"/>
              <a:t> </a:t>
            </a:r>
            <a:r>
              <a:rPr lang="en-US" b="1" err="1"/>
              <a:t>nhiều</a:t>
            </a:r>
            <a:r>
              <a:rPr lang="en-US" b="1"/>
              <a:t> </a:t>
            </a:r>
            <a:r>
              <a:rPr lang="en-US" b="1" err="1"/>
              <a:t>tài</a:t>
            </a:r>
            <a:r>
              <a:rPr lang="en-US" b="1"/>
              <a:t> </a:t>
            </a:r>
            <a:r>
              <a:rPr lang="en-US" b="1" err="1"/>
              <a:t>nguyên</a:t>
            </a:r>
            <a:r>
              <a:rPr lang="en-US" b="1"/>
              <a:t> </a:t>
            </a:r>
            <a:r>
              <a:rPr lang="en-US" b="1" err="1"/>
              <a:t>tính</a:t>
            </a:r>
            <a:r>
              <a:rPr lang="en-US" b="1"/>
              <a:t> </a:t>
            </a:r>
            <a:r>
              <a:rPr lang="en-US" b="1" err="1"/>
              <a:t>toán</a:t>
            </a:r>
            <a:r>
              <a:rPr lang="en-US" b="1"/>
              <a:t> </a:t>
            </a:r>
            <a:r>
              <a:rPr lang="en-US" b="1" err="1"/>
              <a:t>hơn</a:t>
            </a:r>
            <a:r>
              <a:rPr lang="en-US"/>
              <a:t> </a:t>
            </a:r>
            <a:r>
              <a:rPr lang="en-US" err="1"/>
              <a:t>và</a:t>
            </a:r>
            <a:r>
              <a:rPr lang="en-US"/>
              <a:t> </a:t>
            </a:r>
            <a:r>
              <a:rPr lang="en-US" err="1"/>
              <a:t>thời</a:t>
            </a:r>
            <a:r>
              <a:rPr lang="en-US"/>
              <a:t> </a:t>
            </a:r>
            <a:r>
              <a:rPr lang="en-US" err="1"/>
              <a:t>gian</a:t>
            </a:r>
            <a:r>
              <a:rPr lang="en-US"/>
              <a:t> </a:t>
            </a:r>
            <a:r>
              <a:rPr lang="en-US" err="1"/>
              <a:t>phản</a:t>
            </a:r>
            <a:r>
              <a:rPr lang="en-US"/>
              <a:t> </a:t>
            </a:r>
            <a:r>
              <a:rPr lang="en-US" err="1"/>
              <a:t>hồi</a:t>
            </a:r>
            <a:r>
              <a:rPr lang="en-US"/>
              <a:t> </a:t>
            </a:r>
            <a:r>
              <a:rPr lang="en-US" err="1"/>
              <a:t>có</a:t>
            </a:r>
            <a:r>
              <a:rPr lang="en-US"/>
              <a:t> </a:t>
            </a:r>
            <a:r>
              <a:rPr lang="en-US" err="1"/>
              <a:t>thể</a:t>
            </a:r>
            <a:r>
              <a:rPr lang="en-US"/>
              <a:t> </a:t>
            </a:r>
            <a:r>
              <a:rPr lang="en-US" err="1"/>
              <a:t>dài</a:t>
            </a:r>
            <a:r>
              <a:rPr lang="en-US"/>
              <a:t> </a:t>
            </a:r>
            <a:r>
              <a:rPr lang="en-US" err="1"/>
              <a:t>hơn</a:t>
            </a:r>
            <a:r>
              <a:rPr lang="en-US"/>
              <a:t>.</a:t>
            </a:r>
          </a:p>
          <a:p>
            <a:pPr marL="171450" indent="-171450"/>
            <a:r>
              <a:rPr lang="en-US" b="1" err="1"/>
              <a:t>ReActSystem</a:t>
            </a:r>
            <a:br>
              <a:rPr lang="en-US" b="1"/>
            </a:br>
            <a:r>
              <a:rPr lang="en-US" b="1"/>
              <a:t> </a:t>
            </a:r>
            <a:r>
              <a:rPr lang="en-US" b="1" err="1"/>
              <a:t>ReActSystem</a:t>
            </a:r>
            <a:r>
              <a:rPr lang="en-US" b="1"/>
              <a:t> </a:t>
            </a:r>
            <a:r>
              <a:rPr lang="en-US" b="1" err="1"/>
              <a:t>có</a:t>
            </a:r>
            <a:r>
              <a:rPr lang="en-US" b="1"/>
              <a:t> </a:t>
            </a:r>
            <a:r>
              <a:rPr lang="en-US" b="1" err="1"/>
              <a:t>cấu</a:t>
            </a:r>
            <a:r>
              <a:rPr lang="en-US" b="1"/>
              <a:t> </a:t>
            </a:r>
            <a:r>
              <a:rPr lang="en-US" b="1" err="1"/>
              <a:t>trúc</a:t>
            </a:r>
            <a:r>
              <a:rPr lang="en-US" b="1"/>
              <a:t> </a:t>
            </a:r>
            <a:r>
              <a:rPr lang="en-US" b="1" err="1"/>
              <a:t>đơn</a:t>
            </a:r>
            <a:r>
              <a:rPr lang="en-US" b="1"/>
              <a:t> </a:t>
            </a:r>
            <a:r>
              <a:rPr lang="en-US" b="1" err="1"/>
              <a:t>giản</a:t>
            </a:r>
            <a:r>
              <a:rPr lang="en-US" b="1"/>
              <a:t> </a:t>
            </a:r>
            <a:r>
              <a:rPr lang="en-US" b="1" err="1"/>
              <a:t>và</a:t>
            </a:r>
            <a:r>
              <a:rPr lang="en-US" b="1"/>
              <a:t> </a:t>
            </a:r>
            <a:r>
              <a:rPr lang="en-US" b="1" err="1"/>
              <a:t>gọn</a:t>
            </a:r>
            <a:r>
              <a:rPr lang="en-US" b="1"/>
              <a:t> </a:t>
            </a:r>
            <a:r>
              <a:rPr lang="en-US" b="1" err="1"/>
              <a:t>nhẹ</a:t>
            </a:r>
            <a:r>
              <a:rPr lang="en-US"/>
              <a:t>, </a:t>
            </a:r>
            <a:r>
              <a:rPr lang="en-US" err="1"/>
              <a:t>chủ</a:t>
            </a:r>
            <a:r>
              <a:rPr lang="en-US"/>
              <a:t> </a:t>
            </a:r>
            <a:r>
              <a:rPr lang="en-US" err="1"/>
              <a:t>yếu</a:t>
            </a:r>
            <a:r>
              <a:rPr lang="en-US"/>
              <a:t> </a:t>
            </a:r>
            <a:r>
              <a:rPr lang="en-US" err="1"/>
              <a:t>tập</a:t>
            </a:r>
            <a:r>
              <a:rPr lang="en-US"/>
              <a:t> </a:t>
            </a:r>
            <a:r>
              <a:rPr lang="en-US" err="1"/>
              <a:t>trung</a:t>
            </a:r>
            <a:r>
              <a:rPr lang="en-US"/>
              <a:t> </a:t>
            </a:r>
            <a:r>
              <a:rPr lang="en-US" err="1"/>
              <a:t>vào</a:t>
            </a:r>
            <a:r>
              <a:rPr lang="en-US"/>
              <a:t> </a:t>
            </a:r>
            <a:r>
              <a:rPr lang="en-US" err="1"/>
              <a:t>việc</a:t>
            </a:r>
            <a:r>
              <a:rPr lang="en-US"/>
              <a:t> </a:t>
            </a:r>
            <a:r>
              <a:rPr lang="en-US" err="1"/>
              <a:t>thực</a:t>
            </a:r>
            <a:r>
              <a:rPr lang="en-US"/>
              <a:t> </a:t>
            </a:r>
            <a:r>
              <a:rPr lang="en-US" err="1"/>
              <a:t>hiện</a:t>
            </a:r>
            <a:r>
              <a:rPr lang="en-US"/>
              <a:t> </a:t>
            </a:r>
            <a:r>
              <a:rPr lang="en-US" err="1"/>
              <a:t>hành</a:t>
            </a:r>
            <a:r>
              <a:rPr lang="en-US"/>
              <a:t> </a:t>
            </a:r>
            <a:r>
              <a:rPr lang="en-US" err="1"/>
              <a:t>động</a:t>
            </a:r>
            <a:r>
              <a:rPr lang="en-US"/>
              <a:t> </a:t>
            </a:r>
            <a:r>
              <a:rPr lang="en-US" err="1"/>
              <a:t>trực</a:t>
            </a:r>
            <a:r>
              <a:rPr lang="en-US"/>
              <a:t> </a:t>
            </a:r>
            <a:r>
              <a:rPr lang="en-US" err="1"/>
              <a:t>tiếp</a:t>
            </a:r>
            <a:r>
              <a:rPr lang="en-US"/>
              <a:t> </a:t>
            </a:r>
            <a:r>
              <a:rPr lang="en-US" err="1"/>
              <a:t>như</a:t>
            </a:r>
            <a:r>
              <a:rPr lang="en-US"/>
              <a:t> </a:t>
            </a:r>
            <a:r>
              <a:rPr lang="en-US" err="1"/>
              <a:t>tìm</a:t>
            </a:r>
            <a:r>
              <a:rPr lang="en-US"/>
              <a:t> </a:t>
            </a:r>
            <a:r>
              <a:rPr lang="en-US" err="1"/>
              <a:t>kiếm</a:t>
            </a:r>
            <a:r>
              <a:rPr lang="en-US"/>
              <a:t> </a:t>
            </a:r>
            <a:r>
              <a:rPr lang="en-US" err="1"/>
              <a:t>hoặc</a:t>
            </a:r>
            <a:r>
              <a:rPr lang="en-US"/>
              <a:t> </a:t>
            </a:r>
            <a:r>
              <a:rPr lang="en-US" err="1"/>
              <a:t>gọi</a:t>
            </a:r>
            <a:r>
              <a:rPr lang="en-US"/>
              <a:t> </a:t>
            </a:r>
            <a:r>
              <a:rPr lang="en-US" err="1"/>
              <a:t>công</a:t>
            </a:r>
            <a:r>
              <a:rPr lang="en-US"/>
              <a:t> </a:t>
            </a:r>
            <a:r>
              <a:rPr lang="en-US" err="1"/>
              <a:t>cụ</a:t>
            </a:r>
            <a:r>
              <a:rPr lang="en-US"/>
              <a:t>. Trong </a:t>
            </a:r>
            <a:r>
              <a:rPr lang="en-US" err="1"/>
              <a:t>bối</a:t>
            </a:r>
            <a:r>
              <a:rPr lang="en-US"/>
              <a:t> </a:t>
            </a:r>
            <a:r>
              <a:rPr lang="en-US" err="1"/>
              <a:t>cảnh</a:t>
            </a:r>
            <a:r>
              <a:rPr lang="en-US"/>
              <a:t> </a:t>
            </a:r>
            <a:r>
              <a:rPr lang="en-US" err="1"/>
              <a:t>gợi</a:t>
            </a:r>
            <a:r>
              <a:rPr lang="en-US"/>
              <a:t> ý </a:t>
            </a:r>
            <a:r>
              <a:rPr lang="en-US" err="1"/>
              <a:t>phim</a:t>
            </a:r>
            <a:r>
              <a:rPr lang="en-US"/>
              <a:t>, </a:t>
            </a:r>
            <a:r>
              <a:rPr lang="en-US" err="1"/>
              <a:t>hệ</a:t>
            </a:r>
            <a:r>
              <a:rPr lang="en-US"/>
              <a:t> </a:t>
            </a:r>
            <a:r>
              <a:rPr lang="en-US" err="1"/>
              <a:t>thống</a:t>
            </a:r>
            <a:r>
              <a:rPr lang="en-US"/>
              <a:t> </a:t>
            </a:r>
            <a:r>
              <a:rPr lang="en-US" err="1"/>
              <a:t>này</a:t>
            </a:r>
            <a:r>
              <a:rPr lang="en-US"/>
              <a:t> </a:t>
            </a:r>
            <a:r>
              <a:rPr lang="en-US" err="1"/>
              <a:t>phù</a:t>
            </a:r>
            <a:r>
              <a:rPr lang="en-US"/>
              <a:t> </a:t>
            </a:r>
            <a:r>
              <a:rPr lang="en-US" err="1"/>
              <a:t>hợp</a:t>
            </a:r>
            <a:r>
              <a:rPr lang="en-US"/>
              <a:t> </a:t>
            </a:r>
            <a:r>
              <a:rPr lang="en-US" err="1"/>
              <a:t>với</a:t>
            </a:r>
            <a:r>
              <a:rPr lang="en-US"/>
              <a:t> </a:t>
            </a:r>
            <a:r>
              <a:rPr lang="en-US" err="1"/>
              <a:t>các</a:t>
            </a:r>
            <a:r>
              <a:rPr lang="en-US"/>
              <a:t> </a:t>
            </a:r>
            <a:r>
              <a:rPr lang="en-US" err="1"/>
              <a:t>truy</a:t>
            </a:r>
            <a:r>
              <a:rPr lang="en-US"/>
              <a:t> </a:t>
            </a:r>
            <a:r>
              <a:rPr lang="en-US" err="1"/>
              <a:t>vấn</a:t>
            </a:r>
            <a:r>
              <a:rPr lang="en-US"/>
              <a:t> </a:t>
            </a:r>
            <a:r>
              <a:rPr lang="en-US" err="1"/>
              <a:t>ngắn</a:t>
            </a:r>
            <a:r>
              <a:rPr lang="en-US"/>
              <a:t> </a:t>
            </a:r>
            <a:r>
              <a:rPr lang="en-US" err="1"/>
              <a:t>và</a:t>
            </a:r>
            <a:r>
              <a:rPr lang="en-US"/>
              <a:t> </a:t>
            </a:r>
            <a:r>
              <a:rPr lang="en-US" err="1"/>
              <a:t>rõ</a:t>
            </a:r>
            <a:r>
              <a:rPr lang="en-US"/>
              <a:t> </a:t>
            </a:r>
            <a:r>
              <a:rPr lang="en-US" err="1"/>
              <a:t>ràng</a:t>
            </a:r>
            <a:r>
              <a:rPr lang="en-US"/>
              <a:t>, </a:t>
            </a:r>
            <a:r>
              <a:rPr lang="en-US" err="1"/>
              <a:t>nhưng</a:t>
            </a:r>
            <a:r>
              <a:rPr lang="en-US"/>
              <a:t> </a:t>
            </a:r>
            <a:r>
              <a:rPr lang="en-US" b="1" err="1"/>
              <a:t>thiếu</a:t>
            </a:r>
            <a:r>
              <a:rPr lang="en-US" b="1"/>
              <a:t> </a:t>
            </a:r>
            <a:r>
              <a:rPr lang="en-US" b="1" err="1"/>
              <a:t>khả</a:t>
            </a:r>
            <a:r>
              <a:rPr lang="en-US" b="1"/>
              <a:t> </a:t>
            </a:r>
            <a:r>
              <a:rPr lang="en-US" b="1" err="1"/>
              <a:t>năng</a:t>
            </a:r>
            <a:r>
              <a:rPr lang="en-US" b="1"/>
              <a:t> </a:t>
            </a:r>
            <a:r>
              <a:rPr lang="en-US" b="1" err="1"/>
              <a:t>duy</a:t>
            </a:r>
            <a:r>
              <a:rPr lang="en-US" b="1"/>
              <a:t> </a:t>
            </a:r>
            <a:r>
              <a:rPr lang="en-US" b="1" err="1"/>
              <a:t>trì</a:t>
            </a:r>
            <a:r>
              <a:rPr lang="en-US" b="1"/>
              <a:t> </a:t>
            </a:r>
            <a:r>
              <a:rPr lang="en-US" b="1" err="1"/>
              <a:t>và</a:t>
            </a:r>
            <a:r>
              <a:rPr lang="en-US" b="1"/>
              <a:t> </a:t>
            </a:r>
            <a:r>
              <a:rPr lang="en-US" b="1" err="1"/>
              <a:t>khai</a:t>
            </a:r>
            <a:r>
              <a:rPr lang="en-US" b="1"/>
              <a:t> </a:t>
            </a:r>
            <a:r>
              <a:rPr lang="en-US" b="1" err="1"/>
              <a:t>thác</a:t>
            </a:r>
            <a:r>
              <a:rPr lang="en-US" b="1"/>
              <a:t> </a:t>
            </a:r>
            <a:r>
              <a:rPr lang="en-US" b="1" err="1"/>
              <a:t>ngữ</a:t>
            </a:r>
            <a:r>
              <a:rPr lang="en-US" b="1"/>
              <a:t> </a:t>
            </a:r>
            <a:r>
              <a:rPr lang="en-US" b="1" err="1"/>
              <a:t>cảnh</a:t>
            </a:r>
            <a:r>
              <a:rPr lang="en-US" b="1"/>
              <a:t> </a:t>
            </a:r>
            <a:r>
              <a:rPr lang="en-US" b="1" err="1"/>
              <a:t>dài</a:t>
            </a:r>
            <a:r>
              <a:rPr lang="en-US" b="1"/>
              <a:t> </a:t>
            </a:r>
            <a:r>
              <a:rPr lang="en-US" b="1" err="1"/>
              <a:t>hạn</a:t>
            </a:r>
            <a:r>
              <a:rPr lang="en-US"/>
              <a:t>, do </a:t>
            </a:r>
            <a:r>
              <a:rPr lang="en-US" err="1"/>
              <a:t>đó</a:t>
            </a:r>
            <a:r>
              <a:rPr lang="en-US"/>
              <a:t> </a:t>
            </a:r>
            <a:r>
              <a:rPr lang="en-US" err="1"/>
              <a:t>phần</a:t>
            </a:r>
            <a:r>
              <a:rPr lang="en-US"/>
              <a:t> </a:t>
            </a:r>
            <a:r>
              <a:rPr lang="en-US" err="1"/>
              <a:t>giải</a:t>
            </a:r>
            <a:r>
              <a:rPr lang="en-US"/>
              <a:t> </a:t>
            </a:r>
            <a:r>
              <a:rPr lang="en-US" err="1"/>
              <a:t>thích</a:t>
            </a:r>
            <a:r>
              <a:rPr lang="en-US"/>
              <a:t> </a:t>
            </a:r>
            <a:r>
              <a:rPr lang="en-US" err="1"/>
              <a:t>và</a:t>
            </a:r>
            <a:r>
              <a:rPr lang="en-US"/>
              <a:t> </a:t>
            </a:r>
            <a:r>
              <a:rPr lang="en-US" err="1"/>
              <a:t>lập</a:t>
            </a:r>
            <a:r>
              <a:rPr lang="en-US"/>
              <a:t> </a:t>
            </a:r>
            <a:r>
              <a:rPr lang="en-US" err="1"/>
              <a:t>luận</a:t>
            </a:r>
            <a:r>
              <a:rPr lang="en-US"/>
              <a:t> </a:t>
            </a:r>
            <a:r>
              <a:rPr lang="en-US" err="1"/>
              <a:t>không</a:t>
            </a:r>
            <a:r>
              <a:rPr lang="en-US"/>
              <a:t> </a:t>
            </a:r>
            <a:r>
              <a:rPr lang="en-US" err="1"/>
              <a:t>sâu</a:t>
            </a:r>
            <a:r>
              <a:rPr lang="en-US"/>
              <a:t> </a:t>
            </a:r>
            <a:r>
              <a:rPr lang="en-US" err="1"/>
              <a:t>như</a:t>
            </a:r>
            <a:r>
              <a:rPr lang="en-US"/>
              <a:t> </a:t>
            </a:r>
            <a:r>
              <a:rPr lang="en-US" err="1"/>
              <a:t>các</a:t>
            </a:r>
            <a:r>
              <a:rPr lang="en-US"/>
              <a:t> </a:t>
            </a:r>
            <a:r>
              <a:rPr lang="en-US" err="1"/>
              <a:t>hệ</a:t>
            </a:r>
            <a:r>
              <a:rPr lang="en-US"/>
              <a:t> </a:t>
            </a:r>
            <a:r>
              <a:rPr lang="en-US" err="1"/>
              <a:t>thống</a:t>
            </a:r>
            <a:r>
              <a:rPr lang="en-US"/>
              <a:t> </a:t>
            </a:r>
            <a:r>
              <a:rPr lang="en-US" err="1"/>
              <a:t>đa</a:t>
            </a:r>
            <a:r>
              <a:rPr lang="en-US"/>
              <a:t> </a:t>
            </a:r>
            <a:r>
              <a:rPr lang="en-US" err="1"/>
              <a:t>tác</a:t>
            </a:r>
            <a:r>
              <a:rPr lang="en-US"/>
              <a:t> </a:t>
            </a:r>
            <a:r>
              <a:rPr lang="en-US" err="1"/>
              <a:t>tử</a:t>
            </a:r>
            <a:r>
              <a:rPr lang="en-US"/>
              <a:t>.</a:t>
            </a:r>
          </a:p>
          <a:p>
            <a:pPr marL="171450" indent="-171450"/>
            <a:r>
              <a:rPr lang="en-US" b="1"/>
              <a:t>Multi-Agent Approach</a:t>
            </a:r>
            <a:br>
              <a:rPr lang="en-US" b="1"/>
            </a:br>
            <a:r>
              <a:rPr lang="en-US" b="1"/>
              <a:t> Phương </a:t>
            </a:r>
            <a:r>
              <a:rPr lang="en-US" b="1" err="1"/>
              <a:t>pháp</a:t>
            </a:r>
            <a:r>
              <a:rPr lang="en-US" b="1"/>
              <a:t> </a:t>
            </a:r>
            <a:r>
              <a:rPr lang="en-US" b="1" err="1"/>
              <a:t>đa</a:t>
            </a:r>
            <a:r>
              <a:rPr lang="en-US" b="1"/>
              <a:t> </a:t>
            </a:r>
            <a:r>
              <a:rPr lang="en-US" b="1" err="1"/>
              <a:t>tác</a:t>
            </a:r>
            <a:r>
              <a:rPr lang="en-US" b="1"/>
              <a:t> </a:t>
            </a:r>
            <a:r>
              <a:rPr lang="en-US" b="1" err="1"/>
              <a:t>tử</a:t>
            </a:r>
            <a:r>
              <a:rPr lang="en-US" b="1"/>
              <a:t> </a:t>
            </a:r>
            <a:r>
              <a:rPr lang="en-US" b="1" err="1"/>
              <a:t>thể</a:t>
            </a:r>
            <a:r>
              <a:rPr lang="en-US" b="1"/>
              <a:t> </a:t>
            </a:r>
            <a:r>
              <a:rPr lang="en-US" b="1" err="1"/>
              <a:t>hiện</a:t>
            </a:r>
            <a:r>
              <a:rPr lang="en-US" b="1"/>
              <a:t> </a:t>
            </a:r>
            <a:r>
              <a:rPr lang="en-US" b="1" err="1"/>
              <a:t>ưu</a:t>
            </a:r>
            <a:r>
              <a:rPr lang="en-US" b="1"/>
              <a:t> </a:t>
            </a:r>
            <a:r>
              <a:rPr lang="en-US" b="1" err="1"/>
              <a:t>thế</a:t>
            </a:r>
            <a:r>
              <a:rPr lang="en-US" b="1"/>
              <a:t> </a:t>
            </a:r>
            <a:r>
              <a:rPr lang="en-US" b="1" err="1"/>
              <a:t>rõ</a:t>
            </a:r>
            <a:r>
              <a:rPr lang="en-US" b="1"/>
              <a:t> </a:t>
            </a:r>
            <a:r>
              <a:rPr lang="en-US" b="1" err="1"/>
              <a:t>rệt</a:t>
            </a:r>
            <a:r>
              <a:rPr lang="en-US" b="1"/>
              <a:t> </a:t>
            </a:r>
            <a:r>
              <a:rPr lang="en-US" b="1" err="1"/>
              <a:t>trong</a:t>
            </a:r>
            <a:r>
              <a:rPr lang="en-US" b="1"/>
              <a:t> </a:t>
            </a:r>
            <a:r>
              <a:rPr lang="en-US" b="1" err="1"/>
              <a:t>kịch</a:t>
            </a:r>
            <a:r>
              <a:rPr lang="en-US" b="1"/>
              <a:t> </a:t>
            </a:r>
            <a:r>
              <a:rPr lang="en-US" b="1" err="1"/>
              <a:t>bản</a:t>
            </a:r>
            <a:r>
              <a:rPr lang="en-US" b="1"/>
              <a:t> </a:t>
            </a:r>
            <a:r>
              <a:rPr lang="en-US" b="1" err="1"/>
              <a:t>gợi</a:t>
            </a:r>
            <a:r>
              <a:rPr lang="en-US" b="1"/>
              <a:t> ý </a:t>
            </a:r>
            <a:r>
              <a:rPr lang="en-US" b="1" err="1"/>
              <a:t>phim</a:t>
            </a:r>
            <a:r>
              <a:rPr lang="en-US" b="1"/>
              <a:t> </a:t>
            </a:r>
            <a:r>
              <a:rPr lang="en-US" b="1" err="1"/>
              <a:t>hội</a:t>
            </a:r>
            <a:r>
              <a:rPr lang="en-US" b="1"/>
              <a:t> </a:t>
            </a:r>
            <a:r>
              <a:rPr lang="en-US" b="1" err="1"/>
              <a:t>thoại</a:t>
            </a:r>
            <a:r>
              <a:rPr lang="en-US" b="1"/>
              <a:t>. </a:t>
            </a:r>
            <a:r>
              <a:rPr lang="en-US" b="1" err="1"/>
              <a:t>Nhờ</a:t>
            </a:r>
            <a:r>
              <a:rPr lang="en-US" b="1"/>
              <a:t> </a:t>
            </a:r>
            <a:r>
              <a:rPr lang="en-US" b="1" err="1"/>
              <a:t>sự</a:t>
            </a:r>
            <a:r>
              <a:rPr lang="en-US" b="1"/>
              <a:t> </a:t>
            </a:r>
            <a:r>
              <a:rPr lang="en-US" b="1" err="1"/>
              <a:t>chuyên</a:t>
            </a:r>
            <a:r>
              <a:rPr lang="en-US" b="1"/>
              <a:t> </a:t>
            </a:r>
            <a:r>
              <a:rPr lang="en-US" b="1" err="1"/>
              <a:t>môn</a:t>
            </a:r>
            <a:r>
              <a:rPr lang="en-US" b="1"/>
              <a:t> </a:t>
            </a:r>
            <a:r>
              <a:rPr lang="en-US" b="1" err="1"/>
              <a:t>hóa</a:t>
            </a:r>
            <a:r>
              <a:rPr lang="en-US" b="1"/>
              <a:t> </a:t>
            </a:r>
            <a:r>
              <a:rPr lang="en-US" b="1" err="1"/>
              <a:t>của</a:t>
            </a:r>
            <a:r>
              <a:rPr lang="en-US" b="1"/>
              <a:t> </a:t>
            </a:r>
            <a:r>
              <a:rPr lang="en-US" b="1" err="1"/>
              <a:t>từng</a:t>
            </a:r>
            <a:r>
              <a:rPr lang="en-US" b="1"/>
              <a:t> </a:t>
            </a:r>
            <a:r>
              <a:rPr lang="en-US" b="1" err="1"/>
              <a:t>tác</a:t>
            </a:r>
            <a:r>
              <a:rPr lang="en-US" b="1"/>
              <a:t> </a:t>
            </a:r>
            <a:r>
              <a:rPr lang="en-US" b="1" err="1"/>
              <a:t>tử</a:t>
            </a:r>
            <a:r>
              <a:rPr lang="en-US"/>
              <a:t>, </a:t>
            </a:r>
            <a:r>
              <a:rPr lang="en-US" err="1"/>
              <a:t>hệ</a:t>
            </a:r>
            <a:r>
              <a:rPr lang="en-US"/>
              <a:t> </a:t>
            </a:r>
            <a:r>
              <a:rPr lang="en-US" err="1"/>
              <a:t>thống</a:t>
            </a:r>
            <a:r>
              <a:rPr lang="en-US"/>
              <a:t> </a:t>
            </a:r>
            <a:r>
              <a:rPr lang="en-US" err="1"/>
              <a:t>tạo</a:t>
            </a:r>
            <a:r>
              <a:rPr lang="en-US"/>
              <a:t> </a:t>
            </a:r>
            <a:r>
              <a:rPr lang="en-US" err="1"/>
              <a:t>ra</a:t>
            </a:r>
            <a:r>
              <a:rPr lang="en-US"/>
              <a:t> </a:t>
            </a:r>
            <a:r>
              <a:rPr lang="en-US" err="1"/>
              <a:t>các</a:t>
            </a:r>
            <a:r>
              <a:rPr lang="en-US"/>
              <a:t> </a:t>
            </a:r>
            <a:r>
              <a:rPr lang="en-US" err="1"/>
              <a:t>phản</a:t>
            </a:r>
            <a:r>
              <a:rPr lang="en-US"/>
              <a:t> </a:t>
            </a:r>
            <a:r>
              <a:rPr lang="en-US" err="1"/>
              <a:t>hồi</a:t>
            </a:r>
            <a:r>
              <a:rPr lang="en-US"/>
              <a:t> </a:t>
            </a:r>
            <a:r>
              <a:rPr lang="en-US" b="1" err="1"/>
              <a:t>tự</a:t>
            </a:r>
            <a:r>
              <a:rPr lang="en-US" b="1"/>
              <a:t> </a:t>
            </a:r>
            <a:r>
              <a:rPr lang="en-US" b="1" err="1"/>
              <a:t>nhiên</a:t>
            </a:r>
            <a:r>
              <a:rPr lang="en-US" b="1"/>
              <a:t>, </a:t>
            </a:r>
            <a:r>
              <a:rPr lang="en-US" b="1" err="1"/>
              <a:t>mạch</a:t>
            </a:r>
            <a:r>
              <a:rPr lang="en-US" b="1"/>
              <a:t> </a:t>
            </a:r>
            <a:r>
              <a:rPr lang="en-US" b="1" err="1"/>
              <a:t>lạc</a:t>
            </a:r>
            <a:r>
              <a:rPr lang="en-US" b="1"/>
              <a:t> </a:t>
            </a:r>
            <a:r>
              <a:rPr lang="en-US" b="1" err="1"/>
              <a:t>và</a:t>
            </a:r>
            <a:r>
              <a:rPr lang="en-US" b="1"/>
              <a:t> </a:t>
            </a:r>
            <a:r>
              <a:rPr lang="en-US" b="1" err="1"/>
              <a:t>có</a:t>
            </a:r>
            <a:r>
              <a:rPr lang="en-US" b="1"/>
              <a:t> </a:t>
            </a:r>
            <a:r>
              <a:rPr lang="en-US" b="1" err="1"/>
              <a:t>giá</a:t>
            </a:r>
            <a:r>
              <a:rPr lang="en-US" b="1"/>
              <a:t> </a:t>
            </a:r>
            <a:r>
              <a:rPr lang="en-US" b="1" err="1"/>
              <a:t>trị</a:t>
            </a:r>
            <a:r>
              <a:rPr lang="en-US" b="1"/>
              <a:t> </a:t>
            </a:r>
            <a:r>
              <a:rPr lang="en-US" b="1" err="1"/>
              <a:t>sử</a:t>
            </a:r>
            <a:r>
              <a:rPr lang="en-US" b="1"/>
              <a:t> </a:t>
            </a:r>
            <a:r>
              <a:rPr lang="en-US" b="1" err="1"/>
              <a:t>dụng</a:t>
            </a:r>
            <a:r>
              <a:rPr lang="en-US" b="1"/>
              <a:t> </a:t>
            </a:r>
            <a:r>
              <a:rPr lang="en-US" b="1" err="1"/>
              <a:t>cao</a:t>
            </a:r>
            <a:r>
              <a:rPr lang="en-US"/>
              <a:t>, </a:t>
            </a:r>
            <a:r>
              <a:rPr lang="en-US" err="1"/>
              <a:t>đồng</a:t>
            </a:r>
            <a:r>
              <a:rPr lang="en-US"/>
              <a:t> </a:t>
            </a:r>
            <a:r>
              <a:rPr lang="en-US" err="1"/>
              <a:t>thời</a:t>
            </a:r>
            <a:r>
              <a:rPr lang="en-US"/>
              <a:t> </a:t>
            </a:r>
            <a:r>
              <a:rPr lang="en-US" err="1"/>
              <a:t>đảm</a:t>
            </a:r>
            <a:r>
              <a:rPr lang="en-US"/>
              <a:t> </a:t>
            </a:r>
            <a:r>
              <a:rPr lang="en-US" err="1"/>
              <a:t>bảo</a:t>
            </a:r>
            <a:r>
              <a:rPr lang="en-US"/>
              <a:t> </a:t>
            </a:r>
            <a:r>
              <a:rPr lang="en-US" err="1"/>
              <a:t>tính</a:t>
            </a:r>
            <a:r>
              <a:rPr lang="en-US"/>
              <a:t> logic </a:t>
            </a:r>
            <a:r>
              <a:rPr lang="en-US" err="1"/>
              <a:t>từ</a:t>
            </a:r>
            <a:r>
              <a:rPr lang="en-US"/>
              <a:t> </a:t>
            </a:r>
            <a:r>
              <a:rPr lang="en-US" err="1"/>
              <a:t>phân</a:t>
            </a:r>
            <a:r>
              <a:rPr lang="en-US"/>
              <a:t> </a:t>
            </a:r>
            <a:r>
              <a:rPr lang="en-US" err="1"/>
              <a:t>tích</a:t>
            </a:r>
            <a:r>
              <a:rPr lang="en-US"/>
              <a:t> </a:t>
            </a:r>
            <a:r>
              <a:rPr lang="en-US" err="1"/>
              <a:t>yêu</a:t>
            </a:r>
            <a:r>
              <a:rPr lang="en-US"/>
              <a:t> </a:t>
            </a:r>
            <a:r>
              <a:rPr lang="en-US" err="1"/>
              <a:t>cầu</a:t>
            </a:r>
            <a:r>
              <a:rPr lang="en-US"/>
              <a:t> </a:t>
            </a:r>
            <a:r>
              <a:rPr lang="en-US" err="1"/>
              <a:t>đến</a:t>
            </a:r>
            <a:r>
              <a:rPr lang="en-US"/>
              <a:t> </a:t>
            </a:r>
            <a:r>
              <a:rPr lang="en-US" err="1"/>
              <a:t>tổng</a:t>
            </a:r>
            <a:r>
              <a:rPr lang="en-US"/>
              <a:t> </a:t>
            </a:r>
            <a:r>
              <a:rPr lang="en-US" err="1"/>
              <a:t>hợp</a:t>
            </a:r>
            <a:r>
              <a:rPr lang="en-US"/>
              <a:t> </a:t>
            </a:r>
            <a:r>
              <a:rPr lang="en-US" err="1"/>
              <a:t>kết</a:t>
            </a:r>
            <a:r>
              <a:rPr lang="en-US"/>
              <a:t> </a:t>
            </a:r>
            <a:r>
              <a:rPr lang="en-US" err="1"/>
              <a:t>quả</a:t>
            </a:r>
            <a:r>
              <a:rPr lang="en-US"/>
              <a:t>. Giao </a:t>
            </a:r>
            <a:r>
              <a:rPr lang="en-US" err="1"/>
              <a:t>diện</a:t>
            </a:r>
            <a:r>
              <a:rPr lang="en-US"/>
              <a:t> log </a:t>
            </a:r>
            <a:r>
              <a:rPr lang="en-US" err="1"/>
              <a:t>trong</a:t>
            </a:r>
            <a:r>
              <a:rPr lang="en-US"/>
              <a:t> </a:t>
            </a:r>
            <a:r>
              <a:rPr lang="en-US" err="1"/>
              <a:t>hình</a:t>
            </a:r>
            <a:r>
              <a:rPr lang="en-US"/>
              <a:t> </a:t>
            </a:r>
            <a:r>
              <a:rPr lang="en-US" err="1"/>
              <a:t>cho</a:t>
            </a:r>
            <a:r>
              <a:rPr lang="en-US"/>
              <a:t> </a:t>
            </a:r>
            <a:r>
              <a:rPr lang="en-US" err="1"/>
              <a:t>thấy</a:t>
            </a:r>
            <a:r>
              <a:rPr lang="en-US"/>
              <a:t> </a:t>
            </a:r>
            <a:r>
              <a:rPr lang="en-US" err="1"/>
              <a:t>mô</a:t>
            </a:r>
            <a:r>
              <a:rPr lang="en-US"/>
              <a:t> </a:t>
            </a:r>
            <a:r>
              <a:rPr lang="en-US" err="1"/>
              <a:t>hình</a:t>
            </a:r>
            <a:r>
              <a:rPr lang="en-US"/>
              <a:t> </a:t>
            </a:r>
            <a:r>
              <a:rPr lang="en-US" err="1"/>
              <a:t>này</a:t>
            </a:r>
            <a:r>
              <a:rPr lang="en-US"/>
              <a:t> </a:t>
            </a:r>
            <a:r>
              <a:rPr lang="en-US" err="1"/>
              <a:t>không</a:t>
            </a:r>
            <a:r>
              <a:rPr lang="en-US"/>
              <a:t> </a:t>
            </a:r>
            <a:r>
              <a:rPr lang="en-US" err="1"/>
              <a:t>chỉ</a:t>
            </a:r>
            <a:r>
              <a:rPr lang="en-US"/>
              <a:t> </a:t>
            </a:r>
            <a:r>
              <a:rPr lang="en-US" err="1"/>
              <a:t>đưa</a:t>
            </a:r>
            <a:r>
              <a:rPr lang="en-US"/>
              <a:t> </a:t>
            </a:r>
            <a:r>
              <a:rPr lang="en-US" err="1"/>
              <a:t>ra</a:t>
            </a:r>
            <a:r>
              <a:rPr lang="en-US"/>
              <a:t> </a:t>
            </a:r>
            <a:r>
              <a:rPr lang="en-US" err="1"/>
              <a:t>danh</a:t>
            </a:r>
            <a:r>
              <a:rPr lang="en-US"/>
              <a:t> </a:t>
            </a:r>
            <a:r>
              <a:rPr lang="en-US" err="1"/>
              <a:t>sách</a:t>
            </a:r>
            <a:r>
              <a:rPr lang="en-US"/>
              <a:t> </a:t>
            </a:r>
            <a:r>
              <a:rPr lang="en-US" err="1"/>
              <a:t>phim</a:t>
            </a:r>
            <a:r>
              <a:rPr lang="en-US"/>
              <a:t> </a:t>
            </a:r>
            <a:r>
              <a:rPr lang="en-US" err="1"/>
              <a:t>gợi</a:t>
            </a:r>
            <a:r>
              <a:rPr lang="en-US"/>
              <a:t> ý, </a:t>
            </a:r>
            <a:r>
              <a:rPr lang="en-US" err="1"/>
              <a:t>mà</a:t>
            </a:r>
            <a:r>
              <a:rPr lang="en-US"/>
              <a:t> </a:t>
            </a:r>
            <a:r>
              <a:rPr lang="en-US" err="1"/>
              <a:t>còn</a:t>
            </a:r>
            <a:r>
              <a:rPr lang="en-US"/>
              <a:t> </a:t>
            </a:r>
            <a:r>
              <a:rPr lang="en-US" err="1"/>
              <a:t>thể</a:t>
            </a:r>
            <a:r>
              <a:rPr lang="en-US"/>
              <a:t> </a:t>
            </a:r>
            <a:r>
              <a:rPr lang="en-US" err="1"/>
              <a:t>hiện</a:t>
            </a:r>
            <a:r>
              <a:rPr lang="en-US"/>
              <a:t> </a:t>
            </a:r>
            <a:r>
              <a:rPr lang="en-US" err="1"/>
              <a:t>được</a:t>
            </a:r>
            <a:r>
              <a:rPr lang="en-US"/>
              <a:t> </a:t>
            </a:r>
            <a:r>
              <a:rPr lang="en-US" b="1" err="1"/>
              <a:t>quá</a:t>
            </a:r>
            <a:r>
              <a:rPr lang="en-US" b="1"/>
              <a:t> </a:t>
            </a:r>
            <a:r>
              <a:rPr lang="en-US" b="1" err="1"/>
              <a:t>trình</a:t>
            </a:r>
            <a:r>
              <a:rPr lang="en-US" b="1"/>
              <a:t> </a:t>
            </a:r>
            <a:r>
              <a:rPr lang="en-US" b="1" err="1"/>
              <a:t>ra</a:t>
            </a:r>
            <a:r>
              <a:rPr lang="en-US" b="1"/>
              <a:t> </a:t>
            </a:r>
            <a:r>
              <a:rPr lang="en-US" b="1" err="1"/>
              <a:t>quyết</a:t>
            </a:r>
            <a:r>
              <a:rPr lang="en-US" b="1"/>
              <a:t> </a:t>
            </a:r>
            <a:r>
              <a:rPr lang="en-US" b="1" err="1"/>
              <a:t>định</a:t>
            </a:r>
            <a:r>
              <a:rPr lang="en-US"/>
              <a:t>, </a:t>
            </a:r>
            <a:r>
              <a:rPr lang="en-US" err="1"/>
              <a:t>giúp</a:t>
            </a:r>
            <a:r>
              <a:rPr lang="en-US"/>
              <a:t> </a:t>
            </a:r>
            <a:r>
              <a:rPr lang="en-US" err="1"/>
              <a:t>tăng</a:t>
            </a:r>
            <a:r>
              <a:rPr lang="en-US"/>
              <a:t> </a:t>
            </a:r>
            <a:r>
              <a:rPr lang="en-US" err="1"/>
              <a:t>độ</a:t>
            </a:r>
            <a:r>
              <a:rPr lang="en-US"/>
              <a:t> tin </a:t>
            </a:r>
            <a:r>
              <a:rPr lang="en-US" err="1"/>
              <a:t>cậy</a:t>
            </a:r>
            <a:r>
              <a:rPr lang="en-US"/>
              <a:t> </a:t>
            </a:r>
            <a:r>
              <a:rPr lang="en-US" err="1"/>
              <a:t>và</a:t>
            </a:r>
            <a:r>
              <a:rPr lang="en-US"/>
              <a:t> </a:t>
            </a:r>
            <a:r>
              <a:rPr lang="en-US" err="1"/>
              <a:t>khả</a:t>
            </a:r>
            <a:r>
              <a:rPr lang="en-US"/>
              <a:t> </a:t>
            </a:r>
            <a:r>
              <a:rPr lang="en-US" err="1"/>
              <a:t>năng</a:t>
            </a:r>
            <a:r>
              <a:rPr lang="en-US"/>
              <a:t> </a:t>
            </a:r>
            <a:r>
              <a:rPr lang="en-US" err="1"/>
              <a:t>giải</a:t>
            </a:r>
            <a:r>
              <a:rPr lang="en-US"/>
              <a:t> </a:t>
            </a:r>
            <a:r>
              <a:rPr lang="en-US" err="1"/>
              <a:t>thích</a:t>
            </a:r>
            <a:r>
              <a:rPr lang="en-US"/>
              <a:t> </a:t>
            </a:r>
            <a:r>
              <a:rPr lang="en-US" err="1"/>
              <a:t>của</a:t>
            </a:r>
            <a:r>
              <a:rPr lang="en-US"/>
              <a:t> </a:t>
            </a:r>
            <a:r>
              <a:rPr lang="en-US" err="1"/>
              <a:t>hệ</a:t>
            </a:r>
            <a:r>
              <a:rPr lang="en-US"/>
              <a:t> </a:t>
            </a:r>
            <a:r>
              <a:rPr lang="en-US" err="1"/>
              <a:t>thống</a:t>
            </a:r>
            <a:r>
              <a:rPr lang="en-US"/>
              <a:t>.</a:t>
            </a:r>
          </a:p>
          <a:p>
            <a:pPr indent="0">
              <a:buNone/>
            </a:pPr>
            <a:r>
              <a:rPr lang="en-US" err="1"/>
              <a:t>Nhận</a:t>
            </a:r>
            <a:r>
              <a:rPr lang="en-US"/>
              <a:t> </a:t>
            </a:r>
            <a:r>
              <a:rPr lang="en-US" err="1"/>
              <a:t>xét</a:t>
            </a:r>
            <a:r>
              <a:rPr lang="en-US"/>
              <a:t> </a:t>
            </a:r>
            <a:r>
              <a:rPr lang="en-US" err="1"/>
              <a:t>tổng</a:t>
            </a:r>
            <a:r>
              <a:rPr lang="en-US"/>
              <a:t> </a:t>
            </a:r>
            <a:r>
              <a:rPr lang="en-US" err="1"/>
              <a:t>quan</a:t>
            </a:r>
          </a:p>
          <a:p>
            <a:pPr>
              <a:buNone/>
            </a:pPr>
            <a:r>
              <a:rPr lang="en-US" err="1"/>
              <a:t>Nhìn</a:t>
            </a:r>
            <a:r>
              <a:rPr lang="en-US"/>
              <a:t> </a:t>
            </a:r>
            <a:r>
              <a:rPr lang="en-US" err="1"/>
              <a:t>chung</a:t>
            </a:r>
            <a:r>
              <a:rPr lang="en-US"/>
              <a:t>, </a:t>
            </a:r>
            <a:r>
              <a:rPr lang="en-US" err="1"/>
              <a:t>hoạt</a:t>
            </a:r>
            <a:r>
              <a:rPr lang="en-US"/>
              <a:t> </a:t>
            </a:r>
            <a:r>
              <a:rPr lang="en-US" err="1"/>
              <a:t>động</a:t>
            </a:r>
            <a:r>
              <a:rPr lang="en-US"/>
              <a:t> </a:t>
            </a:r>
            <a:r>
              <a:rPr lang="en-US" err="1"/>
              <a:t>gợi</a:t>
            </a:r>
            <a:r>
              <a:rPr lang="en-US"/>
              <a:t> ý </a:t>
            </a:r>
            <a:r>
              <a:rPr lang="en-US" err="1"/>
              <a:t>phim</a:t>
            </a:r>
            <a:r>
              <a:rPr lang="en-US"/>
              <a:t> </a:t>
            </a:r>
            <a:r>
              <a:rPr lang="en-US" err="1"/>
              <a:t>trong</a:t>
            </a:r>
            <a:r>
              <a:rPr lang="en-US"/>
              <a:t> </a:t>
            </a:r>
            <a:r>
              <a:rPr lang="en-US" err="1"/>
              <a:t>hình</a:t>
            </a:r>
            <a:r>
              <a:rPr lang="en-US"/>
              <a:t> </a:t>
            </a:r>
            <a:r>
              <a:rPr lang="en-US" err="1"/>
              <a:t>minh</a:t>
            </a:r>
            <a:r>
              <a:rPr lang="en-US"/>
              <a:t> </a:t>
            </a:r>
            <a:r>
              <a:rPr lang="en-US" err="1"/>
              <a:t>họa</a:t>
            </a:r>
            <a:r>
              <a:rPr lang="en-US"/>
              <a:t> </a:t>
            </a:r>
            <a:r>
              <a:rPr lang="en-US" err="1"/>
              <a:t>rằng</a:t>
            </a:r>
            <a:r>
              <a:rPr lang="en-US"/>
              <a:t> </a:t>
            </a:r>
            <a:r>
              <a:rPr lang="en-US" b="1"/>
              <a:t>Multi-Agent Recommendation System</a:t>
            </a:r>
            <a:r>
              <a:rPr lang="en-US"/>
              <a:t> </a:t>
            </a:r>
            <a:r>
              <a:rPr lang="en-US" err="1"/>
              <a:t>là</a:t>
            </a:r>
            <a:r>
              <a:rPr lang="en-US"/>
              <a:t> </a:t>
            </a:r>
            <a:r>
              <a:rPr lang="en-US" err="1"/>
              <a:t>một</a:t>
            </a:r>
            <a:r>
              <a:rPr lang="en-US"/>
              <a:t> </a:t>
            </a:r>
            <a:r>
              <a:rPr lang="en-US" err="1"/>
              <a:t>hướng</a:t>
            </a:r>
            <a:r>
              <a:rPr lang="en-US"/>
              <a:t> </a:t>
            </a:r>
            <a:r>
              <a:rPr lang="en-US" err="1"/>
              <a:t>tiếp</a:t>
            </a:r>
            <a:r>
              <a:rPr lang="en-US"/>
              <a:t> </a:t>
            </a:r>
            <a:r>
              <a:rPr lang="en-US" err="1"/>
              <a:t>cận</a:t>
            </a:r>
            <a:r>
              <a:rPr lang="en-US"/>
              <a:t> </a:t>
            </a:r>
            <a:r>
              <a:rPr lang="en-US" err="1"/>
              <a:t>hiệu</a:t>
            </a:r>
            <a:r>
              <a:rPr lang="en-US"/>
              <a:t> </a:t>
            </a:r>
            <a:r>
              <a:rPr lang="en-US" err="1"/>
              <a:t>quả</a:t>
            </a:r>
            <a:r>
              <a:rPr lang="en-US"/>
              <a:t> </a:t>
            </a:r>
            <a:r>
              <a:rPr lang="en-US" err="1"/>
              <a:t>cho</a:t>
            </a:r>
            <a:r>
              <a:rPr lang="en-US"/>
              <a:t> </a:t>
            </a:r>
            <a:r>
              <a:rPr lang="en-US" err="1"/>
              <a:t>các</a:t>
            </a:r>
            <a:r>
              <a:rPr lang="en-US"/>
              <a:t> </a:t>
            </a:r>
            <a:r>
              <a:rPr lang="en-US" err="1"/>
              <a:t>bài</a:t>
            </a:r>
            <a:r>
              <a:rPr lang="en-US"/>
              <a:t> </a:t>
            </a:r>
            <a:r>
              <a:rPr lang="en-US" err="1"/>
              <a:t>toán</a:t>
            </a:r>
            <a:r>
              <a:rPr lang="en-US"/>
              <a:t> </a:t>
            </a:r>
            <a:r>
              <a:rPr lang="en-US" err="1"/>
              <a:t>gợi</a:t>
            </a:r>
            <a:r>
              <a:rPr lang="en-US"/>
              <a:t> ý </a:t>
            </a:r>
            <a:r>
              <a:rPr lang="en-US" err="1"/>
              <a:t>hiện</a:t>
            </a:r>
            <a:r>
              <a:rPr lang="en-US"/>
              <a:t> </a:t>
            </a:r>
            <a:r>
              <a:rPr lang="en-US" err="1"/>
              <a:t>đại</a:t>
            </a:r>
            <a:r>
              <a:rPr lang="en-US"/>
              <a:t>, </a:t>
            </a:r>
            <a:r>
              <a:rPr lang="en-US" err="1"/>
              <a:t>đặc</a:t>
            </a:r>
            <a:r>
              <a:rPr lang="en-US"/>
              <a:t> </a:t>
            </a:r>
            <a:r>
              <a:rPr lang="en-US" err="1"/>
              <a:t>biệt</a:t>
            </a:r>
            <a:r>
              <a:rPr lang="en-US"/>
              <a:t> </a:t>
            </a:r>
            <a:r>
              <a:rPr lang="en-US" err="1"/>
              <a:t>trong</a:t>
            </a:r>
            <a:r>
              <a:rPr lang="en-US"/>
              <a:t> </a:t>
            </a:r>
            <a:r>
              <a:rPr lang="en-US" err="1"/>
              <a:t>bối</a:t>
            </a:r>
            <a:r>
              <a:rPr lang="en-US"/>
              <a:t> </a:t>
            </a:r>
            <a:r>
              <a:rPr lang="en-US" err="1"/>
              <a:t>cảnh</a:t>
            </a:r>
            <a:r>
              <a:rPr lang="en-US"/>
              <a:t> </a:t>
            </a:r>
            <a:r>
              <a:rPr lang="en-US" err="1"/>
              <a:t>hội</a:t>
            </a:r>
            <a:r>
              <a:rPr lang="en-US"/>
              <a:t> </a:t>
            </a:r>
            <a:r>
              <a:rPr lang="en-US" err="1"/>
              <a:t>thoại</a:t>
            </a:r>
            <a:r>
              <a:rPr lang="en-US"/>
              <a:t> </a:t>
            </a:r>
            <a:r>
              <a:rPr lang="en-US" err="1"/>
              <a:t>và</a:t>
            </a:r>
            <a:r>
              <a:rPr lang="en-US"/>
              <a:t> </a:t>
            </a:r>
            <a:r>
              <a:rPr lang="en-US" err="1"/>
              <a:t>thiếu</a:t>
            </a:r>
            <a:r>
              <a:rPr lang="en-US"/>
              <a:t> </a:t>
            </a:r>
            <a:r>
              <a:rPr lang="en-US" err="1"/>
              <a:t>hồ</a:t>
            </a:r>
            <a:r>
              <a:rPr lang="en-US"/>
              <a:t> </a:t>
            </a:r>
            <a:r>
              <a:rPr lang="en-US" err="1"/>
              <a:t>sơ</a:t>
            </a:r>
            <a:r>
              <a:rPr lang="en-US"/>
              <a:t> </a:t>
            </a:r>
            <a:r>
              <a:rPr lang="en-US" err="1"/>
              <a:t>người</a:t>
            </a:r>
            <a:r>
              <a:rPr lang="en-US"/>
              <a:t> </a:t>
            </a:r>
            <a:r>
              <a:rPr lang="en-US" err="1"/>
              <a:t>dùng</a:t>
            </a:r>
            <a:r>
              <a:rPr lang="en-US"/>
              <a:t>. </a:t>
            </a:r>
            <a:r>
              <a:rPr lang="en-US" err="1"/>
              <a:t>Mặc</a:t>
            </a:r>
            <a:r>
              <a:rPr lang="en-US"/>
              <a:t> </a:t>
            </a:r>
            <a:r>
              <a:rPr lang="en-US" err="1"/>
              <a:t>dù</a:t>
            </a:r>
            <a:r>
              <a:rPr lang="en-US"/>
              <a:t> chi </a:t>
            </a:r>
            <a:r>
              <a:rPr lang="en-US" err="1"/>
              <a:t>phí</a:t>
            </a:r>
            <a:r>
              <a:rPr lang="en-US"/>
              <a:t> </a:t>
            </a:r>
            <a:r>
              <a:rPr lang="en-US" err="1"/>
              <a:t>tài</a:t>
            </a:r>
            <a:r>
              <a:rPr lang="en-US"/>
              <a:t> </a:t>
            </a:r>
            <a:r>
              <a:rPr lang="en-US" err="1"/>
              <a:t>nguyên</a:t>
            </a:r>
            <a:r>
              <a:rPr lang="en-US"/>
              <a:t> </a:t>
            </a:r>
            <a:r>
              <a:rPr lang="en-US" err="1"/>
              <a:t>cao</a:t>
            </a:r>
            <a:r>
              <a:rPr lang="en-US"/>
              <a:t> </a:t>
            </a:r>
            <a:r>
              <a:rPr lang="en-US" err="1"/>
              <a:t>hơn</a:t>
            </a:r>
            <a:r>
              <a:rPr lang="en-US"/>
              <a:t> so </a:t>
            </a:r>
            <a:r>
              <a:rPr lang="en-US" err="1"/>
              <a:t>với</a:t>
            </a:r>
            <a:r>
              <a:rPr lang="en-US"/>
              <a:t> </a:t>
            </a:r>
            <a:r>
              <a:rPr lang="en-US" err="1"/>
              <a:t>các</a:t>
            </a:r>
            <a:r>
              <a:rPr lang="en-US"/>
              <a:t> </a:t>
            </a:r>
            <a:r>
              <a:rPr lang="en-US" err="1"/>
              <a:t>hệ</a:t>
            </a:r>
            <a:r>
              <a:rPr lang="en-US"/>
              <a:t> </a:t>
            </a:r>
            <a:r>
              <a:rPr lang="en-US" err="1"/>
              <a:t>thống</a:t>
            </a:r>
            <a:r>
              <a:rPr lang="en-US"/>
              <a:t> </a:t>
            </a:r>
            <a:r>
              <a:rPr lang="en-US" err="1"/>
              <a:t>đơn</a:t>
            </a:r>
            <a:r>
              <a:rPr lang="en-US"/>
              <a:t> </a:t>
            </a:r>
            <a:r>
              <a:rPr lang="en-US" err="1"/>
              <a:t>giản</a:t>
            </a:r>
            <a:r>
              <a:rPr lang="en-US"/>
              <a:t>, </a:t>
            </a:r>
            <a:r>
              <a:rPr lang="en-US" err="1"/>
              <a:t>lợi</a:t>
            </a:r>
            <a:r>
              <a:rPr lang="en-US"/>
              <a:t> </a:t>
            </a:r>
            <a:r>
              <a:rPr lang="en-US" err="1"/>
              <a:t>ích</a:t>
            </a:r>
            <a:r>
              <a:rPr lang="en-US"/>
              <a:t> </a:t>
            </a:r>
            <a:r>
              <a:rPr lang="en-US" err="1"/>
              <a:t>về</a:t>
            </a:r>
            <a:r>
              <a:rPr lang="en-US"/>
              <a:t> </a:t>
            </a:r>
            <a:r>
              <a:rPr lang="en-US" b="1" err="1"/>
              <a:t>chất</a:t>
            </a:r>
            <a:r>
              <a:rPr lang="en-US" b="1"/>
              <a:t> </a:t>
            </a:r>
            <a:r>
              <a:rPr lang="en-US" b="1" err="1"/>
              <a:t>lượng</a:t>
            </a:r>
            <a:r>
              <a:rPr lang="en-US" b="1"/>
              <a:t> </a:t>
            </a:r>
            <a:r>
              <a:rPr lang="en-US" b="1" err="1"/>
              <a:t>gợi</a:t>
            </a:r>
            <a:r>
              <a:rPr lang="en-US" b="1"/>
              <a:t> ý, </a:t>
            </a:r>
            <a:r>
              <a:rPr lang="en-US" b="1" err="1"/>
              <a:t>tính</a:t>
            </a:r>
            <a:r>
              <a:rPr lang="en-US" b="1"/>
              <a:t> </a:t>
            </a:r>
            <a:r>
              <a:rPr lang="en-US" b="1" err="1"/>
              <a:t>giải</a:t>
            </a:r>
            <a:r>
              <a:rPr lang="en-US" b="1"/>
              <a:t> </a:t>
            </a:r>
            <a:r>
              <a:rPr lang="en-US" b="1" err="1"/>
              <a:t>thích</a:t>
            </a:r>
            <a:r>
              <a:rPr lang="en-US" b="1"/>
              <a:t> </a:t>
            </a:r>
            <a:r>
              <a:rPr lang="en-US" b="1" err="1"/>
              <a:t>và</a:t>
            </a:r>
            <a:r>
              <a:rPr lang="en-US" b="1"/>
              <a:t> </a:t>
            </a:r>
            <a:r>
              <a:rPr lang="en-US" b="1" err="1"/>
              <a:t>trải</a:t>
            </a:r>
            <a:r>
              <a:rPr lang="en-US" b="1"/>
              <a:t> </a:t>
            </a:r>
            <a:r>
              <a:rPr lang="en-US" b="1" err="1"/>
              <a:t>nghiệm</a:t>
            </a:r>
            <a:r>
              <a:rPr lang="en-US" b="1"/>
              <a:t> </a:t>
            </a:r>
            <a:r>
              <a:rPr lang="en-US" b="1" err="1"/>
              <a:t>người</a:t>
            </a:r>
            <a:r>
              <a:rPr lang="en-US" b="1"/>
              <a:t> </a:t>
            </a:r>
            <a:r>
              <a:rPr lang="en-US" b="1" err="1"/>
              <a:t>dùng</a:t>
            </a:r>
            <a:r>
              <a:rPr lang="en-US"/>
              <a:t> </a:t>
            </a:r>
            <a:r>
              <a:rPr lang="en-US" err="1"/>
              <a:t>là</a:t>
            </a:r>
            <a:r>
              <a:rPr lang="en-US"/>
              <a:t> </a:t>
            </a:r>
            <a:r>
              <a:rPr lang="en-US" err="1"/>
              <a:t>đáng</a:t>
            </a:r>
            <a:r>
              <a:rPr lang="en-US"/>
              <a:t> </a:t>
            </a:r>
            <a:r>
              <a:rPr lang="en-US" err="1"/>
              <a:t>kể</a:t>
            </a:r>
            <a:r>
              <a:rPr lang="en-US"/>
              <a:t>, </a:t>
            </a:r>
            <a:r>
              <a:rPr lang="en-US" err="1"/>
              <a:t>khiến</a:t>
            </a:r>
            <a:r>
              <a:rPr lang="en-US"/>
              <a:t> </a:t>
            </a:r>
            <a:r>
              <a:rPr lang="en-US" err="1"/>
              <a:t>phương</a:t>
            </a:r>
            <a:r>
              <a:rPr lang="en-US"/>
              <a:t> </a:t>
            </a:r>
            <a:r>
              <a:rPr lang="en-US" err="1"/>
              <a:t>pháp</a:t>
            </a:r>
            <a:r>
              <a:rPr lang="en-US"/>
              <a:t> </a:t>
            </a:r>
            <a:r>
              <a:rPr lang="en-US" err="1"/>
              <a:t>này</a:t>
            </a:r>
            <a:r>
              <a:rPr lang="en-US"/>
              <a:t> </a:t>
            </a:r>
            <a:r>
              <a:rPr lang="en-US" err="1"/>
              <a:t>phù</a:t>
            </a:r>
            <a:r>
              <a:rPr lang="en-US"/>
              <a:t> </a:t>
            </a:r>
            <a:r>
              <a:rPr lang="en-US" err="1"/>
              <a:t>hợp</a:t>
            </a:r>
            <a:r>
              <a:rPr lang="en-US"/>
              <a:t> </a:t>
            </a:r>
            <a:r>
              <a:rPr lang="en-US" err="1"/>
              <a:t>cho</a:t>
            </a:r>
            <a:r>
              <a:rPr lang="en-US"/>
              <a:t> </a:t>
            </a:r>
            <a:r>
              <a:rPr lang="en-US" err="1"/>
              <a:t>các</a:t>
            </a:r>
            <a:r>
              <a:rPr lang="en-US"/>
              <a:t> </a:t>
            </a:r>
            <a:r>
              <a:rPr lang="en-US" err="1"/>
              <a:t>hệ</a:t>
            </a:r>
            <a:r>
              <a:rPr lang="en-US"/>
              <a:t> </a:t>
            </a:r>
            <a:r>
              <a:rPr lang="en-US" err="1"/>
              <a:t>thống</a:t>
            </a:r>
            <a:r>
              <a:rPr lang="en-US"/>
              <a:t> </a:t>
            </a:r>
            <a:r>
              <a:rPr lang="en-US" err="1"/>
              <a:t>gợi</a:t>
            </a:r>
            <a:r>
              <a:rPr lang="en-US"/>
              <a:t> ý </a:t>
            </a:r>
            <a:r>
              <a:rPr lang="en-US" err="1"/>
              <a:t>thông</a:t>
            </a:r>
            <a:r>
              <a:rPr lang="en-US"/>
              <a:t> </a:t>
            </a:r>
            <a:r>
              <a:rPr lang="en-US" err="1"/>
              <a:t>minh</a:t>
            </a:r>
            <a:r>
              <a:rPr lang="en-US"/>
              <a:t> </a:t>
            </a:r>
            <a:r>
              <a:rPr lang="en-US" err="1"/>
              <a:t>và</a:t>
            </a:r>
            <a:r>
              <a:rPr lang="en-US"/>
              <a:t> </a:t>
            </a:r>
            <a:r>
              <a:rPr lang="en-US" err="1"/>
              <a:t>có</a:t>
            </a:r>
            <a:r>
              <a:rPr lang="en-US"/>
              <a:t> </a:t>
            </a:r>
            <a:r>
              <a:rPr lang="en-US" err="1"/>
              <a:t>khả</a:t>
            </a:r>
            <a:r>
              <a:rPr lang="en-US"/>
              <a:t> </a:t>
            </a:r>
            <a:r>
              <a:rPr lang="en-US" err="1"/>
              <a:t>năng</a:t>
            </a:r>
            <a:r>
              <a:rPr lang="en-US"/>
              <a:t> </a:t>
            </a:r>
            <a:r>
              <a:rPr lang="en-US" err="1"/>
              <a:t>mở</a:t>
            </a:r>
            <a:r>
              <a:rPr lang="en-US"/>
              <a:t> </a:t>
            </a:r>
            <a:r>
              <a:rPr lang="en-US" err="1"/>
              <a:t>rộng</a:t>
            </a:r>
            <a:r>
              <a:rPr lang="en-US"/>
              <a:t> </a:t>
            </a:r>
            <a:r>
              <a:rPr lang="en-US" err="1"/>
              <a:t>trong</a:t>
            </a:r>
            <a:r>
              <a:rPr lang="en-US"/>
              <a:t> </a:t>
            </a:r>
            <a:r>
              <a:rPr lang="en-US" err="1"/>
              <a:t>thực</a:t>
            </a:r>
            <a:r>
              <a:rPr lang="en-US"/>
              <a:t> </a:t>
            </a:r>
            <a:r>
              <a:rPr lang="en-US" err="1"/>
              <a:t>tế</a:t>
            </a:r>
            <a:r>
              <a:rPr lang="en-US"/>
              <a:t>.</a:t>
            </a:r>
          </a:p>
          <a:p>
            <a:pPr marL="0" lvl="0" indent="0" algn="l">
              <a:spcBef>
                <a:spcPts val="0"/>
              </a:spcBef>
              <a:spcAft>
                <a:spcPts val="0"/>
              </a:spcAft>
              <a:buNone/>
            </a:pPr>
            <a:endParaRPr/>
          </a:p>
        </p:txBody>
      </p:sp>
    </p:spTree>
    <p:extLst>
      <p:ext uri="{BB962C8B-B14F-4D97-AF65-F5344CB8AC3E}">
        <p14:creationId xmlns:p14="http://schemas.microsoft.com/office/powerpoint/2010/main" val="18971942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7"/>
        <p:cNvGrpSpPr/>
        <p:nvPr/>
      </p:nvGrpSpPr>
      <p:grpSpPr>
        <a:xfrm>
          <a:off x="0" y="0"/>
          <a:ext cx="0" cy="0"/>
          <a:chOff x="0" y="0"/>
          <a:chExt cx="0" cy="0"/>
        </a:xfrm>
      </p:grpSpPr>
      <p:sp>
        <p:nvSpPr>
          <p:cNvPr id="1838" name="Google Shape;1838;g24ed99bf1a4_0_9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9" name="Google Shape;1839;g24ed99bf1a4_0_9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    </a:t>
            </a:r>
            <a:r>
              <a:rPr lang="en-US" err="1"/>
              <a:t>Phức</a:t>
            </a:r>
            <a:r>
              <a:rPr lang="en-US"/>
              <a:t> </a:t>
            </a:r>
            <a:r>
              <a:rPr lang="en-US" err="1"/>
              <a:t>tạp</a:t>
            </a:r>
            <a:r>
              <a:rPr lang="en-US"/>
              <a:t> trong việc phối hợp: Sự hợp tác giữa nhiều AI Agents có mục tiêu khác nhau đòi hỏi phải thiết kế các cơ chế để đảm bảo sự đồng bộ và tránh xung đột giữa các AI Agents.</a:t>
            </a:r>
          </a:p>
          <a:p>
            <a:pPr>
              <a:buNone/>
            </a:pPr>
            <a:r>
              <a:rPr lang="en-US"/>
              <a:t>•    </a:t>
            </a:r>
            <a:r>
              <a:rPr lang="en-US" err="1"/>
              <a:t>Hành</a:t>
            </a:r>
            <a:r>
              <a:rPr lang="en-US"/>
              <a:t> vi </a:t>
            </a:r>
            <a:r>
              <a:rPr lang="en-US" err="1"/>
              <a:t>không</a:t>
            </a:r>
            <a:r>
              <a:rPr lang="en-US"/>
              <a:t> </a:t>
            </a:r>
            <a:r>
              <a:rPr lang="en-US" err="1"/>
              <a:t>thể</a:t>
            </a:r>
            <a:r>
              <a:rPr lang="en-US"/>
              <a:t> </a:t>
            </a:r>
            <a:r>
              <a:rPr lang="en-US" err="1"/>
              <a:t>dự</a:t>
            </a:r>
            <a:r>
              <a:rPr lang="en-US"/>
              <a:t> </a:t>
            </a:r>
            <a:r>
              <a:rPr lang="en-US" err="1"/>
              <a:t>đoán</a:t>
            </a:r>
            <a:r>
              <a:rPr lang="en-US"/>
              <a:t>: Do </a:t>
            </a:r>
            <a:r>
              <a:rPr lang="en-US" err="1"/>
              <a:t>các</a:t>
            </a:r>
            <a:r>
              <a:rPr lang="en-US"/>
              <a:t> AI Agents </a:t>
            </a:r>
            <a:r>
              <a:rPr lang="en-US" err="1"/>
              <a:t>hoạt</a:t>
            </a:r>
            <a:r>
              <a:rPr lang="en-US"/>
              <a:t> </a:t>
            </a:r>
            <a:r>
              <a:rPr lang="en-US" err="1"/>
              <a:t>động</a:t>
            </a:r>
            <a:r>
              <a:rPr lang="en-US"/>
              <a:t> </a:t>
            </a:r>
            <a:r>
              <a:rPr lang="en-US" err="1"/>
              <a:t>một</a:t>
            </a:r>
            <a:r>
              <a:rPr lang="en-US"/>
              <a:t> </a:t>
            </a:r>
            <a:r>
              <a:rPr lang="en-US" err="1"/>
              <a:t>cách</a:t>
            </a:r>
            <a:r>
              <a:rPr lang="en-US"/>
              <a:t> </a:t>
            </a:r>
            <a:r>
              <a:rPr lang="en-US" err="1"/>
              <a:t>tự</a:t>
            </a:r>
            <a:r>
              <a:rPr lang="en-US"/>
              <a:t> </a:t>
            </a:r>
            <a:r>
              <a:rPr lang="en-US" err="1"/>
              <a:t>chủ</a:t>
            </a:r>
            <a:r>
              <a:rPr lang="en-US"/>
              <a:t>, </a:t>
            </a:r>
            <a:r>
              <a:rPr lang="en-US" err="1"/>
              <a:t>có</a:t>
            </a:r>
            <a:r>
              <a:rPr lang="en-US"/>
              <a:t> </a:t>
            </a:r>
            <a:r>
              <a:rPr lang="en-US" err="1"/>
              <a:t>thể</a:t>
            </a:r>
            <a:r>
              <a:rPr lang="en-US"/>
              <a:t> </a:t>
            </a:r>
            <a:r>
              <a:rPr lang="en-US" err="1"/>
              <a:t>xuất</a:t>
            </a:r>
            <a:r>
              <a:rPr lang="en-US"/>
              <a:t> </a:t>
            </a:r>
            <a:r>
              <a:rPr lang="en-US" err="1"/>
              <a:t>hiện</a:t>
            </a:r>
            <a:r>
              <a:rPr lang="en-US"/>
              <a:t> </a:t>
            </a:r>
            <a:r>
              <a:rPr lang="en-US" err="1"/>
              <a:t>những</a:t>
            </a:r>
            <a:r>
              <a:rPr lang="en-US"/>
              <a:t> </a:t>
            </a:r>
            <a:r>
              <a:rPr lang="en-US" err="1"/>
              <a:t>hành</a:t>
            </a:r>
            <a:r>
              <a:rPr lang="en-US"/>
              <a:t> vi </a:t>
            </a:r>
            <a:r>
              <a:rPr lang="en-US" err="1"/>
              <a:t>không</a:t>
            </a:r>
            <a:r>
              <a:rPr lang="en-US"/>
              <a:t> </a:t>
            </a:r>
            <a:r>
              <a:rPr lang="en-US" err="1"/>
              <a:t>mong</a:t>
            </a:r>
            <a:r>
              <a:rPr lang="en-US"/>
              <a:t> </a:t>
            </a:r>
            <a:r>
              <a:rPr lang="en-US" err="1"/>
              <a:t>đợi</a:t>
            </a:r>
            <a:r>
              <a:rPr lang="en-US"/>
              <a:t> </a:t>
            </a:r>
            <a:r>
              <a:rPr lang="en-US" err="1"/>
              <a:t>hoặc</a:t>
            </a:r>
            <a:r>
              <a:rPr lang="en-US"/>
              <a:t> </a:t>
            </a:r>
            <a:r>
              <a:rPr lang="en-US" err="1"/>
              <a:t>không</a:t>
            </a:r>
            <a:r>
              <a:rPr lang="en-US"/>
              <a:t> </a:t>
            </a:r>
            <a:r>
              <a:rPr lang="en-US" err="1"/>
              <a:t>thể</a:t>
            </a:r>
            <a:r>
              <a:rPr lang="en-US"/>
              <a:t> </a:t>
            </a:r>
            <a:r>
              <a:rPr lang="en-US" err="1"/>
              <a:t>dự</a:t>
            </a:r>
            <a:r>
              <a:rPr lang="en-US"/>
              <a:t> </a:t>
            </a:r>
            <a:r>
              <a:rPr lang="en-US" err="1"/>
              <a:t>đoán</a:t>
            </a:r>
            <a:r>
              <a:rPr lang="en-US"/>
              <a:t> </a:t>
            </a:r>
            <a:r>
              <a:rPr lang="en-US" err="1"/>
              <a:t>trước</a:t>
            </a:r>
            <a:r>
              <a:rPr lang="en-US"/>
              <a:t>, </a:t>
            </a:r>
            <a:r>
              <a:rPr lang="en-US" err="1"/>
              <a:t>đặc</a:t>
            </a:r>
            <a:r>
              <a:rPr lang="en-US"/>
              <a:t> </a:t>
            </a:r>
            <a:r>
              <a:rPr lang="en-US" err="1"/>
              <a:t>biệt</a:t>
            </a:r>
            <a:r>
              <a:rPr lang="en-US"/>
              <a:t> </a:t>
            </a:r>
            <a:r>
              <a:rPr lang="en-US" err="1"/>
              <a:t>trong</a:t>
            </a:r>
            <a:r>
              <a:rPr lang="en-US"/>
              <a:t> </a:t>
            </a:r>
            <a:r>
              <a:rPr lang="en-US" err="1"/>
              <a:t>các</a:t>
            </a:r>
            <a:r>
              <a:rPr lang="en-US"/>
              <a:t> </a:t>
            </a:r>
            <a:r>
              <a:rPr lang="en-US" err="1"/>
              <a:t>hệ</a:t>
            </a:r>
            <a:r>
              <a:rPr lang="en-US"/>
              <a:t> </a:t>
            </a:r>
            <a:r>
              <a:rPr lang="en-US" err="1"/>
              <a:t>thống</a:t>
            </a:r>
            <a:r>
              <a:rPr lang="en-US"/>
              <a:t> phi </a:t>
            </a:r>
            <a:r>
              <a:rPr lang="en-US" err="1"/>
              <a:t>tập</a:t>
            </a:r>
            <a:r>
              <a:rPr lang="en-US"/>
              <a:t> </a:t>
            </a:r>
            <a:r>
              <a:rPr lang="en-US" err="1"/>
              <a:t>trung</a:t>
            </a:r>
            <a:r>
              <a:rPr lang="en-US"/>
              <a:t>. </a:t>
            </a:r>
            <a:r>
              <a:rPr lang="en-US" err="1"/>
              <a:t>Điều</a:t>
            </a:r>
            <a:r>
              <a:rPr lang="en-US"/>
              <a:t> </a:t>
            </a:r>
            <a:r>
              <a:rPr lang="en-US" err="1"/>
              <a:t>này</a:t>
            </a:r>
            <a:r>
              <a:rPr lang="en-US"/>
              <a:t> </a:t>
            </a:r>
            <a:r>
              <a:rPr lang="en-US" err="1"/>
              <a:t>gây</a:t>
            </a:r>
            <a:r>
              <a:rPr lang="en-US"/>
              <a:t> </a:t>
            </a:r>
            <a:r>
              <a:rPr lang="en-US" err="1"/>
              <a:t>khó</a:t>
            </a:r>
            <a:r>
              <a:rPr lang="en-US"/>
              <a:t> </a:t>
            </a:r>
            <a:r>
              <a:rPr lang="en-US" err="1"/>
              <a:t>khăn</a:t>
            </a:r>
            <a:r>
              <a:rPr lang="en-US"/>
              <a:t> </a:t>
            </a:r>
            <a:r>
              <a:rPr lang="en-US" err="1"/>
              <a:t>trong</a:t>
            </a:r>
            <a:r>
              <a:rPr lang="en-US"/>
              <a:t> </a:t>
            </a:r>
            <a:r>
              <a:rPr lang="en-US" err="1"/>
              <a:t>việc</a:t>
            </a:r>
            <a:r>
              <a:rPr lang="en-US"/>
              <a:t> </a:t>
            </a:r>
            <a:r>
              <a:rPr lang="en-US" err="1"/>
              <a:t>kiểm</a:t>
            </a:r>
            <a:r>
              <a:rPr lang="en-US"/>
              <a:t> </a:t>
            </a:r>
            <a:r>
              <a:rPr lang="en-US" err="1"/>
              <a:t>soát</a:t>
            </a:r>
            <a:r>
              <a:rPr lang="en-US"/>
              <a:t> </a:t>
            </a:r>
            <a:r>
              <a:rPr lang="en-US" err="1"/>
              <a:t>và</a:t>
            </a:r>
            <a:r>
              <a:rPr lang="en-US"/>
              <a:t> </a:t>
            </a:r>
            <a:r>
              <a:rPr lang="en-US" err="1"/>
              <a:t>đảm</a:t>
            </a:r>
            <a:r>
              <a:rPr lang="en-US"/>
              <a:t> </a:t>
            </a:r>
            <a:r>
              <a:rPr lang="en-US" err="1"/>
              <a:t>bảo</a:t>
            </a:r>
            <a:r>
              <a:rPr lang="en-US"/>
              <a:t> </a:t>
            </a:r>
            <a:r>
              <a:rPr lang="en-US" err="1"/>
              <a:t>tính</a:t>
            </a:r>
            <a:r>
              <a:rPr lang="en-US"/>
              <a:t> </a:t>
            </a:r>
            <a:r>
              <a:rPr lang="en-US" err="1"/>
              <a:t>ổn</a:t>
            </a:r>
            <a:r>
              <a:rPr lang="en-US"/>
              <a:t> </a:t>
            </a:r>
            <a:r>
              <a:rPr lang="en-US" err="1"/>
              <a:t>định</a:t>
            </a:r>
            <a:r>
              <a:rPr lang="en-US"/>
              <a:t> </a:t>
            </a:r>
            <a:r>
              <a:rPr lang="en-US" err="1"/>
              <a:t>của</a:t>
            </a:r>
            <a:r>
              <a:rPr lang="en-US"/>
              <a:t> </a:t>
            </a:r>
            <a:r>
              <a:rPr lang="en-US" err="1"/>
              <a:t>toàn</a:t>
            </a:r>
            <a:r>
              <a:rPr lang="en-US"/>
              <a:t> </a:t>
            </a:r>
            <a:r>
              <a:rPr lang="en-US" err="1"/>
              <a:t>bộ</a:t>
            </a:r>
            <a:r>
              <a:rPr lang="en-US"/>
              <a:t> </a:t>
            </a:r>
            <a:r>
              <a:rPr lang="en-US" err="1"/>
              <a:t>hệ</a:t>
            </a:r>
            <a:r>
              <a:rPr lang="en-US"/>
              <a:t> </a:t>
            </a:r>
            <a:r>
              <a:rPr lang="en-US" err="1"/>
              <a:t>thống</a:t>
            </a:r>
            <a:r>
              <a:rPr lang="en-US"/>
              <a:t>.</a:t>
            </a:r>
          </a:p>
          <a:p>
            <a:pPr>
              <a:buNone/>
            </a:pPr>
            <a:r>
              <a:rPr lang="en-US"/>
              <a:t>•    </a:t>
            </a:r>
            <a:r>
              <a:rPr lang="en-US" err="1"/>
              <a:t>Phụ</a:t>
            </a:r>
            <a:r>
              <a:rPr lang="en-US"/>
              <a:t> </a:t>
            </a:r>
            <a:r>
              <a:rPr lang="en-US" err="1"/>
              <a:t>thuộc</a:t>
            </a:r>
            <a:r>
              <a:rPr lang="en-US"/>
              <a:t> </a:t>
            </a:r>
            <a:r>
              <a:rPr lang="en-US" err="1"/>
              <a:t>vào</a:t>
            </a:r>
            <a:r>
              <a:rPr lang="en-US"/>
              <a:t> </a:t>
            </a:r>
            <a:r>
              <a:rPr lang="en-US" err="1"/>
              <a:t>các</a:t>
            </a:r>
            <a:r>
              <a:rPr lang="en-US"/>
              <a:t> </a:t>
            </a:r>
            <a:r>
              <a:rPr lang="en-US" err="1"/>
              <a:t>mô</a:t>
            </a:r>
            <a:r>
              <a:rPr lang="en-US"/>
              <a:t> </a:t>
            </a:r>
            <a:r>
              <a:rPr lang="en-US" err="1"/>
              <a:t>hình</a:t>
            </a:r>
            <a:r>
              <a:rPr lang="en-US"/>
              <a:t> </a:t>
            </a:r>
            <a:r>
              <a:rPr lang="en-US" err="1"/>
              <a:t>nền</a:t>
            </a:r>
            <a:r>
              <a:rPr lang="en-US"/>
              <a:t> </a:t>
            </a:r>
            <a:r>
              <a:rPr lang="en-US" err="1"/>
              <a:t>tảng</a:t>
            </a:r>
            <a:r>
              <a:rPr lang="en-US"/>
              <a:t> </a:t>
            </a:r>
            <a:r>
              <a:rPr lang="en-US" err="1"/>
              <a:t>chung</a:t>
            </a:r>
            <a:r>
              <a:rPr lang="en-US"/>
              <a:t>: Các </a:t>
            </a:r>
            <a:r>
              <a:rPr lang="en-US" err="1"/>
              <a:t>hệ</a:t>
            </a:r>
            <a:r>
              <a:rPr lang="en-US"/>
              <a:t> </a:t>
            </a:r>
            <a:r>
              <a:rPr lang="en-US" err="1"/>
              <a:t>thống</a:t>
            </a:r>
            <a:r>
              <a:rPr lang="en-US"/>
              <a:t> Multi Agent System </a:t>
            </a:r>
            <a:r>
              <a:rPr lang="en-US" err="1"/>
              <a:t>thường</a:t>
            </a:r>
            <a:r>
              <a:rPr lang="en-US"/>
              <a:t> </a:t>
            </a:r>
            <a:r>
              <a:rPr lang="en-US" err="1"/>
              <a:t>dựa</a:t>
            </a:r>
            <a:r>
              <a:rPr lang="en-US"/>
              <a:t> </a:t>
            </a:r>
            <a:r>
              <a:rPr lang="en-US" err="1"/>
              <a:t>trên</a:t>
            </a:r>
            <a:r>
              <a:rPr lang="en-US"/>
              <a:t> </a:t>
            </a:r>
            <a:r>
              <a:rPr lang="en-US" err="1"/>
              <a:t>các</a:t>
            </a:r>
            <a:r>
              <a:rPr lang="en-US"/>
              <a:t> </a:t>
            </a:r>
            <a:r>
              <a:rPr lang="en-US" err="1"/>
              <a:t>mô</a:t>
            </a:r>
            <a:r>
              <a:rPr lang="en-US"/>
              <a:t> </a:t>
            </a:r>
            <a:r>
              <a:rPr lang="en-US" err="1"/>
              <a:t>hình</a:t>
            </a:r>
            <a:r>
              <a:rPr lang="en-US"/>
              <a:t> </a:t>
            </a:r>
            <a:r>
              <a:rPr lang="en-US" err="1"/>
              <a:t>nền</a:t>
            </a:r>
            <a:r>
              <a:rPr lang="en-US"/>
              <a:t> </a:t>
            </a:r>
            <a:r>
              <a:rPr lang="en-US" err="1"/>
              <a:t>tảng</a:t>
            </a:r>
            <a:r>
              <a:rPr lang="en-US"/>
              <a:t> </a:t>
            </a:r>
            <a:r>
              <a:rPr lang="en-US" err="1"/>
              <a:t>chung</a:t>
            </a:r>
            <a:r>
              <a:rPr lang="en-US"/>
              <a:t> (Foundation Models). Khi </a:t>
            </a:r>
            <a:r>
              <a:rPr lang="en-US" err="1"/>
              <a:t>có</a:t>
            </a:r>
            <a:r>
              <a:rPr lang="en-US"/>
              <a:t> </a:t>
            </a:r>
            <a:r>
              <a:rPr lang="en-US" err="1"/>
              <a:t>lỗi</a:t>
            </a:r>
            <a:r>
              <a:rPr lang="en-US"/>
              <a:t> </a:t>
            </a:r>
            <a:r>
              <a:rPr lang="en-US" err="1"/>
              <a:t>trong</a:t>
            </a:r>
            <a:r>
              <a:rPr lang="en-US"/>
              <a:t> </a:t>
            </a:r>
            <a:r>
              <a:rPr lang="en-US" err="1"/>
              <a:t>các</a:t>
            </a:r>
            <a:r>
              <a:rPr lang="en-US"/>
              <a:t> </a:t>
            </a:r>
            <a:r>
              <a:rPr lang="en-US" err="1"/>
              <a:t>mô</a:t>
            </a:r>
            <a:r>
              <a:rPr lang="en-US"/>
              <a:t> </a:t>
            </a:r>
            <a:r>
              <a:rPr lang="en-US" err="1"/>
              <a:t>hình</a:t>
            </a:r>
            <a:r>
              <a:rPr lang="en-US"/>
              <a:t> </a:t>
            </a:r>
            <a:r>
              <a:rPr lang="en-US" err="1"/>
              <a:t>này</a:t>
            </a:r>
            <a:r>
              <a:rPr lang="en-US"/>
              <a:t>, </a:t>
            </a:r>
            <a:r>
              <a:rPr lang="en-US" err="1"/>
              <a:t>toàn</a:t>
            </a:r>
            <a:r>
              <a:rPr lang="en-US"/>
              <a:t> </a:t>
            </a:r>
            <a:r>
              <a:rPr lang="en-US" err="1"/>
              <a:t>bộ</a:t>
            </a:r>
            <a:r>
              <a:rPr lang="en-US"/>
              <a:t> </a:t>
            </a:r>
            <a:r>
              <a:rPr lang="en-US" err="1"/>
              <a:t>hệ</a:t>
            </a:r>
            <a:r>
              <a:rPr lang="en-US"/>
              <a:t> </a:t>
            </a:r>
            <a:r>
              <a:rPr lang="en-US" err="1"/>
              <a:t>thống</a:t>
            </a:r>
            <a:r>
              <a:rPr lang="en-US"/>
              <a:t> MAS </a:t>
            </a:r>
            <a:r>
              <a:rPr lang="en-US" err="1"/>
              <a:t>có</a:t>
            </a:r>
            <a:r>
              <a:rPr lang="en-US"/>
              <a:t> </a:t>
            </a:r>
            <a:r>
              <a:rPr lang="en-US" err="1"/>
              <a:t>thể</a:t>
            </a:r>
            <a:r>
              <a:rPr lang="en-US"/>
              <a:t> </a:t>
            </a:r>
            <a:r>
              <a:rPr lang="en-US" err="1"/>
              <a:t>bị</a:t>
            </a:r>
            <a:r>
              <a:rPr lang="en-US"/>
              <a:t> </a:t>
            </a:r>
            <a:r>
              <a:rPr lang="en-US" err="1"/>
              <a:t>ảnh</a:t>
            </a:r>
            <a:r>
              <a:rPr lang="en-US"/>
              <a:t> </a:t>
            </a:r>
            <a:r>
              <a:rPr lang="en-US" err="1"/>
              <a:t>hưởng</a:t>
            </a:r>
            <a:r>
              <a:rPr lang="en-US"/>
              <a:t>, </a:t>
            </a:r>
            <a:r>
              <a:rPr lang="en-US" err="1"/>
              <a:t>gây</a:t>
            </a:r>
            <a:r>
              <a:rPr lang="en-US"/>
              <a:t> </a:t>
            </a:r>
            <a:r>
              <a:rPr lang="en-US" err="1"/>
              <a:t>ra</a:t>
            </a:r>
            <a:r>
              <a:rPr lang="en-US"/>
              <a:t> </a:t>
            </a:r>
            <a:r>
              <a:rPr lang="en-US" err="1"/>
              <a:t>sự</a:t>
            </a:r>
            <a:r>
              <a:rPr lang="en-US"/>
              <a:t> </a:t>
            </a:r>
            <a:r>
              <a:rPr lang="en-US" err="1"/>
              <a:t>cố</a:t>
            </a:r>
            <a:r>
              <a:rPr lang="en-US"/>
              <a:t> </a:t>
            </a:r>
            <a:r>
              <a:rPr lang="en-US" err="1"/>
              <a:t>hoặc</a:t>
            </a:r>
            <a:r>
              <a:rPr lang="en-US"/>
              <a:t> </a:t>
            </a:r>
            <a:r>
              <a:rPr lang="en-US" err="1"/>
              <a:t>lỗ</a:t>
            </a:r>
            <a:r>
              <a:rPr lang="en-US"/>
              <a:t> </a:t>
            </a:r>
            <a:r>
              <a:rPr lang="en-US" err="1"/>
              <a:t>hổng</a:t>
            </a:r>
            <a:r>
              <a:rPr lang="en-US"/>
              <a:t> </a:t>
            </a:r>
            <a:r>
              <a:rPr lang="en-US" err="1"/>
              <a:t>bảo</a:t>
            </a:r>
            <a:r>
              <a:rPr lang="en-US"/>
              <a:t> </a:t>
            </a:r>
            <a:r>
              <a:rPr lang="en-US" err="1"/>
              <a:t>mật</a:t>
            </a:r>
            <a:r>
              <a:rPr lang="en-US"/>
              <a:t>.</a:t>
            </a:r>
          </a:p>
          <a:p>
            <a:pPr>
              <a:buNone/>
            </a:pPr>
            <a:r>
              <a:rPr lang="en-US"/>
              <a:t>•    Tài </a:t>
            </a:r>
            <a:r>
              <a:rPr lang="en-US" err="1"/>
              <a:t>nguyên</a:t>
            </a:r>
            <a:r>
              <a:rPr lang="en-US"/>
              <a:t> </a:t>
            </a:r>
            <a:r>
              <a:rPr lang="en-US" err="1"/>
              <a:t>tính</a:t>
            </a:r>
            <a:r>
              <a:rPr lang="en-US"/>
              <a:t> </a:t>
            </a:r>
            <a:r>
              <a:rPr lang="en-US" err="1"/>
              <a:t>toán</a:t>
            </a:r>
            <a:r>
              <a:rPr lang="en-US"/>
              <a:t> </a:t>
            </a:r>
            <a:r>
              <a:rPr lang="en-US" err="1"/>
              <a:t>lớn</a:t>
            </a:r>
            <a:r>
              <a:rPr lang="en-US"/>
              <a:t>: </a:t>
            </a:r>
            <a:r>
              <a:rPr lang="en-US" err="1"/>
              <a:t>Việc</a:t>
            </a:r>
            <a:r>
              <a:rPr lang="en-US"/>
              <a:t> </a:t>
            </a:r>
            <a:r>
              <a:rPr lang="en-US" err="1"/>
              <a:t>duy</a:t>
            </a:r>
            <a:r>
              <a:rPr lang="en-US"/>
              <a:t> </a:t>
            </a:r>
            <a:r>
              <a:rPr lang="en-US" err="1"/>
              <a:t>trì</a:t>
            </a:r>
            <a:r>
              <a:rPr lang="en-US"/>
              <a:t> </a:t>
            </a:r>
            <a:r>
              <a:rPr lang="en-US" err="1"/>
              <a:t>và</a:t>
            </a:r>
            <a:r>
              <a:rPr lang="en-US"/>
              <a:t> </a:t>
            </a:r>
            <a:r>
              <a:rPr lang="en-US" err="1"/>
              <a:t>vận</a:t>
            </a:r>
            <a:r>
              <a:rPr lang="en-US"/>
              <a:t> </a:t>
            </a:r>
            <a:r>
              <a:rPr lang="en-US" err="1"/>
              <a:t>hành</a:t>
            </a:r>
            <a:r>
              <a:rPr lang="en-US"/>
              <a:t> </a:t>
            </a:r>
            <a:r>
              <a:rPr lang="en-US" err="1"/>
              <a:t>một</a:t>
            </a:r>
            <a:r>
              <a:rPr lang="en-US"/>
              <a:t> </a:t>
            </a:r>
            <a:r>
              <a:rPr lang="en-US" err="1"/>
              <a:t>hệ</a:t>
            </a:r>
            <a:r>
              <a:rPr lang="en-US"/>
              <a:t> </a:t>
            </a:r>
            <a:r>
              <a:rPr lang="en-US" err="1"/>
              <a:t>thống</a:t>
            </a:r>
            <a:r>
              <a:rPr lang="en-US"/>
              <a:t> MAS </a:t>
            </a:r>
            <a:r>
              <a:rPr lang="en-US" err="1"/>
              <a:t>có</a:t>
            </a:r>
            <a:r>
              <a:rPr lang="en-US"/>
              <a:t> </a:t>
            </a:r>
            <a:r>
              <a:rPr lang="en-US" err="1"/>
              <a:t>thể</a:t>
            </a:r>
            <a:r>
              <a:rPr lang="en-US"/>
              <a:t> </a:t>
            </a:r>
            <a:r>
              <a:rPr lang="en-US" err="1"/>
              <a:t>yêu</a:t>
            </a:r>
            <a:r>
              <a:rPr lang="en-US"/>
              <a:t> </a:t>
            </a:r>
            <a:r>
              <a:rPr lang="en-US" err="1"/>
              <a:t>cầu</a:t>
            </a:r>
            <a:r>
              <a:rPr lang="en-US"/>
              <a:t> </a:t>
            </a:r>
            <a:r>
              <a:rPr lang="en-US" err="1"/>
              <a:t>lượng</a:t>
            </a:r>
            <a:r>
              <a:rPr lang="en-US"/>
              <a:t> </a:t>
            </a:r>
            <a:r>
              <a:rPr lang="en-US" err="1"/>
              <a:t>tài</a:t>
            </a:r>
            <a:r>
              <a:rPr lang="en-US"/>
              <a:t> </a:t>
            </a:r>
            <a:r>
              <a:rPr lang="en-US" err="1"/>
              <a:t>nguyên</a:t>
            </a:r>
            <a:r>
              <a:rPr lang="en-US"/>
              <a:t> </a:t>
            </a:r>
            <a:r>
              <a:rPr lang="en-US" err="1"/>
              <a:t>tính</a:t>
            </a:r>
            <a:r>
              <a:rPr lang="en-US"/>
              <a:t> </a:t>
            </a:r>
            <a:r>
              <a:rPr lang="en-US" err="1"/>
              <a:t>toán</a:t>
            </a:r>
            <a:r>
              <a:rPr lang="en-US"/>
              <a:t> </a:t>
            </a:r>
            <a:r>
              <a:rPr lang="en-US" err="1"/>
              <a:t>rất</a:t>
            </a:r>
            <a:r>
              <a:rPr lang="en-US"/>
              <a:t> </a:t>
            </a:r>
            <a:r>
              <a:rPr lang="en-US" err="1"/>
              <a:t>lớn</a:t>
            </a:r>
            <a:r>
              <a:rPr lang="en-US"/>
              <a:t>, bao </a:t>
            </a:r>
            <a:r>
              <a:rPr lang="en-US" err="1"/>
              <a:t>gồm</a:t>
            </a:r>
            <a:r>
              <a:rPr lang="en-US"/>
              <a:t> </a:t>
            </a:r>
            <a:r>
              <a:rPr lang="en-US" err="1"/>
              <a:t>xử</a:t>
            </a:r>
            <a:r>
              <a:rPr lang="en-US"/>
              <a:t> </a:t>
            </a:r>
            <a:r>
              <a:rPr lang="en-US" err="1"/>
              <a:t>lý</a:t>
            </a:r>
            <a:r>
              <a:rPr lang="en-US"/>
              <a:t> </a:t>
            </a:r>
            <a:r>
              <a:rPr lang="en-US" err="1"/>
              <a:t>dữ</a:t>
            </a:r>
            <a:r>
              <a:rPr lang="en-US"/>
              <a:t> </a:t>
            </a:r>
            <a:r>
              <a:rPr lang="en-US" err="1"/>
              <a:t>liệu</a:t>
            </a:r>
            <a:r>
              <a:rPr lang="en-US"/>
              <a:t>, </a:t>
            </a:r>
            <a:r>
              <a:rPr lang="en-US" err="1"/>
              <a:t>bộ</a:t>
            </a:r>
            <a:r>
              <a:rPr lang="en-US"/>
              <a:t> </a:t>
            </a:r>
            <a:r>
              <a:rPr lang="en-US" err="1"/>
              <a:t>nhớ</a:t>
            </a:r>
            <a:r>
              <a:rPr lang="en-US"/>
              <a:t> </a:t>
            </a:r>
            <a:r>
              <a:rPr lang="en-US" err="1"/>
              <a:t>và</a:t>
            </a:r>
            <a:r>
              <a:rPr lang="en-US"/>
              <a:t> </a:t>
            </a:r>
            <a:r>
              <a:rPr lang="en-US" err="1"/>
              <a:t>băng</a:t>
            </a:r>
            <a:r>
              <a:rPr lang="en-US"/>
              <a:t> </a:t>
            </a:r>
            <a:r>
              <a:rPr lang="en-US" err="1"/>
              <a:t>thông</a:t>
            </a:r>
            <a:r>
              <a:rPr lang="en-US"/>
              <a:t> </a:t>
            </a:r>
            <a:r>
              <a:rPr lang="en-US" err="1"/>
              <a:t>mạng</a:t>
            </a:r>
            <a:r>
              <a:rPr lang="en-US"/>
              <a:t>. </a:t>
            </a:r>
            <a:r>
              <a:rPr lang="en-US" err="1"/>
              <a:t>Điều</a:t>
            </a:r>
            <a:r>
              <a:rPr lang="en-US"/>
              <a:t> </a:t>
            </a:r>
            <a:r>
              <a:rPr lang="en-US" err="1"/>
              <a:t>này</a:t>
            </a:r>
            <a:r>
              <a:rPr lang="en-US"/>
              <a:t> </a:t>
            </a:r>
            <a:r>
              <a:rPr lang="en-US" err="1"/>
              <a:t>đặc</a:t>
            </a:r>
            <a:r>
              <a:rPr lang="en-US"/>
              <a:t> </a:t>
            </a:r>
            <a:r>
              <a:rPr lang="en-US" err="1"/>
              <a:t>biệt</a:t>
            </a:r>
            <a:r>
              <a:rPr lang="en-US"/>
              <a:t> </a:t>
            </a:r>
            <a:r>
              <a:rPr lang="en-US" err="1"/>
              <a:t>khó</a:t>
            </a:r>
            <a:r>
              <a:rPr lang="en-US"/>
              <a:t> </a:t>
            </a:r>
            <a:r>
              <a:rPr lang="en-US" err="1"/>
              <a:t>khăn</a:t>
            </a:r>
            <a:r>
              <a:rPr lang="en-US"/>
              <a:t> </a:t>
            </a:r>
            <a:r>
              <a:rPr lang="en-US" err="1"/>
              <a:t>khi</a:t>
            </a:r>
            <a:r>
              <a:rPr lang="en-US"/>
              <a:t> </a:t>
            </a:r>
            <a:r>
              <a:rPr lang="en-US" err="1"/>
              <a:t>triển</a:t>
            </a:r>
            <a:r>
              <a:rPr lang="en-US"/>
              <a:t> </a:t>
            </a:r>
            <a:r>
              <a:rPr lang="en-US" err="1"/>
              <a:t>khai</a:t>
            </a:r>
            <a:r>
              <a:rPr lang="en-US"/>
              <a:t> </a:t>
            </a:r>
            <a:r>
              <a:rPr lang="en-US" err="1"/>
              <a:t>trong</a:t>
            </a:r>
            <a:r>
              <a:rPr lang="en-US"/>
              <a:t> </a:t>
            </a:r>
            <a:r>
              <a:rPr lang="en-US" err="1"/>
              <a:t>các</a:t>
            </a:r>
            <a:r>
              <a:rPr lang="en-US"/>
              <a:t> </a:t>
            </a:r>
            <a:r>
              <a:rPr lang="en-US" err="1"/>
              <a:t>môi</a:t>
            </a:r>
            <a:r>
              <a:rPr lang="en-US"/>
              <a:t> </a:t>
            </a:r>
            <a:r>
              <a:rPr lang="en-US" err="1"/>
              <a:t>trường</a:t>
            </a:r>
            <a:r>
              <a:rPr lang="en-US"/>
              <a:t> </a:t>
            </a:r>
            <a:r>
              <a:rPr lang="en-US" err="1"/>
              <a:t>hạn</a:t>
            </a:r>
            <a:r>
              <a:rPr lang="en-US"/>
              <a:t> </a:t>
            </a:r>
            <a:r>
              <a:rPr lang="en-US" err="1"/>
              <a:t>chế</a:t>
            </a:r>
            <a:r>
              <a:rPr lang="en-US"/>
              <a:t> </a:t>
            </a:r>
            <a:r>
              <a:rPr lang="en-US" err="1"/>
              <a:t>tài</a:t>
            </a:r>
            <a:r>
              <a:rPr lang="en-US"/>
              <a:t> </a:t>
            </a:r>
            <a:r>
              <a:rPr lang="en-US" err="1"/>
              <a:t>nguyên</a:t>
            </a:r>
            <a:r>
              <a:rPr lang="en-US"/>
              <a:t> </a:t>
            </a:r>
            <a:r>
              <a:rPr lang="en-US" err="1"/>
              <a:t>hoặc</a:t>
            </a:r>
            <a:r>
              <a:rPr lang="en-US"/>
              <a:t> </a:t>
            </a:r>
            <a:r>
              <a:rPr lang="en-US" err="1"/>
              <a:t>yêu</a:t>
            </a:r>
            <a:r>
              <a:rPr lang="en-US"/>
              <a:t> </a:t>
            </a:r>
            <a:r>
              <a:rPr lang="en-US" err="1"/>
              <a:t>cầu</a:t>
            </a:r>
            <a:r>
              <a:rPr lang="en-US"/>
              <a:t> </a:t>
            </a:r>
            <a:r>
              <a:rPr lang="en-US" err="1"/>
              <a:t>xử</a:t>
            </a:r>
            <a:r>
              <a:rPr lang="en-US"/>
              <a:t> </a:t>
            </a:r>
            <a:r>
              <a:rPr lang="en-US" err="1"/>
              <a:t>lý</a:t>
            </a:r>
            <a:r>
              <a:rPr lang="en-US"/>
              <a:t> </a:t>
            </a:r>
            <a:r>
              <a:rPr lang="en-US" err="1"/>
              <a:t>thời</a:t>
            </a:r>
            <a:r>
              <a:rPr lang="en-US"/>
              <a:t> </a:t>
            </a:r>
            <a:r>
              <a:rPr lang="en-US" err="1"/>
              <a:t>gian</a:t>
            </a:r>
            <a:r>
              <a:rPr lang="en-US"/>
              <a:t> </a:t>
            </a:r>
            <a:r>
              <a:rPr lang="en-US" err="1"/>
              <a:t>thực</a:t>
            </a:r>
            <a:r>
              <a:rPr lang="en-US"/>
              <a:t>.</a:t>
            </a:r>
          </a:p>
          <a:p>
            <a:pPr>
              <a:buNone/>
            </a:pPr>
            <a:r>
              <a:rPr lang="en-US"/>
              <a:t>•    </a:t>
            </a:r>
            <a:r>
              <a:rPr lang="en-US" err="1"/>
              <a:t>Vấn</a:t>
            </a:r>
            <a:r>
              <a:rPr lang="en-US"/>
              <a:t> </a:t>
            </a:r>
            <a:r>
              <a:rPr lang="en-US" err="1"/>
              <a:t>đề</a:t>
            </a:r>
            <a:r>
              <a:rPr lang="en-US"/>
              <a:t> </a:t>
            </a:r>
            <a:r>
              <a:rPr lang="en-US" err="1"/>
              <a:t>bảo</a:t>
            </a:r>
            <a:r>
              <a:rPr lang="en-US"/>
              <a:t> </a:t>
            </a:r>
            <a:r>
              <a:rPr lang="en-US" err="1"/>
              <a:t>mật</a:t>
            </a:r>
            <a:r>
              <a:rPr lang="en-US"/>
              <a:t> </a:t>
            </a:r>
            <a:r>
              <a:rPr lang="en-US" err="1"/>
              <a:t>và</a:t>
            </a:r>
            <a:r>
              <a:rPr lang="en-US"/>
              <a:t> an </a:t>
            </a:r>
            <a:r>
              <a:rPr lang="en-US" err="1"/>
              <a:t>ninh</a:t>
            </a:r>
            <a:r>
              <a:rPr lang="en-US"/>
              <a:t> </a:t>
            </a:r>
            <a:r>
              <a:rPr lang="en-US" err="1"/>
              <a:t>mạng</a:t>
            </a:r>
            <a:r>
              <a:rPr lang="en-US"/>
              <a:t>: MAS </a:t>
            </a:r>
            <a:r>
              <a:rPr lang="en-US" err="1"/>
              <a:t>dễ</a:t>
            </a:r>
            <a:r>
              <a:rPr lang="en-US"/>
              <a:t> </a:t>
            </a:r>
            <a:r>
              <a:rPr lang="en-US" err="1"/>
              <a:t>bị</a:t>
            </a:r>
            <a:r>
              <a:rPr lang="en-US"/>
              <a:t> </a:t>
            </a:r>
            <a:r>
              <a:rPr lang="en-US" err="1"/>
              <a:t>tấn</a:t>
            </a:r>
            <a:r>
              <a:rPr lang="en-US"/>
              <a:t> </a:t>
            </a:r>
            <a:r>
              <a:rPr lang="en-US" err="1"/>
              <a:t>công</a:t>
            </a:r>
            <a:r>
              <a:rPr lang="en-US"/>
              <a:t> </a:t>
            </a:r>
            <a:r>
              <a:rPr lang="en-US" err="1"/>
              <a:t>bởi</a:t>
            </a:r>
            <a:r>
              <a:rPr lang="en-US"/>
              <a:t> </a:t>
            </a:r>
            <a:r>
              <a:rPr lang="en-US" err="1"/>
              <a:t>các</a:t>
            </a:r>
            <a:r>
              <a:rPr lang="en-US"/>
              <a:t> </a:t>
            </a:r>
            <a:r>
              <a:rPr lang="en-US" err="1"/>
              <a:t>cuộc</a:t>
            </a:r>
            <a:r>
              <a:rPr lang="en-US"/>
              <a:t> </a:t>
            </a:r>
            <a:r>
              <a:rPr lang="en-US" err="1"/>
              <a:t>tấn</a:t>
            </a:r>
            <a:r>
              <a:rPr lang="en-US"/>
              <a:t> </a:t>
            </a:r>
            <a:r>
              <a:rPr lang="en-US" err="1"/>
              <a:t>công</a:t>
            </a:r>
            <a:r>
              <a:rPr lang="en-US"/>
              <a:t> </a:t>
            </a:r>
            <a:r>
              <a:rPr lang="en-US" err="1"/>
              <a:t>mạng</a:t>
            </a:r>
            <a:r>
              <a:rPr lang="en-US"/>
              <a:t> (Distributed Denial of Service – DDoS), </a:t>
            </a:r>
            <a:r>
              <a:rPr lang="en-US" err="1"/>
              <a:t>giả</a:t>
            </a:r>
            <a:r>
              <a:rPr lang="en-US"/>
              <a:t> </a:t>
            </a:r>
            <a:r>
              <a:rPr lang="en-US" err="1"/>
              <a:t>mạo</a:t>
            </a:r>
            <a:r>
              <a:rPr lang="en-US"/>
              <a:t> </a:t>
            </a:r>
            <a:r>
              <a:rPr lang="en-US" err="1"/>
              <a:t>hoặc</a:t>
            </a:r>
            <a:r>
              <a:rPr lang="en-US"/>
              <a:t> can </a:t>
            </a:r>
            <a:r>
              <a:rPr lang="en-US" err="1"/>
              <a:t>thiệp</a:t>
            </a:r>
            <a:r>
              <a:rPr lang="en-US"/>
              <a:t> </a:t>
            </a:r>
            <a:r>
              <a:rPr lang="en-US" err="1"/>
              <a:t>vào</a:t>
            </a:r>
            <a:r>
              <a:rPr lang="en-US"/>
              <a:t> </a:t>
            </a:r>
            <a:r>
              <a:rPr lang="en-US" err="1"/>
              <a:t>các</a:t>
            </a:r>
            <a:r>
              <a:rPr lang="en-US"/>
              <a:t> </a:t>
            </a:r>
            <a:r>
              <a:rPr lang="en-US" err="1"/>
              <a:t>kênh</a:t>
            </a:r>
            <a:r>
              <a:rPr lang="en-US"/>
              <a:t> </a:t>
            </a:r>
            <a:r>
              <a:rPr lang="en-US" err="1"/>
              <a:t>truyền</a:t>
            </a:r>
            <a:r>
              <a:rPr lang="en-US"/>
              <a:t> </a:t>
            </a:r>
            <a:r>
              <a:rPr lang="en-US" err="1"/>
              <a:t>thông</a:t>
            </a:r>
            <a:r>
              <a:rPr lang="en-US"/>
              <a:t> </a:t>
            </a:r>
            <a:r>
              <a:rPr lang="en-US" err="1"/>
              <a:t>giữa</a:t>
            </a:r>
            <a:r>
              <a:rPr lang="en-US"/>
              <a:t> </a:t>
            </a:r>
            <a:r>
              <a:rPr lang="en-US" err="1"/>
              <a:t>các</a:t>
            </a:r>
            <a:r>
              <a:rPr lang="en-US"/>
              <a:t> AI Agents.</a:t>
            </a:r>
          </a:p>
          <a:p>
            <a:pPr>
              <a:buNone/>
            </a:pPr>
            <a:r>
              <a:rPr lang="en-US"/>
              <a:t>•    </a:t>
            </a:r>
            <a:r>
              <a:rPr lang="en-US" err="1"/>
              <a:t>Khó</a:t>
            </a:r>
            <a:r>
              <a:rPr lang="en-US"/>
              <a:t> </a:t>
            </a:r>
            <a:r>
              <a:rPr lang="en-US" err="1"/>
              <a:t>khăn</a:t>
            </a:r>
            <a:r>
              <a:rPr lang="en-US"/>
              <a:t> </a:t>
            </a:r>
            <a:r>
              <a:rPr lang="en-US" err="1"/>
              <a:t>trong</a:t>
            </a:r>
            <a:r>
              <a:rPr lang="en-US"/>
              <a:t> </a:t>
            </a:r>
            <a:r>
              <a:rPr lang="en-US" err="1"/>
              <a:t>việc</a:t>
            </a:r>
            <a:r>
              <a:rPr lang="en-US"/>
              <a:t> </a:t>
            </a:r>
            <a:r>
              <a:rPr lang="en-US" err="1"/>
              <a:t>tiêu</a:t>
            </a:r>
            <a:r>
              <a:rPr lang="en-US"/>
              <a:t> </a:t>
            </a:r>
            <a:r>
              <a:rPr lang="en-US" err="1"/>
              <a:t>chuẩn</a:t>
            </a:r>
            <a:r>
              <a:rPr lang="en-US"/>
              <a:t> </a:t>
            </a:r>
            <a:r>
              <a:rPr lang="en-US" err="1"/>
              <a:t>hóa</a:t>
            </a:r>
            <a:r>
              <a:rPr lang="en-US"/>
              <a:t> </a:t>
            </a:r>
            <a:r>
              <a:rPr lang="en-US" err="1"/>
              <a:t>giao</a:t>
            </a:r>
            <a:r>
              <a:rPr lang="en-US"/>
              <a:t> </a:t>
            </a:r>
            <a:r>
              <a:rPr lang="en-US" err="1"/>
              <a:t>tiếp</a:t>
            </a:r>
            <a:r>
              <a:rPr lang="en-US"/>
              <a:t>: Các AI Agents </a:t>
            </a:r>
            <a:r>
              <a:rPr lang="en-US" err="1"/>
              <a:t>trong</a:t>
            </a:r>
            <a:r>
              <a:rPr lang="en-US"/>
              <a:t> </a:t>
            </a:r>
            <a:r>
              <a:rPr lang="en-US" err="1"/>
              <a:t>hệ</a:t>
            </a:r>
            <a:r>
              <a:rPr lang="en-US"/>
              <a:t> </a:t>
            </a:r>
            <a:r>
              <a:rPr lang="en-US" err="1"/>
              <a:t>thống</a:t>
            </a:r>
            <a:r>
              <a:rPr lang="en-US"/>
              <a:t> MAS </a:t>
            </a:r>
            <a:r>
              <a:rPr lang="en-US" err="1"/>
              <a:t>có</a:t>
            </a:r>
            <a:r>
              <a:rPr lang="en-US"/>
              <a:t> </a:t>
            </a:r>
            <a:r>
              <a:rPr lang="en-US" err="1"/>
              <a:t>thể</a:t>
            </a:r>
            <a:r>
              <a:rPr lang="en-US"/>
              <a:t> </a:t>
            </a:r>
            <a:r>
              <a:rPr lang="en-US" err="1"/>
              <a:t>sử</a:t>
            </a:r>
            <a:r>
              <a:rPr lang="en-US"/>
              <a:t> </a:t>
            </a:r>
            <a:r>
              <a:rPr lang="en-US" err="1"/>
              <a:t>dụng</a:t>
            </a:r>
            <a:r>
              <a:rPr lang="en-US"/>
              <a:t> </a:t>
            </a:r>
            <a:r>
              <a:rPr lang="en-US" err="1"/>
              <a:t>các</a:t>
            </a:r>
            <a:r>
              <a:rPr lang="en-US"/>
              <a:t> </a:t>
            </a:r>
            <a:r>
              <a:rPr lang="en-US" err="1"/>
              <a:t>giao</a:t>
            </a:r>
            <a:r>
              <a:rPr lang="en-US"/>
              <a:t> </a:t>
            </a:r>
            <a:r>
              <a:rPr lang="en-US" err="1"/>
              <a:t>thức</a:t>
            </a:r>
            <a:r>
              <a:rPr lang="en-US"/>
              <a:t> </a:t>
            </a:r>
            <a:r>
              <a:rPr lang="en-US" err="1"/>
              <a:t>hoặc</a:t>
            </a:r>
            <a:r>
              <a:rPr lang="en-US"/>
              <a:t> </a:t>
            </a:r>
            <a:r>
              <a:rPr lang="en-US" err="1"/>
              <a:t>ngôn</a:t>
            </a:r>
            <a:r>
              <a:rPr lang="en-US"/>
              <a:t> </a:t>
            </a:r>
            <a:r>
              <a:rPr lang="en-US" err="1"/>
              <a:t>ngữ</a:t>
            </a:r>
            <a:r>
              <a:rPr lang="en-US"/>
              <a:t> </a:t>
            </a:r>
            <a:r>
              <a:rPr lang="en-US" err="1"/>
              <a:t>giao</a:t>
            </a:r>
            <a:r>
              <a:rPr lang="en-US"/>
              <a:t> </a:t>
            </a:r>
            <a:r>
              <a:rPr lang="en-US" err="1"/>
              <a:t>tiếp</a:t>
            </a:r>
            <a:r>
              <a:rPr lang="en-US"/>
              <a:t> </a:t>
            </a:r>
            <a:r>
              <a:rPr lang="en-US" err="1"/>
              <a:t>khác</a:t>
            </a:r>
            <a:r>
              <a:rPr lang="en-US"/>
              <a:t> </a:t>
            </a:r>
            <a:r>
              <a:rPr lang="en-US" err="1"/>
              <a:t>nhau</a:t>
            </a:r>
            <a:r>
              <a:rPr lang="en-US"/>
              <a:t>, </a:t>
            </a:r>
            <a:r>
              <a:rPr lang="en-US" err="1"/>
              <a:t>dẫn</a:t>
            </a:r>
            <a:r>
              <a:rPr lang="en-US"/>
              <a:t> </a:t>
            </a:r>
            <a:r>
              <a:rPr lang="en-US" err="1"/>
              <a:t>đến</a:t>
            </a:r>
            <a:r>
              <a:rPr lang="en-US"/>
              <a:t> </a:t>
            </a:r>
            <a:r>
              <a:rPr lang="en-US" err="1"/>
              <a:t>khó</a:t>
            </a:r>
            <a:r>
              <a:rPr lang="en-US"/>
              <a:t> </a:t>
            </a:r>
            <a:r>
              <a:rPr lang="en-US" err="1"/>
              <a:t>khăn</a:t>
            </a:r>
            <a:r>
              <a:rPr lang="en-US"/>
              <a:t> </a:t>
            </a:r>
            <a:r>
              <a:rPr lang="en-US" err="1"/>
              <a:t>trong</a:t>
            </a:r>
            <a:r>
              <a:rPr lang="en-US"/>
              <a:t> </a:t>
            </a:r>
            <a:r>
              <a:rPr lang="en-US" err="1"/>
              <a:t>việc</a:t>
            </a:r>
            <a:r>
              <a:rPr lang="en-US"/>
              <a:t> </a:t>
            </a:r>
            <a:r>
              <a:rPr lang="en-US" err="1"/>
              <a:t>thiết</a:t>
            </a:r>
            <a:r>
              <a:rPr lang="en-US"/>
              <a:t> </a:t>
            </a:r>
            <a:r>
              <a:rPr lang="en-US" err="1"/>
              <a:t>lập</a:t>
            </a:r>
            <a:r>
              <a:rPr lang="en-US"/>
              <a:t> </a:t>
            </a:r>
            <a:r>
              <a:rPr lang="en-US" err="1"/>
              <a:t>một</a:t>
            </a:r>
            <a:r>
              <a:rPr lang="en-US"/>
              <a:t> </a:t>
            </a:r>
            <a:r>
              <a:rPr lang="en-US" err="1"/>
              <a:t>hệ</a:t>
            </a:r>
            <a:r>
              <a:rPr lang="en-US"/>
              <a:t> </a:t>
            </a:r>
            <a:r>
              <a:rPr lang="en-US" err="1"/>
              <a:t>thống</a:t>
            </a:r>
            <a:r>
              <a:rPr lang="en-US"/>
              <a:t> </a:t>
            </a:r>
            <a:r>
              <a:rPr lang="en-US" err="1"/>
              <a:t>giao</a:t>
            </a:r>
            <a:r>
              <a:rPr lang="en-US"/>
              <a:t> </a:t>
            </a:r>
            <a:r>
              <a:rPr lang="en-US" err="1"/>
              <a:t>tiếp</a:t>
            </a:r>
            <a:r>
              <a:rPr lang="en-US"/>
              <a:t> </a:t>
            </a:r>
            <a:r>
              <a:rPr lang="en-US" err="1"/>
              <a:t>tiêu</a:t>
            </a:r>
            <a:r>
              <a:rPr lang="en-US"/>
              <a:t> </a:t>
            </a:r>
            <a:r>
              <a:rPr lang="en-US" err="1"/>
              <a:t>chuẩn</a:t>
            </a:r>
            <a:r>
              <a:rPr lang="en-US"/>
              <a:t> </a:t>
            </a:r>
            <a:r>
              <a:rPr lang="en-US" err="1"/>
              <a:t>hóa</a:t>
            </a:r>
            <a:r>
              <a:rPr lang="en-US"/>
              <a:t> </a:t>
            </a:r>
            <a:r>
              <a:rPr lang="en-US" err="1"/>
              <a:t>giữa</a:t>
            </a:r>
            <a:r>
              <a:rPr lang="en-US"/>
              <a:t> </a:t>
            </a:r>
            <a:r>
              <a:rPr lang="en-US" err="1"/>
              <a:t>các</a:t>
            </a:r>
            <a:r>
              <a:rPr lang="en-US"/>
              <a:t> AI Agents.</a:t>
            </a:r>
          </a:p>
          <a:p>
            <a:pPr>
              <a:buNone/>
            </a:pPr>
            <a:r>
              <a:rPr lang="en-US"/>
              <a:t>•    </a:t>
            </a:r>
            <a:r>
              <a:rPr lang="en-US" err="1"/>
              <a:t>Thách</a:t>
            </a:r>
            <a:r>
              <a:rPr lang="en-US"/>
              <a:t> </a:t>
            </a:r>
            <a:r>
              <a:rPr lang="en-US" err="1"/>
              <a:t>thức</a:t>
            </a:r>
            <a:r>
              <a:rPr lang="en-US"/>
              <a:t> </a:t>
            </a:r>
            <a:r>
              <a:rPr lang="en-US" err="1"/>
              <a:t>trong</a:t>
            </a:r>
            <a:r>
              <a:rPr lang="en-US"/>
              <a:t> </a:t>
            </a:r>
            <a:r>
              <a:rPr lang="en-US" err="1"/>
              <a:t>việc</a:t>
            </a:r>
            <a:r>
              <a:rPr lang="en-US"/>
              <a:t> </a:t>
            </a:r>
            <a:r>
              <a:rPr lang="en-US" err="1"/>
              <a:t>kiểm</a:t>
            </a:r>
            <a:r>
              <a:rPr lang="en-US"/>
              <a:t> </a:t>
            </a:r>
            <a:r>
              <a:rPr lang="en-US" err="1"/>
              <a:t>thử</a:t>
            </a:r>
            <a:r>
              <a:rPr lang="en-US"/>
              <a:t> </a:t>
            </a:r>
            <a:r>
              <a:rPr lang="en-US" err="1"/>
              <a:t>và</a:t>
            </a:r>
            <a:r>
              <a:rPr lang="en-US"/>
              <a:t> </a:t>
            </a:r>
            <a:r>
              <a:rPr lang="en-US" err="1"/>
              <a:t>đánh</a:t>
            </a:r>
            <a:r>
              <a:rPr lang="en-US"/>
              <a:t> </a:t>
            </a:r>
            <a:r>
              <a:rPr lang="en-US" err="1"/>
              <a:t>giá</a:t>
            </a:r>
            <a:r>
              <a:rPr lang="en-US"/>
              <a:t>: </a:t>
            </a:r>
            <a:r>
              <a:rPr lang="en-US" err="1"/>
              <a:t>Kiểm</a:t>
            </a:r>
            <a:r>
              <a:rPr lang="en-US"/>
              <a:t> </a:t>
            </a:r>
            <a:r>
              <a:rPr lang="en-US" err="1"/>
              <a:t>thử</a:t>
            </a:r>
            <a:r>
              <a:rPr lang="en-US"/>
              <a:t> </a:t>
            </a:r>
            <a:r>
              <a:rPr lang="en-US" err="1"/>
              <a:t>tính</a:t>
            </a:r>
            <a:r>
              <a:rPr lang="en-US"/>
              <a:t> </a:t>
            </a:r>
            <a:r>
              <a:rPr lang="en-US" err="1"/>
              <a:t>an</a:t>
            </a:r>
            <a:r>
              <a:rPr lang="en-US"/>
              <a:t> </a:t>
            </a:r>
            <a:r>
              <a:rPr lang="en-US" err="1"/>
              <a:t>toàn</a:t>
            </a:r>
            <a:r>
              <a:rPr lang="en-US"/>
              <a:t>, </a:t>
            </a:r>
            <a:r>
              <a:rPr lang="en-US" err="1"/>
              <a:t>mô</a:t>
            </a:r>
            <a:r>
              <a:rPr lang="en-US"/>
              <a:t> </a:t>
            </a:r>
            <a:r>
              <a:rPr lang="en-US" err="1"/>
              <a:t>phỏng</a:t>
            </a:r>
            <a:r>
              <a:rPr lang="en-US"/>
              <a:t> </a:t>
            </a:r>
            <a:r>
              <a:rPr lang="en-US" err="1"/>
              <a:t>kịch</a:t>
            </a:r>
            <a:r>
              <a:rPr lang="en-US"/>
              <a:t> </a:t>
            </a:r>
            <a:r>
              <a:rPr lang="en-US" err="1"/>
              <a:t>bản</a:t>
            </a:r>
            <a:r>
              <a:rPr lang="en-US"/>
              <a:t> </a:t>
            </a:r>
            <a:r>
              <a:rPr lang="en-US" err="1"/>
              <a:t>có</a:t>
            </a:r>
            <a:r>
              <a:rPr lang="en-US"/>
              <a:t> </a:t>
            </a:r>
            <a:r>
              <a:rPr lang="en-US" err="1"/>
              <a:t>thể</a:t>
            </a:r>
            <a:r>
              <a:rPr lang="en-US"/>
              <a:t> </a:t>
            </a:r>
            <a:r>
              <a:rPr lang="en-US" err="1"/>
              <a:t>xảy</a:t>
            </a:r>
            <a:r>
              <a:rPr lang="en-US"/>
              <a:t> </a:t>
            </a:r>
            <a:r>
              <a:rPr lang="en-US" err="1"/>
              <a:t>ra</a:t>
            </a:r>
            <a:r>
              <a:rPr lang="en-US"/>
              <a:t> </a:t>
            </a:r>
            <a:r>
              <a:rPr lang="en-US" err="1"/>
              <a:t>và</a:t>
            </a:r>
            <a:r>
              <a:rPr lang="en-US"/>
              <a:t> </a:t>
            </a:r>
            <a:r>
              <a:rPr lang="en-US" err="1"/>
              <a:t>đánh</a:t>
            </a:r>
            <a:r>
              <a:rPr lang="en-US"/>
              <a:t> </a:t>
            </a:r>
            <a:r>
              <a:rPr lang="en-US" err="1"/>
              <a:t>giá</a:t>
            </a:r>
            <a:r>
              <a:rPr lang="en-US"/>
              <a:t> </a:t>
            </a:r>
            <a:r>
              <a:rPr lang="en-US" err="1"/>
              <a:t>hiệu</a:t>
            </a:r>
            <a:r>
              <a:rPr lang="en-US"/>
              <a:t> </a:t>
            </a:r>
            <a:r>
              <a:rPr lang="en-US" err="1"/>
              <a:t>suất</a:t>
            </a:r>
            <a:r>
              <a:rPr lang="en-US"/>
              <a:t> </a:t>
            </a:r>
            <a:r>
              <a:rPr lang="en-US" err="1"/>
              <a:t>của</a:t>
            </a:r>
            <a:r>
              <a:rPr lang="en-US"/>
              <a:t> Multi Agent System </a:t>
            </a:r>
            <a:r>
              <a:rPr lang="en-US" err="1"/>
              <a:t>trong</a:t>
            </a:r>
            <a:r>
              <a:rPr lang="en-US"/>
              <a:t> </a:t>
            </a:r>
            <a:r>
              <a:rPr lang="en-US" err="1"/>
              <a:t>môi</a:t>
            </a:r>
            <a:r>
              <a:rPr lang="en-US"/>
              <a:t> </a:t>
            </a:r>
            <a:r>
              <a:rPr lang="en-US" err="1"/>
              <a:t>trường</a:t>
            </a:r>
            <a:r>
              <a:rPr lang="en-US"/>
              <a:t> </a:t>
            </a:r>
            <a:r>
              <a:rPr lang="en-US" err="1"/>
              <a:t>thực</a:t>
            </a:r>
            <a:r>
              <a:rPr lang="en-US"/>
              <a:t> </a:t>
            </a:r>
            <a:r>
              <a:rPr lang="en-US" err="1"/>
              <a:t>tế</a:t>
            </a:r>
            <a:r>
              <a:rPr lang="en-US"/>
              <a:t> </a:t>
            </a:r>
            <a:r>
              <a:rPr lang="en-US" err="1"/>
              <a:t>rất</a:t>
            </a:r>
            <a:r>
              <a:rPr lang="en-US"/>
              <a:t> </a:t>
            </a:r>
            <a:r>
              <a:rPr lang="en-US" err="1"/>
              <a:t>phức</a:t>
            </a:r>
            <a:r>
              <a:rPr lang="en-US"/>
              <a:t> </a:t>
            </a:r>
            <a:r>
              <a:rPr lang="en-US" err="1"/>
              <a:t>tạp</a:t>
            </a:r>
            <a:r>
              <a:rPr lang="en-US"/>
              <a:t>, </a:t>
            </a:r>
            <a:r>
              <a:rPr lang="en-US" err="1"/>
              <a:t>đặc</a:t>
            </a:r>
            <a:r>
              <a:rPr lang="en-US"/>
              <a:t> </a:t>
            </a:r>
            <a:r>
              <a:rPr lang="en-US" err="1"/>
              <a:t>biệt</a:t>
            </a:r>
            <a:r>
              <a:rPr lang="en-US"/>
              <a:t> </a:t>
            </a:r>
            <a:r>
              <a:rPr lang="en-US" err="1"/>
              <a:t>là</a:t>
            </a:r>
            <a:r>
              <a:rPr lang="en-US"/>
              <a:t> </a:t>
            </a:r>
            <a:r>
              <a:rPr lang="en-US" err="1"/>
              <a:t>trong</a:t>
            </a:r>
            <a:r>
              <a:rPr lang="en-US"/>
              <a:t> </a:t>
            </a:r>
            <a:r>
              <a:rPr lang="en-US" err="1"/>
              <a:t>các</a:t>
            </a:r>
            <a:r>
              <a:rPr lang="en-US"/>
              <a:t> </a:t>
            </a:r>
            <a:r>
              <a:rPr lang="en-US" err="1"/>
              <a:t>tình</a:t>
            </a:r>
            <a:r>
              <a:rPr lang="en-US"/>
              <a:t> </a:t>
            </a:r>
            <a:r>
              <a:rPr lang="en-US" err="1"/>
              <a:t>huống</a:t>
            </a:r>
            <a:r>
              <a:rPr lang="en-US"/>
              <a:t> </a:t>
            </a:r>
            <a:r>
              <a:rPr lang="en-US" err="1"/>
              <a:t>không</a:t>
            </a:r>
            <a:r>
              <a:rPr lang="en-US"/>
              <a:t> </a:t>
            </a:r>
            <a:r>
              <a:rPr lang="en-US" err="1"/>
              <a:t>thể</a:t>
            </a:r>
            <a:r>
              <a:rPr lang="en-US"/>
              <a:t> </a:t>
            </a:r>
            <a:r>
              <a:rPr lang="en-US" err="1"/>
              <a:t>lường</a:t>
            </a:r>
            <a:r>
              <a:rPr lang="en-US"/>
              <a:t> </a:t>
            </a:r>
            <a:r>
              <a:rPr lang="en-US" err="1"/>
              <a:t>trước</a:t>
            </a:r>
            <a:r>
              <a:rPr lang="en-US"/>
              <a:t>.</a:t>
            </a:r>
          </a:p>
          <a:p>
            <a:pPr>
              <a:buNone/>
            </a:pPr>
            <a:r>
              <a:rPr lang="en-US"/>
              <a:t>•    </a:t>
            </a:r>
            <a:r>
              <a:rPr lang="en-US" err="1"/>
              <a:t>Khả</a:t>
            </a:r>
            <a:r>
              <a:rPr lang="en-US"/>
              <a:t> </a:t>
            </a:r>
            <a:r>
              <a:rPr lang="en-US" err="1"/>
              <a:t>năng</a:t>
            </a:r>
            <a:r>
              <a:rPr lang="en-US"/>
              <a:t> </a:t>
            </a:r>
            <a:r>
              <a:rPr lang="en-US" err="1"/>
              <a:t>mở</a:t>
            </a:r>
            <a:r>
              <a:rPr lang="en-US"/>
              <a:t> </a:t>
            </a:r>
            <a:r>
              <a:rPr lang="en-US" err="1"/>
              <a:t>rộng</a:t>
            </a:r>
            <a:r>
              <a:rPr lang="en-US"/>
              <a:t> </a:t>
            </a:r>
            <a:r>
              <a:rPr lang="en-US" err="1"/>
              <a:t>và</a:t>
            </a:r>
            <a:r>
              <a:rPr lang="en-US"/>
              <a:t> </a:t>
            </a:r>
            <a:r>
              <a:rPr lang="en-US" err="1"/>
              <a:t>quản</a:t>
            </a:r>
            <a:r>
              <a:rPr lang="en-US"/>
              <a:t> </a:t>
            </a:r>
            <a:r>
              <a:rPr lang="en-US" err="1"/>
              <a:t>lý</a:t>
            </a:r>
            <a:r>
              <a:rPr lang="en-US"/>
              <a:t> </a:t>
            </a:r>
            <a:r>
              <a:rPr lang="en-US" err="1"/>
              <a:t>quy</a:t>
            </a:r>
            <a:r>
              <a:rPr lang="en-US"/>
              <a:t> </a:t>
            </a:r>
            <a:r>
              <a:rPr lang="en-US" err="1"/>
              <a:t>mô</a:t>
            </a:r>
            <a:r>
              <a:rPr lang="en-US"/>
              <a:t>: Khi </a:t>
            </a:r>
            <a:r>
              <a:rPr lang="en-US" err="1"/>
              <a:t>quy</a:t>
            </a:r>
            <a:r>
              <a:rPr lang="en-US"/>
              <a:t> </a:t>
            </a:r>
            <a:r>
              <a:rPr lang="en-US" err="1"/>
              <a:t>mô</a:t>
            </a:r>
            <a:r>
              <a:rPr lang="en-US"/>
              <a:t> </a:t>
            </a:r>
            <a:r>
              <a:rPr lang="en-US" err="1"/>
              <a:t>hệ</a:t>
            </a:r>
            <a:r>
              <a:rPr lang="en-US"/>
              <a:t> </a:t>
            </a:r>
            <a:r>
              <a:rPr lang="en-US" err="1"/>
              <a:t>thống</a:t>
            </a:r>
            <a:r>
              <a:rPr lang="en-US"/>
              <a:t> </a:t>
            </a:r>
            <a:r>
              <a:rPr lang="en-US" err="1"/>
              <a:t>tăng</a:t>
            </a:r>
            <a:r>
              <a:rPr lang="en-US"/>
              <a:t> </a:t>
            </a:r>
            <a:r>
              <a:rPr lang="en-US" err="1"/>
              <a:t>lên</a:t>
            </a:r>
            <a:r>
              <a:rPr lang="en-US"/>
              <a:t>, </a:t>
            </a:r>
            <a:r>
              <a:rPr lang="en-US" err="1"/>
              <a:t>số</a:t>
            </a:r>
            <a:r>
              <a:rPr lang="en-US"/>
              <a:t> </a:t>
            </a:r>
            <a:r>
              <a:rPr lang="en-US" err="1"/>
              <a:t>lượng</a:t>
            </a:r>
            <a:r>
              <a:rPr lang="en-US"/>
              <a:t> AI Agent </a:t>
            </a:r>
            <a:r>
              <a:rPr lang="en-US" err="1"/>
              <a:t>cũng</a:t>
            </a:r>
            <a:r>
              <a:rPr lang="en-US"/>
              <a:t> </a:t>
            </a:r>
            <a:r>
              <a:rPr lang="en-US" err="1"/>
              <a:t>tăng</a:t>
            </a:r>
            <a:r>
              <a:rPr lang="en-US"/>
              <a:t> </a:t>
            </a:r>
            <a:r>
              <a:rPr lang="en-US" err="1"/>
              <a:t>theo</a:t>
            </a:r>
            <a:r>
              <a:rPr lang="en-US"/>
              <a:t>, </a:t>
            </a:r>
            <a:r>
              <a:rPr lang="en-US" err="1"/>
              <a:t>dẫn</a:t>
            </a:r>
            <a:r>
              <a:rPr lang="en-US"/>
              <a:t> </a:t>
            </a:r>
            <a:r>
              <a:rPr lang="en-US" err="1"/>
              <a:t>đến</a:t>
            </a:r>
            <a:r>
              <a:rPr lang="en-US"/>
              <a:t> </a:t>
            </a:r>
            <a:r>
              <a:rPr lang="en-US" err="1"/>
              <a:t>sự</a:t>
            </a:r>
            <a:r>
              <a:rPr lang="en-US"/>
              <a:t> </a:t>
            </a:r>
            <a:r>
              <a:rPr lang="en-US" err="1"/>
              <a:t>phức</a:t>
            </a:r>
            <a:r>
              <a:rPr lang="en-US"/>
              <a:t> </a:t>
            </a:r>
            <a:r>
              <a:rPr lang="en-US" err="1"/>
              <a:t>tạp</a:t>
            </a:r>
            <a:r>
              <a:rPr lang="en-US"/>
              <a:t> </a:t>
            </a:r>
            <a:r>
              <a:rPr lang="en-US" err="1"/>
              <a:t>tăng</a:t>
            </a:r>
            <a:r>
              <a:rPr lang="en-US"/>
              <a:t> </a:t>
            </a:r>
            <a:r>
              <a:rPr lang="en-US" err="1"/>
              <a:t>cao</a:t>
            </a:r>
            <a:r>
              <a:rPr lang="en-US"/>
              <a:t> </a:t>
            </a:r>
            <a:r>
              <a:rPr lang="en-US" err="1"/>
              <a:t>trong</a:t>
            </a:r>
            <a:r>
              <a:rPr lang="en-US"/>
              <a:t> </a:t>
            </a:r>
            <a:r>
              <a:rPr lang="en-US" err="1"/>
              <a:t>việc</a:t>
            </a:r>
            <a:r>
              <a:rPr lang="en-US"/>
              <a:t> </a:t>
            </a:r>
            <a:r>
              <a:rPr lang="en-US" err="1"/>
              <a:t>quản</a:t>
            </a:r>
            <a:r>
              <a:rPr lang="en-US"/>
              <a:t> </a:t>
            </a:r>
            <a:r>
              <a:rPr lang="en-US" err="1"/>
              <a:t>lý</a:t>
            </a:r>
            <a:r>
              <a:rPr lang="en-US"/>
              <a:t> </a:t>
            </a:r>
            <a:r>
              <a:rPr lang="en-US" err="1"/>
              <a:t>và</a:t>
            </a:r>
            <a:r>
              <a:rPr lang="en-US"/>
              <a:t> </a:t>
            </a:r>
            <a:r>
              <a:rPr lang="en-US" err="1"/>
              <a:t>duy</a:t>
            </a:r>
            <a:r>
              <a:rPr lang="en-US"/>
              <a:t> </a:t>
            </a:r>
            <a:r>
              <a:rPr lang="en-US" err="1"/>
              <a:t>trì</a:t>
            </a:r>
            <a:r>
              <a:rPr lang="en-US"/>
              <a:t> </a:t>
            </a:r>
            <a:r>
              <a:rPr lang="en-US" err="1"/>
              <a:t>hiệu</a:t>
            </a:r>
            <a:r>
              <a:rPr lang="en-US"/>
              <a:t> </a:t>
            </a:r>
            <a:r>
              <a:rPr lang="en-US" err="1"/>
              <a:t>suất</a:t>
            </a:r>
            <a:r>
              <a:rPr lang="en-US"/>
              <a:t> </a:t>
            </a:r>
            <a:r>
              <a:rPr lang="en-US" err="1"/>
              <a:t>hoạt</a:t>
            </a:r>
            <a:r>
              <a:rPr lang="en-US"/>
              <a:t> </a:t>
            </a:r>
            <a:r>
              <a:rPr lang="en-US" err="1"/>
              <a:t>động</a:t>
            </a:r>
            <a:r>
              <a:rPr lang="en-US"/>
              <a:t> </a:t>
            </a:r>
            <a:r>
              <a:rPr lang="en-US" err="1"/>
              <a:t>của</a:t>
            </a:r>
            <a:r>
              <a:rPr lang="en-US"/>
              <a:t> </a:t>
            </a:r>
            <a:r>
              <a:rPr lang="en-US" err="1"/>
              <a:t>hệ</a:t>
            </a:r>
            <a:r>
              <a:rPr lang="en-US"/>
              <a:t> </a:t>
            </a:r>
            <a:r>
              <a:rPr lang="en-US" err="1"/>
              <a:t>thống</a:t>
            </a:r>
            <a:r>
              <a:rPr lang="en-US"/>
              <a:t>.</a:t>
            </a:r>
          </a:p>
          <a:p>
            <a:pPr>
              <a:buNone/>
            </a:pPr>
            <a:r>
              <a:rPr lang="en-US"/>
              <a:t>•    </a:t>
            </a:r>
            <a:r>
              <a:rPr lang="en-US" err="1"/>
              <a:t>Đảm</a:t>
            </a:r>
            <a:r>
              <a:rPr lang="en-US"/>
              <a:t> </a:t>
            </a:r>
            <a:r>
              <a:rPr lang="en-US" err="1"/>
              <a:t>bảo</a:t>
            </a:r>
            <a:r>
              <a:rPr lang="en-US"/>
              <a:t> </a:t>
            </a:r>
            <a:r>
              <a:rPr lang="en-US" err="1"/>
              <a:t>tính</a:t>
            </a:r>
            <a:r>
              <a:rPr lang="en-US"/>
              <a:t> </a:t>
            </a:r>
            <a:r>
              <a:rPr lang="en-US" err="1"/>
              <a:t>đạo</a:t>
            </a:r>
            <a:r>
              <a:rPr lang="en-US"/>
              <a:t> </a:t>
            </a:r>
            <a:r>
              <a:rPr lang="en-US" err="1"/>
              <a:t>đức</a:t>
            </a:r>
            <a:r>
              <a:rPr lang="en-US"/>
              <a:t> </a:t>
            </a:r>
            <a:r>
              <a:rPr lang="en-US" err="1"/>
              <a:t>và</a:t>
            </a:r>
            <a:r>
              <a:rPr lang="en-US"/>
              <a:t> </a:t>
            </a:r>
            <a:r>
              <a:rPr lang="en-US" err="1"/>
              <a:t>trách</a:t>
            </a:r>
            <a:r>
              <a:rPr lang="en-US"/>
              <a:t> </a:t>
            </a:r>
            <a:r>
              <a:rPr lang="en-US" err="1"/>
              <a:t>nhiệm</a:t>
            </a:r>
            <a:r>
              <a:rPr lang="en-US"/>
              <a:t>: Khi </a:t>
            </a:r>
            <a:r>
              <a:rPr lang="en-US" err="1"/>
              <a:t>các</a:t>
            </a:r>
            <a:r>
              <a:rPr lang="en-US"/>
              <a:t> AI Agents </a:t>
            </a:r>
            <a:r>
              <a:rPr lang="en-US" err="1"/>
              <a:t>trở</a:t>
            </a:r>
            <a:r>
              <a:rPr lang="en-US"/>
              <a:t> </a:t>
            </a:r>
            <a:r>
              <a:rPr lang="en-US" err="1"/>
              <a:t>nên</a:t>
            </a:r>
            <a:r>
              <a:rPr lang="en-US"/>
              <a:t> </a:t>
            </a:r>
            <a:r>
              <a:rPr lang="en-US" err="1"/>
              <a:t>tự</a:t>
            </a:r>
            <a:r>
              <a:rPr lang="en-US"/>
              <a:t> </a:t>
            </a:r>
            <a:r>
              <a:rPr lang="en-US" err="1"/>
              <a:t>chủ</a:t>
            </a:r>
            <a:r>
              <a:rPr lang="en-US"/>
              <a:t> </a:t>
            </a:r>
            <a:r>
              <a:rPr lang="en-US" err="1"/>
              <a:t>hơn</a:t>
            </a:r>
            <a:r>
              <a:rPr lang="en-US"/>
              <a:t>, </a:t>
            </a:r>
            <a:r>
              <a:rPr lang="en-US" err="1"/>
              <a:t>vấn</a:t>
            </a:r>
            <a:r>
              <a:rPr lang="en-US"/>
              <a:t> </a:t>
            </a:r>
            <a:r>
              <a:rPr lang="en-US" err="1"/>
              <a:t>đề</a:t>
            </a:r>
            <a:r>
              <a:rPr lang="en-US"/>
              <a:t> </a:t>
            </a:r>
            <a:r>
              <a:rPr lang="en-US" err="1"/>
              <a:t>về</a:t>
            </a:r>
            <a:r>
              <a:rPr lang="en-US"/>
              <a:t> </a:t>
            </a:r>
            <a:r>
              <a:rPr lang="en-US" err="1"/>
              <a:t>đạo</a:t>
            </a:r>
            <a:r>
              <a:rPr lang="en-US"/>
              <a:t> </a:t>
            </a:r>
            <a:r>
              <a:rPr lang="en-US" err="1"/>
              <a:t>đức</a:t>
            </a:r>
            <a:r>
              <a:rPr lang="en-US"/>
              <a:t> </a:t>
            </a:r>
            <a:r>
              <a:rPr lang="en-US" err="1"/>
              <a:t>và</a:t>
            </a:r>
            <a:r>
              <a:rPr lang="en-US"/>
              <a:t> </a:t>
            </a:r>
            <a:r>
              <a:rPr lang="en-US" err="1"/>
              <a:t>trách</a:t>
            </a:r>
            <a:r>
              <a:rPr lang="en-US"/>
              <a:t> </a:t>
            </a:r>
            <a:r>
              <a:rPr lang="en-US" err="1"/>
              <a:t>nhiệm</a:t>
            </a:r>
            <a:r>
              <a:rPr lang="en-US"/>
              <a:t> </a:t>
            </a:r>
            <a:r>
              <a:rPr lang="en-US" err="1"/>
              <a:t>cũng</a:t>
            </a:r>
            <a:r>
              <a:rPr lang="en-US"/>
              <a:t> </a:t>
            </a:r>
            <a:r>
              <a:rPr lang="en-US" err="1"/>
              <a:t>tăng</a:t>
            </a:r>
            <a:r>
              <a:rPr lang="en-US"/>
              <a:t> </a:t>
            </a:r>
            <a:r>
              <a:rPr lang="en-US" err="1"/>
              <a:t>lên</a:t>
            </a:r>
            <a:r>
              <a:rPr lang="en-US"/>
              <a:t>. </a:t>
            </a:r>
            <a:r>
              <a:rPr lang="en-US" err="1"/>
              <a:t>Xác</a:t>
            </a:r>
            <a:r>
              <a:rPr lang="en-US"/>
              <a:t> </a:t>
            </a:r>
            <a:r>
              <a:rPr lang="en-US" err="1"/>
              <a:t>định</a:t>
            </a:r>
            <a:r>
              <a:rPr lang="en-US"/>
              <a:t> ai </a:t>
            </a:r>
            <a:r>
              <a:rPr lang="en-US" err="1"/>
              <a:t>sẽ</a:t>
            </a:r>
            <a:r>
              <a:rPr lang="en-US"/>
              <a:t> </a:t>
            </a:r>
            <a:r>
              <a:rPr lang="en-US" err="1"/>
              <a:t>chịu</a:t>
            </a:r>
            <a:r>
              <a:rPr lang="en-US"/>
              <a:t> </a:t>
            </a:r>
            <a:r>
              <a:rPr lang="en-US" err="1"/>
              <a:t>trách</a:t>
            </a:r>
            <a:r>
              <a:rPr lang="en-US"/>
              <a:t> </a:t>
            </a:r>
            <a:r>
              <a:rPr lang="en-US" err="1"/>
              <a:t>nhiệm</a:t>
            </a:r>
            <a:r>
              <a:rPr lang="en-US"/>
              <a:t> </a:t>
            </a:r>
            <a:r>
              <a:rPr lang="en-US" err="1"/>
              <a:t>khi</a:t>
            </a:r>
            <a:r>
              <a:rPr lang="en-US"/>
              <a:t> </a:t>
            </a:r>
            <a:r>
              <a:rPr lang="en-US" err="1"/>
              <a:t>một</a:t>
            </a:r>
            <a:r>
              <a:rPr lang="en-US"/>
              <a:t> </a:t>
            </a:r>
            <a:r>
              <a:rPr lang="en-US" err="1"/>
              <a:t>hệ</a:t>
            </a:r>
            <a:r>
              <a:rPr lang="en-US"/>
              <a:t> </a:t>
            </a:r>
            <a:r>
              <a:rPr lang="en-US" err="1"/>
              <a:t>thống</a:t>
            </a:r>
            <a:r>
              <a:rPr lang="en-US"/>
              <a:t> MAS </a:t>
            </a:r>
            <a:r>
              <a:rPr lang="en-US" err="1"/>
              <a:t>ra</a:t>
            </a:r>
            <a:r>
              <a:rPr lang="en-US"/>
              <a:t> </a:t>
            </a:r>
            <a:r>
              <a:rPr lang="en-US" err="1"/>
              <a:t>quyết</a:t>
            </a:r>
            <a:r>
              <a:rPr lang="en-US"/>
              <a:t> </a:t>
            </a:r>
            <a:r>
              <a:rPr lang="en-US" err="1"/>
              <a:t>định</a:t>
            </a:r>
            <a:r>
              <a:rPr lang="en-US"/>
              <a:t> </a:t>
            </a:r>
            <a:r>
              <a:rPr lang="en-US" err="1"/>
              <a:t>sai</a:t>
            </a:r>
            <a:r>
              <a:rPr lang="en-US"/>
              <a:t> </a:t>
            </a:r>
            <a:r>
              <a:rPr lang="en-US" err="1"/>
              <a:t>hoặc</a:t>
            </a:r>
            <a:r>
              <a:rPr lang="en-US"/>
              <a:t> </a:t>
            </a:r>
            <a:r>
              <a:rPr lang="en-US" err="1"/>
              <a:t>gây</a:t>
            </a:r>
            <a:r>
              <a:rPr lang="en-US"/>
              <a:t> </a:t>
            </a:r>
            <a:r>
              <a:rPr lang="en-US" err="1"/>
              <a:t>ra</a:t>
            </a:r>
            <a:r>
              <a:rPr lang="en-US"/>
              <a:t> </a:t>
            </a:r>
            <a:r>
              <a:rPr lang="en-US" err="1"/>
              <a:t>hậu</a:t>
            </a:r>
            <a:r>
              <a:rPr lang="en-US"/>
              <a:t> </a:t>
            </a:r>
            <a:r>
              <a:rPr lang="en-US" err="1"/>
              <a:t>quả</a:t>
            </a:r>
            <a:r>
              <a:rPr lang="en-US"/>
              <a:t> </a:t>
            </a:r>
            <a:r>
              <a:rPr lang="en-US" err="1"/>
              <a:t>không</a:t>
            </a:r>
            <a:r>
              <a:rPr lang="en-US"/>
              <a:t> </a:t>
            </a:r>
            <a:r>
              <a:rPr lang="en-US" err="1"/>
              <a:t>mong</a:t>
            </a:r>
            <a:r>
              <a:rPr lang="en-US"/>
              <a:t> </a:t>
            </a:r>
            <a:r>
              <a:rPr lang="en-US" err="1"/>
              <a:t>muốn</a:t>
            </a:r>
            <a:r>
              <a:rPr lang="en-US"/>
              <a:t> </a:t>
            </a:r>
            <a:r>
              <a:rPr lang="en-US" err="1"/>
              <a:t>là</a:t>
            </a:r>
            <a:r>
              <a:rPr lang="en-US"/>
              <a:t> </a:t>
            </a:r>
            <a:r>
              <a:rPr lang="en-US" err="1"/>
              <a:t>điều</a:t>
            </a:r>
            <a:r>
              <a:rPr lang="en-US"/>
              <a:t> </a:t>
            </a:r>
            <a:r>
              <a:rPr lang="en-US" err="1"/>
              <a:t>cần</a:t>
            </a:r>
            <a:r>
              <a:rPr lang="en-US"/>
              <a:t> </a:t>
            </a:r>
            <a:r>
              <a:rPr lang="en-US" err="1"/>
              <a:t>được</a:t>
            </a:r>
            <a:r>
              <a:rPr lang="en-US"/>
              <a:t> </a:t>
            </a:r>
            <a:r>
              <a:rPr lang="en-US" err="1"/>
              <a:t>cân</a:t>
            </a:r>
            <a:r>
              <a:rPr lang="en-US"/>
              <a:t> </a:t>
            </a:r>
            <a:r>
              <a:rPr lang="en-US" err="1"/>
              <a:t>nhắc</a:t>
            </a:r>
            <a:r>
              <a:rPr lang="en-US"/>
              <a:t> </a:t>
            </a:r>
            <a:r>
              <a:rPr lang="en-US" err="1"/>
              <a:t>kỹ</a:t>
            </a:r>
            <a:r>
              <a:rPr lang="en-US"/>
              <a:t> </a:t>
            </a:r>
            <a:r>
              <a:rPr lang="en-US" err="1"/>
              <a:t>lưỡng</a:t>
            </a:r>
            <a:r>
              <a:rPr lang="en-US"/>
              <a:t> </a:t>
            </a:r>
            <a:r>
              <a:rPr lang="en-US" err="1"/>
              <a:t>trong</a:t>
            </a:r>
            <a:r>
              <a:rPr lang="en-US"/>
              <a:t> </a:t>
            </a:r>
            <a:r>
              <a:rPr lang="en-US" err="1"/>
              <a:t>quá</a:t>
            </a:r>
            <a:r>
              <a:rPr lang="en-US"/>
              <a:t> </a:t>
            </a:r>
            <a:r>
              <a:rPr lang="en-US" err="1"/>
              <a:t>trình</a:t>
            </a:r>
            <a:r>
              <a:rPr lang="en-US"/>
              <a:t> </a:t>
            </a:r>
            <a:r>
              <a:rPr lang="en-US" err="1"/>
              <a:t>thiết</a:t>
            </a:r>
            <a:r>
              <a:rPr lang="en-US"/>
              <a:t> </a:t>
            </a:r>
            <a:r>
              <a:rPr lang="en-US" err="1"/>
              <a:t>kế</a:t>
            </a:r>
            <a:r>
              <a:rPr lang="en-US"/>
              <a:t> </a:t>
            </a:r>
            <a:r>
              <a:rPr lang="en-US" err="1"/>
              <a:t>và</a:t>
            </a:r>
            <a:r>
              <a:rPr lang="en-US"/>
              <a:t> </a:t>
            </a:r>
            <a:r>
              <a:rPr lang="en-US" err="1"/>
              <a:t>triển</a:t>
            </a:r>
            <a:r>
              <a:rPr lang="en-US"/>
              <a:t> </a:t>
            </a:r>
            <a:r>
              <a:rPr lang="en-US" err="1"/>
              <a:t>khai</a:t>
            </a:r>
            <a:r>
              <a:rPr lang="en-US"/>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p:cNvGrpSpPr/>
        <p:nvPr/>
      </p:nvGrpSpPr>
      <p:grpSpPr>
        <a:xfrm>
          <a:off x="0" y="0"/>
          <a:ext cx="0" cy="0"/>
          <a:chOff x="0" y="0"/>
          <a:chExt cx="0" cy="0"/>
        </a:xfrm>
      </p:grpSpPr>
      <p:sp>
        <p:nvSpPr>
          <p:cNvPr id="1729" name="Google Shape;1729;g24ed99bf1a4_0_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0" name="Google Shape;1730;g24ed99bf1a4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1"/>
        <p:cNvGrpSpPr/>
        <p:nvPr/>
      </p:nvGrpSpPr>
      <p:grpSpPr>
        <a:xfrm>
          <a:off x="0" y="0"/>
          <a:ext cx="0" cy="0"/>
          <a:chOff x="0" y="0"/>
          <a:chExt cx="0" cy="0"/>
        </a:xfrm>
      </p:grpSpPr>
      <p:sp>
        <p:nvSpPr>
          <p:cNvPr id="1742" name="Google Shape;1742;g24ed99bf1a4_0_5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3" name="Google Shape;1743;g24ed99bf1a4_0_5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b="1"/>
              <a:t>1. </a:t>
            </a:r>
            <a:r>
              <a:rPr lang="en-US" b="1" err="1"/>
              <a:t>Chuyển</a:t>
            </a:r>
            <a:r>
              <a:rPr lang="en-US" b="1"/>
              <a:t> </a:t>
            </a:r>
            <a:r>
              <a:rPr lang="en-US" b="1" err="1"/>
              <a:t>dịch</a:t>
            </a:r>
            <a:r>
              <a:rPr lang="en-US" b="1"/>
              <a:t> từ “Recommendation Engine truyền thống” sang “LLM-Driven Multi-Agent Recommender”</a:t>
            </a:r>
            <a:endParaRPr lang="en-US"/>
          </a:p>
          <a:p>
            <a:pPr>
              <a:buNone/>
            </a:pPr>
            <a:r>
              <a:rPr lang="en-US" err="1"/>
              <a:t>Hệ</a:t>
            </a:r>
            <a:r>
              <a:rPr lang="en-US"/>
              <a:t> </a:t>
            </a:r>
            <a:r>
              <a:rPr lang="en-US" err="1"/>
              <a:t>thống</a:t>
            </a:r>
            <a:r>
              <a:rPr lang="en-US"/>
              <a:t> </a:t>
            </a:r>
            <a:r>
              <a:rPr lang="en-US" err="1"/>
              <a:t>gợi</a:t>
            </a:r>
            <a:r>
              <a:rPr lang="en-US"/>
              <a:t> ý truyền thống dựa trên:</a:t>
            </a:r>
          </a:p>
          <a:p>
            <a:pPr marL="171450" indent="-171450"/>
            <a:r>
              <a:rPr lang="en-US"/>
              <a:t>Collaborative Filtering</a:t>
            </a:r>
          </a:p>
          <a:p>
            <a:pPr marL="171450" indent="-171450"/>
            <a:r>
              <a:rPr lang="en-US"/>
              <a:t>Matrix Factorization</a:t>
            </a:r>
          </a:p>
          <a:p>
            <a:pPr marL="171450" indent="-171450"/>
            <a:r>
              <a:rPr lang="en-US"/>
              <a:t>Deep Learning Recommender (NCF, DIN, DSSM…)</a:t>
            </a:r>
          </a:p>
          <a:p>
            <a:pPr indent="0">
              <a:buNone/>
            </a:pPr>
            <a:r>
              <a:rPr lang="en-US" err="1"/>
              <a:t>Những</a:t>
            </a:r>
            <a:r>
              <a:rPr lang="en-US"/>
              <a:t> </a:t>
            </a:r>
            <a:r>
              <a:rPr lang="en-US" err="1"/>
              <a:t>hệ</a:t>
            </a:r>
            <a:r>
              <a:rPr lang="en-US"/>
              <a:t> </a:t>
            </a:r>
            <a:r>
              <a:rPr lang="en-US" err="1"/>
              <a:t>thống</a:t>
            </a:r>
            <a:r>
              <a:rPr lang="en-US"/>
              <a:t> </a:t>
            </a:r>
            <a:r>
              <a:rPr lang="en-US" err="1"/>
              <a:t>này</a:t>
            </a:r>
            <a:r>
              <a:rPr lang="en-US"/>
              <a:t> </a:t>
            </a:r>
            <a:r>
              <a:rPr lang="en-US" b="1" err="1"/>
              <a:t>không</a:t>
            </a:r>
            <a:r>
              <a:rPr lang="en-US" b="1"/>
              <a:t> </a:t>
            </a:r>
            <a:r>
              <a:rPr lang="en-US" b="1" err="1"/>
              <a:t>có</a:t>
            </a:r>
            <a:r>
              <a:rPr lang="en-US" b="1"/>
              <a:t> </a:t>
            </a:r>
            <a:r>
              <a:rPr lang="en-US" b="1" err="1"/>
              <a:t>khả</a:t>
            </a:r>
            <a:r>
              <a:rPr lang="en-US" b="1"/>
              <a:t> </a:t>
            </a:r>
            <a:r>
              <a:rPr lang="en-US" b="1" err="1"/>
              <a:t>năng</a:t>
            </a:r>
            <a:r>
              <a:rPr lang="en-US" b="1"/>
              <a:t> reasoning</a:t>
            </a:r>
            <a:r>
              <a:rPr lang="en-US"/>
              <a:t>, </a:t>
            </a:r>
            <a:r>
              <a:rPr lang="en-US" err="1"/>
              <a:t>thiếu</a:t>
            </a:r>
            <a:r>
              <a:rPr lang="en-US"/>
              <a:t> </a:t>
            </a:r>
            <a:r>
              <a:rPr lang="en-US" err="1"/>
              <a:t>khả</a:t>
            </a:r>
            <a:r>
              <a:rPr lang="en-US"/>
              <a:t> </a:t>
            </a:r>
            <a:r>
              <a:rPr lang="en-US" err="1"/>
              <a:t>năng</a:t>
            </a:r>
            <a:r>
              <a:rPr lang="en-US"/>
              <a:t>:</a:t>
            </a:r>
          </a:p>
          <a:p>
            <a:pPr marL="171450" indent="-171450"/>
            <a:r>
              <a:rPr lang="en-US" err="1"/>
              <a:t>phân</a:t>
            </a:r>
            <a:r>
              <a:rPr lang="en-US"/>
              <a:t> </a:t>
            </a:r>
            <a:r>
              <a:rPr lang="en-US" err="1"/>
              <a:t>tích</a:t>
            </a:r>
            <a:r>
              <a:rPr lang="en-US"/>
              <a:t> </a:t>
            </a:r>
            <a:r>
              <a:rPr lang="en-US" err="1"/>
              <a:t>ngữ</a:t>
            </a:r>
            <a:r>
              <a:rPr lang="en-US"/>
              <a:t> cảnh linh hoạt,</a:t>
            </a:r>
          </a:p>
          <a:p>
            <a:pPr marL="171450" indent="-171450"/>
            <a:r>
              <a:rPr lang="en-US" err="1"/>
              <a:t>tự</a:t>
            </a:r>
            <a:r>
              <a:rPr lang="en-US"/>
              <a:t> </a:t>
            </a:r>
            <a:r>
              <a:rPr lang="en-US" err="1"/>
              <a:t>mở</a:t>
            </a:r>
            <a:r>
              <a:rPr lang="en-US"/>
              <a:t> </a:t>
            </a:r>
            <a:r>
              <a:rPr lang="en-US" err="1"/>
              <a:t>rộng</a:t>
            </a:r>
            <a:r>
              <a:rPr lang="en-US"/>
              <a:t> nhiệm vụ,</a:t>
            </a:r>
          </a:p>
          <a:p>
            <a:pPr marL="171450" indent="-171450"/>
            <a:r>
              <a:rPr lang="en-US" err="1"/>
              <a:t>tương</a:t>
            </a:r>
            <a:r>
              <a:rPr lang="en-US"/>
              <a:t> </a:t>
            </a:r>
            <a:r>
              <a:rPr lang="en-US" err="1"/>
              <a:t>tác</a:t>
            </a:r>
            <a:r>
              <a:rPr lang="en-US"/>
              <a:t> </a:t>
            </a:r>
            <a:r>
              <a:rPr lang="en-US" err="1"/>
              <a:t>dạng</a:t>
            </a:r>
            <a:r>
              <a:rPr lang="en-US"/>
              <a:t> hội thoại.</a:t>
            </a:r>
          </a:p>
          <a:p>
            <a:pPr indent="0">
              <a:buNone/>
            </a:pPr>
            <a:r>
              <a:rPr lang="en-US" err="1"/>
              <a:t>Sự</a:t>
            </a:r>
            <a:r>
              <a:rPr lang="en-US"/>
              <a:t> </a:t>
            </a:r>
            <a:r>
              <a:rPr lang="en-US" err="1"/>
              <a:t>xuất</a:t>
            </a:r>
            <a:r>
              <a:rPr lang="en-US"/>
              <a:t> </a:t>
            </a:r>
            <a:r>
              <a:rPr lang="en-US" err="1"/>
              <a:t>hiện</a:t>
            </a:r>
            <a:r>
              <a:rPr lang="en-US"/>
              <a:t> của LLM làm xuất hiện xu </a:t>
            </a:r>
            <a:r>
              <a:rPr lang="en-US" err="1"/>
              <a:t>hướng</a:t>
            </a:r>
            <a:r>
              <a:rPr lang="en-US"/>
              <a:t> </a:t>
            </a:r>
            <a:r>
              <a:rPr lang="en-US" b="1"/>
              <a:t>Recommendation-as-Reasoning</a:t>
            </a:r>
            <a:r>
              <a:rPr lang="en-US"/>
              <a:t>: </a:t>
            </a:r>
            <a:r>
              <a:rPr lang="en-US" err="1"/>
              <a:t>thay</a:t>
            </a:r>
            <a:r>
              <a:rPr lang="en-US"/>
              <a:t> </a:t>
            </a:r>
            <a:r>
              <a:rPr lang="en-US" err="1"/>
              <a:t>vì</a:t>
            </a:r>
            <a:r>
              <a:rPr lang="en-US"/>
              <a:t> </a:t>
            </a:r>
            <a:r>
              <a:rPr lang="en-US" err="1"/>
              <a:t>chỉ</a:t>
            </a:r>
            <a:r>
              <a:rPr lang="en-US"/>
              <a:t> </a:t>
            </a:r>
            <a:r>
              <a:rPr lang="en-US" err="1"/>
              <a:t>dự</a:t>
            </a:r>
            <a:r>
              <a:rPr lang="en-US"/>
              <a:t> </a:t>
            </a:r>
            <a:r>
              <a:rPr lang="en-US" err="1"/>
              <a:t>đoán</a:t>
            </a:r>
            <a:r>
              <a:rPr lang="en-US"/>
              <a:t>, </a:t>
            </a:r>
            <a:r>
              <a:rPr lang="en-US" err="1"/>
              <a:t>hệ</a:t>
            </a:r>
            <a:r>
              <a:rPr lang="en-US"/>
              <a:t> </a:t>
            </a:r>
            <a:r>
              <a:rPr lang="en-US" err="1"/>
              <a:t>thống</a:t>
            </a:r>
            <a:r>
              <a:rPr lang="en-US"/>
              <a:t> </a:t>
            </a:r>
            <a:r>
              <a:rPr lang="en-US" err="1"/>
              <a:t>bắt</a:t>
            </a:r>
            <a:r>
              <a:rPr lang="en-US"/>
              <a:t> </a:t>
            </a:r>
            <a:r>
              <a:rPr lang="en-US" err="1"/>
              <a:t>đầu</a:t>
            </a:r>
            <a:r>
              <a:rPr lang="en-US"/>
              <a:t> </a:t>
            </a:r>
            <a:r>
              <a:rPr lang="en-US" err="1"/>
              <a:t>lý</a:t>
            </a:r>
            <a:r>
              <a:rPr lang="en-US"/>
              <a:t> </a:t>
            </a:r>
            <a:r>
              <a:rPr lang="en-US" err="1"/>
              <a:t>luận</a:t>
            </a:r>
            <a:r>
              <a:rPr lang="en-US"/>
              <a:t> </a:t>
            </a:r>
            <a:r>
              <a:rPr lang="en-US" err="1"/>
              <a:t>đa</a:t>
            </a:r>
            <a:r>
              <a:rPr lang="en-US"/>
              <a:t> </a:t>
            </a:r>
            <a:r>
              <a:rPr lang="en-US" err="1"/>
              <a:t>bước</a:t>
            </a:r>
            <a:r>
              <a:rPr lang="en-US"/>
              <a:t>. Multi-Agent System </a:t>
            </a:r>
            <a:r>
              <a:rPr lang="en-US" err="1"/>
              <a:t>chính</a:t>
            </a:r>
            <a:r>
              <a:rPr lang="en-US"/>
              <a:t> </a:t>
            </a:r>
            <a:r>
              <a:rPr lang="en-US" err="1"/>
              <a:t>là</a:t>
            </a:r>
            <a:r>
              <a:rPr lang="en-US"/>
              <a:t> </a:t>
            </a:r>
            <a:r>
              <a:rPr lang="en-US" err="1"/>
              <a:t>cơ</a:t>
            </a:r>
            <a:r>
              <a:rPr lang="en-US"/>
              <a:t> </a:t>
            </a:r>
            <a:r>
              <a:rPr lang="en-US" err="1"/>
              <a:t>chế</a:t>
            </a:r>
            <a:r>
              <a:rPr lang="en-US"/>
              <a:t> </a:t>
            </a:r>
            <a:r>
              <a:rPr lang="en-US" err="1"/>
              <a:t>để</a:t>
            </a:r>
            <a:r>
              <a:rPr lang="en-US"/>
              <a:t> LLM reasoning ở </a:t>
            </a:r>
            <a:r>
              <a:rPr lang="en-US" err="1"/>
              <a:t>cấp</a:t>
            </a:r>
            <a:r>
              <a:rPr lang="en-US"/>
              <a:t> </a:t>
            </a:r>
            <a:r>
              <a:rPr lang="en-US" err="1"/>
              <a:t>độ</a:t>
            </a:r>
            <a:r>
              <a:rPr lang="en-US"/>
              <a:t> </a:t>
            </a:r>
            <a:r>
              <a:rPr lang="en-US" err="1"/>
              <a:t>hệ</a:t>
            </a:r>
            <a:r>
              <a:rPr lang="en-US"/>
              <a:t> </a:t>
            </a:r>
            <a:r>
              <a:rPr lang="en-US" err="1"/>
              <a:t>thống</a:t>
            </a:r>
            <a:r>
              <a:rPr lang="en-US"/>
              <a:t>.</a:t>
            </a:r>
          </a:p>
          <a:p>
            <a:pPr algn="ctr">
              <a:buNone/>
            </a:pPr>
            <a:br>
              <a:rPr lang="en-US"/>
            </a:br>
            <a:endParaRPr lang="en-US"/>
          </a:p>
          <a:p>
            <a:pPr>
              <a:buNone/>
            </a:pPr>
            <a:r>
              <a:rPr lang="en-US" b="1"/>
              <a:t>2. Xu </a:t>
            </a:r>
            <a:r>
              <a:rPr lang="en-US" b="1" err="1"/>
              <a:t>hướng</a:t>
            </a:r>
            <a:r>
              <a:rPr lang="en-US" b="1"/>
              <a:t> 1 — Agent hóa từng thành phần của pipeline gợi ý</a:t>
            </a:r>
            <a:endParaRPr lang="en-US"/>
          </a:p>
          <a:p>
            <a:pPr>
              <a:buNone/>
            </a:pPr>
            <a:r>
              <a:rPr lang="en-US"/>
              <a:t>Thay </a:t>
            </a:r>
            <a:r>
              <a:rPr lang="en-US" err="1"/>
              <a:t>vì</a:t>
            </a:r>
            <a:r>
              <a:rPr lang="en-US"/>
              <a:t> </a:t>
            </a:r>
            <a:r>
              <a:rPr lang="en-US" err="1"/>
              <a:t>một</a:t>
            </a:r>
            <a:r>
              <a:rPr lang="en-US"/>
              <a:t> pipeline cố định, hệ thống thực tế tách thành nhiều agent với vai trò riêng:</a:t>
            </a:r>
          </a:p>
          <a:p>
            <a:pPr>
              <a:buNone/>
            </a:pPr>
            <a:r>
              <a:rPr lang="en-US" b="1"/>
              <a:t>🔹 User Modeling Agent</a:t>
            </a:r>
            <a:endParaRPr lang="en-US"/>
          </a:p>
          <a:p>
            <a:pPr marL="171450" indent="-171450"/>
            <a:r>
              <a:rPr lang="en-US" err="1"/>
              <a:t>Trích</a:t>
            </a:r>
            <a:r>
              <a:rPr lang="en-US"/>
              <a:t> </a:t>
            </a:r>
            <a:r>
              <a:rPr lang="en-US" err="1"/>
              <a:t>xuất</a:t>
            </a:r>
            <a:r>
              <a:rPr lang="en-US"/>
              <a:t> </a:t>
            </a:r>
            <a:r>
              <a:rPr lang="en-US" err="1"/>
              <a:t>sở</a:t>
            </a:r>
            <a:r>
              <a:rPr lang="en-US"/>
              <a:t> thích, thói quen, ngữ cảnh thời gian thực.</a:t>
            </a:r>
          </a:p>
          <a:p>
            <a:pPr marL="171450" indent="-171450"/>
            <a:r>
              <a:rPr lang="en-US" err="1"/>
              <a:t>Cá</a:t>
            </a:r>
            <a:r>
              <a:rPr lang="en-US"/>
              <a:t> </a:t>
            </a:r>
            <a:r>
              <a:rPr lang="en-US" err="1"/>
              <a:t>nhân</a:t>
            </a:r>
            <a:r>
              <a:rPr lang="en-US"/>
              <a:t> </a:t>
            </a:r>
            <a:r>
              <a:rPr lang="en-US" err="1"/>
              <a:t>hoá</a:t>
            </a:r>
            <a:r>
              <a:rPr lang="en-US"/>
              <a:t> ở level: short-term → mid-term → long-term interest.</a:t>
            </a:r>
          </a:p>
          <a:p>
            <a:pPr marL="171450" indent="-171450"/>
            <a:r>
              <a:rPr lang="en-US" err="1"/>
              <a:t>Tự</a:t>
            </a:r>
            <a:r>
              <a:rPr lang="en-US"/>
              <a:t> </a:t>
            </a:r>
            <a:r>
              <a:rPr lang="en-US" err="1"/>
              <a:t>cập</a:t>
            </a:r>
            <a:r>
              <a:rPr lang="en-US"/>
              <a:t> </a:t>
            </a:r>
            <a:r>
              <a:rPr lang="en-US" err="1"/>
              <a:t>nhật</a:t>
            </a:r>
            <a:r>
              <a:rPr lang="en-US"/>
              <a:t> embeddings + profile </a:t>
            </a:r>
            <a:r>
              <a:rPr lang="en-US" err="1"/>
              <a:t>động</a:t>
            </a:r>
            <a:r>
              <a:rPr lang="en-US"/>
              <a:t>.</a:t>
            </a:r>
          </a:p>
          <a:p>
            <a:pPr indent="0">
              <a:buNone/>
            </a:pPr>
            <a:r>
              <a:rPr lang="en-US" b="1"/>
              <a:t>🔹 Retrieval Agent</a:t>
            </a:r>
            <a:endParaRPr lang="en-US"/>
          </a:p>
          <a:p>
            <a:pPr marL="171450" indent="-171450"/>
            <a:r>
              <a:rPr lang="en-US" err="1"/>
              <a:t>Lựa</a:t>
            </a:r>
            <a:r>
              <a:rPr lang="en-US"/>
              <a:t> </a:t>
            </a:r>
            <a:r>
              <a:rPr lang="en-US" err="1"/>
              <a:t>chọn</a:t>
            </a:r>
            <a:r>
              <a:rPr lang="en-US"/>
              <a:t> </a:t>
            </a:r>
            <a:r>
              <a:rPr lang="en-US" err="1"/>
              <a:t>chiến</a:t>
            </a:r>
            <a:r>
              <a:rPr lang="en-US"/>
              <a:t> </a:t>
            </a:r>
            <a:r>
              <a:rPr lang="en-US" err="1"/>
              <a:t>lược</a:t>
            </a:r>
            <a:r>
              <a:rPr lang="en-US"/>
              <a:t> </a:t>
            </a:r>
            <a:r>
              <a:rPr lang="en-US" err="1"/>
              <a:t>truy</a:t>
            </a:r>
            <a:r>
              <a:rPr lang="en-US"/>
              <a:t> </a:t>
            </a:r>
            <a:r>
              <a:rPr lang="en-US" err="1"/>
              <a:t>vấn</a:t>
            </a:r>
            <a:r>
              <a:rPr lang="en-US"/>
              <a:t>: semantic search, ANN, embedding routing.</a:t>
            </a:r>
          </a:p>
          <a:p>
            <a:pPr marL="171450" indent="-171450"/>
            <a:r>
              <a:rPr lang="en-US" err="1"/>
              <a:t>Có</a:t>
            </a:r>
            <a:r>
              <a:rPr lang="en-US"/>
              <a:t> </a:t>
            </a:r>
            <a:r>
              <a:rPr lang="en-US" err="1"/>
              <a:t>thể</a:t>
            </a:r>
            <a:r>
              <a:rPr lang="en-US"/>
              <a:t> </a:t>
            </a:r>
            <a:r>
              <a:rPr lang="en-US" err="1"/>
              <a:t>thay</a:t>
            </a:r>
            <a:r>
              <a:rPr lang="en-US"/>
              <a:t> </a:t>
            </a:r>
            <a:r>
              <a:rPr lang="en-US" err="1"/>
              <a:t>đổi</a:t>
            </a:r>
            <a:r>
              <a:rPr lang="en-US"/>
              <a:t> </a:t>
            </a:r>
            <a:r>
              <a:rPr lang="en-US" err="1"/>
              <a:t>chiến</a:t>
            </a:r>
            <a:r>
              <a:rPr lang="en-US"/>
              <a:t> </a:t>
            </a:r>
            <a:r>
              <a:rPr lang="en-US" err="1"/>
              <a:t>lược</a:t>
            </a:r>
            <a:r>
              <a:rPr lang="en-US"/>
              <a:t> </a:t>
            </a:r>
            <a:r>
              <a:rPr lang="en-US" err="1"/>
              <a:t>dựa</a:t>
            </a:r>
            <a:r>
              <a:rPr lang="en-US"/>
              <a:t> </a:t>
            </a:r>
            <a:r>
              <a:rPr lang="en-US" err="1"/>
              <a:t>trên</a:t>
            </a:r>
            <a:r>
              <a:rPr lang="en-US"/>
              <a:t> </a:t>
            </a:r>
            <a:r>
              <a:rPr lang="en-US" err="1"/>
              <a:t>yêu</a:t>
            </a:r>
            <a:r>
              <a:rPr lang="en-US"/>
              <a:t> </a:t>
            </a:r>
            <a:r>
              <a:rPr lang="en-US" err="1"/>
              <a:t>cầu</a:t>
            </a:r>
            <a:r>
              <a:rPr lang="en-US"/>
              <a:t> </a:t>
            </a:r>
            <a:r>
              <a:rPr lang="en-US" err="1"/>
              <a:t>của</a:t>
            </a:r>
            <a:r>
              <a:rPr lang="en-US"/>
              <a:t> user.</a:t>
            </a:r>
          </a:p>
          <a:p>
            <a:pPr indent="0">
              <a:buNone/>
            </a:pPr>
            <a:r>
              <a:rPr lang="en-US" b="1"/>
              <a:t>🔹 Ranking Agent</a:t>
            </a:r>
            <a:endParaRPr lang="en-US"/>
          </a:p>
          <a:p>
            <a:pPr marL="171450" indent="-171450"/>
            <a:r>
              <a:rPr lang="en-US"/>
              <a:t>LLM reasoning + scoring + reranking.</a:t>
            </a:r>
          </a:p>
          <a:p>
            <a:pPr marL="171450" indent="-171450"/>
            <a:r>
              <a:rPr lang="en-US" err="1"/>
              <a:t>Kết</a:t>
            </a:r>
            <a:r>
              <a:rPr lang="en-US"/>
              <a:t> </a:t>
            </a:r>
            <a:r>
              <a:rPr lang="en-US" err="1"/>
              <a:t>hợp</a:t>
            </a:r>
            <a:r>
              <a:rPr lang="en-US"/>
              <a:t> </a:t>
            </a:r>
            <a:r>
              <a:rPr lang="en-US" err="1"/>
              <a:t>cả</a:t>
            </a:r>
            <a:r>
              <a:rPr lang="en-US"/>
              <a:t> </a:t>
            </a:r>
            <a:r>
              <a:rPr lang="en-US" err="1"/>
              <a:t>tiêu</a:t>
            </a:r>
            <a:r>
              <a:rPr lang="en-US"/>
              <a:t> </a:t>
            </a:r>
            <a:r>
              <a:rPr lang="en-US" err="1"/>
              <a:t>chí</a:t>
            </a:r>
            <a:r>
              <a:rPr lang="en-US"/>
              <a:t> </a:t>
            </a:r>
            <a:r>
              <a:rPr lang="en-US" err="1"/>
              <a:t>không</a:t>
            </a:r>
            <a:r>
              <a:rPr lang="en-US"/>
              <a:t> </a:t>
            </a:r>
            <a:r>
              <a:rPr lang="en-US" err="1"/>
              <a:t>định</a:t>
            </a:r>
            <a:r>
              <a:rPr lang="en-US"/>
              <a:t> </a:t>
            </a:r>
            <a:r>
              <a:rPr lang="en-US" err="1"/>
              <a:t>lượng</a:t>
            </a:r>
            <a:r>
              <a:rPr lang="en-US"/>
              <a:t> (mood, context, intent).</a:t>
            </a:r>
          </a:p>
          <a:p>
            <a:pPr indent="0">
              <a:buNone/>
            </a:pPr>
            <a:r>
              <a:rPr lang="en-US" b="1"/>
              <a:t>🔹 Critic Agent / Safety Agent</a:t>
            </a:r>
            <a:endParaRPr lang="en-US"/>
          </a:p>
          <a:p>
            <a:pPr marL="171450" indent="-171450"/>
            <a:r>
              <a:rPr lang="en-US" err="1"/>
              <a:t>Đảm</a:t>
            </a:r>
            <a:r>
              <a:rPr lang="en-US"/>
              <a:t> </a:t>
            </a:r>
            <a:r>
              <a:rPr lang="en-US" err="1"/>
              <a:t>bảo</a:t>
            </a:r>
            <a:r>
              <a:rPr lang="en-US"/>
              <a:t> </a:t>
            </a:r>
            <a:r>
              <a:rPr lang="en-US" err="1"/>
              <a:t>gợi</a:t>
            </a:r>
            <a:r>
              <a:rPr lang="en-US"/>
              <a:t> ý </a:t>
            </a:r>
            <a:r>
              <a:rPr lang="en-US" err="1"/>
              <a:t>an</a:t>
            </a:r>
            <a:r>
              <a:rPr lang="en-US"/>
              <a:t> </a:t>
            </a:r>
            <a:r>
              <a:rPr lang="en-US" err="1"/>
              <a:t>toàn</a:t>
            </a:r>
            <a:r>
              <a:rPr lang="en-US"/>
              <a:t>, </a:t>
            </a:r>
            <a:r>
              <a:rPr lang="en-US" err="1"/>
              <a:t>hợp</a:t>
            </a:r>
            <a:r>
              <a:rPr lang="en-US"/>
              <a:t> </a:t>
            </a:r>
            <a:r>
              <a:rPr lang="en-US" err="1"/>
              <a:t>lý</a:t>
            </a:r>
            <a:r>
              <a:rPr lang="en-US"/>
              <a:t>, </a:t>
            </a:r>
            <a:r>
              <a:rPr lang="en-US" err="1"/>
              <a:t>không</a:t>
            </a:r>
            <a:r>
              <a:rPr lang="en-US"/>
              <a:t> </a:t>
            </a:r>
            <a:r>
              <a:rPr lang="en-US" err="1"/>
              <a:t>thiên</a:t>
            </a:r>
            <a:r>
              <a:rPr lang="en-US"/>
              <a:t> </a:t>
            </a:r>
            <a:r>
              <a:rPr lang="en-US" err="1"/>
              <a:t>vị</a:t>
            </a:r>
            <a:r>
              <a:rPr lang="en-US"/>
              <a:t>.</a:t>
            </a:r>
          </a:p>
          <a:p>
            <a:pPr marL="171450" indent="-171450"/>
            <a:r>
              <a:rPr lang="en-US" err="1"/>
              <a:t>Tự</a:t>
            </a:r>
            <a:r>
              <a:rPr lang="en-US"/>
              <a:t> </a:t>
            </a:r>
            <a:r>
              <a:rPr lang="en-US" err="1"/>
              <a:t>kiểm</a:t>
            </a:r>
            <a:r>
              <a:rPr lang="en-US"/>
              <a:t> </a:t>
            </a:r>
            <a:r>
              <a:rPr lang="en-US" err="1"/>
              <a:t>tra</a:t>
            </a:r>
            <a:r>
              <a:rPr lang="en-US"/>
              <a:t> </a:t>
            </a:r>
            <a:r>
              <a:rPr lang="en-US" err="1"/>
              <a:t>chất</a:t>
            </a:r>
            <a:r>
              <a:rPr lang="en-US"/>
              <a:t> </a:t>
            </a:r>
            <a:r>
              <a:rPr lang="en-US" err="1"/>
              <a:t>lượng</a:t>
            </a:r>
            <a:r>
              <a:rPr lang="en-US"/>
              <a:t> </a:t>
            </a:r>
            <a:r>
              <a:rPr lang="en-US" err="1"/>
              <a:t>đề</a:t>
            </a:r>
            <a:r>
              <a:rPr lang="en-US"/>
              <a:t> </a:t>
            </a:r>
            <a:r>
              <a:rPr lang="en-US" err="1"/>
              <a:t>xuất</a:t>
            </a:r>
            <a:r>
              <a:rPr lang="en-US"/>
              <a:t>.</a:t>
            </a:r>
          </a:p>
          <a:p>
            <a:pPr indent="0">
              <a:buNone/>
            </a:pPr>
            <a:r>
              <a:rPr lang="en-US" b="1"/>
              <a:t>🔹 Planner / Orchestrator Agent</a:t>
            </a:r>
            <a:endParaRPr lang="en-US"/>
          </a:p>
          <a:p>
            <a:pPr marL="171450" indent="-171450"/>
            <a:r>
              <a:rPr lang="en-US" err="1"/>
              <a:t>Điều</a:t>
            </a:r>
            <a:r>
              <a:rPr lang="en-US"/>
              <a:t> </a:t>
            </a:r>
            <a:r>
              <a:rPr lang="en-US" err="1"/>
              <a:t>phối</a:t>
            </a:r>
            <a:r>
              <a:rPr lang="en-US"/>
              <a:t> </a:t>
            </a:r>
            <a:r>
              <a:rPr lang="en-US" err="1"/>
              <a:t>toàn</a:t>
            </a:r>
            <a:r>
              <a:rPr lang="en-US"/>
              <a:t> </a:t>
            </a:r>
            <a:r>
              <a:rPr lang="en-US" err="1"/>
              <a:t>bộ</a:t>
            </a:r>
            <a:r>
              <a:rPr lang="en-US"/>
              <a:t> </a:t>
            </a:r>
            <a:r>
              <a:rPr lang="en-US" err="1"/>
              <a:t>quá</a:t>
            </a:r>
            <a:r>
              <a:rPr lang="en-US"/>
              <a:t> </a:t>
            </a:r>
            <a:r>
              <a:rPr lang="en-US" err="1"/>
              <a:t>trình</a:t>
            </a:r>
            <a:r>
              <a:rPr lang="en-US"/>
              <a:t>.</a:t>
            </a:r>
          </a:p>
          <a:p>
            <a:pPr marL="171450" indent="-171450"/>
            <a:r>
              <a:rPr lang="en-US" err="1"/>
              <a:t>Lập</a:t>
            </a:r>
            <a:r>
              <a:rPr lang="en-US"/>
              <a:t> </a:t>
            </a:r>
            <a:r>
              <a:rPr lang="en-US" err="1"/>
              <a:t>kế</a:t>
            </a:r>
            <a:r>
              <a:rPr lang="en-US"/>
              <a:t> </a:t>
            </a:r>
            <a:r>
              <a:rPr lang="en-US" err="1"/>
              <a:t>hoạch</a:t>
            </a:r>
            <a:r>
              <a:rPr lang="en-US"/>
              <a:t> multi-step, </a:t>
            </a:r>
            <a:r>
              <a:rPr lang="en-US" err="1"/>
              <a:t>chọn</a:t>
            </a:r>
            <a:r>
              <a:rPr lang="en-US"/>
              <a:t> agent </a:t>
            </a:r>
            <a:r>
              <a:rPr lang="en-US" err="1"/>
              <a:t>phù</a:t>
            </a:r>
            <a:r>
              <a:rPr lang="en-US"/>
              <a:t> </a:t>
            </a:r>
            <a:r>
              <a:rPr lang="en-US" err="1"/>
              <a:t>hợp</a:t>
            </a:r>
            <a:r>
              <a:rPr lang="en-US"/>
              <a:t> </a:t>
            </a:r>
            <a:r>
              <a:rPr lang="en-US" err="1"/>
              <a:t>cho</a:t>
            </a:r>
            <a:r>
              <a:rPr lang="en-US"/>
              <a:t> </a:t>
            </a:r>
            <a:r>
              <a:rPr lang="en-US" err="1"/>
              <a:t>từng</a:t>
            </a:r>
            <a:r>
              <a:rPr lang="en-US"/>
              <a:t> </a:t>
            </a:r>
            <a:r>
              <a:rPr lang="en-US" err="1"/>
              <a:t>nhiệm</a:t>
            </a:r>
            <a:r>
              <a:rPr lang="en-US"/>
              <a:t> </a:t>
            </a:r>
            <a:r>
              <a:rPr lang="en-US" err="1"/>
              <a:t>vụ</a:t>
            </a:r>
            <a:r>
              <a:rPr lang="en-US"/>
              <a:t>.</a:t>
            </a:r>
          </a:p>
          <a:p>
            <a:pPr indent="0">
              <a:buNone/>
            </a:pPr>
            <a:r>
              <a:rPr lang="en-US"/>
              <a:t>Trong </a:t>
            </a:r>
            <a:r>
              <a:rPr lang="en-US" err="1"/>
              <a:t>thực</a:t>
            </a:r>
            <a:r>
              <a:rPr lang="en-US"/>
              <a:t> </a:t>
            </a:r>
            <a:r>
              <a:rPr lang="en-US" err="1"/>
              <a:t>tế</a:t>
            </a:r>
            <a:r>
              <a:rPr lang="en-US"/>
              <a:t>, </a:t>
            </a:r>
            <a:r>
              <a:rPr lang="en-US" err="1"/>
              <a:t>việc</a:t>
            </a:r>
            <a:r>
              <a:rPr lang="en-US"/>
              <a:t> “agent </a:t>
            </a:r>
            <a:r>
              <a:rPr lang="en-US" err="1"/>
              <a:t>hóa</a:t>
            </a:r>
            <a:r>
              <a:rPr lang="en-US"/>
              <a:t>” </a:t>
            </a:r>
            <a:r>
              <a:rPr lang="en-US" err="1"/>
              <a:t>giúp</a:t>
            </a:r>
            <a:r>
              <a:rPr lang="en-US"/>
              <a:t> </a:t>
            </a:r>
            <a:r>
              <a:rPr lang="en-US" err="1"/>
              <a:t>hệ</a:t>
            </a:r>
            <a:r>
              <a:rPr lang="en-US"/>
              <a:t> </a:t>
            </a:r>
            <a:r>
              <a:rPr lang="en-US" err="1"/>
              <a:t>thống</a:t>
            </a:r>
            <a:r>
              <a:rPr lang="en-US"/>
              <a:t> </a:t>
            </a:r>
            <a:r>
              <a:rPr lang="en-US" err="1"/>
              <a:t>linh</a:t>
            </a:r>
            <a:r>
              <a:rPr lang="en-US"/>
              <a:t> </a:t>
            </a:r>
            <a:r>
              <a:rPr lang="en-US" err="1"/>
              <a:t>hoạt</a:t>
            </a:r>
            <a:r>
              <a:rPr lang="en-US"/>
              <a:t>, </a:t>
            </a:r>
            <a:r>
              <a:rPr lang="en-US" err="1"/>
              <a:t>dễ</a:t>
            </a:r>
            <a:r>
              <a:rPr lang="en-US"/>
              <a:t> </a:t>
            </a:r>
            <a:r>
              <a:rPr lang="en-US" err="1"/>
              <a:t>mở</a:t>
            </a:r>
            <a:r>
              <a:rPr lang="en-US"/>
              <a:t> </a:t>
            </a:r>
            <a:r>
              <a:rPr lang="en-US" err="1"/>
              <a:t>rộng</a:t>
            </a:r>
            <a:r>
              <a:rPr lang="en-US"/>
              <a:t> </a:t>
            </a:r>
            <a:r>
              <a:rPr lang="en-US" err="1"/>
              <a:t>và</a:t>
            </a:r>
            <a:r>
              <a:rPr lang="en-US"/>
              <a:t> </a:t>
            </a:r>
            <a:r>
              <a:rPr lang="en-US" err="1"/>
              <a:t>dễ</a:t>
            </a:r>
            <a:r>
              <a:rPr lang="en-US"/>
              <a:t> </a:t>
            </a:r>
            <a:r>
              <a:rPr lang="en-US" err="1"/>
              <a:t>cập</a:t>
            </a:r>
            <a:r>
              <a:rPr lang="en-US"/>
              <a:t> </a:t>
            </a:r>
            <a:r>
              <a:rPr lang="en-US" err="1"/>
              <a:t>nhật</a:t>
            </a:r>
            <a:r>
              <a:rPr lang="en-US"/>
              <a:t> </a:t>
            </a:r>
            <a:r>
              <a:rPr lang="en-US" err="1"/>
              <a:t>mô-đun</a:t>
            </a:r>
            <a:r>
              <a:rPr lang="en-US"/>
              <a:t> </a:t>
            </a:r>
            <a:r>
              <a:rPr lang="en-US" err="1"/>
              <a:t>hơn</a:t>
            </a:r>
            <a:r>
              <a:rPr lang="en-US"/>
              <a:t>.</a:t>
            </a:r>
          </a:p>
          <a:p>
            <a:pPr algn="ctr">
              <a:buNone/>
            </a:pPr>
            <a:br>
              <a:rPr lang="en-US"/>
            </a:br>
            <a:endParaRPr lang="en-US"/>
          </a:p>
          <a:p>
            <a:pPr>
              <a:buNone/>
            </a:pPr>
            <a:r>
              <a:rPr lang="en-US" b="1"/>
              <a:t>3. Xu </a:t>
            </a:r>
            <a:r>
              <a:rPr lang="en-US" b="1" err="1"/>
              <a:t>hướng</a:t>
            </a:r>
            <a:r>
              <a:rPr lang="en-US" b="1"/>
              <a:t> 2 — Multi-Agent </a:t>
            </a:r>
            <a:r>
              <a:rPr lang="en-US" b="1" err="1"/>
              <a:t>hợp</a:t>
            </a:r>
            <a:r>
              <a:rPr lang="en-US" b="1"/>
              <a:t> </a:t>
            </a:r>
            <a:r>
              <a:rPr lang="en-US" b="1" err="1"/>
              <a:t>tác</a:t>
            </a:r>
            <a:r>
              <a:rPr lang="en-US" b="1"/>
              <a:t> </a:t>
            </a:r>
            <a:r>
              <a:rPr lang="en-US" b="1" err="1"/>
              <a:t>để</a:t>
            </a:r>
            <a:r>
              <a:rPr lang="en-US" b="1"/>
              <a:t> </a:t>
            </a:r>
            <a:r>
              <a:rPr lang="en-US" b="1" err="1"/>
              <a:t>nâng</a:t>
            </a:r>
            <a:r>
              <a:rPr lang="en-US" b="1"/>
              <a:t> </a:t>
            </a:r>
            <a:r>
              <a:rPr lang="en-US" b="1" err="1"/>
              <a:t>cao</a:t>
            </a:r>
            <a:r>
              <a:rPr lang="en-US" b="1"/>
              <a:t> </a:t>
            </a:r>
            <a:r>
              <a:rPr lang="en-US" b="1" err="1"/>
              <a:t>chất</a:t>
            </a:r>
            <a:r>
              <a:rPr lang="en-US" b="1"/>
              <a:t> </a:t>
            </a:r>
            <a:r>
              <a:rPr lang="en-US" b="1" err="1"/>
              <a:t>lượng</a:t>
            </a:r>
            <a:r>
              <a:rPr lang="en-US" b="1"/>
              <a:t> </a:t>
            </a:r>
            <a:r>
              <a:rPr lang="en-US" b="1" err="1"/>
              <a:t>gợi</a:t>
            </a:r>
            <a:r>
              <a:rPr lang="en-US" b="1"/>
              <a:t> ý</a:t>
            </a:r>
            <a:endParaRPr lang="en-US"/>
          </a:p>
          <a:p>
            <a:pPr>
              <a:buNone/>
            </a:pPr>
            <a:r>
              <a:rPr lang="en-US"/>
              <a:t>Các </a:t>
            </a:r>
            <a:r>
              <a:rPr lang="en-US" err="1"/>
              <a:t>công</a:t>
            </a:r>
            <a:r>
              <a:rPr lang="en-US"/>
              <a:t> ty </a:t>
            </a:r>
            <a:r>
              <a:rPr lang="en-US" err="1"/>
              <a:t>lớn</a:t>
            </a:r>
            <a:r>
              <a:rPr lang="en-US"/>
              <a:t> (TikTok, YouTube, Amazon) </a:t>
            </a:r>
            <a:r>
              <a:rPr lang="en-US" err="1"/>
              <a:t>đang</a:t>
            </a:r>
            <a:r>
              <a:rPr lang="en-US"/>
              <a:t> </a:t>
            </a:r>
            <a:r>
              <a:rPr lang="en-US" err="1"/>
              <a:t>chuyển</a:t>
            </a:r>
            <a:r>
              <a:rPr lang="en-US"/>
              <a:t> sang </a:t>
            </a:r>
            <a:r>
              <a:rPr lang="en-US" err="1"/>
              <a:t>mô</a:t>
            </a:r>
            <a:r>
              <a:rPr lang="en-US"/>
              <a:t> </a:t>
            </a:r>
            <a:r>
              <a:rPr lang="en-US" err="1"/>
              <a:t>hình</a:t>
            </a:r>
            <a:r>
              <a:rPr lang="en-US"/>
              <a:t>:</a:t>
            </a:r>
          </a:p>
          <a:p>
            <a:pPr marL="171450" indent="-171450"/>
            <a:r>
              <a:rPr lang="en-US" b="1"/>
              <a:t>Collaborative Reasoning</a:t>
            </a:r>
            <a:r>
              <a:rPr lang="en-US"/>
              <a:t>: </a:t>
            </a:r>
            <a:r>
              <a:rPr lang="en-US" err="1"/>
              <a:t>nhiều</a:t>
            </a:r>
            <a:r>
              <a:rPr lang="en-US"/>
              <a:t> agent </a:t>
            </a:r>
            <a:r>
              <a:rPr lang="en-US" err="1"/>
              <a:t>cùng</a:t>
            </a:r>
            <a:r>
              <a:rPr lang="en-US"/>
              <a:t> </a:t>
            </a:r>
            <a:r>
              <a:rPr lang="en-US" err="1"/>
              <a:t>thảo</a:t>
            </a:r>
            <a:r>
              <a:rPr lang="en-US"/>
              <a:t> </a:t>
            </a:r>
            <a:r>
              <a:rPr lang="en-US" err="1"/>
              <a:t>luận</a:t>
            </a:r>
            <a:r>
              <a:rPr lang="en-US"/>
              <a:t>.</a:t>
            </a:r>
          </a:p>
          <a:p>
            <a:pPr marL="171450" indent="-171450"/>
            <a:r>
              <a:rPr lang="en-US" b="1"/>
              <a:t>Debating Agents</a:t>
            </a:r>
            <a:r>
              <a:rPr lang="en-US"/>
              <a:t>: agent </a:t>
            </a:r>
            <a:r>
              <a:rPr lang="en-US" err="1"/>
              <a:t>tranh</a:t>
            </a:r>
            <a:r>
              <a:rPr lang="en-US"/>
              <a:t> </a:t>
            </a:r>
            <a:r>
              <a:rPr lang="en-US" err="1"/>
              <a:t>luận</a:t>
            </a:r>
            <a:r>
              <a:rPr lang="en-US"/>
              <a:t> </a:t>
            </a:r>
            <a:r>
              <a:rPr lang="en-US" err="1"/>
              <a:t>để</a:t>
            </a:r>
            <a:r>
              <a:rPr lang="en-US"/>
              <a:t> </a:t>
            </a:r>
            <a:r>
              <a:rPr lang="en-US" err="1"/>
              <a:t>chọn</a:t>
            </a:r>
            <a:r>
              <a:rPr lang="en-US"/>
              <a:t> </a:t>
            </a:r>
            <a:r>
              <a:rPr lang="en-US" err="1"/>
              <a:t>gợi</a:t>
            </a:r>
            <a:r>
              <a:rPr lang="en-US"/>
              <a:t> ý </a:t>
            </a:r>
            <a:r>
              <a:rPr lang="en-US" err="1"/>
              <a:t>tốt</a:t>
            </a:r>
            <a:r>
              <a:rPr lang="en-US"/>
              <a:t> </a:t>
            </a:r>
            <a:r>
              <a:rPr lang="en-US" err="1"/>
              <a:t>nhất</a:t>
            </a:r>
            <a:r>
              <a:rPr lang="en-US"/>
              <a:t>.</a:t>
            </a:r>
          </a:p>
          <a:p>
            <a:pPr marL="171450" indent="-171450"/>
            <a:r>
              <a:rPr lang="en-US" b="1" err="1"/>
              <a:t>Reflexion</a:t>
            </a:r>
            <a:r>
              <a:rPr lang="en-US" b="1"/>
              <a:t> Agents</a:t>
            </a:r>
            <a:r>
              <a:rPr lang="en-US"/>
              <a:t>: agent </a:t>
            </a:r>
            <a:r>
              <a:rPr lang="en-US" err="1"/>
              <a:t>tự</a:t>
            </a:r>
            <a:r>
              <a:rPr lang="en-US"/>
              <a:t> </a:t>
            </a:r>
            <a:r>
              <a:rPr lang="en-US" err="1"/>
              <a:t>kiểm</a:t>
            </a:r>
            <a:r>
              <a:rPr lang="en-US"/>
              <a:t> </a:t>
            </a:r>
            <a:r>
              <a:rPr lang="en-US" err="1"/>
              <a:t>lỗi</a:t>
            </a:r>
            <a:r>
              <a:rPr lang="en-US"/>
              <a:t> </a:t>
            </a:r>
            <a:r>
              <a:rPr lang="en-US" err="1"/>
              <a:t>và</a:t>
            </a:r>
            <a:r>
              <a:rPr lang="en-US"/>
              <a:t> </a:t>
            </a:r>
            <a:r>
              <a:rPr lang="en-US" err="1"/>
              <a:t>sửa</a:t>
            </a:r>
            <a:r>
              <a:rPr lang="en-US"/>
              <a:t> </a:t>
            </a:r>
            <a:r>
              <a:rPr lang="en-US" err="1"/>
              <a:t>kế</a:t>
            </a:r>
            <a:r>
              <a:rPr lang="en-US"/>
              <a:t> </a:t>
            </a:r>
            <a:r>
              <a:rPr lang="en-US" err="1"/>
              <a:t>hoạch</a:t>
            </a:r>
            <a:r>
              <a:rPr lang="en-US"/>
              <a:t>.</a:t>
            </a:r>
          </a:p>
          <a:p>
            <a:pPr marL="171450" indent="-171450"/>
            <a:r>
              <a:rPr lang="en-US" b="1"/>
              <a:t>Tool-Augmented Agents</a:t>
            </a:r>
            <a:r>
              <a:rPr lang="en-US"/>
              <a:t>: </a:t>
            </a:r>
            <a:r>
              <a:rPr lang="en-US" err="1"/>
              <a:t>mỗi</a:t>
            </a:r>
            <a:r>
              <a:rPr lang="en-US"/>
              <a:t> agent </a:t>
            </a:r>
            <a:r>
              <a:rPr lang="en-US" err="1"/>
              <a:t>có</a:t>
            </a:r>
            <a:r>
              <a:rPr lang="en-US"/>
              <a:t> </a:t>
            </a:r>
            <a:r>
              <a:rPr lang="en-US" err="1"/>
              <a:t>quyền</a:t>
            </a:r>
            <a:r>
              <a:rPr lang="en-US"/>
              <a:t> </a:t>
            </a:r>
            <a:r>
              <a:rPr lang="en-US" err="1"/>
              <a:t>truy</a:t>
            </a:r>
            <a:r>
              <a:rPr lang="en-US"/>
              <a:t> </a:t>
            </a:r>
            <a:r>
              <a:rPr lang="en-US" err="1"/>
              <a:t>cập</a:t>
            </a:r>
            <a:r>
              <a:rPr lang="en-US"/>
              <a:t> API </a:t>
            </a:r>
            <a:r>
              <a:rPr lang="en-US" err="1"/>
              <a:t>khác</a:t>
            </a:r>
            <a:r>
              <a:rPr lang="en-US"/>
              <a:t> </a:t>
            </a:r>
            <a:r>
              <a:rPr lang="en-US" err="1"/>
              <a:t>nhau</a:t>
            </a:r>
            <a:r>
              <a:rPr lang="en-US"/>
              <a:t>.</a:t>
            </a:r>
          </a:p>
          <a:p>
            <a:pPr indent="0">
              <a:buNone/>
            </a:pPr>
            <a:r>
              <a:rPr lang="en-US" b="1"/>
              <a:t>Lợi </a:t>
            </a:r>
            <a:r>
              <a:rPr lang="en-US" b="1" err="1"/>
              <a:t>ích</a:t>
            </a:r>
            <a:r>
              <a:rPr lang="en-US" b="1"/>
              <a:t>:</a:t>
            </a:r>
            <a:endParaRPr lang="en-US"/>
          </a:p>
          <a:p>
            <a:pPr marL="171450" indent="-171450"/>
            <a:r>
              <a:rPr lang="en-US"/>
              <a:t>LLM </a:t>
            </a:r>
            <a:r>
              <a:rPr lang="en-US" err="1"/>
              <a:t>giảm</a:t>
            </a:r>
            <a:r>
              <a:rPr lang="en-US"/>
              <a:t> hallucination </a:t>
            </a:r>
            <a:r>
              <a:rPr lang="en-US" err="1"/>
              <a:t>vì</a:t>
            </a:r>
            <a:r>
              <a:rPr lang="en-US"/>
              <a:t> </a:t>
            </a:r>
            <a:r>
              <a:rPr lang="en-US" err="1"/>
              <a:t>có</a:t>
            </a:r>
            <a:r>
              <a:rPr lang="en-US"/>
              <a:t> “</a:t>
            </a:r>
            <a:r>
              <a:rPr lang="en-US" err="1"/>
              <a:t>phản</a:t>
            </a:r>
            <a:r>
              <a:rPr lang="en-US"/>
              <a:t> </a:t>
            </a:r>
            <a:r>
              <a:rPr lang="en-US" err="1"/>
              <a:t>biện</a:t>
            </a:r>
            <a:r>
              <a:rPr lang="en-US"/>
              <a:t> </a:t>
            </a:r>
            <a:r>
              <a:rPr lang="en-US" err="1"/>
              <a:t>nội</a:t>
            </a:r>
            <a:r>
              <a:rPr lang="en-US"/>
              <a:t> </a:t>
            </a:r>
            <a:r>
              <a:rPr lang="en-US" err="1"/>
              <a:t>bộ</a:t>
            </a:r>
            <a:r>
              <a:rPr lang="en-US"/>
              <a:t>”.</a:t>
            </a:r>
          </a:p>
          <a:p>
            <a:pPr marL="171450" indent="-171450"/>
            <a:r>
              <a:rPr lang="en-US" err="1"/>
              <a:t>Tăng</a:t>
            </a:r>
            <a:r>
              <a:rPr lang="en-US"/>
              <a:t> </a:t>
            </a:r>
            <a:r>
              <a:rPr lang="en-US" err="1"/>
              <a:t>chất</a:t>
            </a:r>
            <a:r>
              <a:rPr lang="en-US"/>
              <a:t> </a:t>
            </a:r>
            <a:r>
              <a:rPr lang="en-US" err="1"/>
              <a:t>lượng</a:t>
            </a:r>
            <a:r>
              <a:rPr lang="en-US"/>
              <a:t> </a:t>
            </a:r>
            <a:r>
              <a:rPr lang="en-US" err="1"/>
              <a:t>gợi</a:t>
            </a:r>
            <a:r>
              <a:rPr lang="en-US"/>
              <a:t> ý </a:t>
            </a:r>
            <a:r>
              <a:rPr lang="en-US" err="1"/>
              <a:t>với</a:t>
            </a:r>
            <a:r>
              <a:rPr lang="en-US"/>
              <a:t> reasoning </a:t>
            </a:r>
            <a:r>
              <a:rPr lang="en-US" err="1"/>
              <a:t>rõ</a:t>
            </a:r>
            <a:r>
              <a:rPr lang="en-US"/>
              <a:t> </a:t>
            </a:r>
            <a:r>
              <a:rPr lang="en-US" err="1"/>
              <a:t>ràng</a:t>
            </a:r>
            <a:r>
              <a:rPr lang="en-US"/>
              <a:t>.</a:t>
            </a:r>
          </a:p>
          <a:p>
            <a:pPr marL="171450" indent="-171450"/>
            <a:r>
              <a:rPr lang="en-US" err="1"/>
              <a:t>Tăng</a:t>
            </a:r>
            <a:r>
              <a:rPr lang="en-US"/>
              <a:t> interpretability (</a:t>
            </a:r>
            <a:r>
              <a:rPr lang="en-US" err="1"/>
              <a:t>giải</a:t>
            </a:r>
            <a:r>
              <a:rPr lang="en-US"/>
              <a:t> </a:t>
            </a:r>
            <a:r>
              <a:rPr lang="en-US" err="1"/>
              <a:t>thích</a:t>
            </a:r>
            <a:r>
              <a:rPr lang="en-US"/>
              <a:t> </a:t>
            </a:r>
            <a:r>
              <a:rPr lang="en-US" err="1"/>
              <a:t>được</a:t>
            </a:r>
            <a:r>
              <a:rPr lang="en-US"/>
              <a:t> </a:t>
            </a:r>
            <a:r>
              <a:rPr lang="en-US" err="1"/>
              <a:t>vì</a:t>
            </a:r>
            <a:r>
              <a:rPr lang="en-US"/>
              <a:t> </a:t>
            </a:r>
            <a:r>
              <a:rPr lang="en-US" err="1"/>
              <a:t>sao</a:t>
            </a:r>
            <a:r>
              <a:rPr lang="en-US"/>
              <a:t> </a:t>
            </a:r>
            <a:r>
              <a:rPr lang="en-US" err="1"/>
              <a:t>gợi</a:t>
            </a:r>
            <a:r>
              <a:rPr lang="en-US"/>
              <a:t> ý </a:t>
            </a:r>
            <a:r>
              <a:rPr lang="en-US" err="1"/>
              <a:t>như</a:t>
            </a:r>
            <a:r>
              <a:rPr lang="en-US"/>
              <a:t> </a:t>
            </a:r>
            <a:r>
              <a:rPr lang="en-US" err="1"/>
              <a:t>vậy</a:t>
            </a:r>
            <a:r>
              <a:rPr lang="en-US"/>
              <a:t>).</a:t>
            </a:r>
          </a:p>
          <a:p>
            <a:pPr indent="0" algn="ctr">
              <a:buNone/>
            </a:pPr>
            <a:br>
              <a:rPr lang="en-US"/>
            </a:br>
            <a:endParaRPr lang="en-US"/>
          </a:p>
          <a:p>
            <a:pPr>
              <a:buNone/>
            </a:pPr>
            <a:r>
              <a:rPr lang="en-US" b="1"/>
              <a:t>4. Xu </a:t>
            </a:r>
            <a:r>
              <a:rPr lang="en-US" b="1" err="1"/>
              <a:t>hướng</a:t>
            </a:r>
            <a:r>
              <a:rPr lang="en-US" b="1"/>
              <a:t> 3 — RAG + Multi-Agent Recommendation</a:t>
            </a:r>
            <a:endParaRPr lang="en-US"/>
          </a:p>
          <a:p>
            <a:pPr>
              <a:buNone/>
            </a:pPr>
            <a:r>
              <a:rPr lang="en-US"/>
              <a:t>RAG </a:t>
            </a:r>
            <a:r>
              <a:rPr lang="en-US" err="1"/>
              <a:t>đang</a:t>
            </a:r>
            <a:r>
              <a:rPr lang="en-US"/>
              <a:t> </a:t>
            </a:r>
            <a:r>
              <a:rPr lang="en-US" err="1"/>
              <a:t>trở</a:t>
            </a:r>
            <a:r>
              <a:rPr lang="en-US"/>
              <a:t> </a:t>
            </a:r>
            <a:r>
              <a:rPr lang="en-US" err="1"/>
              <a:t>thành</a:t>
            </a:r>
            <a:r>
              <a:rPr lang="en-US"/>
              <a:t> </a:t>
            </a:r>
            <a:r>
              <a:rPr lang="en-US" err="1"/>
              <a:t>hướng</a:t>
            </a:r>
            <a:r>
              <a:rPr lang="en-US"/>
              <a:t> </a:t>
            </a:r>
            <a:r>
              <a:rPr lang="en-US" err="1"/>
              <a:t>quan</a:t>
            </a:r>
            <a:r>
              <a:rPr lang="en-US"/>
              <a:t> </a:t>
            </a:r>
            <a:r>
              <a:rPr lang="en-US" err="1"/>
              <a:t>trọng</a:t>
            </a:r>
            <a:r>
              <a:rPr lang="en-US"/>
              <a:t> </a:t>
            </a:r>
            <a:r>
              <a:rPr lang="en-US" err="1"/>
              <a:t>cho</a:t>
            </a:r>
            <a:r>
              <a:rPr lang="en-US"/>
              <a:t> </a:t>
            </a:r>
            <a:r>
              <a:rPr lang="en-US" err="1"/>
              <a:t>hệ</a:t>
            </a:r>
            <a:r>
              <a:rPr lang="en-US"/>
              <a:t> </a:t>
            </a:r>
            <a:r>
              <a:rPr lang="en-US" err="1"/>
              <a:t>thống</a:t>
            </a:r>
            <a:r>
              <a:rPr lang="en-US"/>
              <a:t> </a:t>
            </a:r>
            <a:r>
              <a:rPr lang="en-US" err="1"/>
              <a:t>gợi</a:t>
            </a:r>
            <a:r>
              <a:rPr lang="en-US"/>
              <a:t> ý:</a:t>
            </a:r>
          </a:p>
          <a:p>
            <a:pPr marL="171450" indent="-171450"/>
            <a:r>
              <a:rPr lang="en-US" err="1"/>
              <a:t>dùng</a:t>
            </a:r>
            <a:r>
              <a:rPr lang="en-US"/>
              <a:t> </a:t>
            </a:r>
            <a:r>
              <a:rPr lang="en-US" err="1"/>
              <a:t>nội</a:t>
            </a:r>
            <a:r>
              <a:rPr lang="en-US"/>
              <a:t> dung </a:t>
            </a:r>
            <a:r>
              <a:rPr lang="en-US" err="1"/>
              <a:t>động</a:t>
            </a:r>
            <a:r>
              <a:rPr lang="en-US"/>
              <a:t> (reviews, description, blog, social media),</a:t>
            </a:r>
          </a:p>
          <a:p>
            <a:pPr marL="171450" indent="-171450"/>
            <a:r>
              <a:rPr lang="en-US" err="1"/>
              <a:t>kết</a:t>
            </a:r>
            <a:r>
              <a:rPr lang="en-US"/>
              <a:t> </a:t>
            </a:r>
            <a:r>
              <a:rPr lang="en-US" err="1"/>
              <a:t>hợp</a:t>
            </a:r>
            <a:r>
              <a:rPr lang="en-US"/>
              <a:t> </a:t>
            </a:r>
            <a:r>
              <a:rPr lang="en-US" err="1"/>
              <a:t>dữ</a:t>
            </a:r>
            <a:r>
              <a:rPr lang="en-US"/>
              <a:t> </a:t>
            </a:r>
            <a:r>
              <a:rPr lang="en-US" err="1"/>
              <a:t>liệu</a:t>
            </a:r>
            <a:r>
              <a:rPr lang="en-US"/>
              <a:t> phi </a:t>
            </a:r>
            <a:r>
              <a:rPr lang="en-US" err="1"/>
              <a:t>cấu</a:t>
            </a:r>
            <a:r>
              <a:rPr lang="en-US"/>
              <a:t> </a:t>
            </a:r>
            <a:r>
              <a:rPr lang="en-US" err="1"/>
              <a:t>trúc</a:t>
            </a:r>
            <a:r>
              <a:rPr lang="en-US"/>
              <a:t> + </a:t>
            </a:r>
            <a:r>
              <a:rPr lang="en-US" err="1"/>
              <a:t>cấu</a:t>
            </a:r>
            <a:r>
              <a:rPr lang="en-US"/>
              <a:t> </a:t>
            </a:r>
            <a:r>
              <a:rPr lang="en-US" err="1"/>
              <a:t>trúc</a:t>
            </a:r>
            <a:r>
              <a:rPr lang="en-US"/>
              <a:t>,</a:t>
            </a:r>
          </a:p>
          <a:p>
            <a:pPr marL="171450" indent="-171450"/>
            <a:r>
              <a:rPr lang="en-US" err="1"/>
              <a:t>tăng</a:t>
            </a:r>
            <a:r>
              <a:rPr lang="en-US"/>
              <a:t> </a:t>
            </a:r>
            <a:r>
              <a:rPr lang="en-US" err="1"/>
              <a:t>khả</a:t>
            </a:r>
            <a:r>
              <a:rPr lang="en-US"/>
              <a:t> </a:t>
            </a:r>
            <a:r>
              <a:rPr lang="en-US" err="1"/>
              <a:t>năng</a:t>
            </a:r>
            <a:r>
              <a:rPr lang="en-US"/>
              <a:t> </a:t>
            </a:r>
            <a:r>
              <a:rPr lang="en-US" err="1"/>
              <a:t>hiểu</a:t>
            </a:r>
            <a:r>
              <a:rPr lang="en-US"/>
              <a:t> </a:t>
            </a:r>
            <a:r>
              <a:rPr lang="en-US" err="1"/>
              <a:t>bối</a:t>
            </a:r>
            <a:r>
              <a:rPr lang="en-US"/>
              <a:t> </a:t>
            </a:r>
            <a:r>
              <a:rPr lang="en-US" err="1"/>
              <a:t>cảnh</a:t>
            </a:r>
            <a:r>
              <a:rPr lang="en-US"/>
              <a:t>.</a:t>
            </a:r>
          </a:p>
          <a:p>
            <a:pPr indent="0">
              <a:buNone/>
            </a:pPr>
            <a:r>
              <a:rPr lang="en-US"/>
              <a:t>Multi-Agent RAG </a:t>
            </a:r>
            <a:r>
              <a:rPr lang="en-US" err="1"/>
              <a:t>xuất</a:t>
            </a:r>
            <a:r>
              <a:rPr lang="en-US"/>
              <a:t> </a:t>
            </a:r>
            <a:r>
              <a:rPr lang="en-US" err="1"/>
              <a:t>hiện</a:t>
            </a:r>
            <a:r>
              <a:rPr lang="en-US"/>
              <a:t> </a:t>
            </a:r>
            <a:r>
              <a:rPr lang="en-US" err="1"/>
              <a:t>với</a:t>
            </a:r>
            <a:r>
              <a:rPr lang="en-US"/>
              <a:t> </a:t>
            </a:r>
            <a:r>
              <a:rPr lang="en-US" err="1"/>
              <a:t>vai</a:t>
            </a:r>
            <a:r>
              <a:rPr lang="en-US"/>
              <a:t> </a:t>
            </a:r>
            <a:r>
              <a:rPr lang="en-US" err="1"/>
              <a:t>trò</a:t>
            </a:r>
            <a:r>
              <a:rPr lang="en-US"/>
              <a:t>:</a:t>
            </a:r>
          </a:p>
          <a:p>
            <a:pPr marL="171450" indent="-171450"/>
            <a:r>
              <a:rPr lang="en-US"/>
              <a:t>Reader Agent → </a:t>
            </a:r>
            <a:r>
              <a:rPr lang="en-US" err="1"/>
              <a:t>lấy</a:t>
            </a:r>
            <a:r>
              <a:rPr lang="en-US"/>
              <a:t> </a:t>
            </a:r>
            <a:r>
              <a:rPr lang="en-US" err="1"/>
              <a:t>dữ</a:t>
            </a:r>
            <a:r>
              <a:rPr lang="en-US"/>
              <a:t> </a:t>
            </a:r>
            <a:r>
              <a:rPr lang="en-US" err="1"/>
              <a:t>liệu</a:t>
            </a:r>
            <a:r>
              <a:rPr lang="en-US"/>
              <a:t> </a:t>
            </a:r>
            <a:r>
              <a:rPr lang="en-US" err="1"/>
              <a:t>liên</a:t>
            </a:r>
            <a:r>
              <a:rPr lang="en-US"/>
              <a:t> </a:t>
            </a:r>
            <a:r>
              <a:rPr lang="en-US" err="1"/>
              <a:t>quan</a:t>
            </a:r>
            <a:endParaRPr lang="en-US"/>
          </a:p>
          <a:p>
            <a:pPr marL="171450" indent="-171450"/>
            <a:r>
              <a:rPr lang="en-US"/>
              <a:t>Summarizer Agent → </a:t>
            </a:r>
            <a:r>
              <a:rPr lang="en-US" err="1"/>
              <a:t>tóm</a:t>
            </a:r>
            <a:r>
              <a:rPr lang="en-US"/>
              <a:t> </a:t>
            </a:r>
            <a:r>
              <a:rPr lang="en-US" err="1"/>
              <a:t>tắt</a:t>
            </a:r>
            <a:r>
              <a:rPr lang="en-US"/>
              <a:t> &amp; </a:t>
            </a:r>
            <a:r>
              <a:rPr lang="en-US" err="1"/>
              <a:t>chuyển</a:t>
            </a:r>
            <a:r>
              <a:rPr lang="en-US"/>
              <a:t> </a:t>
            </a:r>
            <a:r>
              <a:rPr lang="en-US" err="1"/>
              <a:t>vào</a:t>
            </a:r>
            <a:r>
              <a:rPr lang="en-US"/>
              <a:t> LLM</a:t>
            </a:r>
          </a:p>
          <a:p>
            <a:pPr marL="171450" indent="-171450"/>
            <a:r>
              <a:rPr lang="en-US"/>
              <a:t>Recommender Agent → </a:t>
            </a:r>
            <a:r>
              <a:rPr lang="en-US" err="1"/>
              <a:t>tạo</a:t>
            </a:r>
            <a:r>
              <a:rPr lang="en-US"/>
              <a:t> </a:t>
            </a:r>
            <a:r>
              <a:rPr lang="en-US" err="1"/>
              <a:t>gợi</a:t>
            </a:r>
            <a:r>
              <a:rPr lang="en-US"/>
              <a:t> ý </a:t>
            </a:r>
            <a:r>
              <a:rPr lang="en-US" err="1"/>
              <a:t>cuối</a:t>
            </a:r>
            <a:r>
              <a:rPr lang="en-US"/>
              <a:t> </a:t>
            </a:r>
            <a:r>
              <a:rPr lang="en-US" err="1"/>
              <a:t>cùng</a:t>
            </a:r>
            <a:endParaRPr lang="en-US"/>
          </a:p>
          <a:p>
            <a:pPr marL="171450" indent="-171450"/>
            <a:r>
              <a:rPr lang="en-US"/>
              <a:t>Validator Agent → </a:t>
            </a:r>
            <a:r>
              <a:rPr lang="en-US" err="1"/>
              <a:t>kiểm</a:t>
            </a:r>
            <a:r>
              <a:rPr lang="en-US"/>
              <a:t> </a:t>
            </a:r>
            <a:r>
              <a:rPr lang="en-US" err="1"/>
              <a:t>tra</a:t>
            </a:r>
            <a:r>
              <a:rPr lang="en-US"/>
              <a:t> </a:t>
            </a:r>
            <a:r>
              <a:rPr lang="en-US" err="1"/>
              <a:t>tính</a:t>
            </a:r>
            <a:r>
              <a:rPr lang="en-US"/>
              <a:t> logic</a:t>
            </a:r>
          </a:p>
          <a:p>
            <a:pPr indent="0" algn="ctr">
              <a:buNone/>
            </a:pPr>
            <a:br>
              <a:rPr lang="en-US"/>
            </a:br>
            <a:endParaRPr lang="en-US"/>
          </a:p>
          <a:p>
            <a:pPr>
              <a:buNone/>
            </a:pPr>
            <a:r>
              <a:rPr lang="en-US" b="1"/>
              <a:t>5. Xu </a:t>
            </a:r>
            <a:r>
              <a:rPr lang="en-US" b="1" err="1"/>
              <a:t>hướng</a:t>
            </a:r>
            <a:r>
              <a:rPr lang="en-US" b="1"/>
              <a:t> 4 — Recommender Agents </a:t>
            </a:r>
            <a:r>
              <a:rPr lang="en-US" b="1" err="1"/>
              <a:t>trong</a:t>
            </a:r>
            <a:r>
              <a:rPr lang="en-US" b="1"/>
              <a:t> </a:t>
            </a:r>
            <a:r>
              <a:rPr lang="en-US" b="1" err="1"/>
              <a:t>môi</a:t>
            </a:r>
            <a:r>
              <a:rPr lang="en-US" b="1"/>
              <a:t> </a:t>
            </a:r>
            <a:r>
              <a:rPr lang="en-US" b="1" err="1"/>
              <a:t>trường</a:t>
            </a:r>
            <a:r>
              <a:rPr lang="en-US" b="1"/>
              <a:t> </a:t>
            </a:r>
            <a:r>
              <a:rPr lang="en-US" b="1" err="1"/>
              <a:t>đa</a:t>
            </a:r>
            <a:r>
              <a:rPr lang="en-US" b="1"/>
              <a:t> modal (text + image + video)</a:t>
            </a:r>
            <a:endParaRPr lang="en-US"/>
          </a:p>
          <a:p>
            <a:pPr>
              <a:buNone/>
            </a:pPr>
            <a:r>
              <a:rPr lang="en-US"/>
              <a:t>Trong </a:t>
            </a:r>
            <a:r>
              <a:rPr lang="en-US" err="1"/>
              <a:t>thực</a:t>
            </a:r>
            <a:r>
              <a:rPr lang="en-US"/>
              <a:t> </a:t>
            </a:r>
            <a:r>
              <a:rPr lang="en-US" err="1"/>
              <a:t>tế</a:t>
            </a:r>
            <a:r>
              <a:rPr lang="en-US"/>
              <a:t> (Amazon, TikTok, Shopee), </a:t>
            </a:r>
            <a:r>
              <a:rPr lang="en-US" err="1"/>
              <a:t>dữ</a:t>
            </a:r>
            <a:r>
              <a:rPr lang="en-US"/>
              <a:t> </a:t>
            </a:r>
            <a:r>
              <a:rPr lang="en-US" err="1"/>
              <a:t>liệu</a:t>
            </a:r>
            <a:r>
              <a:rPr lang="en-US"/>
              <a:t> </a:t>
            </a:r>
            <a:r>
              <a:rPr lang="en-US" err="1"/>
              <a:t>không</a:t>
            </a:r>
            <a:r>
              <a:rPr lang="en-US"/>
              <a:t> </a:t>
            </a:r>
            <a:r>
              <a:rPr lang="en-US" err="1"/>
              <a:t>chỉ</a:t>
            </a:r>
            <a:r>
              <a:rPr lang="en-US"/>
              <a:t> </a:t>
            </a:r>
            <a:r>
              <a:rPr lang="en-US" err="1"/>
              <a:t>là</a:t>
            </a:r>
            <a:r>
              <a:rPr lang="en-US"/>
              <a:t> text.</a:t>
            </a:r>
          </a:p>
          <a:p>
            <a:pPr>
              <a:buNone/>
            </a:pPr>
            <a:r>
              <a:rPr lang="en-US" err="1"/>
              <a:t>Hướng</a:t>
            </a:r>
            <a:r>
              <a:rPr lang="en-US"/>
              <a:t> </a:t>
            </a:r>
            <a:r>
              <a:rPr lang="en-US" err="1"/>
              <a:t>phát</a:t>
            </a:r>
            <a:r>
              <a:rPr lang="en-US"/>
              <a:t> </a:t>
            </a:r>
            <a:r>
              <a:rPr lang="en-US" err="1"/>
              <a:t>triển</a:t>
            </a:r>
            <a:r>
              <a:rPr lang="en-US"/>
              <a:t> </a:t>
            </a:r>
            <a:r>
              <a:rPr lang="en-US" err="1"/>
              <a:t>mới</a:t>
            </a:r>
            <a:r>
              <a:rPr lang="en-US"/>
              <a:t>:</a:t>
            </a:r>
          </a:p>
          <a:p>
            <a:pPr marL="171450" indent="-171450"/>
            <a:r>
              <a:rPr lang="en-US"/>
              <a:t>Agent </a:t>
            </a:r>
            <a:r>
              <a:rPr lang="en-US" err="1"/>
              <a:t>phân</a:t>
            </a:r>
            <a:r>
              <a:rPr lang="en-US"/>
              <a:t> </a:t>
            </a:r>
            <a:r>
              <a:rPr lang="en-US" err="1"/>
              <a:t>tích</a:t>
            </a:r>
            <a:r>
              <a:rPr lang="en-US"/>
              <a:t> </a:t>
            </a:r>
            <a:r>
              <a:rPr lang="en-US" err="1"/>
              <a:t>hình</a:t>
            </a:r>
            <a:r>
              <a:rPr lang="en-US"/>
              <a:t> </a:t>
            </a:r>
            <a:r>
              <a:rPr lang="en-US" err="1"/>
              <a:t>ảnh</a:t>
            </a:r>
            <a:r>
              <a:rPr lang="en-US"/>
              <a:t> </a:t>
            </a:r>
            <a:r>
              <a:rPr lang="en-US" err="1"/>
              <a:t>sản</a:t>
            </a:r>
            <a:r>
              <a:rPr lang="en-US"/>
              <a:t> </a:t>
            </a:r>
            <a:r>
              <a:rPr lang="en-US" err="1"/>
              <a:t>phẩm</a:t>
            </a:r>
            <a:r>
              <a:rPr lang="en-US"/>
              <a:t>.</a:t>
            </a:r>
          </a:p>
          <a:p>
            <a:pPr marL="171450" indent="-171450"/>
            <a:r>
              <a:rPr lang="en-US"/>
              <a:t>Agent </a:t>
            </a:r>
            <a:r>
              <a:rPr lang="en-US" err="1"/>
              <a:t>phân</a:t>
            </a:r>
            <a:r>
              <a:rPr lang="en-US"/>
              <a:t> </a:t>
            </a:r>
            <a:r>
              <a:rPr lang="en-US" err="1"/>
              <a:t>tích</a:t>
            </a:r>
            <a:r>
              <a:rPr lang="en-US"/>
              <a:t> video review (TikTok / YouTube).</a:t>
            </a:r>
          </a:p>
          <a:p>
            <a:pPr marL="171450" indent="-171450"/>
            <a:r>
              <a:rPr lang="en-US"/>
              <a:t>Agent </a:t>
            </a:r>
            <a:r>
              <a:rPr lang="en-US" err="1"/>
              <a:t>phân</a:t>
            </a:r>
            <a:r>
              <a:rPr lang="en-US"/>
              <a:t> </a:t>
            </a:r>
            <a:r>
              <a:rPr lang="en-US" err="1"/>
              <a:t>tích</a:t>
            </a:r>
            <a:r>
              <a:rPr lang="en-US"/>
              <a:t> </a:t>
            </a:r>
            <a:r>
              <a:rPr lang="en-US" err="1"/>
              <a:t>âm</a:t>
            </a:r>
            <a:r>
              <a:rPr lang="en-US"/>
              <a:t> </a:t>
            </a:r>
            <a:r>
              <a:rPr lang="en-US" err="1"/>
              <a:t>thanh</a:t>
            </a:r>
            <a:r>
              <a:rPr lang="en-US"/>
              <a:t> (podcast / </a:t>
            </a:r>
            <a:r>
              <a:rPr lang="en-US" err="1"/>
              <a:t>nhạc</a:t>
            </a:r>
            <a:r>
              <a:rPr lang="en-US"/>
              <a:t>).</a:t>
            </a:r>
          </a:p>
          <a:p>
            <a:pPr marL="171450" indent="-171450"/>
            <a:r>
              <a:rPr lang="en-US"/>
              <a:t>Agent </a:t>
            </a:r>
            <a:r>
              <a:rPr lang="en-US" err="1"/>
              <a:t>đánh</a:t>
            </a:r>
            <a:r>
              <a:rPr lang="en-US"/>
              <a:t> </a:t>
            </a:r>
            <a:r>
              <a:rPr lang="en-US" err="1"/>
              <a:t>giá</a:t>
            </a:r>
            <a:r>
              <a:rPr lang="en-US"/>
              <a:t> </a:t>
            </a:r>
            <a:r>
              <a:rPr lang="en-US" err="1"/>
              <a:t>cảm</a:t>
            </a:r>
            <a:r>
              <a:rPr lang="en-US"/>
              <a:t> </a:t>
            </a:r>
            <a:r>
              <a:rPr lang="en-US" err="1"/>
              <a:t>xúc</a:t>
            </a:r>
            <a:r>
              <a:rPr lang="en-US"/>
              <a:t> </a:t>
            </a:r>
            <a:r>
              <a:rPr lang="en-US" err="1"/>
              <a:t>trong</a:t>
            </a:r>
            <a:r>
              <a:rPr lang="en-US"/>
              <a:t> review </a:t>
            </a:r>
            <a:r>
              <a:rPr lang="en-US" err="1"/>
              <a:t>của</a:t>
            </a:r>
            <a:r>
              <a:rPr lang="en-US"/>
              <a:t> </a:t>
            </a:r>
            <a:r>
              <a:rPr lang="en-US" err="1"/>
              <a:t>người</a:t>
            </a:r>
            <a:r>
              <a:rPr lang="en-US"/>
              <a:t> </a:t>
            </a:r>
            <a:r>
              <a:rPr lang="en-US" err="1"/>
              <a:t>dùng</a:t>
            </a:r>
            <a:r>
              <a:rPr lang="en-US"/>
              <a:t>.</a:t>
            </a:r>
          </a:p>
          <a:p>
            <a:pPr indent="0">
              <a:buNone/>
            </a:pPr>
            <a:r>
              <a:rPr lang="en-US"/>
              <a:t>Xu </a:t>
            </a:r>
            <a:r>
              <a:rPr lang="en-US" err="1"/>
              <a:t>hướng</a:t>
            </a:r>
            <a:r>
              <a:rPr lang="en-US"/>
              <a:t> </a:t>
            </a:r>
            <a:r>
              <a:rPr lang="en-US" err="1"/>
              <a:t>này</a:t>
            </a:r>
            <a:r>
              <a:rPr lang="en-US"/>
              <a:t> </a:t>
            </a:r>
            <a:r>
              <a:rPr lang="en-US" err="1"/>
              <a:t>được</a:t>
            </a:r>
            <a:r>
              <a:rPr lang="en-US"/>
              <a:t> </a:t>
            </a:r>
            <a:r>
              <a:rPr lang="en-US" err="1"/>
              <a:t>gọi</a:t>
            </a:r>
            <a:r>
              <a:rPr lang="en-US"/>
              <a:t> </a:t>
            </a:r>
            <a:r>
              <a:rPr lang="en-US" err="1"/>
              <a:t>là</a:t>
            </a:r>
            <a:r>
              <a:rPr lang="en-US"/>
              <a:t> </a:t>
            </a:r>
            <a:r>
              <a:rPr lang="en-US" b="1"/>
              <a:t>Multimodal Multi-Agent Recommender Systems</a:t>
            </a:r>
            <a:r>
              <a:rPr lang="en-US"/>
              <a:t>.</a:t>
            </a:r>
          </a:p>
          <a:p>
            <a:pPr algn="ctr">
              <a:buNone/>
            </a:pPr>
            <a:br>
              <a:rPr lang="en-US"/>
            </a:br>
            <a:endParaRPr lang="en-US"/>
          </a:p>
          <a:p>
            <a:pPr>
              <a:buNone/>
            </a:pPr>
            <a:r>
              <a:rPr lang="en-US" b="1"/>
              <a:t>6. Xu </a:t>
            </a:r>
            <a:r>
              <a:rPr lang="en-US" b="1" err="1"/>
              <a:t>hướng</a:t>
            </a:r>
            <a:r>
              <a:rPr lang="en-US" b="1"/>
              <a:t> 5 — Localized &amp; On-device Multi-Agent Recommendation</a:t>
            </a:r>
            <a:endParaRPr lang="en-US"/>
          </a:p>
          <a:p>
            <a:pPr>
              <a:buNone/>
            </a:pPr>
            <a:r>
              <a:rPr lang="en-US"/>
              <a:t>Do </a:t>
            </a:r>
            <a:r>
              <a:rPr lang="en-US" err="1"/>
              <a:t>vấn</a:t>
            </a:r>
            <a:r>
              <a:rPr lang="en-US"/>
              <a:t> </a:t>
            </a:r>
            <a:r>
              <a:rPr lang="en-US" err="1"/>
              <a:t>đề</a:t>
            </a:r>
            <a:r>
              <a:rPr lang="en-US"/>
              <a:t> </a:t>
            </a:r>
            <a:r>
              <a:rPr lang="en-US" err="1"/>
              <a:t>bảo</a:t>
            </a:r>
            <a:r>
              <a:rPr lang="en-US"/>
              <a:t> </a:t>
            </a:r>
            <a:r>
              <a:rPr lang="en-US" err="1"/>
              <a:t>mật</a:t>
            </a:r>
            <a:r>
              <a:rPr lang="en-US"/>
              <a:t> </a:t>
            </a:r>
            <a:r>
              <a:rPr lang="en-US" err="1"/>
              <a:t>dữ</a:t>
            </a:r>
            <a:r>
              <a:rPr lang="en-US"/>
              <a:t> </a:t>
            </a:r>
            <a:r>
              <a:rPr lang="en-US" err="1"/>
              <a:t>liệu</a:t>
            </a:r>
            <a:r>
              <a:rPr lang="en-US"/>
              <a:t> </a:t>
            </a:r>
            <a:r>
              <a:rPr lang="en-US" err="1"/>
              <a:t>cá</a:t>
            </a:r>
            <a:r>
              <a:rPr lang="en-US"/>
              <a:t> </a:t>
            </a:r>
            <a:r>
              <a:rPr lang="en-US" err="1"/>
              <a:t>nhân</a:t>
            </a:r>
            <a:r>
              <a:rPr lang="en-US"/>
              <a:t>, </a:t>
            </a:r>
            <a:r>
              <a:rPr lang="en-US" err="1"/>
              <a:t>nhiều</a:t>
            </a:r>
            <a:r>
              <a:rPr lang="en-US"/>
              <a:t> </a:t>
            </a:r>
            <a:r>
              <a:rPr lang="en-US" err="1"/>
              <a:t>công</a:t>
            </a:r>
            <a:r>
              <a:rPr lang="en-US"/>
              <a:t> ty </a:t>
            </a:r>
            <a:r>
              <a:rPr lang="en-US" err="1"/>
              <a:t>chuyển</a:t>
            </a:r>
            <a:r>
              <a:rPr lang="en-US"/>
              <a:t> sang:</a:t>
            </a:r>
          </a:p>
          <a:p>
            <a:pPr marL="171450" indent="-171450"/>
            <a:r>
              <a:rPr lang="en-US"/>
              <a:t>Agent </a:t>
            </a:r>
            <a:r>
              <a:rPr lang="en-US" err="1"/>
              <a:t>chạy</a:t>
            </a:r>
            <a:r>
              <a:rPr lang="en-US"/>
              <a:t> </a:t>
            </a:r>
            <a:r>
              <a:rPr lang="en-US" err="1"/>
              <a:t>trên</a:t>
            </a:r>
            <a:r>
              <a:rPr lang="en-US"/>
              <a:t> Edge Device / Smartphone,</a:t>
            </a:r>
          </a:p>
          <a:p>
            <a:pPr marL="171450" indent="-171450"/>
            <a:r>
              <a:rPr lang="en-US"/>
              <a:t>LLM </a:t>
            </a:r>
            <a:r>
              <a:rPr lang="en-US" err="1"/>
              <a:t>nhỏ</a:t>
            </a:r>
            <a:r>
              <a:rPr lang="en-US"/>
              <a:t> (&lt;3B–8B) fine-tune on-device,</a:t>
            </a:r>
          </a:p>
          <a:p>
            <a:pPr marL="171450" indent="-171450"/>
            <a:r>
              <a:rPr lang="en-US" err="1"/>
              <a:t>Một</a:t>
            </a:r>
            <a:r>
              <a:rPr lang="en-US"/>
              <a:t> </a:t>
            </a:r>
            <a:r>
              <a:rPr lang="en-US" err="1"/>
              <a:t>số</a:t>
            </a:r>
            <a:r>
              <a:rPr lang="en-US"/>
              <a:t> agent </a:t>
            </a:r>
            <a:r>
              <a:rPr lang="en-US" err="1"/>
              <a:t>hoạt</a:t>
            </a:r>
            <a:r>
              <a:rPr lang="en-US"/>
              <a:t> </a:t>
            </a:r>
            <a:r>
              <a:rPr lang="en-US" err="1"/>
              <a:t>động</a:t>
            </a:r>
            <a:r>
              <a:rPr lang="en-US"/>
              <a:t> offline.</a:t>
            </a:r>
          </a:p>
          <a:p>
            <a:pPr indent="0">
              <a:buNone/>
            </a:pPr>
            <a:r>
              <a:rPr lang="en-US"/>
              <a:t>Lợi </a:t>
            </a:r>
            <a:r>
              <a:rPr lang="en-US" err="1"/>
              <a:t>ích</a:t>
            </a:r>
            <a:r>
              <a:rPr lang="en-US"/>
              <a:t>:</a:t>
            </a:r>
          </a:p>
          <a:p>
            <a:pPr marL="171450" indent="-171450"/>
            <a:r>
              <a:rPr lang="en-US" err="1"/>
              <a:t>Giảm</a:t>
            </a:r>
            <a:r>
              <a:rPr lang="en-US"/>
              <a:t> chi </a:t>
            </a:r>
            <a:r>
              <a:rPr lang="en-US" err="1"/>
              <a:t>phí</a:t>
            </a:r>
            <a:r>
              <a:rPr lang="en-US"/>
              <a:t> server,</a:t>
            </a:r>
          </a:p>
          <a:p>
            <a:pPr marL="171450" indent="-171450"/>
            <a:r>
              <a:rPr lang="en-US" err="1"/>
              <a:t>Tăng</a:t>
            </a:r>
            <a:r>
              <a:rPr lang="en-US"/>
              <a:t> </a:t>
            </a:r>
            <a:r>
              <a:rPr lang="en-US" err="1"/>
              <a:t>riêng</a:t>
            </a:r>
            <a:r>
              <a:rPr lang="en-US"/>
              <a:t> </a:t>
            </a:r>
            <a:r>
              <a:rPr lang="en-US" err="1"/>
              <a:t>tư</a:t>
            </a:r>
            <a:r>
              <a:rPr lang="en-US"/>
              <a:t>,</a:t>
            </a:r>
          </a:p>
          <a:p>
            <a:pPr marL="171450" indent="-171450"/>
            <a:r>
              <a:rPr lang="en-US" err="1"/>
              <a:t>Tăng</a:t>
            </a:r>
            <a:r>
              <a:rPr lang="en-US"/>
              <a:t> </a:t>
            </a:r>
            <a:r>
              <a:rPr lang="en-US" err="1"/>
              <a:t>tốc</a:t>
            </a:r>
            <a:r>
              <a:rPr lang="en-US"/>
              <a:t> </a:t>
            </a:r>
            <a:r>
              <a:rPr lang="en-US" err="1"/>
              <a:t>độ</a:t>
            </a:r>
            <a:r>
              <a:rPr lang="en-US"/>
              <a:t> </a:t>
            </a:r>
            <a:r>
              <a:rPr lang="en-US" err="1"/>
              <a:t>phản</a:t>
            </a:r>
            <a:r>
              <a:rPr lang="en-US"/>
              <a:t> </a:t>
            </a:r>
            <a:r>
              <a:rPr lang="en-US" err="1"/>
              <a:t>hồi</a:t>
            </a:r>
            <a:r>
              <a:rPr lang="en-US"/>
              <a:t>.</a:t>
            </a:r>
          </a:p>
          <a:p>
            <a:pPr indent="0" algn="ctr">
              <a:buNone/>
            </a:pPr>
            <a:br>
              <a:rPr lang="en-US"/>
            </a:br>
            <a:endParaRPr lang="en-US"/>
          </a:p>
          <a:p>
            <a:pPr>
              <a:buNone/>
            </a:pPr>
            <a:r>
              <a:rPr lang="en-US" b="1"/>
              <a:t>7. Xu </a:t>
            </a:r>
            <a:r>
              <a:rPr lang="en-US" b="1" err="1"/>
              <a:t>hướng</a:t>
            </a:r>
            <a:r>
              <a:rPr lang="en-US" b="1"/>
              <a:t> 6 — Multi-Agent </a:t>
            </a:r>
            <a:r>
              <a:rPr lang="en-US" b="1" err="1"/>
              <a:t>cho</a:t>
            </a:r>
            <a:r>
              <a:rPr lang="en-US" b="1"/>
              <a:t> Recommendation Feedback Loop</a:t>
            </a:r>
            <a:endParaRPr lang="en-US"/>
          </a:p>
          <a:p>
            <a:pPr>
              <a:buNone/>
            </a:pPr>
            <a:r>
              <a:rPr lang="en-US"/>
              <a:t>Trong </a:t>
            </a:r>
            <a:r>
              <a:rPr lang="en-US" err="1"/>
              <a:t>hệ</a:t>
            </a:r>
            <a:r>
              <a:rPr lang="en-US"/>
              <a:t> </a:t>
            </a:r>
            <a:r>
              <a:rPr lang="en-US" err="1"/>
              <a:t>thống</a:t>
            </a:r>
            <a:r>
              <a:rPr lang="en-US"/>
              <a:t> </a:t>
            </a:r>
            <a:r>
              <a:rPr lang="en-US" err="1"/>
              <a:t>thực</a:t>
            </a:r>
            <a:r>
              <a:rPr lang="en-US"/>
              <a:t> </a:t>
            </a:r>
            <a:r>
              <a:rPr lang="en-US" err="1"/>
              <a:t>tế</a:t>
            </a:r>
            <a:r>
              <a:rPr lang="en-US"/>
              <a:t>, Multi-Agent </a:t>
            </a:r>
            <a:r>
              <a:rPr lang="en-US" err="1"/>
              <a:t>được</a:t>
            </a:r>
            <a:r>
              <a:rPr lang="en-US"/>
              <a:t> </a:t>
            </a:r>
            <a:r>
              <a:rPr lang="en-US" err="1"/>
              <a:t>dùng</a:t>
            </a:r>
            <a:r>
              <a:rPr lang="en-US"/>
              <a:t> </a:t>
            </a:r>
            <a:r>
              <a:rPr lang="en-US" err="1"/>
              <a:t>để</a:t>
            </a:r>
            <a:r>
              <a:rPr lang="en-US"/>
              <a:t>:</a:t>
            </a:r>
          </a:p>
          <a:p>
            <a:pPr marL="171450" indent="-171450"/>
            <a:r>
              <a:rPr lang="en-US" err="1"/>
              <a:t>phân</a:t>
            </a:r>
            <a:r>
              <a:rPr lang="en-US"/>
              <a:t> </a:t>
            </a:r>
            <a:r>
              <a:rPr lang="en-US" err="1"/>
              <a:t>tích</a:t>
            </a:r>
            <a:r>
              <a:rPr lang="en-US"/>
              <a:t> A/B testing,</a:t>
            </a:r>
          </a:p>
          <a:p>
            <a:pPr marL="171450" indent="-171450"/>
            <a:r>
              <a:rPr lang="en-US" err="1"/>
              <a:t>tự</a:t>
            </a:r>
            <a:r>
              <a:rPr lang="en-US"/>
              <a:t> </a:t>
            </a:r>
            <a:r>
              <a:rPr lang="en-US" err="1"/>
              <a:t>tối</a:t>
            </a:r>
            <a:r>
              <a:rPr lang="en-US"/>
              <a:t> </a:t>
            </a:r>
            <a:r>
              <a:rPr lang="en-US" err="1"/>
              <a:t>ưu</a:t>
            </a:r>
            <a:r>
              <a:rPr lang="en-US"/>
              <a:t> hyperparameters recommender,</a:t>
            </a:r>
          </a:p>
          <a:p>
            <a:pPr marL="171450" indent="-171450"/>
            <a:r>
              <a:rPr lang="en-US" err="1"/>
              <a:t>tự</a:t>
            </a:r>
            <a:r>
              <a:rPr lang="en-US"/>
              <a:t> </a:t>
            </a:r>
            <a:r>
              <a:rPr lang="en-US" err="1"/>
              <a:t>đánh</a:t>
            </a:r>
            <a:r>
              <a:rPr lang="en-US"/>
              <a:t> </a:t>
            </a:r>
            <a:r>
              <a:rPr lang="en-US" err="1"/>
              <a:t>giá</a:t>
            </a:r>
            <a:r>
              <a:rPr lang="en-US"/>
              <a:t> </a:t>
            </a:r>
            <a:r>
              <a:rPr lang="en-US" err="1"/>
              <a:t>phản</a:t>
            </a:r>
            <a:r>
              <a:rPr lang="en-US"/>
              <a:t> </a:t>
            </a:r>
            <a:r>
              <a:rPr lang="en-US" err="1"/>
              <a:t>hồi</a:t>
            </a:r>
            <a:r>
              <a:rPr lang="en-US"/>
              <a:t> </a:t>
            </a:r>
            <a:r>
              <a:rPr lang="en-US" err="1"/>
              <a:t>người</a:t>
            </a:r>
            <a:r>
              <a:rPr lang="en-US"/>
              <a:t> </a:t>
            </a:r>
            <a:r>
              <a:rPr lang="en-US" err="1"/>
              <a:t>dùng</a:t>
            </a:r>
            <a:r>
              <a:rPr lang="en-US"/>
              <a:t>,</a:t>
            </a:r>
          </a:p>
          <a:p>
            <a:pPr marL="171450" indent="-171450"/>
            <a:r>
              <a:rPr lang="en-US" err="1"/>
              <a:t>tự</a:t>
            </a:r>
            <a:r>
              <a:rPr lang="en-US"/>
              <a:t> </a:t>
            </a:r>
            <a:r>
              <a:rPr lang="en-US" err="1"/>
              <a:t>động</a:t>
            </a:r>
            <a:r>
              <a:rPr lang="en-US"/>
              <a:t> </a:t>
            </a:r>
            <a:r>
              <a:rPr lang="en-US" err="1"/>
              <a:t>sinh</a:t>
            </a:r>
            <a:r>
              <a:rPr lang="en-US"/>
              <a:t> feature engineering </a:t>
            </a:r>
            <a:r>
              <a:rPr lang="en-US" err="1"/>
              <a:t>mới</a:t>
            </a:r>
            <a:r>
              <a:rPr lang="en-US"/>
              <a:t>.</a:t>
            </a:r>
          </a:p>
          <a:p>
            <a:pPr indent="0">
              <a:buNone/>
            </a:pPr>
            <a:r>
              <a:rPr lang="en-US" err="1"/>
              <a:t>Đây</a:t>
            </a:r>
            <a:r>
              <a:rPr lang="en-US"/>
              <a:t> </a:t>
            </a:r>
            <a:r>
              <a:rPr lang="en-US" err="1"/>
              <a:t>là</a:t>
            </a:r>
            <a:r>
              <a:rPr lang="en-US"/>
              <a:t> xu </a:t>
            </a:r>
            <a:r>
              <a:rPr lang="en-US" err="1"/>
              <a:t>hướng</a:t>
            </a:r>
            <a:r>
              <a:rPr lang="en-US"/>
              <a:t> </a:t>
            </a:r>
            <a:r>
              <a:rPr lang="en-US" err="1"/>
              <a:t>mạnh</a:t>
            </a:r>
            <a:r>
              <a:rPr lang="en-US"/>
              <a:t> </a:t>
            </a:r>
            <a:r>
              <a:rPr lang="en-US" err="1"/>
              <a:t>trong</a:t>
            </a:r>
            <a:r>
              <a:rPr lang="en-US"/>
              <a:t> </a:t>
            </a:r>
            <a:r>
              <a:rPr lang="en-US" err="1"/>
              <a:t>các</a:t>
            </a:r>
            <a:r>
              <a:rPr lang="en-US"/>
              <a:t> </a:t>
            </a:r>
            <a:r>
              <a:rPr lang="en-US" err="1"/>
              <a:t>công</a:t>
            </a:r>
            <a:r>
              <a:rPr lang="en-US"/>
              <a:t> ty </a:t>
            </a:r>
            <a:r>
              <a:rPr lang="en-US" err="1"/>
              <a:t>thương</a:t>
            </a:r>
            <a:r>
              <a:rPr lang="en-US"/>
              <a:t> </a:t>
            </a:r>
            <a:r>
              <a:rPr lang="en-US" err="1"/>
              <a:t>mại</a:t>
            </a:r>
            <a:r>
              <a:rPr lang="en-US"/>
              <a:t>.</a:t>
            </a:r>
          </a:p>
          <a:p>
            <a:pPr algn="ctr">
              <a:buNone/>
            </a:pPr>
            <a:br>
              <a:rPr lang="en-US"/>
            </a:br>
            <a:endParaRPr lang="en-US"/>
          </a:p>
          <a:p>
            <a:pPr>
              <a:buNone/>
            </a:pPr>
            <a:r>
              <a:rPr lang="en-US" b="1"/>
              <a:t>8. Xu </a:t>
            </a:r>
            <a:r>
              <a:rPr lang="en-US" b="1" err="1"/>
              <a:t>hướng</a:t>
            </a:r>
            <a:r>
              <a:rPr lang="en-US" b="1"/>
              <a:t> 7 — Multi-Agent </a:t>
            </a:r>
            <a:r>
              <a:rPr lang="en-US" b="1" err="1"/>
              <a:t>tăng</a:t>
            </a:r>
            <a:r>
              <a:rPr lang="en-US" b="1"/>
              <a:t> </a:t>
            </a:r>
            <a:r>
              <a:rPr lang="en-US" b="1" err="1"/>
              <a:t>khả</a:t>
            </a:r>
            <a:r>
              <a:rPr lang="en-US" b="1"/>
              <a:t> </a:t>
            </a:r>
            <a:r>
              <a:rPr lang="en-US" b="1" err="1"/>
              <a:t>năng</a:t>
            </a:r>
            <a:r>
              <a:rPr lang="en-US" b="1"/>
              <a:t> </a:t>
            </a:r>
            <a:r>
              <a:rPr lang="en-US" b="1" err="1"/>
              <a:t>tự</a:t>
            </a:r>
            <a:r>
              <a:rPr lang="en-US" b="1"/>
              <a:t> </a:t>
            </a:r>
            <a:r>
              <a:rPr lang="en-US" b="1" err="1"/>
              <a:t>động</a:t>
            </a:r>
            <a:r>
              <a:rPr lang="en-US" b="1"/>
              <a:t> </a:t>
            </a:r>
            <a:r>
              <a:rPr lang="en-US" b="1" err="1"/>
              <a:t>hóa</a:t>
            </a:r>
            <a:r>
              <a:rPr lang="en-US" b="1"/>
              <a:t> </a:t>
            </a:r>
            <a:r>
              <a:rPr lang="en-US" b="1" err="1"/>
              <a:t>vận</a:t>
            </a:r>
            <a:r>
              <a:rPr lang="en-US" b="1"/>
              <a:t> </a:t>
            </a:r>
            <a:r>
              <a:rPr lang="en-US" b="1" err="1"/>
              <a:t>hành</a:t>
            </a:r>
            <a:r>
              <a:rPr lang="en-US" b="1"/>
              <a:t> (</a:t>
            </a:r>
            <a:r>
              <a:rPr lang="en-US" b="1" err="1"/>
              <a:t>AutoOps</a:t>
            </a:r>
            <a:r>
              <a:rPr lang="en-US" b="1"/>
              <a:t>)</a:t>
            </a:r>
            <a:endParaRPr lang="en-US"/>
          </a:p>
          <a:p>
            <a:pPr>
              <a:buNone/>
            </a:pPr>
            <a:r>
              <a:rPr lang="en-US"/>
              <a:t>Trong </a:t>
            </a:r>
            <a:r>
              <a:rPr lang="en-US" err="1"/>
              <a:t>sản</a:t>
            </a:r>
            <a:r>
              <a:rPr lang="en-US"/>
              <a:t> </a:t>
            </a:r>
            <a:r>
              <a:rPr lang="en-US" err="1"/>
              <a:t>xuất</a:t>
            </a:r>
            <a:r>
              <a:rPr lang="en-US"/>
              <a:t>, agent </a:t>
            </a:r>
            <a:r>
              <a:rPr lang="en-US" err="1"/>
              <a:t>được</a:t>
            </a:r>
            <a:r>
              <a:rPr lang="en-US"/>
              <a:t> </a:t>
            </a:r>
            <a:r>
              <a:rPr lang="en-US" err="1"/>
              <a:t>dùng</a:t>
            </a:r>
            <a:r>
              <a:rPr lang="en-US"/>
              <a:t> </a:t>
            </a:r>
            <a:r>
              <a:rPr lang="en-US" err="1"/>
              <a:t>để</a:t>
            </a:r>
            <a:r>
              <a:rPr lang="en-US"/>
              <a:t>:</a:t>
            </a:r>
          </a:p>
          <a:p>
            <a:pPr marL="171450" indent="-171450"/>
            <a:r>
              <a:rPr lang="en-US" err="1"/>
              <a:t>Giám</a:t>
            </a:r>
            <a:r>
              <a:rPr lang="en-US"/>
              <a:t> </a:t>
            </a:r>
            <a:r>
              <a:rPr lang="en-US" err="1"/>
              <a:t>sát</a:t>
            </a:r>
            <a:r>
              <a:rPr lang="en-US"/>
              <a:t> </a:t>
            </a:r>
            <a:r>
              <a:rPr lang="en-US" err="1"/>
              <a:t>hệ</a:t>
            </a:r>
            <a:r>
              <a:rPr lang="en-US"/>
              <a:t> </a:t>
            </a:r>
            <a:r>
              <a:rPr lang="en-US" err="1"/>
              <a:t>thống</a:t>
            </a:r>
            <a:r>
              <a:rPr lang="en-US"/>
              <a:t> (monitoring agent)</a:t>
            </a:r>
          </a:p>
          <a:p>
            <a:pPr marL="171450" indent="-171450"/>
            <a:r>
              <a:rPr lang="en-US" err="1"/>
              <a:t>Cảnh</a:t>
            </a:r>
            <a:r>
              <a:rPr lang="en-US"/>
              <a:t> </a:t>
            </a:r>
            <a:r>
              <a:rPr lang="en-US" err="1"/>
              <a:t>báo</a:t>
            </a:r>
            <a:r>
              <a:rPr lang="en-US"/>
              <a:t> </a:t>
            </a:r>
            <a:r>
              <a:rPr lang="en-US" err="1"/>
              <a:t>lỗi</a:t>
            </a:r>
            <a:r>
              <a:rPr lang="en-US"/>
              <a:t> (alert agent)</a:t>
            </a:r>
          </a:p>
          <a:p>
            <a:pPr marL="171450" indent="-171450"/>
            <a:r>
              <a:rPr lang="en-US" err="1"/>
              <a:t>Tự</a:t>
            </a:r>
            <a:r>
              <a:rPr lang="en-US"/>
              <a:t> scale </a:t>
            </a:r>
            <a:r>
              <a:rPr lang="en-US" err="1"/>
              <a:t>hệ</a:t>
            </a:r>
            <a:r>
              <a:rPr lang="en-US"/>
              <a:t> </a:t>
            </a:r>
            <a:r>
              <a:rPr lang="en-US" err="1"/>
              <a:t>thống</a:t>
            </a:r>
            <a:r>
              <a:rPr lang="en-US"/>
              <a:t> (scaling agent)</a:t>
            </a:r>
          </a:p>
          <a:p>
            <a:pPr marL="171450" indent="-171450"/>
            <a:r>
              <a:rPr lang="en-US" err="1"/>
              <a:t>Tự</a:t>
            </a:r>
            <a:r>
              <a:rPr lang="en-US"/>
              <a:t> </a:t>
            </a:r>
            <a:r>
              <a:rPr lang="en-US" err="1"/>
              <a:t>khởi</a:t>
            </a:r>
            <a:r>
              <a:rPr lang="en-US"/>
              <a:t> </a:t>
            </a:r>
            <a:r>
              <a:rPr lang="en-US" err="1"/>
              <a:t>tạo</a:t>
            </a:r>
            <a:r>
              <a:rPr lang="en-US"/>
              <a:t> </a:t>
            </a:r>
            <a:r>
              <a:rPr lang="en-US" err="1"/>
              <a:t>lại</a:t>
            </a:r>
            <a:r>
              <a:rPr lang="en-US"/>
              <a:t> </a:t>
            </a:r>
            <a:r>
              <a:rPr lang="en-US" err="1"/>
              <a:t>dịch</a:t>
            </a:r>
            <a:r>
              <a:rPr lang="en-US"/>
              <a:t> </a:t>
            </a:r>
            <a:r>
              <a:rPr lang="en-US" err="1"/>
              <a:t>vụ</a:t>
            </a:r>
            <a:r>
              <a:rPr lang="en-US"/>
              <a:t> </a:t>
            </a:r>
            <a:r>
              <a:rPr lang="en-US" err="1"/>
              <a:t>khi</a:t>
            </a:r>
            <a:r>
              <a:rPr lang="en-US"/>
              <a:t> </a:t>
            </a:r>
            <a:r>
              <a:rPr lang="en-US" err="1"/>
              <a:t>lỗi</a:t>
            </a:r>
            <a:endParaRPr lang="en-US"/>
          </a:p>
          <a:p>
            <a:pPr marL="171450" indent="-171450"/>
            <a:r>
              <a:rPr lang="en-US" err="1"/>
              <a:t>Tự</a:t>
            </a:r>
            <a:r>
              <a:rPr lang="en-US"/>
              <a:t> benchmark </a:t>
            </a:r>
            <a:r>
              <a:rPr lang="en-US" err="1"/>
              <a:t>chất</a:t>
            </a:r>
            <a:r>
              <a:rPr lang="en-US"/>
              <a:t> </a:t>
            </a:r>
            <a:r>
              <a:rPr lang="en-US" err="1"/>
              <a:t>lượng</a:t>
            </a:r>
            <a:r>
              <a:rPr lang="en-US"/>
              <a:t> </a:t>
            </a:r>
            <a:r>
              <a:rPr lang="en-US" err="1"/>
              <a:t>mô</a:t>
            </a:r>
            <a:r>
              <a:rPr lang="en-US"/>
              <a:t> </a:t>
            </a:r>
            <a:r>
              <a:rPr lang="en-US" err="1"/>
              <a:t>hình</a:t>
            </a:r>
            <a:endParaRPr lang="en-US"/>
          </a:p>
          <a:p>
            <a:pPr indent="0">
              <a:buNone/>
            </a:pPr>
            <a:r>
              <a:rPr lang="en-US" err="1"/>
              <a:t>Hướng</a:t>
            </a:r>
            <a:r>
              <a:rPr lang="en-US"/>
              <a:t> </a:t>
            </a:r>
            <a:r>
              <a:rPr lang="en-US" err="1"/>
              <a:t>này</a:t>
            </a:r>
            <a:r>
              <a:rPr lang="en-US"/>
              <a:t> </a:t>
            </a:r>
            <a:r>
              <a:rPr lang="en-US" err="1"/>
              <a:t>giúp</a:t>
            </a:r>
            <a:r>
              <a:rPr lang="en-US"/>
              <a:t> </a:t>
            </a:r>
            <a:r>
              <a:rPr lang="en-US" err="1"/>
              <a:t>tiết</a:t>
            </a:r>
            <a:r>
              <a:rPr lang="en-US"/>
              <a:t> </a:t>
            </a:r>
            <a:r>
              <a:rPr lang="en-US" err="1"/>
              <a:t>kiệm</a:t>
            </a:r>
            <a:r>
              <a:rPr lang="en-US"/>
              <a:t> </a:t>
            </a:r>
            <a:r>
              <a:rPr lang="en-US" err="1"/>
              <a:t>nhân</a:t>
            </a:r>
            <a:r>
              <a:rPr lang="en-US"/>
              <a:t> </a:t>
            </a:r>
            <a:r>
              <a:rPr lang="en-US" err="1"/>
              <a:t>sự</a:t>
            </a:r>
            <a:r>
              <a:rPr lang="en-US"/>
              <a:t> </a:t>
            </a:r>
            <a:r>
              <a:rPr lang="en-US" err="1"/>
              <a:t>vận</a:t>
            </a:r>
            <a:r>
              <a:rPr lang="en-US"/>
              <a:t> </a:t>
            </a:r>
            <a:r>
              <a:rPr lang="en-US" err="1"/>
              <a:t>hành</a:t>
            </a:r>
            <a:r>
              <a:rPr lang="en-US"/>
              <a:t>.</a:t>
            </a:r>
          </a:p>
          <a:p>
            <a:pPr algn="ctr">
              <a:buNone/>
            </a:pPr>
            <a:br>
              <a:rPr lang="en-US"/>
            </a:br>
            <a:endParaRPr lang="en-US"/>
          </a:p>
          <a:p>
            <a:pPr>
              <a:buNone/>
            </a:pPr>
            <a:r>
              <a:rPr lang="en-US" b="1"/>
              <a:t>9. Xu </a:t>
            </a:r>
            <a:r>
              <a:rPr lang="en-US" b="1" err="1"/>
              <a:t>hướng</a:t>
            </a:r>
            <a:r>
              <a:rPr lang="en-US" b="1"/>
              <a:t> 8 — Hybrid Multi-Agent Recommender (LLM + Traditional ML)</a:t>
            </a:r>
            <a:endParaRPr lang="en-US"/>
          </a:p>
          <a:p>
            <a:pPr>
              <a:buNone/>
            </a:pPr>
            <a:r>
              <a:rPr lang="en-US"/>
              <a:t>Trong </a:t>
            </a:r>
            <a:r>
              <a:rPr lang="en-US" err="1"/>
              <a:t>thực</a:t>
            </a:r>
            <a:r>
              <a:rPr lang="en-US"/>
              <a:t> </a:t>
            </a:r>
            <a:r>
              <a:rPr lang="en-US" err="1"/>
              <a:t>tế</a:t>
            </a:r>
            <a:r>
              <a:rPr lang="en-US"/>
              <a:t>, </a:t>
            </a:r>
            <a:r>
              <a:rPr lang="en-US" err="1"/>
              <a:t>rất</a:t>
            </a:r>
            <a:r>
              <a:rPr lang="en-US"/>
              <a:t> </a:t>
            </a:r>
            <a:r>
              <a:rPr lang="en-US" err="1"/>
              <a:t>ít</a:t>
            </a:r>
            <a:r>
              <a:rPr lang="en-US"/>
              <a:t> </a:t>
            </a:r>
            <a:r>
              <a:rPr lang="en-US" err="1"/>
              <a:t>hệ</a:t>
            </a:r>
            <a:r>
              <a:rPr lang="en-US"/>
              <a:t> </a:t>
            </a:r>
            <a:r>
              <a:rPr lang="en-US" err="1"/>
              <a:t>thống</a:t>
            </a:r>
            <a:r>
              <a:rPr lang="en-US"/>
              <a:t> </a:t>
            </a:r>
            <a:r>
              <a:rPr lang="en-US" err="1"/>
              <a:t>bỏ</a:t>
            </a:r>
            <a:r>
              <a:rPr lang="en-US"/>
              <a:t> </a:t>
            </a:r>
            <a:r>
              <a:rPr lang="en-US" err="1"/>
              <a:t>hoàn</a:t>
            </a:r>
            <a:r>
              <a:rPr lang="en-US"/>
              <a:t> </a:t>
            </a:r>
            <a:r>
              <a:rPr lang="en-US" err="1"/>
              <a:t>toàn</a:t>
            </a:r>
            <a:r>
              <a:rPr lang="en-US"/>
              <a:t> </a:t>
            </a:r>
            <a:r>
              <a:rPr lang="en-US" err="1"/>
              <a:t>phương</a:t>
            </a:r>
            <a:r>
              <a:rPr lang="en-US"/>
              <a:t> </a:t>
            </a:r>
            <a:r>
              <a:rPr lang="en-US" err="1"/>
              <a:t>pháp</a:t>
            </a:r>
            <a:r>
              <a:rPr lang="en-US"/>
              <a:t> </a:t>
            </a:r>
            <a:r>
              <a:rPr lang="en-US" err="1"/>
              <a:t>truyền</a:t>
            </a:r>
            <a:r>
              <a:rPr lang="en-US"/>
              <a:t> </a:t>
            </a:r>
            <a:r>
              <a:rPr lang="en-US" err="1"/>
              <a:t>thống</a:t>
            </a:r>
            <a:r>
              <a:rPr lang="en-US"/>
              <a:t>.</a:t>
            </a:r>
          </a:p>
          <a:p>
            <a:pPr>
              <a:buNone/>
            </a:pPr>
            <a:r>
              <a:rPr lang="en-US" err="1"/>
              <a:t>Hướng</a:t>
            </a:r>
            <a:r>
              <a:rPr lang="en-US"/>
              <a:t> </a:t>
            </a:r>
            <a:r>
              <a:rPr lang="en-US" err="1"/>
              <a:t>phổ</a:t>
            </a:r>
            <a:r>
              <a:rPr lang="en-US"/>
              <a:t> </a:t>
            </a:r>
            <a:r>
              <a:rPr lang="en-US" err="1"/>
              <a:t>biến</a:t>
            </a:r>
            <a:r>
              <a:rPr lang="en-US"/>
              <a:t>:</a:t>
            </a:r>
          </a:p>
          <a:p>
            <a:pPr marL="171450" indent="-171450"/>
            <a:r>
              <a:rPr lang="en-US"/>
              <a:t>Retrieval (ANN, MF, item2vec) </a:t>
            </a:r>
            <a:r>
              <a:rPr lang="en-US" err="1"/>
              <a:t>truyền</a:t>
            </a:r>
            <a:r>
              <a:rPr lang="en-US"/>
              <a:t> </a:t>
            </a:r>
            <a:r>
              <a:rPr lang="en-US" err="1"/>
              <a:t>thống</a:t>
            </a:r>
            <a:r>
              <a:rPr lang="en-US"/>
              <a:t> → </a:t>
            </a:r>
            <a:r>
              <a:rPr lang="en-US" b="1" err="1"/>
              <a:t>rất</a:t>
            </a:r>
            <a:r>
              <a:rPr lang="en-US" b="1"/>
              <a:t> </a:t>
            </a:r>
            <a:r>
              <a:rPr lang="en-US" b="1" err="1"/>
              <a:t>nhanh</a:t>
            </a:r>
            <a:r>
              <a:rPr lang="en-US"/>
              <a:t>.</a:t>
            </a:r>
          </a:p>
          <a:p>
            <a:pPr marL="171450" indent="-171450"/>
            <a:r>
              <a:rPr lang="en-US"/>
              <a:t>LLM agents </a:t>
            </a:r>
            <a:r>
              <a:rPr lang="en-US" err="1"/>
              <a:t>chỉ</a:t>
            </a:r>
            <a:r>
              <a:rPr lang="en-US"/>
              <a:t> </a:t>
            </a:r>
            <a:r>
              <a:rPr lang="en-US" err="1"/>
              <a:t>làm</a:t>
            </a:r>
            <a:r>
              <a:rPr lang="en-US"/>
              <a:t> reasoning + personalization → </a:t>
            </a:r>
            <a:r>
              <a:rPr lang="en-US" b="1" err="1"/>
              <a:t>rất</a:t>
            </a:r>
            <a:r>
              <a:rPr lang="en-US" b="1"/>
              <a:t> </a:t>
            </a:r>
            <a:r>
              <a:rPr lang="en-US" b="1" err="1"/>
              <a:t>thông</a:t>
            </a:r>
            <a:r>
              <a:rPr lang="en-US" b="1"/>
              <a:t> </a:t>
            </a:r>
            <a:r>
              <a:rPr lang="en-US" b="1" err="1"/>
              <a:t>minh</a:t>
            </a:r>
            <a:r>
              <a:rPr lang="en-US"/>
              <a:t>.</a:t>
            </a:r>
          </a:p>
          <a:p>
            <a:pPr indent="0">
              <a:buNone/>
            </a:pPr>
            <a:r>
              <a:rPr lang="en-US" err="1"/>
              <a:t>Đây</a:t>
            </a:r>
            <a:r>
              <a:rPr lang="en-US"/>
              <a:t> </a:t>
            </a:r>
            <a:r>
              <a:rPr lang="en-US" err="1"/>
              <a:t>được</a:t>
            </a:r>
            <a:r>
              <a:rPr lang="en-US"/>
              <a:t> </a:t>
            </a:r>
            <a:r>
              <a:rPr lang="en-US" err="1"/>
              <a:t>xem</a:t>
            </a:r>
            <a:r>
              <a:rPr lang="en-US"/>
              <a:t> </a:t>
            </a:r>
            <a:r>
              <a:rPr lang="en-US" err="1"/>
              <a:t>là</a:t>
            </a:r>
            <a:r>
              <a:rPr lang="en-US"/>
              <a:t> “best practice” </a:t>
            </a:r>
            <a:r>
              <a:rPr lang="en-US" err="1"/>
              <a:t>cho</a:t>
            </a:r>
            <a:r>
              <a:rPr lang="en-US"/>
              <a:t> </a:t>
            </a:r>
            <a:r>
              <a:rPr lang="en-US" err="1"/>
              <a:t>hệ</a:t>
            </a:r>
            <a:r>
              <a:rPr lang="en-US"/>
              <a:t> </a:t>
            </a:r>
            <a:r>
              <a:rPr lang="en-US" err="1"/>
              <a:t>thống</a:t>
            </a:r>
            <a:r>
              <a:rPr lang="en-US"/>
              <a:t> </a:t>
            </a:r>
            <a:r>
              <a:rPr lang="en-US" err="1"/>
              <a:t>gợi</a:t>
            </a:r>
            <a:r>
              <a:rPr lang="en-US"/>
              <a:t> ý </a:t>
            </a:r>
            <a:r>
              <a:rPr lang="en-US" err="1"/>
              <a:t>hiện</a:t>
            </a:r>
            <a:r>
              <a:rPr lang="en-US"/>
              <a:t> </a:t>
            </a:r>
            <a:r>
              <a:rPr lang="en-US" err="1"/>
              <a:t>đại</a:t>
            </a:r>
            <a:r>
              <a:rPr lang="en-US"/>
              <a:t>.</a:t>
            </a:r>
          </a:p>
          <a:p>
            <a:pPr algn="ctr">
              <a:buNone/>
            </a:pPr>
            <a:br>
              <a:rPr lang="en-US"/>
            </a:br>
            <a:endParaRPr lang="en-US"/>
          </a:p>
          <a:p>
            <a:pPr>
              <a:buNone/>
            </a:pPr>
            <a:r>
              <a:rPr lang="en-US" b="1"/>
              <a:t>10. Xu </a:t>
            </a:r>
            <a:r>
              <a:rPr lang="en-US" b="1" err="1"/>
              <a:t>hướng</a:t>
            </a:r>
            <a:r>
              <a:rPr lang="en-US" b="1"/>
              <a:t> 9 — Evaluation Agent: </a:t>
            </a:r>
            <a:r>
              <a:rPr lang="en-US" b="1" err="1"/>
              <a:t>tự</a:t>
            </a:r>
            <a:r>
              <a:rPr lang="en-US" b="1"/>
              <a:t> </a:t>
            </a:r>
            <a:r>
              <a:rPr lang="en-US" b="1" err="1"/>
              <a:t>đánh</a:t>
            </a:r>
            <a:r>
              <a:rPr lang="en-US" b="1"/>
              <a:t> </a:t>
            </a:r>
            <a:r>
              <a:rPr lang="en-US" b="1" err="1"/>
              <a:t>giá</a:t>
            </a:r>
            <a:r>
              <a:rPr lang="en-US" b="1"/>
              <a:t> </a:t>
            </a:r>
            <a:r>
              <a:rPr lang="en-US" b="1" err="1"/>
              <a:t>chất</a:t>
            </a:r>
            <a:r>
              <a:rPr lang="en-US" b="1"/>
              <a:t> </a:t>
            </a:r>
            <a:r>
              <a:rPr lang="en-US" b="1" err="1"/>
              <a:t>lượng</a:t>
            </a:r>
            <a:r>
              <a:rPr lang="en-US" b="1"/>
              <a:t> </a:t>
            </a:r>
            <a:r>
              <a:rPr lang="en-US" b="1" err="1"/>
              <a:t>gợi</a:t>
            </a:r>
            <a:r>
              <a:rPr lang="en-US" b="1"/>
              <a:t> ý</a:t>
            </a:r>
            <a:endParaRPr lang="en-US"/>
          </a:p>
          <a:p>
            <a:pPr>
              <a:buNone/>
            </a:pPr>
            <a:r>
              <a:rPr lang="en-US"/>
              <a:t>LLM </a:t>
            </a:r>
            <a:r>
              <a:rPr lang="en-US" err="1"/>
              <a:t>tự</a:t>
            </a:r>
            <a:r>
              <a:rPr lang="en-US"/>
              <a:t> </a:t>
            </a:r>
            <a:r>
              <a:rPr lang="en-US" err="1"/>
              <a:t>mô</a:t>
            </a:r>
            <a:r>
              <a:rPr lang="en-US"/>
              <a:t> </a:t>
            </a:r>
            <a:r>
              <a:rPr lang="en-US" err="1"/>
              <a:t>phỏng</a:t>
            </a:r>
            <a:r>
              <a:rPr lang="en-US"/>
              <a:t> </a:t>
            </a:r>
            <a:r>
              <a:rPr lang="en-US" err="1"/>
              <a:t>hành</a:t>
            </a:r>
            <a:r>
              <a:rPr lang="en-US"/>
              <a:t> vi </a:t>
            </a:r>
            <a:r>
              <a:rPr lang="en-US" err="1"/>
              <a:t>người</a:t>
            </a:r>
            <a:r>
              <a:rPr lang="en-US"/>
              <a:t> </a:t>
            </a:r>
            <a:r>
              <a:rPr lang="en-US" err="1"/>
              <a:t>dùng</a:t>
            </a:r>
            <a:r>
              <a:rPr lang="en-US"/>
              <a:t>:</a:t>
            </a:r>
          </a:p>
          <a:p>
            <a:pPr marL="171450" indent="-171450"/>
            <a:r>
              <a:rPr lang="en-US"/>
              <a:t>Agent </a:t>
            </a:r>
            <a:r>
              <a:rPr lang="en-US" err="1"/>
              <a:t>tạo</a:t>
            </a:r>
            <a:r>
              <a:rPr lang="en-US"/>
              <a:t> persona (User Simulator Agent)</a:t>
            </a:r>
          </a:p>
          <a:p>
            <a:pPr marL="171450" indent="-171450"/>
            <a:r>
              <a:rPr lang="en-US"/>
              <a:t>Agent </a:t>
            </a:r>
            <a:r>
              <a:rPr lang="en-US" err="1"/>
              <a:t>chấm</a:t>
            </a:r>
            <a:r>
              <a:rPr lang="en-US"/>
              <a:t> </a:t>
            </a:r>
            <a:r>
              <a:rPr lang="en-US" err="1"/>
              <a:t>điểm</a:t>
            </a:r>
            <a:r>
              <a:rPr lang="en-US"/>
              <a:t> </a:t>
            </a:r>
            <a:r>
              <a:rPr lang="en-US" err="1"/>
              <a:t>chất</a:t>
            </a:r>
            <a:r>
              <a:rPr lang="en-US"/>
              <a:t> </a:t>
            </a:r>
            <a:r>
              <a:rPr lang="en-US" err="1"/>
              <a:t>lượng</a:t>
            </a:r>
            <a:r>
              <a:rPr lang="en-US"/>
              <a:t> (Evaluation Agent)</a:t>
            </a:r>
          </a:p>
          <a:p>
            <a:pPr marL="171450" indent="-171450"/>
            <a:r>
              <a:rPr lang="en-US" err="1"/>
              <a:t>Tự</a:t>
            </a:r>
            <a:r>
              <a:rPr lang="en-US"/>
              <a:t> </a:t>
            </a:r>
            <a:r>
              <a:rPr lang="en-US" err="1"/>
              <a:t>tối</a:t>
            </a:r>
            <a:r>
              <a:rPr lang="en-US"/>
              <a:t> </a:t>
            </a:r>
            <a:r>
              <a:rPr lang="en-US" err="1"/>
              <a:t>ưu</a:t>
            </a:r>
            <a:r>
              <a:rPr lang="en-US"/>
              <a:t> </a:t>
            </a:r>
            <a:r>
              <a:rPr lang="en-US" err="1"/>
              <a:t>trong</a:t>
            </a:r>
            <a:r>
              <a:rPr lang="en-US"/>
              <a:t> </a:t>
            </a:r>
            <a:r>
              <a:rPr lang="en-US" err="1"/>
              <a:t>vòng</a:t>
            </a:r>
            <a:r>
              <a:rPr lang="en-US"/>
              <a:t> </a:t>
            </a:r>
            <a:r>
              <a:rPr lang="en-US" err="1"/>
              <a:t>lặp</a:t>
            </a:r>
            <a:r>
              <a:rPr lang="en-US"/>
              <a:t> reinforced feedback</a:t>
            </a:r>
          </a:p>
          <a:p>
            <a:pPr indent="0">
              <a:buNone/>
            </a:pPr>
            <a:r>
              <a:rPr lang="en-US" err="1"/>
              <a:t>Giảm</a:t>
            </a:r>
            <a:r>
              <a:rPr lang="en-US"/>
              <a:t> 90% chi </a:t>
            </a:r>
            <a:r>
              <a:rPr lang="en-US" err="1"/>
              <a:t>phí</a:t>
            </a:r>
            <a:r>
              <a:rPr lang="en-US"/>
              <a:t> A/B test </a:t>
            </a:r>
            <a:r>
              <a:rPr lang="en-US" err="1"/>
              <a:t>trong</a:t>
            </a:r>
            <a:r>
              <a:rPr lang="en-US"/>
              <a:t> </a:t>
            </a:r>
            <a:r>
              <a:rPr lang="en-US" err="1"/>
              <a:t>thực</a:t>
            </a:r>
            <a:r>
              <a:rPr lang="en-US"/>
              <a:t> </a:t>
            </a:r>
            <a:r>
              <a:rPr lang="en-US" err="1"/>
              <a:t>tế</a:t>
            </a:r>
            <a:r>
              <a:rPr lang="en-US"/>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5"/>
        <p:cNvGrpSpPr/>
        <p:nvPr/>
      </p:nvGrpSpPr>
      <p:grpSpPr>
        <a:xfrm>
          <a:off x="0" y="0"/>
          <a:ext cx="0" cy="0"/>
          <a:chOff x="0" y="0"/>
          <a:chExt cx="0" cy="0"/>
        </a:xfrm>
      </p:grpSpPr>
      <p:sp>
        <p:nvSpPr>
          <p:cNvPr id="1756" name="Google Shape;1756;g24ed99bf1a4_0_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7" name="Google Shape;1757;g24ed99bf1a4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8"/>
        <p:cNvGrpSpPr/>
        <p:nvPr/>
      </p:nvGrpSpPr>
      <p:grpSpPr>
        <a:xfrm>
          <a:off x="0" y="0"/>
          <a:ext cx="0" cy="0"/>
          <a:chOff x="0" y="0"/>
          <a:chExt cx="0" cy="0"/>
        </a:xfrm>
      </p:grpSpPr>
      <p:sp>
        <p:nvSpPr>
          <p:cNvPr id="2389" name="Google Shape;2389;g24ef22aa1ac_0_16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0" name="Google Shape;2390;g24ef22aa1ac_0_16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7" name="Google Shape;97;p3"/>
          <p:cNvSpPr txBox="1">
            <a:spLocks noGrp="1"/>
          </p:cNvSpPr>
          <p:nvPr>
            <p:ph type="title" idx="2" hasCustomPrompt="1"/>
          </p:nvPr>
        </p:nvSpPr>
        <p:spPr>
          <a:xfrm>
            <a:off x="720000" y="1025725"/>
            <a:ext cx="1702500" cy="993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200">
                <a:latin typeface="Poppins"/>
                <a:ea typeface="Poppins"/>
                <a:cs typeface="Poppins"/>
                <a:sym typeface="Poppins"/>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8" name="Google Shape;98;p3"/>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5" name="Google Shape;11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 name="Google Shape;13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0"/>
        <p:cNvGrpSpPr/>
        <p:nvPr/>
      </p:nvGrpSpPr>
      <p:grpSpPr>
        <a:xfrm>
          <a:off x="0" y="0"/>
          <a:ext cx="0" cy="0"/>
          <a:chOff x="0" y="0"/>
          <a:chExt cx="0" cy="0"/>
        </a:xfrm>
      </p:grpSpPr>
      <p:sp>
        <p:nvSpPr>
          <p:cNvPr id="141" name="Google Shape;14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2" name="Google Shape;142;p4"/>
          <p:cNvSpPr txBox="1">
            <a:spLocks noGrp="1"/>
          </p:cNvSpPr>
          <p:nvPr>
            <p:ph type="body" idx="1"/>
          </p:nvPr>
        </p:nvSpPr>
        <p:spPr>
          <a:xfrm>
            <a:off x="720000" y="1139551"/>
            <a:ext cx="7704000" cy="411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434343"/>
              </a:buClr>
              <a:buSzPts val="1400"/>
              <a:buAutoNum type="arabicPeriod"/>
              <a:defRPr>
                <a:solidFill>
                  <a:srgbClr val="191919"/>
                </a:solidFill>
              </a:defRPr>
            </a:lvl1pPr>
            <a:lvl2pPr marL="914400" lvl="1"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marL="1371600" lvl="2"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marL="1828800" lvl="3"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marL="2286000" lvl="4"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marL="2743200" lvl="5"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marL="3200400" lvl="6"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marL="3657600" lvl="7"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marL="4114800" lvl="8"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a:endParaRPr/>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l="16960" t="24718" r="7121" b="26177"/>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4"/>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4"/>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4"/>
        <p:cNvGrpSpPr/>
        <p:nvPr/>
      </p:nvGrpSpPr>
      <p:grpSpPr>
        <a:xfrm>
          <a:off x="0" y="0"/>
          <a:ext cx="0" cy="0"/>
          <a:chOff x="0" y="0"/>
          <a:chExt cx="0" cy="0"/>
        </a:xfrm>
      </p:grpSpPr>
      <p:sp>
        <p:nvSpPr>
          <p:cNvPr id="175" name="Google Shape;17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6" name="Google Shape;176;p5"/>
          <p:cNvSpPr txBox="1">
            <a:spLocks noGrp="1"/>
          </p:cNvSpPr>
          <p:nvPr>
            <p:ph type="subTitle" idx="1"/>
          </p:nvPr>
        </p:nvSpPr>
        <p:spPr>
          <a:xfrm>
            <a:off x="4999903"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7" name="Google Shape;177;p5"/>
          <p:cNvSpPr txBox="1">
            <a:spLocks noGrp="1"/>
          </p:cNvSpPr>
          <p:nvPr>
            <p:ph type="subTitle" idx="2"/>
          </p:nvPr>
        </p:nvSpPr>
        <p:spPr>
          <a:xfrm>
            <a:off x="1803800"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8" name="Google Shape;178;p5"/>
          <p:cNvSpPr txBox="1">
            <a:spLocks noGrp="1"/>
          </p:cNvSpPr>
          <p:nvPr>
            <p:ph type="subTitle" idx="3"/>
          </p:nvPr>
        </p:nvSpPr>
        <p:spPr>
          <a:xfrm>
            <a:off x="4999908"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79" name="Google Shape;179;p5"/>
          <p:cNvSpPr txBox="1">
            <a:spLocks noGrp="1"/>
          </p:cNvSpPr>
          <p:nvPr>
            <p:ph type="subTitle" idx="4"/>
          </p:nvPr>
        </p:nvSpPr>
        <p:spPr>
          <a:xfrm>
            <a:off x="1803800"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80" name="Google Shape;180;p5"/>
          <p:cNvGrpSpPr/>
          <p:nvPr/>
        </p:nvGrpSpPr>
        <p:grpSpPr>
          <a:xfrm>
            <a:off x="7579113" y="-890399"/>
            <a:ext cx="2898275" cy="3032950"/>
            <a:chOff x="7198113" y="-890399"/>
            <a:chExt cx="2898275" cy="3032950"/>
          </a:xfrm>
        </p:grpSpPr>
        <p:pic>
          <p:nvPicPr>
            <p:cNvPr id="181" name="Google Shape;181;p5"/>
            <p:cNvPicPr preferRelativeResize="0"/>
            <p:nvPr/>
          </p:nvPicPr>
          <p:blipFill rotWithShape="1">
            <a:blip r:embed="rId2">
              <a:alphaModFix/>
            </a:blip>
            <a:srcRect l="16960" t="24718" r="7121" b="26177"/>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6" name="Google Shape;186;p5"/>
          <p:cNvGrpSpPr/>
          <p:nvPr/>
        </p:nvGrpSpPr>
        <p:grpSpPr>
          <a:xfrm>
            <a:off x="-613920" y="3693606"/>
            <a:ext cx="2048057" cy="2238804"/>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5" name="Google Shape;205;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0" name="Google Shape;22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0" name="Google Shape;23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4" name="Google Shape;234;p5"/>
          <p:cNvGrpSpPr/>
          <p:nvPr/>
        </p:nvGrpSpPr>
        <p:grpSpPr>
          <a:xfrm>
            <a:off x="-2352525" y="-402069"/>
            <a:ext cx="5307515" cy="2438355"/>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5"/>
            <p:cNvSpPr/>
            <p:nvPr/>
          </p:nvSpPr>
          <p:spPr>
            <a:xfrm rot="-5400000">
              <a:off x="1755111"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1" name="Google Shape;241;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42" name="Google Shape;242;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3" name="Google Shape;243;p5"/>
          <p:cNvGrpSpPr/>
          <p:nvPr/>
        </p:nvGrpSpPr>
        <p:grpSpPr>
          <a:xfrm>
            <a:off x="6795100" y="3095213"/>
            <a:ext cx="4558967" cy="2438355"/>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9" name="Google Shape;249;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50" name="Google Shape;250;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5"/>
        <p:cNvGrpSpPr/>
        <p:nvPr/>
      </p:nvGrpSpPr>
      <p:grpSpPr>
        <a:xfrm>
          <a:off x="0" y="0"/>
          <a:ext cx="0" cy="0"/>
          <a:chOff x="0" y="0"/>
          <a:chExt cx="0" cy="0"/>
        </a:xfrm>
      </p:grpSpPr>
      <p:sp>
        <p:nvSpPr>
          <p:cNvPr id="376" name="Google Shape;376;p9"/>
          <p:cNvSpPr txBox="1">
            <a:spLocks noGrp="1"/>
          </p:cNvSpPr>
          <p:nvPr>
            <p:ph type="title"/>
          </p:nvPr>
        </p:nvSpPr>
        <p:spPr>
          <a:xfrm>
            <a:off x="720000" y="479750"/>
            <a:ext cx="3145200" cy="1843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7" name="Google Shape;377;p9"/>
          <p:cNvSpPr txBox="1">
            <a:spLocks noGrp="1"/>
          </p:cNvSpPr>
          <p:nvPr>
            <p:ph type="subTitle" idx="1"/>
          </p:nvPr>
        </p:nvSpPr>
        <p:spPr>
          <a:xfrm>
            <a:off x="720000" y="2359400"/>
            <a:ext cx="3145200" cy="2249400"/>
          </a:xfrm>
          <a:prstGeom prst="rect">
            <a:avLst/>
          </a:prstGeom>
        </p:spPr>
        <p:txBody>
          <a:bodyPr spcFirstLastPara="1" wrap="square" lIns="91425" tIns="91425" rIns="91425" bIns="91425" anchor="t" anchorCtr="0">
            <a:noAutofit/>
          </a:bodyPr>
          <a:lstStyle>
            <a:lvl1pPr lvl="0" rtl="0">
              <a:spcBef>
                <a:spcPts val="0"/>
              </a:spcBef>
              <a:spcAft>
                <a:spcPts val="0"/>
              </a:spcAft>
              <a:buSzPts val="800"/>
              <a:buFont typeface="Open Sans"/>
              <a:buChar char="●"/>
              <a:defRPr/>
            </a:lvl1pPr>
            <a:lvl2pPr lvl="1" algn="ctr" rtl="0">
              <a:lnSpc>
                <a:spcPct val="100000"/>
              </a:lnSpc>
              <a:spcBef>
                <a:spcPts val="0"/>
              </a:spcBef>
              <a:spcAft>
                <a:spcPts val="0"/>
              </a:spcAft>
              <a:buSzPts val="800"/>
              <a:buFont typeface="Open Sans"/>
              <a:buChar char="○"/>
              <a:defRPr/>
            </a:lvl2pPr>
            <a:lvl3pPr lvl="2" algn="ctr" rtl="0">
              <a:lnSpc>
                <a:spcPct val="100000"/>
              </a:lnSpc>
              <a:spcBef>
                <a:spcPts val="0"/>
              </a:spcBef>
              <a:spcAft>
                <a:spcPts val="0"/>
              </a:spcAft>
              <a:buSzPts val="800"/>
              <a:buFont typeface="Open Sans"/>
              <a:buChar char="■"/>
              <a:defRPr/>
            </a:lvl3pPr>
            <a:lvl4pPr lvl="3" algn="ctr" rtl="0">
              <a:lnSpc>
                <a:spcPct val="100000"/>
              </a:lnSpc>
              <a:spcBef>
                <a:spcPts val="0"/>
              </a:spcBef>
              <a:spcAft>
                <a:spcPts val="0"/>
              </a:spcAft>
              <a:buSzPts val="800"/>
              <a:buFont typeface="Open Sans"/>
              <a:buChar char="●"/>
              <a:defRPr/>
            </a:lvl4pPr>
            <a:lvl5pPr lvl="4" algn="ctr" rtl="0">
              <a:lnSpc>
                <a:spcPct val="100000"/>
              </a:lnSpc>
              <a:spcBef>
                <a:spcPts val="0"/>
              </a:spcBef>
              <a:spcAft>
                <a:spcPts val="0"/>
              </a:spcAft>
              <a:buSzPts val="1200"/>
              <a:buFont typeface="Open Sans"/>
              <a:buChar char="○"/>
              <a:defRPr/>
            </a:lvl5pPr>
            <a:lvl6pPr lvl="5" algn="ctr" rtl="0">
              <a:lnSpc>
                <a:spcPct val="100000"/>
              </a:lnSpc>
              <a:spcBef>
                <a:spcPts val="0"/>
              </a:spcBef>
              <a:spcAft>
                <a:spcPts val="0"/>
              </a:spcAft>
              <a:buSzPts val="1200"/>
              <a:buFont typeface="Open Sans"/>
              <a:buChar char="■"/>
              <a:defRPr/>
            </a:lvl6pPr>
            <a:lvl7pPr lvl="6" algn="ctr" rtl="0">
              <a:lnSpc>
                <a:spcPct val="100000"/>
              </a:lnSpc>
              <a:spcBef>
                <a:spcPts val="0"/>
              </a:spcBef>
              <a:spcAft>
                <a:spcPts val="0"/>
              </a:spcAft>
              <a:buSzPts val="700"/>
              <a:buFont typeface="Open Sans"/>
              <a:buChar char="●"/>
              <a:defRPr/>
            </a:lvl7pPr>
            <a:lvl8pPr lvl="7" algn="ctr" rtl="0">
              <a:lnSpc>
                <a:spcPct val="100000"/>
              </a:lnSpc>
              <a:spcBef>
                <a:spcPts val="0"/>
              </a:spcBef>
              <a:spcAft>
                <a:spcPts val="0"/>
              </a:spcAft>
              <a:buSzPts val="700"/>
              <a:buFont typeface="Open Sans"/>
              <a:buChar char="○"/>
              <a:defRPr/>
            </a:lvl8pPr>
            <a:lvl9pPr lvl="8" algn="ctr" rtl="0">
              <a:lnSpc>
                <a:spcPct val="100000"/>
              </a:lnSpc>
              <a:spcBef>
                <a:spcPts val="0"/>
              </a:spcBef>
              <a:spcAft>
                <a:spcPts val="0"/>
              </a:spcAft>
              <a:buSzPts val="600"/>
              <a:buFont typeface="Open Sans"/>
              <a:buChar char="■"/>
              <a:defRPr/>
            </a:lvl9pPr>
          </a:lstStyle>
          <a:p>
            <a:endParaRPr/>
          </a:p>
        </p:txBody>
      </p:sp>
      <p:sp>
        <p:nvSpPr>
          <p:cNvPr id="378" name="Google Shape;378;p9"/>
          <p:cNvSpPr>
            <a:spLocks noGrp="1"/>
          </p:cNvSpPr>
          <p:nvPr>
            <p:ph type="pic" idx="2"/>
          </p:nvPr>
        </p:nvSpPr>
        <p:spPr>
          <a:xfrm>
            <a:off x="4135800" y="539500"/>
            <a:ext cx="4295100" cy="4069200"/>
          </a:xfrm>
          <a:prstGeom prst="snip1Rect">
            <a:avLst>
              <a:gd name="adj" fmla="val 16667"/>
            </a:avLst>
          </a:prstGeom>
          <a:noFill/>
          <a:ln>
            <a:noFill/>
          </a:ln>
        </p:spPr>
      </p:sp>
      <p:grpSp>
        <p:nvGrpSpPr>
          <p:cNvPr id="379" name="Google Shape;379;p9"/>
          <p:cNvGrpSpPr/>
          <p:nvPr/>
        </p:nvGrpSpPr>
        <p:grpSpPr>
          <a:xfrm>
            <a:off x="-2393465" y="-1635538"/>
            <a:ext cx="4710415" cy="5344655"/>
            <a:chOff x="-2317265" y="-1559338"/>
            <a:chExt cx="4710415" cy="5344655"/>
          </a:xfrm>
        </p:grpSpPr>
        <p:pic>
          <p:nvPicPr>
            <p:cNvPr id="380" name="Google Shape;380;p9"/>
            <p:cNvPicPr preferRelativeResize="0"/>
            <p:nvPr/>
          </p:nvPicPr>
          <p:blipFill rotWithShape="1">
            <a:blip r:embed="rId2">
              <a:alphaModFix/>
            </a:blip>
            <a:srcRect l="16960" t="24718" r="7121" b="26177"/>
            <a:stretch/>
          </p:blipFill>
          <p:spPr>
            <a:xfrm>
              <a:off x="-2317265" y="-1559338"/>
              <a:ext cx="3920501" cy="2992224"/>
            </a:xfrm>
            <a:prstGeom prst="rect">
              <a:avLst/>
            </a:prstGeom>
            <a:noFill/>
            <a:ln>
              <a:noFill/>
            </a:ln>
          </p:spPr>
        </p:pic>
        <p:grpSp>
          <p:nvGrpSpPr>
            <p:cNvPr id="381" name="Google Shape;381;p9"/>
            <p:cNvGrpSpPr/>
            <p:nvPr/>
          </p:nvGrpSpPr>
          <p:grpSpPr>
            <a:xfrm>
              <a:off x="-1322674" y="-1333888"/>
              <a:ext cx="3153315" cy="5119205"/>
              <a:chOff x="6643701" y="816087"/>
              <a:chExt cx="3153315" cy="5119205"/>
            </a:xfrm>
          </p:grpSpPr>
          <p:sp>
            <p:nvSpPr>
              <p:cNvPr id="382" name="Google Shape;382;p9"/>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 name="Google Shape;383;p9"/>
              <p:cNvGrpSpPr/>
              <p:nvPr/>
            </p:nvGrpSpPr>
            <p:grpSpPr>
              <a:xfrm>
                <a:off x="8671986" y="2443197"/>
                <a:ext cx="134004" cy="134004"/>
                <a:chOff x="8356813" y="1074288"/>
                <a:chExt cx="351900" cy="351900"/>
              </a:xfrm>
            </p:grpSpPr>
            <p:sp>
              <p:nvSpPr>
                <p:cNvPr id="384" name="Google Shape;384;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6" name="Google Shape;386;p9"/>
              <p:cNvGrpSpPr/>
              <p:nvPr/>
            </p:nvGrpSpPr>
            <p:grpSpPr>
              <a:xfrm>
                <a:off x="7678536" y="3129397"/>
                <a:ext cx="134004" cy="134004"/>
                <a:chOff x="8356813" y="1074288"/>
                <a:chExt cx="351900" cy="351900"/>
              </a:xfrm>
            </p:grpSpPr>
            <p:sp>
              <p:nvSpPr>
                <p:cNvPr id="387" name="Google Shape;387;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9" name="Google Shape;389;p9"/>
              <p:cNvGrpSpPr/>
              <p:nvPr/>
            </p:nvGrpSpPr>
            <p:grpSpPr>
              <a:xfrm>
                <a:off x="8062611" y="3503222"/>
                <a:ext cx="134004" cy="134004"/>
                <a:chOff x="8356813" y="1074288"/>
                <a:chExt cx="351900" cy="351900"/>
              </a:xfrm>
            </p:grpSpPr>
            <p:sp>
              <p:nvSpPr>
                <p:cNvPr id="390" name="Google Shape;390;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2" name="Google Shape;392;p9"/>
            <p:cNvGrpSpPr/>
            <p:nvPr/>
          </p:nvGrpSpPr>
          <p:grpSpPr>
            <a:xfrm>
              <a:off x="121568" y="-846844"/>
              <a:ext cx="88151" cy="2151709"/>
              <a:chOff x="3054755" y="4367024"/>
              <a:chExt cx="88142" cy="1137387"/>
            </a:xfrm>
          </p:grpSpPr>
          <p:sp>
            <p:nvSpPr>
              <p:cNvPr id="393" name="Google Shape;393;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5" name="Google Shape;395;p9"/>
            <p:cNvGrpSpPr/>
            <p:nvPr/>
          </p:nvGrpSpPr>
          <p:grpSpPr>
            <a:xfrm>
              <a:off x="361243" y="-718832"/>
              <a:ext cx="88151" cy="2151709"/>
              <a:chOff x="3054755" y="4367024"/>
              <a:chExt cx="88142" cy="1137387"/>
            </a:xfrm>
          </p:grpSpPr>
          <p:sp>
            <p:nvSpPr>
              <p:cNvPr id="396" name="Google Shape;396;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8" name="Google Shape;398;p9"/>
            <p:cNvSpPr/>
            <p:nvPr/>
          </p:nvSpPr>
          <p:spPr>
            <a:xfrm rot="5400000">
              <a:off x="501466" y="-1277128"/>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9" name="Google Shape;399;p9"/>
            <p:cNvGrpSpPr/>
            <p:nvPr/>
          </p:nvGrpSpPr>
          <p:grpSpPr>
            <a:xfrm>
              <a:off x="-175967" y="337269"/>
              <a:ext cx="480890" cy="481200"/>
              <a:chOff x="959750" y="3039275"/>
              <a:chExt cx="582050" cy="582425"/>
            </a:xfrm>
          </p:grpSpPr>
          <p:sp>
            <p:nvSpPr>
              <p:cNvPr id="400" name="Google Shape;400;p9"/>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9"/>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9"/>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9"/>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9"/>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9"/>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7" name="Google Shape;407;p9"/>
          <p:cNvGrpSpPr/>
          <p:nvPr/>
        </p:nvGrpSpPr>
        <p:grpSpPr>
          <a:xfrm>
            <a:off x="6719910" y="2898312"/>
            <a:ext cx="3920501" cy="3213899"/>
            <a:chOff x="6643710" y="2822113"/>
            <a:chExt cx="3920501" cy="3213899"/>
          </a:xfrm>
        </p:grpSpPr>
        <p:sp>
          <p:nvSpPr>
            <p:cNvPr id="408" name="Google Shape;408;p9"/>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9" name="Google Shape;409;p9"/>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grpSp>
          <p:nvGrpSpPr>
            <p:cNvPr id="410" name="Google Shape;410;p9"/>
            <p:cNvGrpSpPr/>
            <p:nvPr/>
          </p:nvGrpSpPr>
          <p:grpSpPr>
            <a:xfrm>
              <a:off x="8671987" y="3471620"/>
              <a:ext cx="699928" cy="1651024"/>
              <a:chOff x="8337812" y="3492483"/>
              <a:chExt cx="699928" cy="1651024"/>
            </a:xfrm>
          </p:grpSpPr>
          <p:sp>
            <p:nvSpPr>
              <p:cNvPr id="411" name="Google Shape;411;p9"/>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9"/>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9"/>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9"/>
            <p:cNvGrpSpPr/>
            <p:nvPr/>
          </p:nvGrpSpPr>
          <p:grpSpPr>
            <a:xfrm>
              <a:off x="8279400" y="4281138"/>
              <a:ext cx="904666" cy="726121"/>
              <a:chOff x="7945225" y="4302000"/>
              <a:chExt cx="904666" cy="726121"/>
            </a:xfrm>
          </p:grpSpPr>
          <p:sp>
            <p:nvSpPr>
              <p:cNvPr id="415" name="Google Shape;415;p9"/>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9"/>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9"/>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8" name="Google Shape;418;p9"/>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9"/>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0" name="Google Shape;420;p9"/>
          <p:cNvGrpSpPr/>
          <p:nvPr/>
        </p:nvGrpSpPr>
        <p:grpSpPr>
          <a:xfrm>
            <a:off x="-1953175" y="4816451"/>
            <a:ext cx="4558967" cy="134100"/>
            <a:chOff x="796100" y="3019701"/>
            <a:chExt cx="4558967" cy="134100"/>
          </a:xfrm>
        </p:grpSpPr>
        <p:sp>
          <p:nvSpPr>
            <p:cNvPr id="421" name="Google Shape;421;p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22" name="Google Shape;422;p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423" name="Google Shape;423;p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96" name="Google Shape;496;p13"/>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13"/>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13"/>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13"/>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5" name="Google Shape;505;p13"/>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6" name="Google Shape;506;p13"/>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07" name="Google Shape;507;p13"/>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44"/>
        <p:cNvGrpSpPr/>
        <p:nvPr/>
      </p:nvGrpSpPr>
      <p:grpSpPr>
        <a:xfrm>
          <a:off x="0" y="0"/>
          <a:ext cx="0" cy="0"/>
          <a:chOff x="0" y="0"/>
          <a:chExt cx="0" cy="0"/>
        </a:xfrm>
      </p:grpSpPr>
      <p:sp>
        <p:nvSpPr>
          <p:cNvPr id="545" name="Google Shape;545;p14"/>
          <p:cNvSpPr txBox="1">
            <a:spLocks noGrp="1"/>
          </p:cNvSpPr>
          <p:nvPr>
            <p:ph type="title"/>
          </p:nvPr>
        </p:nvSpPr>
        <p:spPr>
          <a:xfrm>
            <a:off x="713225" y="3349250"/>
            <a:ext cx="6691200" cy="5319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546" name="Google Shape;546;p14"/>
          <p:cNvSpPr txBox="1">
            <a:spLocks noGrp="1"/>
          </p:cNvSpPr>
          <p:nvPr>
            <p:ph type="subTitle" idx="1"/>
          </p:nvPr>
        </p:nvSpPr>
        <p:spPr>
          <a:xfrm>
            <a:off x="713225" y="1511313"/>
            <a:ext cx="6691200" cy="1478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8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59"/>
        <p:cNvGrpSpPr/>
        <p:nvPr/>
      </p:nvGrpSpPr>
      <p:grpSpPr>
        <a:xfrm>
          <a:off x="0" y="0"/>
          <a:ext cx="0" cy="0"/>
          <a:chOff x="0" y="0"/>
          <a:chExt cx="0" cy="0"/>
        </a:xfrm>
      </p:grpSpPr>
      <p:sp>
        <p:nvSpPr>
          <p:cNvPr id="760" name="Google Shape;76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61" name="Google Shape;761;p1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2" name="Google Shape;762;p19"/>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76" name="Google Shape;776;p19"/>
            <p:cNvPicPr preferRelativeResize="0"/>
            <p:nvPr/>
          </p:nvPicPr>
          <p:blipFill rotWithShape="1">
            <a:blip r:embed="rId2">
              <a:alphaModFix/>
            </a:blip>
            <a:srcRect l="16960" t="24718" r="7121" b="26177"/>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798"/>
        <p:cNvGrpSpPr/>
        <p:nvPr/>
      </p:nvGrpSpPr>
      <p:grpSpPr>
        <a:xfrm>
          <a:off x="0" y="0"/>
          <a:ext cx="0" cy="0"/>
          <a:chOff x="0" y="0"/>
          <a:chExt cx="0" cy="0"/>
        </a:xfrm>
      </p:grpSpPr>
      <p:sp>
        <p:nvSpPr>
          <p:cNvPr id="799" name="Google Shape;799;p20"/>
          <p:cNvSpPr txBox="1">
            <a:spLocks noGrp="1"/>
          </p:cNvSpPr>
          <p:nvPr>
            <p:ph type="title"/>
          </p:nvPr>
        </p:nvSpPr>
        <p:spPr>
          <a:xfrm>
            <a:off x="720000" y="1565925"/>
            <a:ext cx="2799000" cy="760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00" name="Google Shape;800;p20"/>
          <p:cNvSpPr txBox="1">
            <a:spLocks noGrp="1"/>
          </p:cNvSpPr>
          <p:nvPr>
            <p:ph type="subTitle" idx="1"/>
          </p:nvPr>
        </p:nvSpPr>
        <p:spPr>
          <a:xfrm>
            <a:off x="720000" y="2326750"/>
            <a:ext cx="2799000" cy="1125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801" name="Google Shape;801;p20"/>
          <p:cNvGrpSpPr/>
          <p:nvPr/>
        </p:nvGrpSpPr>
        <p:grpSpPr>
          <a:xfrm>
            <a:off x="-1623735" y="2499757"/>
            <a:ext cx="5119205" cy="4373890"/>
            <a:chOff x="-1547535" y="2499757"/>
            <a:chExt cx="5119205" cy="4373890"/>
          </a:xfrm>
        </p:grpSpPr>
        <p:pic>
          <p:nvPicPr>
            <p:cNvPr id="802" name="Google Shape;802;p20"/>
            <p:cNvPicPr preferRelativeResize="0"/>
            <p:nvPr/>
          </p:nvPicPr>
          <p:blipFill rotWithShape="1">
            <a:blip r:embed="rId2">
              <a:alphaModFix/>
            </a:blip>
            <a:srcRect l="16960" t="24718" r="7121" b="26177"/>
            <a:stretch/>
          </p:blipFill>
          <p:spPr>
            <a:xfrm rot="-5400000">
              <a:off x="-1751185" y="3417285"/>
              <a:ext cx="3920501" cy="2992224"/>
            </a:xfrm>
            <a:prstGeom prst="rect">
              <a:avLst/>
            </a:prstGeom>
            <a:noFill/>
            <a:ln>
              <a:noFill/>
            </a:ln>
          </p:spPr>
        </p:pic>
        <p:grpSp>
          <p:nvGrpSpPr>
            <p:cNvPr id="803" name="Google Shape;803;p20"/>
            <p:cNvGrpSpPr/>
            <p:nvPr/>
          </p:nvGrpSpPr>
          <p:grpSpPr>
            <a:xfrm rot="-5400000">
              <a:off x="123777" y="4587830"/>
              <a:ext cx="480890" cy="481200"/>
              <a:chOff x="959750" y="3039275"/>
              <a:chExt cx="582050" cy="582425"/>
            </a:xfrm>
          </p:grpSpPr>
          <p:sp>
            <p:nvSpPr>
              <p:cNvPr id="804" name="Google Shape;804;p2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 name="Google Shape;811;p20"/>
            <p:cNvGrpSpPr/>
            <p:nvPr/>
          </p:nvGrpSpPr>
          <p:grpSpPr>
            <a:xfrm rot="-5400000">
              <a:off x="-564590" y="2079321"/>
              <a:ext cx="3153315" cy="5119205"/>
              <a:chOff x="6643701" y="816087"/>
              <a:chExt cx="3153315" cy="5119205"/>
            </a:xfrm>
          </p:grpSpPr>
          <p:sp>
            <p:nvSpPr>
              <p:cNvPr id="812" name="Google Shape;812;p20"/>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3" name="Google Shape;813;p20"/>
              <p:cNvGrpSpPr/>
              <p:nvPr/>
            </p:nvGrpSpPr>
            <p:grpSpPr>
              <a:xfrm>
                <a:off x="8062611" y="3503222"/>
                <a:ext cx="134004" cy="134004"/>
                <a:chOff x="8356813" y="1074288"/>
                <a:chExt cx="351900" cy="351900"/>
              </a:xfrm>
            </p:grpSpPr>
            <p:sp>
              <p:nvSpPr>
                <p:cNvPr id="814" name="Google Shape;814;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20"/>
              <p:cNvGrpSpPr/>
              <p:nvPr/>
            </p:nvGrpSpPr>
            <p:grpSpPr>
              <a:xfrm>
                <a:off x="7678536" y="3129397"/>
                <a:ext cx="134004" cy="134004"/>
                <a:chOff x="8356813" y="1074288"/>
                <a:chExt cx="351900" cy="351900"/>
              </a:xfrm>
            </p:grpSpPr>
            <p:sp>
              <p:nvSpPr>
                <p:cNvPr id="817" name="Google Shape;817;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 name="Google Shape;819;p20"/>
              <p:cNvGrpSpPr/>
              <p:nvPr/>
            </p:nvGrpSpPr>
            <p:grpSpPr>
              <a:xfrm>
                <a:off x="8671986" y="2443197"/>
                <a:ext cx="134004" cy="134004"/>
                <a:chOff x="8356813" y="1074288"/>
                <a:chExt cx="351900" cy="351900"/>
              </a:xfrm>
            </p:grpSpPr>
            <p:sp>
              <p:nvSpPr>
                <p:cNvPr id="820" name="Google Shape;820;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2" name="Google Shape;822;p20"/>
            <p:cNvSpPr/>
            <p:nvPr/>
          </p:nvSpPr>
          <p:spPr>
            <a:xfrm>
              <a:off x="-630272" y="2499757"/>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3" name="Google Shape;823;p20"/>
            <p:cNvGrpSpPr/>
            <p:nvPr/>
          </p:nvGrpSpPr>
          <p:grpSpPr>
            <a:xfrm rot="-5400000">
              <a:off x="99300" y="3411735"/>
              <a:ext cx="88151" cy="2151709"/>
              <a:chOff x="3054755" y="4367024"/>
              <a:chExt cx="88142" cy="1137387"/>
            </a:xfrm>
          </p:grpSpPr>
          <p:sp>
            <p:nvSpPr>
              <p:cNvPr id="824" name="Google Shape;824;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20"/>
            <p:cNvGrpSpPr/>
            <p:nvPr/>
          </p:nvGrpSpPr>
          <p:grpSpPr>
            <a:xfrm rot="-5400000">
              <a:off x="-28713" y="3651410"/>
              <a:ext cx="88151" cy="2151709"/>
              <a:chOff x="3054755" y="4367024"/>
              <a:chExt cx="88142" cy="1137387"/>
            </a:xfrm>
          </p:grpSpPr>
          <p:sp>
            <p:nvSpPr>
              <p:cNvPr id="827" name="Google Shape;827;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29" name="Google Shape;829;p20"/>
          <p:cNvGrpSpPr/>
          <p:nvPr/>
        </p:nvGrpSpPr>
        <p:grpSpPr>
          <a:xfrm rot="-5400000">
            <a:off x="7274810" y="-1067450"/>
            <a:ext cx="3920501" cy="3213899"/>
            <a:chOff x="6643710" y="2822113"/>
            <a:chExt cx="3920501" cy="3213899"/>
          </a:xfrm>
        </p:grpSpPr>
        <p:pic>
          <p:nvPicPr>
            <p:cNvPr id="830" name="Google Shape;830;p20"/>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sp>
          <p:nvSpPr>
            <p:cNvPr id="831" name="Google Shape;831;p20"/>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0"/>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0"/>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4" name="Google Shape;834;p20"/>
            <p:cNvGrpSpPr/>
            <p:nvPr/>
          </p:nvGrpSpPr>
          <p:grpSpPr>
            <a:xfrm>
              <a:off x="8671987" y="3471620"/>
              <a:ext cx="699928" cy="1651024"/>
              <a:chOff x="8337812" y="3492483"/>
              <a:chExt cx="699928" cy="1651024"/>
            </a:xfrm>
          </p:grpSpPr>
          <p:sp>
            <p:nvSpPr>
              <p:cNvPr id="835" name="Google Shape;835;p2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20"/>
            <p:cNvGrpSpPr/>
            <p:nvPr/>
          </p:nvGrpSpPr>
          <p:grpSpPr>
            <a:xfrm>
              <a:off x="8279400" y="4281138"/>
              <a:ext cx="904666" cy="726121"/>
              <a:chOff x="7945225" y="4302000"/>
              <a:chExt cx="904666" cy="726121"/>
            </a:xfrm>
          </p:grpSpPr>
          <p:sp>
            <p:nvSpPr>
              <p:cNvPr id="839" name="Google Shape;839;p2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049"/>
        <p:cNvGrpSpPr/>
        <p:nvPr/>
      </p:nvGrpSpPr>
      <p:grpSpPr>
        <a:xfrm>
          <a:off x="0" y="0"/>
          <a:ext cx="0" cy="0"/>
          <a:chOff x="0" y="0"/>
          <a:chExt cx="0" cy="0"/>
        </a:xfrm>
      </p:grpSpPr>
      <p:grpSp>
        <p:nvGrpSpPr>
          <p:cNvPr id="1050" name="Google Shape;1050;p24"/>
          <p:cNvGrpSpPr/>
          <p:nvPr/>
        </p:nvGrpSpPr>
        <p:grpSpPr>
          <a:xfrm>
            <a:off x="7059553" y="-2136808"/>
            <a:ext cx="4192757" cy="4558967"/>
            <a:chOff x="6983353" y="-2136808"/>
            <a:chExt cx="4192757" cy="4558967"/>
          </a:xfrm>
        </p:grpSpPr>
        <p:grpSp>
          <p:nvGrpSpPr>
            <p:cNvPr id="1051" name="Google Shape;1051;p24"/>
            <p:cNvGrpSpPr/>
            <p:nvPr/>
          </p:nvGrpSpPr>
          <p:grpSpPr>
            <a:xfrm rot="-509296">
              <a:off x="7187207" y="-982000"/>
              <a:ext cx="3785049" cy="3043008"/>
              <a:chOff x="7103825" y="-713112"/>
              <a:chExt cx="3785226" cy="3043150"/>
            </a:xfrm>
          </p:grpSpPr>
          <p:sp>
            <p:nvSpPr>
              <p:cNvPr id="1052" name="Google Shape;1052;p24"/>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3" name="Google Shape;1053;p24"/>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grpSp>
          <p:nvGrpSpPr>
            <p:cNvPr id="1054" name="Google Shape;1054;p24"/>
            <p:cNvGrpSpPr/>
            <p:nvPr/>
          </p:nvGrpSpPr>
          <p:grpSpPr>
            <a:xfrm rot="5400000">
              <a:off x="6489450" y="75626"/>
              <a:ext cx="4558967" cy="134100"/>
              <a:chOff x="796100" y="3019701"/>
              <a:chExt cx="4558967" cy="134100"/>
            </a:xfrm>
          </p:grpSpPr>
          <p:sp>
            <p:nvSpPr>
              <p:cNvPr id="1055" name="Google Shape;1055;p24"/>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56" name="Google Shape;1056;p24"/>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57" name="Google Shape;1057;p24"/>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58" name="Google Shape;1058;p24"/>
          <p:cNvSpPr txBox="1">
            <a:spLocks noGrp="1"/>
          </p:cNvSpPr>
          <p:nvPr>
            <p:ph type="subTitle" idx="1"/>
          </p:nvPr>
        </p:nvSpPr>
        <p:spPr>
          <a:xfrm>
            <a:off x="720000"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9" name="Google Shape;1059;p24"/>
          <p:cNvSpPr txBox="1">
            <a:spLocks noGrp="1"/>
          </p:cNvSpPr>
          <p:nvPr>
            <p:ph type="subTitle" idx="2"/>
          </p:nvPr>
        </p:nvSpPr>
        <p:spPr>
          <a:xfrm>
            <a:off x="3584484"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0" name="Google Shape;1060;p24"/>
          <p:cNvSpPr txBox="1">
            <a:spLocks noGrp="1"/>
          </p:cNvSpPr>
          <p:nvPr>
            <p:ph type="subTitle" idx="3"/>
          </p:nvPr>
        </p:nvSpPr>
        <p:spPr>
          <a:xfrm>
            <a:off x="6448975"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1" name="Google Shape;1061;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2" name="Google Shape;1062;p24"/>
          <p:cNvSpPr txBox="1">
            <a:spLocks noGrp="1"/>
          </p:cNvSpPr>
          <p:nvPr>
            <p:ph type="subTitle" idx="4"/>
          </p:nvPr>
        </p:nvSpPr>
        <p:spPr>
          <a:xfrm>
            <a:off x="720000"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63" name="Google Shape;1063;p24"/>
          <p:cNvSpPr txBox="1">
            <a:spLocks noGrp="1"/>
          </p:cNvSpPr>
          <p:nvPr>
            <p:ph type="subTitle" idx="5"/>
          </p:nvPr>
        </p:nvSpPr>
        <p:spPr>
          <a:xfrm>
            <a:off x="3584483"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64" name="Google Shape;1064;p24"/>
          <p:cNvSpPr txBox="1">
            <a:spLocks noGrp="1"/>
          </p:cNvSpPr>
          <p:nvPr>
            <p:ph type="subTitle" idx="6"/>
          </p:nvPr>
        </p:nvSpPr>
        <p:spPr>
          <a:xfrm>
            <a:off x="6448972"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065" name="Google Shape;1065;p24"/>
          <p:cNvGrpSpPr/>
          <p:nvPr/>
        </p:nvGrpSpPr>
        <p:grpSpPr>
          <a:xfrm>
            <a:off x="6067575" y="2796625"/>
            <a:ext cx="4006263" cy="4771152"/>
            <a:chOff x="5915175" y="2339425"/>
            <a:chExt cx="4006263" cy="4771152"/>
          </a:xfrm>
        </p:grpSpPr>
        <p:sp>
          <p:nvSpPr>
            <p:cNvPr id="1066" name="Google Shape;1066;p24"/>
            <p:cNvSpPr/>
            <p:nvPr/>
          </p:nvSpPr>
          <p:spPr>
            <a:xfrm>
              <a:off x="5915175" y="23612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4"/>
            <p:cNvSpPr/>
            <p:nvPr/>
          </p:nvSpPr>
          <p:spPr>
            <a:xfrm>
              <a:off x="6873793" y="23394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8" name="Google Shape;1068;p24"/>
            <p:cNvGrpSpPr/>
            <p:nvPr/>
          </p:nvGrpSpPr>
          <p:grpSpPr>
            <a:xfrm>
              <a:off x="7520550" y="4608575"/>
              <a:ext cx="582050" cy="582425"/>
              <a:chOff x="959750" y="3039275"/>
              <a:chExt cx="582050" cy="582425"/>
            </a:xfrm>
          </p:grpSpPr>
          <p:sp>
            <p:nvSpPr>
              <p:cNvPr id="1069" name="Google Shape;1069;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6" name="Google Shape;1076;p24"/>
            <p:cNvGrpSpPr/>
            <p:nvPr/>
          </p:nvGrpSpPr>
          <p:grpSpPr>
            <a:xfrm>
              <a:off x="8484675" y="3658275"/>
              <a:ext cx="582050" cy="582425"/>
              <a:chOff x="959750" y="3039275"/>
              <a:chExt cx="582050" cy="582425"/>
            </a:xfrm>
          </p:grpSpPr>
          <p:sp>
            <p:nvSpPr>
              <p:cNvPr id="1077" name="Google Shape;1077;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84" name="Google Shape;1084;p24"/>
          <p:cNvGrpSpPr/>
          <p:nvPr/>
        </p:nvGrpSpPr>
        <p:grpSpPr>
          <a:xfrm>
            <a:off x="-235366" y="3828554"/>
            <a:ext cx="5249359" cy="2992224"/>
            <a:chOff x="-258616" y="3430829"/>
            <a:chExt cx="5249359" cy="2992224"/>
          </a:xfrm>
        </p:grpSpPr>
        <p:pic>
          <p:nvPicPr>
            <p:cNvPr id="1085" name="Google Shape;1085;p24"/>
            <p:cNvPicPr preferRelativeResize="0"/>
            <p:nvPr/>
          </p:nvPicPr>
          <p:blipFill rotWithShape="1">
            <a:blip r:embed="rId3">
              <a:alphaModFix/>
            </a:blip>
            <a:srcRect l="16960" t="24718" r="7121" b="26177"/>
            <a:stretch/>
          </p:blipFill>
          <p:spPr>
            <a:xfrm>
              <a:off x="1070243" y="3430829"/>
              <a:ext cx="3920501" cy="2992224"/>
            </a:xfrm>
            <a:prstGeom prst="rect">
              <a:avLst/>
            </a:prstGeom>
            <a:noFill/>
            <a:ln>
              <a:noFill/>
            </a:ln>
          </p:spPr>
        </p:pic>
        <p:sp>
          <p:nvSpPr>
            <p:cNvPr id="1086" name="Google Shape;1086;p24"/>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4"/>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4"/>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4"/>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4"/>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1" name="Google Shape;1091;p24"/>
            <p:cNvGrpSpPr/>
            <p:nvPr/>
          </p:nvGrpSpPr>
          <p:grpSpPr>
            <a:xfrm>
              <a:off x="736485" y="4387072"/>
              <a:ext cx="161977" cy="161940"/>
              <a:chOff x="1101075" y="2142375"/>
              <a:chExt cx="439200" cy="439100"/>
            </a:xfrm>
          </p:grpSpPr>
          <p:sp>
            <p:nvSpPr>
              <p:cNvPr id="1092" name="Google Shape;1092;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4" name="Google Shape;1094;p24"/>
            <p:cNvGrpSpPr/>
            <p:nvPr/>
          </p:nvGrpSpPr>
          <p:grpSpPr>
            <a:xfrm rot="10800000">
              <a:off x="2118901" y="4805293"/>
              <a:ext cx="161977" cy="161940"/>
              <a:chOff x="1101075" y="2142375"/>
              <a:chExt cx="439200" cy="439100"/>
            </a:xfrm>
          </p:grpSpPr>
          <p:sp>
            <p:nvSpPr>
              <p:cNvPr id="1095" name="Google Shape;1095;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97" name="Google Shape;1097;p24"/>
          <p:cNvGrpSpPr/>
          <p:nvPr/>
        </p:nvGrpSpPr>
        <p:grpSpPr>
          <a:xfrm>
            <a:off x="-515563" y="-797996"/>
            <a:ext cx="1433417" cy="2584783"/>
            <a:chOff x="-363163" y="-645596"/>
            <a:chExt cx="1433417" cy="2584783"/>
          </a:xfrm>
        </p:grpSpPr>
        <p:grpSp>
          <p:nvGrpSpPr>
            <p:cNvPr id="1098" name="Google Shape;1098;p24"/>
            <p:cNvGrpSpPr/>
            <p:nvPr/>
          </p:nvGrpSpPr>
          <p:grpSpPr>
            <a:xfrm rot="10800000">
              <a:off x="-64595" y="-645596"/>
              <a:ext cx="1134849" cy="2370191"/>
              <a:chOff x="-575575" y="3685599"/>
              <a:chExt cx="1421048" cy="2967932"/>
            </a:xfrm>
          </p:grpSpPr>
          <p:sp>
            <p:nvSpPr>
              <p:cNvPr id="1099" name="Google Shape;1099;p24"/>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4"/>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1" name="Google Shape;1101;p24"/>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4"/>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3" name="Google Shape;1103;p24"/>
            <p:cNvGrpSpPr/>
            <p:nvPr/>
          </p:nvGrpSpPr>
          <p:grpSpPr>
            <a:xfrm rot="-2700000" flipH="1">
              <a:off x="-216370" y="1084101"/>
              <a:ext cx="708093" cy="708493"/>
              <a:chOff x="3678700" y="407275"/>
              <a:chExt cx="708100" cy="708500"/>
            </a:xfrm>
          </p:grpSpPr>
          <p:sp>
            <p:nvSpPr>
              <p:cNvPr id="1104" name="Google Shape;1104;p24"/>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4"/>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4"/>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4"/>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4"/>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4"/>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4"/>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111"/>
        <p:cNvGrpSpPr/>
        <p:nvPr/>
      </p:nvGrpSpPr>
      <p:grpSpPr>
        <a:xfrm>
          <a:off x="0" y="0"/>
          <a:ext cx="0" cy="0"/>
          <a:chOff x="0" y="0"/>
          <a:chExt cx="0" cy="0"/>
        </a:xfrm>
      </p:grpSpPr>
      <p:sp>
        <p:nvSpPr>
          <p:cNvPr id="1112" name="Google Shape;1112;p25"/>
          <p:cNvSpPr txBox="1">
            <a:spLocks noGrp="1"/>
          </p:cNvSpPr>
          <p:nvPr>
            <p:ph type="subTitle" idx="1"/>
          </p:nvPr>
        </p:nvSpPr>
        <p:spPr>
          <a:xfrm>
            <a:off x="720000"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3" name="Google Shape;1113;p25"/>
          <p:cNvSpPr txBox="1">
            <a:spLocks noGrp="1"/>
          </p:cNvSpPr>
          <p:nvPr>
            <p:ph type="subTitle" idx="2"/>
          </p:nvPr>
        </p:nvSpPr>
        <p:spPr>
          <a:xfrm>
            <a:off x="3584484"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4" name="Google Shape;1114;p25"/>
          <p:cNvSpPr txBox="1">
            <a:spLocks noGrp="1"/>
          </p:cNvSpPr>
          <p:nvPr>
            <p:ph type="subTitle" idx="3"/>
          </p:nvPr>
        </p:nvSpPr>
        <p:spPr>
          <a:xfrm>
            <a:off x="6448975"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5" name="Google Shape;1115;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16" name="Google Shape;1116;p25"/>
          <p:cNvSpPr txBox="1">
            <a:spLocks noGrp="1"/>
          </p:cNvSpPr>
          <p:nvPr>
            <p:ph type="subTitle" idx="4"/>
          </p:nvPr>
        </p:nvSpPr>
        <p:spPr>
          <a:xfrm>
            <a:off x="720000"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7" name="Google Shape;1117;p25"/>
          <p:cNvSpPr txBox="1">
            <a:spLocks noGrp="1"/>
          </p:cNvSpPr>
          <p:nvPr>
            <p:ph type="subTitle" idx="5"/>
          </p:nvPr>
        </p:nvSpPr>
        <p:spPr>
          <a:xfrm>
            <a:off x="3584483"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8" name="Google Shape;1118;p25"/>
          <p:cNvSpPr txBox="1">
            <a:spLocks noGrp="1"/>
          </p:cNvSpPr>
          <p:nvPr>
            <p:ph type="subTitle" idx="6"/>
          </p:nvPr>
        </p:nvSpPr>
        <p:spPr>
          <a:xfrm>
            <a:off x="6448972"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9" name="Google Shape;1119;p25"/>
          <p:cNvSpPr>
            <a:spLocks noGrp="1"/>
          </p:cNvSpPr>
          <p:nvPr>
            <p:ph type="pic" idx="7"/>
          </p:nvPr>
        </p:nvSpPr>
        <p:spPr>
          <a:xfrm>
            <a:off x="720000" y="1236800"/>
            <a:ext cx="1981800" cy="1662300"/>
          </a:xfrm>
          <a:prstGeom prst="snip1Rect">
            <a:avLst>
              <a:gd name="adj" fmla="val 16667"/>
            </a:avLst>
          </a:prstGeom>
          <a:noFill/>
          <a:ln>
            <a:noFill/>
          </a:ln>
        </p:spPr>
      </p:sp>
      <p:sp>
        <p:nvSpPr>
          <p:cNvPr id="1120" name="Google Shape;1120;p25"/>
          <p:cNvSpPr>
            <a:spLocks noGrp="1"/>
          </p:cNvSpPr>
          <p:nvPr>
            <p:ph type="pic" idx="8"/>
          </p:nvPr>
        </p:nvSpPr>
        <p:spPr>
          <a:xfrm>
            <a:off x="3584475" y="1236800"/>
            <a:ext cx="1981800" cy="1662300"/>
          </a:xfrm>
          <a:prstGeom prst="snip1Rect">
            <a:avLst>
              <a:gd name="adj" fmla="val 16667"/>
            </a:avLst>
          </a:prstGeom>
          <a:noFill/>
          <a:ln>
            <a:noFill/>
          </a:ln>
        </p:spPr>
      </p:sp>
      <p:sp>
        <p:nvSpPr>
          <p:cNvPr id="1121" name="Google Shape;1121;p25"/>
          <p:cNvSpPr>
            <a:spLocks noGrp="1"/>
          </p:cNvSpPr>
          <p:nvPr>
            <p:ph type="pic" idx="9"/>
          </p:nvPr>
        </p:nvSpPr>
        <p:spPr>
          <a:xfrm>
            <a:off x="6448950" y="1236800"/>
            <a:ext cx="1981800" cy="1662300"/>
          </a:xfrm>
          <a:prstGeom prst="snip1Rect">
            <a:avLst>
              <a:gd name="adj" fmla="val 16667"/>
            </a:avLst>
          </a:prstGeom>
          <a:noFill/>
          <a:ln>
            <a:noFill/>
          </a:ln>
        </p:spPr>
      </p:sp>
      <p:grpSp>
        <p:nvGrpSpPr>
          <p:cNvPr id="1122" name="Google Shape;1122;p25"/>
          <p:cNvGrpSpPr/>
          <p:nvPr/>
        </p:nvGrpSpPr>
        <p:grpSpPr>
          <a:xfrm>
            <a:off x="-928041" y="3925887"/>
            <a:ext cx="2833357" cy="1517787"/>
            <a:chOff x="-623241" y="3849687"/>
            <a:chExt cx="2833357" cy="1517787"/>
          </a:xfrm>
        </p:grpSpPr>
        <p:grpSp>
          <p:nvGrpSpPr>
            <p:cNvPr id="1123" name="Google Shape;1123;p25"/>
            <p:cNvGrpSpPr/>
            <p:nvPr/>
          </p:nvGrpSpPr>
          <p:grpSpPr>
            <a:xfrm rot="5400000">
              <a:off x="-879113" y="4155104"/>
              <a:ext cx="1517787" cy="906953"/>
              <a:chOff x="-55500" y="4835979"/>
              <a:chExt cx="1517787" cy="906953"/>
            </a:xfrm>
          </p:grpSpPr>
          <p:sp>
            <p:nvSpPr>
              <p:cNvPr id="1124" name="Google Shape;1124;p25"/>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5"/>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5"/>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5"/>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8" name="Google Shape;1128;p25"/>
            <p:cNvGrpSpPr/>
            <p:nvPr/>
          </p:nvGrpSpPr>
          <p:grpSpPr>
            <a:xfrm>
              <a:off x="-623241" y="3946426"/>
              <a:ext cx="2833357" cy="1421047"/>
              <a:chOff x="-677366" y="4067276"/>
              <a:chExt cx="2833357" cy="1421047"/>
            </a:xfrm>
          </p:grpSpPr>
          <p:sp>
            <p:nvSpPr>
              <p:cNvPr id="1129" name="Google Shape;1129;p25"/>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0" name="Google Shape;1130;p25"/>
              <p:cNvGrpSpPr/>
              <p:nvPr/>
            </p:nvGrpSpPr>
            <p:grpSpPr>
              <a:xfrm>
                <a:off x="317735" y="4614472"/>
                <a:ext cx="161977" cy="161940"/>
                <a:chOff x="1101075" y="2142375"/>
                <a:chExt cx="439200" cy="439100"/>
              </a:xfrm>
            </p:grpSpPr>
            <p:sp>
              <p:nvSpPr>
                <p:cNvPr id="1131" name="Google Shape;1131;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3" name="Google Shape;1133;p25"/>
              <p:cNvGrpSpPr/>
              <p:nvPr/>
            </p:nvGrpSpPr>
            <p:grpSpPr>
              <a:xfrm rot="10800000">
                <a:off x="1700151" y="5032693"/>
                <a:ext cx="161977" cy="161940"/>
                <a:chOff x="1101075" y="2142375"/>
                <a:chExt cx="439200" cy="439100"/>
              </a:xfrm>
            </p:grpSpPr>
            <p:sp>
              <p:nvSpPr>
                <p:cNvPr id="1134" name="Google Shape;1134;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6" name="Google Shape;1136;p25"/>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25"/>
          <p:cNvGrpSpPr/>
          <p:nvPr/>
        </p:nvGrpSpPr>
        <p:grpSpPr>
          <a:xfrm>
            <a:off x="6400125" y="-1754449"/>
            <a:ext cx="4189199" cy="3065874"/>
            <a:chOff x="6171525" y="-1678249"/>
            <a:chExt cx="4189199" cy="3065874"/>
          </a:xfrm>
        </p:grpSpPr>
        <p:sp>
          <p:nvSpPr>
            <p:cNvPr id="1138" name="Google Shape;1138;p25"/>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9" name="Google Shape;1139;p25"/>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140" name="Google Shape;1140;p25"/>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1" name="Google Shape;1141;p25"/>
            <p:cNvGrpSpPr/>
            <p:nvPr/>
          </p:nvGrpSpPr>
          <p:grpSpPr>
            <a:xfrm rot="-2700000">
              <a:off x="8302147" y="61289"/>
              <a:ext cx="582044" cy="582419"/>
              <a:chOff x="959750" y="3039275"/>
              <a:chExt cx="582050" cy="582425"/>
            </a:xfrm>
          </p:grpSpPr>
          <p:sp>
            <p:nvSpPr>
              <p:cNvPr id="1142" name="Google Shape;1142;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5"/>
            <p:cNvGrpSpPr/>
            <p:nvPr/>
          </p:nvGrpSpPr>
          <p:grpSpPr>
            <a:xfrm rot="-2700000">
              <a:off x="8551447" y="61289"/>
              <a:ext cx="582044" cy="582419"/>
              <a:chOff x="959750" y="3039275"/>
              <a:chExt cx="582050" cy="582425"/>
            </a:xfrm>
          </p:grpSpPr>
          <p:sp>
            <p:nvSpPr>
              <p:cNvPr id="1150" name="Google Shape;1150;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57" name="Google Shape;1157;p25"/>
          <p:cNvGrpSpPr/>
          <p:nvPr/>
        </p:nvGrpSpPr>
        <p:grpSpPr>
          <a:xfrm rot="2700000">
            <a:off x="8945322" y="2352177"/>
            <a:ext cx="439196" cy="439096"/>
            <a:chOff x="1101075" y="2142375"/>
            <a:chExt cx="439200" cy="439100"/>
          </a:xfrm>
        </p:grpSpPr>
        <p:sp>
          <p:nvSpPr>
            <p:cNvPr id="1158" name="Google Shape;1158;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0" name="Google Shape;1160;p25"/>
          <p:cNvGrpSpPr/>
          <p:nvPr/>
        </p:nvGrpSpPr>
        <p:grpSpPr>
          <a:xfrm rot="10800000">
            <a:off x="4995775" y="180626"/>
            <a:ext cx="4558967" cy="134100"/>
            <a:chOff x="796100" y="3019701"/>
            <a:chExt cx="4558967" cy="134100"/>
          </a:xfrm>
        </p:grpSpPr>
        <p:sp>
          <p:nvSpPr>
            <p:cNvPr id="1161" name="Google Shape;1161;p2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62" name="Google Shape;1162;p2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163" name="Google Shape;1163;p2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164"/>
        <p:cNvGrpSpPr/>
        <p:nvPr/>
      </p:nvGrpSpPr>
      <p:grpSpPr>
        <a:xfrm>
          <a:off x="0" y="0"/>
          <a:ext cx="0" cy="0"/>
          <a:chOff x="0" y="0"/>
          <a:chExt cx="0" cy="0"/>
        </a:xfrm>
      </p:grpSpPr>
      <p:sp>
        <p:nvSpPr>
          <p:cNvPr id="1165" name="Google Shape;1165;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66" name="Google Shape;1166;p26"/>
          <p:cNvSpPr txBox="1">
            <a:spLocks noGrp="1"/>
          </p:cNvSpPr>
          <p:nvPr>
            <p:ph type="subTitle" idx="1"/>
          </p:nvPr>
        </p:nvSpPr>
        <p:spPr>
          <a:xfrm>
            <a:off x="1804750"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7" name="Google Shape;1167;p26"/>
          <p:cNvSpPr txBox="1">
            <a:spLocks noGrp="1"/>
          </p:cNvSpPr>
          <p:nvPr>
            <p:ph type="subTitle" idx="2"/>
          </p:nvPr>
        </p:nvSpPr>
        <p:spPr>
          <a:xfrm>
            <a:off x="5237152"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8" name="Google Shape;1168;p26"/>
          <p:cNvSpPr txBox="1">
            <a:spLocks noGrp="1"/>
          </p:cNvSpPr>
          <p:nvPr>
            <p:ph type="subTitle" idx="3"/>
          </p:nvPr>
        </p:nvSpPr>
        <p:spPr>
          <a:xfrm>
            <a:off x="1804750"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9" name="Google Shape;1169;p26"/>
          <p:cNvSpPr txBox="1">
            <a:spLocks noGrp="1"/>
          </p:cNvSpPr>
          <p:nvPr>
            <p:ph type="subTitle" idx="4"/>
          </p:nvPr>
        </p:nvSpPr>
        <p:spPr>
          <a:xfrm>
            <a:off x="5237152"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0" name="Google Shape;1170;p26"/>
          <p:cNvSpPr txBox="1">
            <a:spLocks noGrp="1"/>
          </p:cNvSpPr>
          <p:nvPr>
            <p:ph type="subTitle" idx="5"/>
          </p:nvPr>
        </p:nvSpPr>
        <p:spPr>
          <a:xfrm>
            <a:off x="18047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1" name="Google Shape;1171;p26"/>
          <p:cNvSpPr txBox="1">
            <a:spLocks noGrp="1"/>
          </p:cNvSpPr>
          <p:nvPr>
            <p:ph type="subTitle" idx="6"/>
          </p:nvPr>
        </p:nvSpPr>
        <p:spPr>
          <a:xfrm>
            <a:off x="52371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2" name="Google Shape;1172;p26"/>
          <p:cNvSpPr txBox="1">
            <a:spLocks noGrp="1"/>
          </p:cNvSpPr>
          <p:nvPr>
            <p:ph type="subTitle" idx="7"/>
          </p:nvPr>
        </p:nvSpPr>
        <p:spPr>
          <a:xfrm>
            <a:off x="18047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3" name="Google Shape;1173;p26"/>
          <p:cNvSpPr txBox="1">
            <a:spLocks noGrp="1"/>
          </p:cNvSpPr>
          <p:nvPr>
            <p:ph type="subTitle" idx="8"/>
          </p:nvPr>
        </p:nvSpPr>
        <p:spPr>
          <a:xfrm>
            <a:off x="52371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alphaModFix/>
            </a:blip>
            <a:srcRect l="16960" t="24718" r="7121" b="26177"/>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rot="-8100000" flipH="1">
                  <a:off x="6536116" y="31506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rot="-8100000" flipH="1">
                  <a:off x="7076657" y="1499343"/>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8301511" y="-3353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8554000" y="270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207" name="Google Shape;1207;p26"/>
            <p:cNvPicPr preferRelativeResize="0"/>
            <p:nvPr/>
          </p:nvPicPr>
          <p:blipFill rotWithShape="1">
            <a:blip r:embed="rId2">
              <a:alphaModFix/>
            </a:blip>
            <a:srcRect l="16960" t="24718" r="7121" b="26177"/>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215"/>
        <p:cNvGrpSpPr/>
        <p:nvPr/>
      </p:nvGrpSpPr>
      <p:grpSpPr>
        <a:xfrm>
          <a:off x="0" y="0"/>
          <a:ext cx="0" cy="0"/>
          <a:chOff x="0" y="0"/>
          <a:chExt cx="0" cy="0"/>
        </a:xfrm>
      </p:grpSpPr>
      <p:sp>
        <p:nvSpPr>
          <p:cNvPr id="1216" name="Google Shape;1216;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17" name="Google Shape;1217;p27"/>
          <p:cNvSpPr txBox="1">
            <a:spLocks noGrp="1"/>
          </p:cNvSpPr>
          <p:nvPr>
            <p:ph type="subTitle" idx="1"/>
          </p:nvPr>
        </p:nvSpPr>
        <p:spPr>
          <a:xfrm>
            <a:off x="720000"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8" name="Google Shape;1218;p27"/>
          <p:cNvSpPr txBox="1">
            <a:spLocks noGrp="1"/>
          </p:cNvSpPr>
          <p:nvPr>
            <p:ph type="subTitle" idx="2"/>
          </p:nvPr>
        </p:nvSpPr>
        <p:spPr>
          <a:xfrm>
            <a:off x="3469872"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9" name="Google Shape;1219;p27"/>
          <p:cNvSpPr txBox="1">
            <a:spLocks noGrp="1"/>
          </p:cNvSpPr>
          <p:nvPr>
            <p:ph type="subTitle" idx="3"/>
          </p:nvPr>
        </p:nvSpPr>
        <p:spPr>
          <a:xfrm>
            <a:off x="720000"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0" name="Google Shape;1220;p27"/>
          <p:cNvSpPr txBox="1">
            <a:spLocks noGrp="1"/>
          </p:cNvSpPr>
          <p:nvPr>
            <p:ph type="subTitle" idx="4"/>
          </p:nvPr>
        </p:nvSpPr>
        <p:spPr>
          <a:xfrm>
            <a:off x="3469872"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1" name="Google Shape;1221;p27"/>
          <p:cNvSpPr txBox="1">
            <a:spLocks noGrp="1"/>
          </p:cNvSpPr>
          <p:nvPr>
            <p:ph type="subTitle" idx="5"/>
          </p:nvPr>
        </p:nvSpPr>
        <p:spPr>
          <a:xfrm>
            <a:off x="6219751"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2" name="Google Shape;1222;p27"/>
          <p:cNvSpPr txBox="1">
            <a:spLocks noGrp="1"/>
          </p:cNvSpPr>
          <p:nvPr>
            <p:ph type="subTitle" idx="6"/>
          </p:nvPr>
        </p:nvSpPr>
        <p:spPr>
          <a:xfrm>
            <a:off x="6219751"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3" name="Google Shape;1223;p27"/>
          <p:cNvSpPr txBox="1">
            <a:spLocks noGrp="1"/>
          </p:cNvSpPr>
          <p:nvPr>
            <p:ph type="subTitle" idx="7"/>
          </p:nvPr>
        </p:nvSpPr>
        <p:spPr>
          <a:xfrm>
            <a:off x="720000"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4" name="Google Shape;1224;p27"/>
          <p:cNvSpPr txBox="1">
            <a:spLocks noGrp="1"/>
          </p:cNvSpPr>
          <p:nvPr>
            <p:ph type="subTitle" idx="8"/>
          </p:nvPr>
        </p:nvSpPr>
        <p:spPr>
          <a:xfrm>
            <a:off x="3469873"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5" name="Google Shape;1225;p27"/>
          <p:cNvSpPr txBox="1">
            <a:spLocks noGrp="1"/>
          </p:cNvSpPr>
          <p:nvPr>
            <p:ph type="subTitle" idx="9"/>
          </p:nvPr>
        </p:nvSpPr>
        <p:spPr>
          <a:xfrm>
            <a:off x="720000"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6" name="Google Shape;1226;p27"/>
          <p:cNvSpPr txBox="1">
            <a:spLocks noGrp="1"/>
          </p:cNvSpPr>
          <p:nvPr>
            <p:ph type="subTitle" idx="13"/>
          </p:nvPr>
        </p:nvSpPr>
        <p:spPr>
          <a:xfrm>
            <a:off x="3469873"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7" name="Google Shape;1227;p27"/>
          <p:cNvSpPr txBox="1">
            <a:spLocks noGrp="1"/>
          </p:cNvSpPr>
          <p:nvPr>
            <p:ph type="subTitle" idx="14"/>
          </p:nvPr>
        </p:nvSpPr>
        <p:spPr>
          <a:xfrm>
            <a:off x="6219752"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8" name="Google Shape;1228;p27"/>
          <p:cNvSpPr txBox="1">
            <a:spLocks noGrp="1"/>
          </p:cNvSpPr>
          <p:nvPr>
            <p:ph type="subTitle" idx="15"/>
          </p:nvPr>
        </p:nvSpPr>
        <p:spPr>
          <a:xfrm>
            <a:off x="6219752"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229" name="Google Shape;1229;p27"/>
          <p:cNvGrpSpPr/>
          <p:nvPr/>
        </p:nvGrpSpPr>
        <p:grpSpPr>
          <a:xfrm>
            <a:off x="6102850" y="-1735180"/>
            <a:ext cx="4625025" cy="4171657"/>
            <a:chOff x="6026650" y="-1658980"/>
            <a:chExt cx="4625025" cy="4171657"/>
          </a:xfrm>
        </p:grpSpPr>
        <p:pic>
          <p:nvPicPr>
            <p:cNvPr id="1230" name="Google Shape;1230;p27"/>
            <p:cNvPicPr preferRelativeResize="0"/>
            <p:nvPr/>
          </p:nvPicPr>
          <p:blipFill rotWithShape="1">
            <a:blip r:embed="rId2">
              <a:alphaModFix/>
            </a:blip>
            <a:srcRect l="16960" t="24718" r="7121" b="26177"/>
            <a:stretch/>
          </p:blipFill>
          <p:spPr>
            <a:xfrm>
              <a:off x="7361325" y="-596625"/>
              <a:ext cx="2441950" cy="1863749"/>
            </a:xfrm>
            <a:prstGeom prst="rect">
              <a:avLst/>
            </a:prstGeom>
            <a:noFill/>
            <a:ln>
              <a:noFill/>
            </a:ln>
          </p:spPr>
        </p:pic>
        <p:grpSp>
          <p:nvGrpSpPr>
            <p:cNvPr id="1231" name="Google Shape;1231;p27"/>
            <p:cNvGrpSpPr/>
            <p:nvPr/>
          </p:nvGrpSpPr>
          <p:grpSpPr>
            <a:xfrm rot="-2700000" flipH="1">
              <a:off x="7289785" y="-1246897"/>
              <a:ext cx="2552124" cy="3347490"/>
              <a:chOff x="2976325" y="908175"/>
              <a:chExt cx="4028179" cy="5283555"/>
            </a:xfrm>
          </p:grpSpPr>
          <p:sp>
            <p:nvSpPr>
              <p:cNvPr id="1232" name="Google Shape;1232;p27"/>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5" name="Google Shape;1235;p27"/>
            <p:cNvGrpSpPr/>
            <p:nvPr/>
          </p:nvGrpSpPr>
          <p:grpSpPr>
            <a:xfrm>
              <a:off x="6026650" y="-49075"/>
              <a:ext cx="803471" cy="494095"/>
              <a:chOff x="6394675" y="-49075"/>
              <a:chExt cx="803471" cy="494095"/>
            </a:xfrm>
          </p:grpSpPr>
          <p:sp>
            <p:nvSpPr>
              <p:cNvPr id="1236" name="Google Shape;1236;p27"/>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8" name="Google Shape;1238;p27"/>
          <p:cNvGrpSpPr/>
          <p:nvPr/>
        </p:nvGrpSpPr>
        <p:grpSpPr>
          <a:xfrm>
            <a:off x="-1089100" y="4200325"/>
            <a:ext cx="5368850" cy="1863749"/>
            <a:chOff x="-1089100" y="4200325"/>
            <a:chExt cx="5368850" cy="1863749"/>
          </a:xfrm>
        </p:grpSpPr>
        <p:grpSp>
          <p:nvGrpSpPr>
            <p:cNvPr id="1239" name="Google Shape;1239;p27"/>
            <p:cNvGrpSpPr/>
            <p:nvPr/>
          </p:nvGrpSpPr>
          <p:grpSpPr>
            <a:xfrm>
              <a:off x="-185037" y="4598363"/>
              <a:ext cx="904666" cy="726121"/>
              <a:chOff x="7945225" y="4302000"/>
              <a:chExt cx="904666" cy="726121"/>
            </a:xfrm>
          </p:grpSpPr>
          <p:sp>
            <p:nvSpPr>
              <p:cNvPr id="1240" name="Google Shape;1240;p2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43" name="Google Shape;1243;p27"/>
            <p:cNvPicPr preferRelativeResize="0"/>
            <p:nvPr/>
          </p:nvPicPr>
          <p:blipFill rotWithShape="1">
            <a:blip r:embed="rId2">
              <a:alphaModFix/>
            </a:blip>
            <a:srcRect l="16960" t="24718" r="7121" b="26177"/>
            <a:stretch/>
          </p:blipFill>
          <p:spPr>
            <a:xfrm>
              <a:off x="1837800" y="4200325"/>
              <a:ext cx="2441950" cy="1863749"/>
            </a:xfrm>
            <a:prstGeom prst="rect">
              <a:avLst/>
            </a:prstGeom>
            <a:noFill/>
            <a:ln>
              <a:noFill/>
            </a:ln>
          </p:spPr>
        </p:pic>
        <p:grpSp>
          <p:nvGrpSpPr>
            <p:cNvPr id="1244" name="Google Shape;1244;p27"/>
            <p:cNvGrpSpPr/>
            <p:nvPr/>
          </p:nvGrpSpPr>
          <p:grpSpPr>
            <a:xfrm rot="-2700000">
              <a:off x="390377" y="4688868"/>
              <a:ext cx="299453" cy="545119"/>
              <a:chOff x="-66426" y="1151064"/>
              <a:chExt cx="299455" cy="545125"/>
            </a:xfrm>
          </p:grpSpPr>
          <p:grpSp>
            <p:nvGrpSpPr>
              <p:cNvPr id="1245" name="Google Shape;1245;p27"/>
              <p:cNvGrpSpPr/>
              <p:nvPr/>
            </p:nvGrpSpPr>
            <p:grpSpPr>
              <a:xfrm>
                <a:off x="-66426" y="1396564"/>
                <a:ext cx="299455" cy="299625"/>
                <a:chOff x="3678700" y="407275"/>
                <a:chExt cx="708100" cy="708500"/>
              </a:xfrm>
            </p:grpSpPr>
            <p:sp>
              <p:nvSpPr>
                <p:cNvPr id="1246" name="Google Shape;1246;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27"/>
              <p:cNvGrpSpPr/>
              <p:nvPr/>
            </p:nvGrpSpPr>
            <p:grpSpPr>
              <a:xfrm>
                <a:off x="-66426" y="1151064"/>
                <a:ext cx="299455" cy="299625"/>
                <a:chOff x="3678700" y="407275"/>
                <a:chExt cx="708100" cy="708500"/>
              </a:xfrm>
            </p:grpSpPr>
            <p:sp>
              <p:nvSpPr>
                <p:cNvPr id="1254" name="Google Shape;1254;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1" name="Google Shape;1261;p27"/>
            <p:cNvGrpSpPr/>
            <p:nvPr/>
          </p:nvGrpSpPr>
          <p:grpSpPr>
            <a:xfrm>
              <a:off x="-1089100" y="4894376"/>
              <a:ext cx="4558967" cy="134100"/>
              <a:chOff x="796100" y="3019701"/>
              <a:chExt cx="4558967" cy="134100"/>
            </a:xfrm>
          </p:grpSpPr>
          <p:sp>
            <p:nvSpPr>
              <p:cNvPr id="1262" name="Google Shape;1262;p2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63" name="Google Shape;1263;p2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264" name="Google Shape;1264;p2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3" name="Google Shape;1353;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6" name="Google Shape;1356;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8" name="Google Shape;1418;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19" name="Google Shape;1419;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5" r:id="rId5"/>
    <p:sldLayoutId id="2147483658" r:id="rId6"/>
    <p:sldLayoutId id="2147483659" r:id="rId7"/>
    <p:sldLayoutId id="2147483660" r:id="rId8"/>
    <p:sldLayoutId id="2147483665" r:id="rId9"/>
    <p:sldLayoutId id="2147483666" r:id="rId10"/>
    <p:sldLayoutId id="2147483670" r:id="rId11"/>
    <p:sldLayoutId id="2147483671" r:id="rId12"/>
    <p:sldLayoutId id="2147483672" r:id="rId13"/>
    <p:sldLayoutId id="2147483673" r:id="rId14"/>
    <p:sldLayoutId id="2147483676" r:id="rId15"/>
    <p:sldLayoutId id="2147483677"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jpe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6.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6.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23.jpeg"/><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25.jpeg"/><Relationship Id="rId4" Type="http://schemas.openxmlformats.org/officeDocument/2006/relationships/image" Target="../media/image24.jpe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27.jpeg"/></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28.jpeg"/></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8.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9.xml"/><Relationship Id="rId1" Type="http://schemas.openxmlformats.org/officeDocument/2006/relationships/slideLayout" Target="../slideLayouts/slideLayout10.xml"/><Relationship Id="rId4" Type="http://schemas.openxmlformats.org/officeDocument/2006/relationships/image" Target="../media/image29.gif"/></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429"/>
        <p:cNvGrpSpPr/>
        <p:nvPr/>
      </p:nvGrpSpPr>
      <p:grpSpPr>
        <a:xfrm>
          <a:off x="0" y="0"/>
          <a:ext cx="0" cy="0"/>
          <a:chOff x="0" y="0"/>
          <a:chExt cx="0" cy="0"/>
        </a:xfrm>
      </p:grpSpPr>
      <p:sp>
        <p:nvSpPr>
          <p:cNvPr id="1431" name="Google Shape;1431;p35"/>
          <p:cNvSpPr txBox="1">
            <a:spLocks noGrp="1"/>
          </p:cNvSpPr>
          <p:nvPr>
            <p:ph type="ctrTitle"/>
          </p:nvPr>
        </p:nvSpPr>
        <p:spPr>
          <a:xfrm>
            <a:off x="944880" y="991637"/>
            <a:ext cx="7741939" cy="2242201"/>
          </a:xfrm>
          <a:prstGeom prst="rect">
            <a:avLst/>
          </a:prstGeom>
        </p:spPr>
        <p:txBody>
          <a:bodyPr spcFirstLastPara="1" wrap="square" lIns="91425" tIns="91425" rIns="91425" bIns="91425" anchor="b" anchorCtr="0">
            <a:noAutofit/>
          </a:bodyPr>
          <a:lstStyle/>
          <a:p>
            <a:pPr algn="ctr">
              <a:lnSpc>
                <a:spcPct val="100000"/>
              </a:lnSpc>
            </a:pPr>
            <a:r>
              <a:rPr lang="vi-VN" sz="3400">
                <a:solidFill>
                  <a:schemeClr val="bg1"/>
                </a:solidFill>
              </a:rPr>
              <a:t>GRADUATE THESIS</a:t>
            </a:r>
            <a:br>
              <a:rPr lang="vi-VN" sz="3400"/>
            </a:br>
            <a:br>
              <a:rPr lang="vi-VN" sz="3400"/>
            </a:br>
            <a:r>
              <a:rPr lang="en" sz="3400" b="0">
                <a:solidFill>
                  <a:schemeClr val="bg1"/>
                </a:solidFill>
                <a:latin typeface=".VnSouthern"/>
              </a:rPr>
              <a:t>A Multi-Agent System For Movie Recommendation</a:t>
            </a:r>
            <a:endParaRPr lang="en-US" sz="3400" b="0">
              <a:solidFill>
                <a:schemeClr val="bg1"/>
              </a:solidFill>
              <a:latin typeface=".VnSouthern"/>
            </a:endParaRPr>
          </a:p>
        </p:txBody>
      </p:sp>
      <p:grpSp>
        <p:nvGrpSpPr>
          <p:cNvPr id="1437" name="Google Shape;1437;p35"/>
          <p:cNvGrpSpPr/>
          <p:nvPr/>
        </p:nvGrpSpPr>
        <p:grpSpPr>
          <a:xfrm>
            <a:off x="8017432" y="-313900"/>
            <a:ext cx="134070" cy="1891362"/>
            <a:chOff x="8017432" y="-313900"/>
            <a:chExt cx="134070" cy="1891362"/>
          </a:xfrm>
        </p:grpSpPr>
        <p:sp>
          <p:nvSpPr>
            <p:cNvPr id="1438" name="Google Shape;1438;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p:cNvGrpSpPr/>
          <p:nvPr/>
        </p:nvGrpSpPr>
        <p:grpSpPr>
          <a:xfrm>
            <a:off x="6309526" y="957475"/>
            <a:ext cx="3504715" cy="5119205"/>
            <a:chOff x="6309526" y="836950"/>
            <a:chExt cx="3504715" cy="5119205"/>
          </a:xfrm>
        </p:grpSpPr>
        <p:sp>
          <p:nvSpPr>
            <p:cNvPr id="1442" name="Google Shape;1442;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p:cNvGrpSpPr/>
            <p:nvPr/>
          </p:nvGrpSpPr>
          <p:grpSpPr>
            <a:xfrm>
              <a:off x="7728436" y="3524084"/>
              <a:ext cx="134004" cy="134004"/>
              <a:chOff x="8356813" y="1074288"/>
              <a:chExt cx="351900" cy="351900"/>
            </a:xfrm>
          </p:grpSpPr>
          <p:sp>
            <p:nvSpPr>
              <p:cNvPr id="1444" name="Google Shape;1444;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p:cNvGrpSpPr/>
            <p:nvPr/>
          </p:nvGrpSpPr>
          <p:grpSpPr>
            <a:xfrm>
              <a:off x="7344361" y="3150259"/>
              <a:ext cx="134004" cy="134004"/>
              <a:chOff x="8356813" y="1074288"/>
              <a:chExt cx="351900" cy="351900"/>
            </a:xfrm>
          </p:grpSpPr>
          <p:sp>
            <p:nvSpPr>
              <p:cNvPr id="1447" name="Google Shape;1447;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p:cNvGrpSpPr/>
            <p:nvPr/>
          </p:nvGrpSpPr>
          <p:grpSpPr>
            <a:xfrm>
              <a:off x="8337811" y="2464059"/>
              <a:ext cx="134004" cy="134004"/>
              <a:chOff x="8356813" y="1074288"/>
              <a:chExt cx="351900" cy="351900"/>
            </a:xfrm>
          </p:grpSpPr>
          <p:sp>
            <p:nvSpPr>
              <p:cNvPr id="1450" name="Google Shape;1450;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Table 1">
            <a:extLst>
              <a:ext uri="{FF2B5EF4-FFF2-40B4-BE49-F238E27FC236}">
                <a16:creationId xmlns:a16="http://schemas.microsoft.com/office/drawing/2014/main" id="{EF1B8983-7235-B38A-2CE0-6A92A6C52089}"/>
              </a:ext>
            </a:extLst>
          </p:cNvPr>
          <p:cNvGraphicFramePr>
            <a:graphicFrameLocks noGrp="1"/>
          </p:cNvGraphicFramePr>
          <p:nvPr>
            <p:extLst>
              <p:ext uri="{D42A27DB-BD31-4B8C-83A1-F6EECF244321}">
                <p14:modId xmlns:p14="http://schemas.microsoft.com/office/powerpoint/2010/main" val="3163624877"/>
              </p:ext>
            </p:extLst>
          </p:nvPr>
        </p:nvGraphicFramePr>
        <p:xfrm>
          <a:off x="2026334" y="3616511"/>
          <a:ext cx="5819168" cy="889000"/>
        </p:xfrm>
        <a:graphic>
          <a:graphicData uri="http://schemas.openxmlformats.org/drawingml/2006/table">
            <a:tbl>
              <a:tblPr firstRow="1" bandRow="1">
                <a:tableStyleId>{FCFD89B0-09A9-401F-B85D-9E3E2F4A158D}</a:tableStyleId>
              </a:tblPr>
              <a:tblGrid>
                <a:gridCol w="2909584">
                  <a:extLst>
                    <a:ext uri="{9D8B030D-6E8A-4147-A177-3AD203B41FA5}">
                      <a16:colId xmlns:a16="http://schemas.microsoft.com/office/drawing/2014/main" val="1933074725"/>
                    </a:ext>
                  </a:extLst>
                </a:gridCol>
                <a:gridCol w="2909584">
                  <a:extLst>
                    <a:ext uri="{9D8B030D-6E8A-4147-A177-3AD203B41FA5}">
                      <a16:colId xmlns:a16="http://schemas.microsoft.com/office/drawing/2014/main" val="1916705417"/>
                    </a:ext>
                  </a:extLst>
                </a:gridCol>
              </a:tblGrid>
              <a:tr h="370840">
                <a:tc>
                  <a:txBody>
                    <a:bodyPr/>
                    <a:lstStyle/>
                    <a:p>
                      <a:pPr lvl="0" algn="ctr">
                        <a:buNone/>
                      </a:pPr>
                      <a:r>
                        <a:rPr lang="en-US" b="0">
                          <a:solidFill>
                            <a:schemeClr val="bg1"/>
                          </a:solidFill>
                          <a:latin typeface="VL Kaleko 105 Round"/>
                        </a:rPr>
                        <a:t>Sinh </a:t>
                      </a:r>
                      <a:r>
                        <a:rPr lang="en-US" b="0" err="1">
                          <a:solidFill>
                            <a:schemeClr val="bg1"/>
                          </a:solidFill>
                          <a:latin typeface="VL Kaleko 105 Round"/>
                        </a:rPr>
                        <a:t>viên</a:t>
                      </a:r>
                      <a:r>
                        <a:rPr lang="en-US" b="0">
                          <a:solidFill>
                            <a:schemeClr val="bg1"/>
                          </a:solidFill>
                          <a:latin typeface="VL Kaleko 105 Round"/>
                        </a:rPr>
                        <a:t> </a:t>
                      </a:r>
                      <a:r>
                        <a:rPr lang="en-US" b="0" err="1">
                          <a:solidFill>
                            <a:schemeClr val="bg1"/>
                          </a:solidFill>
                          <a:latin typeface="VL Kaleko 105 Round"/>
                        </a:rPr>
                        <a:t>thực</a:t>
                      </a:r>
                      <a:r>
                        <a:rPr lang="en-US" b="0">
                          <a:solidFill>
                            <a:schemeClr val="bg1"/>
                          </a:solidFill>
                          <a:latin typeface="VL Kaleko 105 Round"/>
                        </a:rPr>
                        <a:t> </a:t>
                      </a:r>
                      <a:r>
                        <a:rPr lang="en-US" b="0" err="1">
                          <a:solidFill>
                            <a:schemeClr val="bg1"/>
                          </a:solidFill>
                          <a:latin typeface="VL Kaleko 105 Round"/>
                        </a:rPr>
                        <a:t>hiện</a:t>
                      </a:r>
                      <a:r>
                        <a:rPr lang="en-US" b="0">
                          <a:solidFill>
                            <a:schemeClr val="bg1"/>
                          </a:solidFill>
                          <a:latin typeface="VL Kaleko 105 Round"/>
                        </a:rPr>
                        <a:t>:</a:t>
                      </a:r>
                    </a:p>
                  </a:txBody>
                  <a:tcPr anchor="ctr">
                    <a:lnL w="0">
                      <a:noFill/>
                    </a:lnL>
                    <a:lnR w="0">
                      <a:noFill/>
                    </a:lnR>
                    <a:lnT w="0">
                      <a:noFill/>
                    </a:lnT>
                    <a:lnB w="0">
                      <a:noFill/>
                    </a:lnB>
                  </a:tcPr>
                </a:tc>
                <a:tc>
                  <a:txBody>
                    <a:bodyPr/>
                    <a:lstStyle/>
                    <a:p>
                      <a:r>
                        <a:rPr lang="en-US" b="0">
                          <a:solidFill>
                            <a:schemeClr val="bg1"/>
                          </a:solidFill>
                          <a:latin typeface="VL Kaleko 105 Round"/>
                        </a:rPr>
                        <a:t>Nguyễn </a:t>
                      </a:r>
                      <a:r>
                        <a:rPr lang="en-US" b="0" err="1">
                          <a:solidFill>
                            <a:schemeClr val="bg1"/>
                          </a:solidFill>
                          <a:latin typeface="VL Kaleko 105 Round"/>
                        </a:rPr>
                        <a:t>Khắc</a:t>
                      </a:r>
                      <a:r>
                        <a:rPr lang="en-US" b="0">
                          <a:solidFill>
                            <a:schemeClr val="bg1"/>
                          </a:solidFill>
                          <a:latin typeface="VL Kaleko 105 Round"/>
                        </a:rPr>
                        <a:t> </a:t>
                      </a:r>
                      <a:r>
                        <a:rPr lang="en-US" b="0" err="1">
                          <a:solidFill>
                            <a:schemeClr val="bg1"/>
                          </a:solidFill>
                          <a:latin typeface="VL Kaleko 105 Round"/>
                        </a:rPr>
                        <a:t>Luật</a:t>
                      </a:r>
                      <a:r>
                        <a:rPr lang="en-US" b="0">
                          <a:solidFill>
                            <a:schemeClr val="bg1"/>
                          </a:solidFill>
                          <a:latin typeface="VL Kaleko 105 Round"/>
                        </a:rPr>
                        <a:t> - 21099741</a:t>
                      </a:r>
                    </a:p>
                    <a:p>
                      <a:pPr lvl="0">
                        <a:buNone/>
                      </a:pPr>
                      <a:r>
                        <a:rPr lang="en-US" b="0">
                          <a:solidFill>
                            <a:schemeClr val="bg1"/>
                          </a:solidFill>
                          <a:latin typeface="VL Kaleko 105 Round"/>
                        </a:rPr>
                        <a:t>Nguyễn Thị Ty </a:t>
                      </a:r>
                      <a:r>
                        <a:rPr lang="en-US" b="0" err="1">
                          <a:solidFill>
                            <a:schemeClr val="bg1"/>
                          </a:solidFill>
                          <a:latin typeface="VL Kaleko 105 Round"/>
                        </a:rPr>
                        <a:t>Ty</a:t>
                      </a:r>
                      <a:r>
                        <a:rPr lang="en-US" b="0">
                          <a:solidFill>
                            <a:schemeClr val="bg1"/>
                          </a:solidFill>
                          <a:latin typeface="VL Kaleko 105 Round"/>
                        </a:rPr>
                        <a:t> - </a:t>
                      </a:r>
                      <a:r>
                        <a:rPr lang="en-US" sz="1400" b="0" i="0" u="none" strike="noStrike" noProof="0">
                          <a:solidFill>
                            <a:schemeClr val="bg1"/>
                          </a:solidFill>
                          <a:latin typeface="VL Kaleko 105 Round"/>
                        </a:rPr>
                        <a:t>21096511</a:t>
                      </a:r>
                      <a:endParaRPr lang="en-US" b="0">
                        <a:solidFill>
                          <a:schemeClr val="bg1"/>
                        </a:solidFill>
                        <a:latin typeface="VL Kaleko 105 Round" pitchFamily="50" charset="0"/>
                      </a:endParaRPr>
                    </a:p>
                  </a:txBody>
                  <a:tcPr anchor="ctr">
                    <a:lnL w="0">
                      <a:noFill/>
                    </a:lnL>
                    <a:lnR w="0">
                      <a:noFill/>
                    </a:lnR>
                    <a:lnT w="0">
                      <a:noFill/>
                    </a:lnT>
                    <a:lnB w="0">
                      <a:noFill/>
                    </a:lnB>
                  </a:tcPr>
                </a:tc>
                <a:extLst>
                  <a:ext uri="{0D108BD9-81ED-4DB2-BD59-A6C34878D82A}">
                    <a16:rowId xmlns:a16="http://schemas.microsoft.com/office/drawing/2014/main" val="1788451884"/>
                  </a:ext>
                </a:extLst>
              </a:tr>
              <a:tr h="370840">
                <a:tc>
                  <a:txBody>
                    <a:bodyPr/>
                    <a:lstStyle/>
                    <a:p>
                      <a:pPr algn="ctr"/>
                      <a:r>
                        <a:rPr lang="en-US" b="0">
                          <a:solidFill>
                            <a:schemeClr val="bg1"/>
                          </a:solidFill>
                          <a:latin typeface="VL Kaleko 105 Round"/>
                        </a:rPr>
                        <a:t>GVHD:</a:t>
                      </a:r>
                    </a:p>
                  </a:txBody>
                  <a:tcPr anchor="ctr">
                    <a:lnL w="0">
                      <a:noFill/>
                    </a:lnL>
                    <a:lnR w="0">
                      <a:noFill/>
                    </a:lnR>
                    <a:lnT w="0">
                      <a:noFill/>
                    </a:lnT>
                    <a:lnB w="0">
                      <a:noFill/>
                    </a:lnB>
                  </a:tcPr>
                </a:tc>
                <a:tc>
                  <a:txBody>
                    <a:bodyPr/>
                    <a:lstStyle/>
                    <a:p>
                      <a:r>
                        <a:rPr lang="en-US" b="0">
                          <a:solidFill>
                            <a:schemeClr val="bg1"/>
                          </a:solidFill>
                          <a:latin typeface="VL Kaleko 105 Round"/>
                        </a:rPr>
                        <a:t>TS. Nguyễn Chí Kiên</a:t>
                      </a:r>
                    </a:p>
                  </a:txBody>
                  <a:tcPr anchor="ctr">
                    <a:lnL w="0">
                      <a:noFill/>
                    </a:lnL>
                    <a:lnR w="0">
                      <a:noFill/>
                    </a:lnR>
                    <a:lnT w="0">
                      <a:noFill/>
                    </a:lnT>
                    <a:lnB w="0">
                      <a:noFill/>
                    </a:lnB>
                  </a:tcPr>
                </a:tc>
                <a:extLst>
                  <a:ext uri="{0D108BD9-81ED-4DB2-BD59-A6C34878D82A}">
                    <a16:rowId xmlns:a16="http://schemas.microsoft.com/office/drawing/2014/main" val="263266625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465">
          <a:extLst>
            <a:ext uri="{FF2B5EF4-FFF2-40B4-BE49-F238E27FC236}">
              <a16:creationId xmlns:a16="http://schemas.microsoft.com/office/drawing/2014/main" id="{242E031D-EA45-E074-EC91-BEA85A764A8C}"/>
            </a:ext>
          </a:extLst>
        </p:cNvPr>
        <p:cNvGrpSpPr/>
        <p:nvPr/>
      </p:nvGrpSpPr>
      <p:grpSpPr>
        <a:xfrm>
          <a:off x="0" y="0"/>
          <a:ext cx="0" cy="0"/>
          <a:chOff x="0" y="0"/>
          <a:chExt cx="0" cy="0"/>
        </a:xfrm>
      </p:grpSpPr>
      <p:sp>
        <p:nvSpPr>
          <p:cNvPr id="1466" name="Google Shape;1466;p37">
            <a:extLst>
              <a:ext uri="{FF2B5EF4-FFF2-40B4-BE49-F238E27FC236}">
                <a16:creationId xmlns:a16="http://schemas.microsoft.com/office/drawing/2014/main" id="{CBCA820D-77B3-7BC6-2799-A9B22899481A}"/>
              </a:ext>
            </a:extLst>
          </p:cNvPr>
          <p:cNvSpPr txBox="1">
            <a:spLocks noGrp="1"/>
          </p:cNvSpPr>
          <p:nvPr>
            <p:ph type="title"/>
          </p:nvPr>
        </p:nvSpPr>
        <p:spPr>
          <a:xfrm>
            <a:off x="918474" y="425771"/>
            <a:ext cx="7704000" cy="572700"/>
          </a:xfrm>
          <a:prstGeom prst="rect">
            <a:avLst/>
          </a:prstGeom>
        </p:spPr>
        <p:txBody>
          <a:bodyPr spcFirstLastPara="1" wrap="square" lIns="91425" tIns="91425" rIns="91425" bIns="91425" anchor="t" anchorCtr="0">
            <a:noAutofit/>
          </a:bodyPr>
          <a:lstStyle/>
          <a:p>
            <a:pPr algn="l"/>
            <a:r>
              <a:rPr lang="en" sz="3200"/>
              <a:t>Lý do </a:t>
            </a:r>
            <a:r>
              <a:rPr lang="en" sz="3200" err="1"/>
              <a:t>chọn</a:t>
            </a:r>
            <a:r>
              <a:rPr lang="en" sz="3200"/>
              <a:t> </a:t>
            </a:r>
            <a:r>
              <a:rPr lang="en" sz="3200" err="1"/>
              <a:t>đề</a:t>
            </a:r>
            <a:r>
              <a:rPr lang="en" sz="3200"/>
              <a:t> </a:t>
            </a:r>
            <a:r>
              <a:rPr lang="en" sz="3200" err="1"/>
              <a:t>tài</a:t>
            </a:r>
            <a:endParaRPr lang="en" sz="3200"/>
          </a:p>
        </p:txBody>
      </p:sp>
      <p:sp>
        <p:nvSpPr>
          <p:cNvPr id="2" name="Hộp Văn bản 1">
            <a:extLst>
              <a:ext uri="{FF2B5EF4-FFF2-40B4-BE49-F238E27FC236}">
                <a16:creationId xmlns:a16="http://schemas.microsoft.com/office/drawing/2014/main" id="{D7B92EDD-EEEA-A545-32C7-E5F8772268C1}"/>
              </a:ext>
            </a:extLst>
          </p:cNvPr>
          <p:cNvSpPr txBox="1"/>
          <p:nvPr/>
        </p:nvSpPr>
        <p:spPr>
          <a:xfrm>
            <a:off x="245548" y="1433254"/>
            <a:ext cx="5877296" cy="16643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vi-VN">
                <a:solidFill>
                  <a:schemeClr val="bg1">
                    <a:lumMod val="49000"/>
                  </a:schemeClr>
                </a:solidFill>
                <a:latin typeface="Bahnschrift"/>
              </a:rPr>
              <a:t>- Nhu cầu cá nhân hóa trải nghiệm xem phim ngày càng cao</a:t>
            </a:r>
            <a:endParaRPr lang="en-US">
              <a:solidFill>
                <a:schemeClr val="bg1">
                  <a:lumMod val="49000"/>
                </a:schemeClr>
              </a:solidFill>
              <a:latin typeface="Bahnschrift"/>
            </a:endParaRPr>
          </a:p>
          <a:p>
            <a:pPr algn="just">
              <a:lnSpc>
                <a:spcPct val="150000"/>
              </a:lnSpc>
            </a:pPr>
            <a:r>
              <a:rPr lang="vi-VN">
                <a:solidFill>
                  <a:schemeClr val="bg1">
                    <a:lumMod val="49000"/>
                  </a:schemeClr>
                </a:solidFill>
                <a:latin typeface="Bahnschrift"/>
              </a:rPr>
              <a:t>- Hạn chế của hệ thống đề xuất truyền thống</a:t>
            </a:r>
          </a:p>
          <a:p>
            <a:pPr algn="just">
              <a:lnSpc>
                <a:spcPct val="150000"/>
              </a:lnSpc>
            </a:pPr>
            <a:r>
              <a:rPr lang="vi-VN">
                <a:solidFill>
                  <a:schemeClr val="bg1">
                    <a:lumMod val="49000"/>
                  </a:schemeClr>
                </a:solidFill>
                <a:latin typeface="Bahnschrift"/>
              </a:rPr>
              <a:t>- </a:t>
            </a:r>
            <a:r>
              <a:rPr lang="vi-VN" err="1">
                <a:solidFill>
                  <a:schemeClr val="bg1">
                    <a:lumMod val="49000"/>
                  </a:schemeClr>
                </a:solidFill>
                <a:latin typeface="Bahnschrift"/>
              </a:rPr>
              <a:t>Multi-Agent</a:t>
            </a:r>
            <a:r>
              <a:rPr lang="vi-VN">
                <a:solidFill>
                  <a:schemeClr val="bg1">
                    <a:lumMod val="49000"/>
                  </a:schemeClr>
                </a:solidFill>
                <a:latin typeface="Bahnschrift"/>
              </a:rPr>
              <a:t> </a:t>
            </a:r>
            <a:r>
              <a:rPr lang="vi-VN" err="1">
                <a:solidFill>
                  <a:schemeClr val="bg1">
                    <a:lumMod val="49000"/>
                  </a:schemeClr>
                </a:solidFill>
                <a:latin typeface="Bahnschrift"/>
              </a:rPr>
              <a:t>System</a:t>
            </a:r>
            <a:r>
              <a:rPr lang="vi-VN">
                <a:solidFill>
                  <a:schemeClr val="bg1">
                    <a:lumMod val="49000"/>
                  </a:schemeClr>
                </a:solidFill>
                <a:latin typeface="Bahnschrift"/>
              </a:rPr>
              <a:t> giúp xử lý nhiệm vụ phức tạp</a:t>
            </a:r>
          </a:p>
          <a:p>
            <a:pPr algn="just">
              <a:lnSpc>
                <a:spcPct val="150000"/>
              </a:lnSpc>
            </a:pPr>
            <a:r>
              <a:rPr lang="vi-VN">
                <a:solidFill>
                  <a:schemeClr val="bg1">
                    <a:lumMod val="49000"/>
                  </a:schemeClr>
                </a:solidFill>
                <a:latin typeface="Bahnschrift"/>
              </a:rPr>
              <a:t>- Khả năng mở rộng và linh hoạt của MAS</a:t>
            </a:r>
          </a:p>
          <a:p>
            <a:pPr algn="just">
              <a:lnSpc>
                <a:spcPct val="150000"/>
              </a:lnSpc>
            </a:pPr>
            <a:r>
              <a:rPr lang="vi-VN">
                <a:solidFill>
                  <a:schemeClr val="bg1">
                    <a:lumMod val="49000"/>
                  </a:schemeClr>
                </a:solidFill>
                <a:latin typeface="Bahnschrift"/>
              </a:rPr>
              <a:t>- Ứng dụng AI hiện đại vào bài toán thực tế</a:t>
            </a:r>
          </a:p>
        </p:txBody>
      </p:sp>
      <p:pic>
        <p:nvPicPr>
          <p:cNvPr id="6" name="Picture 5" descr="Literature Review] LLM-Agent-Controller: A Universal Multi-Agent Large  Language Model System as a Control Engineer">
            <a:extLst>
              <a:ext uri="{FF2B5EF4-FFF2-40B4-BE49-F238E27FC236}">
                <a16:creationId xmlns:a16="http://schemas.microsoft.com/office/drawing/2014/main" id="{F8754260-0A74-473C-1A15-C4B05B2894EB}"/>
              </a:ext>
            </a:extLst>
          </p:cNvPr>
          <p:cNvPicPr>
            <a:picLocks noChangeAspect="1"/>
          </p:cNvPicPr>
          <p:nvPr/>
        </p:nvPicPr>
        <p:blipFill>
          <a:blip r:embed="rId4"/>
          <a:stretch>
            <a:fillRect/>
          </a:stretch>
        </p:blipFill>
        <p:spPr>
          <a:xfrm>
            <a:off x="5624367" y="1185498"/>
            <a:ext cx="2743199" cy="2991757"/>
          </a:xfrm>
          <a:prstGeom prst="rect">
            <a:avLst/>
          </a:prstGeom>
        </p:spPr>
      </p:pic>
      <p:pic>
        <p:nvPicPr>
          <p:cNvPr id="3" name="Picture 2" descr="A blue and yellow logo&#10;&#10;AI-generated content may be incorrect.">
            <a:extLst>
              <a:ext uri="{FF2B5EF4-FFF2-40B4-BE49-F238E27FC236}">
                <a16:creationId xmlns:a16="http://schemas.microsoft.com/office/drawing/2014/main" id="{50E25960-BD02-FDA9-E906-BAB4FBDFAA9D}"/>
              </a:ext>
            </a:extLst>
          </p:cNvPr>
          <p:cNvPicPr>
            <a:picLocks noChangeAspect="1"/>
          </p:cNvPicPr>
          <p:nvPr/>
        </p:nvPicPr>
        <p:blipFill>
          <a:blip r:embed="rId5"/>
          <a:stretch>
            <a:fillRect/>
          </a:stretch>
        </p:blipFill>
        <p:spPr>
          <a:xfrm>
            <a:off x="137160" y="114312"/>
            <a:ext cx="444137" cy="492242"/>
          </a:xfrm>
          <a:prstGeom prst="rect">
            <a:avLst/>
          </a:prstGeom>
        </p:spPr>
      </p:pic>
    </p:spTree>
    <p:extLst>
      <p:ext uri="{BB962C8B-B14F-4D97-AF65-F5344CB8AC3E}">
        <p14:creationId xmlns:p14="http://schemas.microsoft.com/office/powerpoint/2010/main" val="2174739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465">
          <a:extLst>
            <a:ext uri="{FF2B5EF4-FFF2-40B4-BE49-F238E27FC236}">
              <a16:creationId xmlns:a16="http://schemas.microsoft.com/office/drawing/2014/main" id="{76F33C96-A754-3F99-832F-F0A18B677D02}"/>
            </a:ext>
          </a:extLst>
        </p:cNvPr>
        <p:cNvGrpSpPr/>
        <p:nvPr/>
      </p:nvGrpSpPr>
      <p:grpSpPr>
        <a:xfrm>
          <a:off x="0" y="0"/>
          <a:ext cx="0" cy="0"/>
          <a:chOff x="0" y="0"/>
          <a:chExt cx="0" cy="0"/>
        </a:xfrm>
      </p:grpSpPr>
      <p:sp>
        <p:nvSpPr>
          <p:cNvPr id="1466" name="Google Shape;1466;p37">
            <a:extLst>
              <a:ext uri="{FF2B5EF4-FFF2-40B4-BE49-F238E27FC236}">
                <a16:creationId xmlns:a16="http://schemas.microsoft.com/office/drawing/2014/main" id="{1D98EA14-8FF6-576E-DAFB-FC4578B810A4}"/>
              </a:ext>
            </a:extLst>
          </p:cNvPr>
          <p:cNvSpPr txBox="1">
            <a:spLocks noGrp="1"/>
          </p:cNvSpPr>
          <p:nvPr>
            <p:ph type="title"/>
          </p:nvPr>
        </p:nvSpPr>
        <p:spPr>
          <a:xfrm>
            <a:off x="918474" y="425771"/>
            <a:ext cx="7704000" cy="572700"/>
          </a:xfrm>
          <a:prstGeom prst="rect">
            <a:avLst/>
          </a:prstGeom>
        </p:spPr>
        <p:txBody>
          <a:bodyPr spcFirstLastPara="1" wrap="square" lIns="91425" tIns="91425" rIns="91425" bIns="91425" anchor="t" anchorCtr="0">
            <a:noAutofit/>
          </a:bodyPr>
          <a:lstStyle/>
          <a:p>
            <a:pPr algn="l"/>
            <a:r>
              <a:rPr lang="en" sz="3200" err="1"/>
              <a:t>Giới</a:t>
            </a:r>
            <a:r>
              <a:rPr lang="en" sz="3200"/>
              <a:t> </a:t>
            </a:r>
            <a:r>
              <a:rPr lang="en" sz="3200" err="1"/>
              <a:t>thiệu</a:t>
            </a:r>
            <a:r>
              <a:rPr lang="en" sz="3200"/>
              <a:t> </a:t>
            </a:r>
            <a:r>
              <a:rPr lang="en" sz="3200" err="1"/>
              <a:t>và</a:t>
            </a:r>
            <a:r>
              <a:rPr lang="en" sz="3200"/>
              <a:t> </a:t>
            </a:r>
            <a:r>
              <a:rPr lang="en" sz="3200" err="1"/>
              <a:t>mục</a:t>
            </a:r>
            <a:r>
              <a:rPr lang="en" sz="3200"/>
              <a:t> </a:t>
            </a:r>
            <a:r>
              <a:rPr lang="en" sz="3200" err="1"/>
              <a:t>tiêu</a:t>
            </a:r>
            <a:endParaRPr lang="en" sz="3200"/>
          </a:p>
        </p:txBody>
      </p:sp>
      <p:sp>
        <p:nvSpPr>
          <p:cNvPr id="2" name="Hộp Văn bản 1">
            <a:extLst>
              <a:ext uri="{FF2B5EF4-FFF2-40B4-BE49-F238E27FC236}">
                <a16:creationId xmlns:a16="http://schemas.microsoft.com/office/drawing/2014/main" id="{F88E22DB-CFB4-38D3-5DF6-7BC13A4CB96D}"/>
              </a:ext>
            </a:extLst>
          </p:cNvPr>
          <p:cNvSpPr txBox="1"/>
          <p:nvPr/>
        </p:nvSpPr>
        <p:spPr>
          <a:xfrm>
            <a:off x="720000" y="2155715"/>
            <a:ext cx="3267806" cy="16643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vi-VN" dirty="0">
                <a:solidFill>
                  <a:srgbClr val="004AFA"/>
                </a:solidFill>
                <a:latin typeface="Bahnschrift"/>
              </a:rPr>
              <a:t>- Dự án hệ thống gợi ý sản phẩm dựa trên kiến trúc Multi-Agent System.</a:t>
            </a:r>
            <a:endParaRPr lang="en-US" dirty="0">
              <a:latin typeface="Bahnschrift"/>
            </a:endParaRPr>
          </a:p>
          <a:p>
            <a:pPr algn="just">
              <a:lnSpc>
                <a:spcPct val="150000"/>
              </a:lnSpc>
            </a:pPr>
            <a:r>
              <a:rPr lang="vi-VN" dirty="0">
                <a:solidFill>
                  <a:srgbClr val="004AFA"/>
                </a:solidFill>
                <a:latin typeface="Bahnschrift"/>
              </a:rPr>
              <a:t>- Hệ thống có thể phân tích dữ liệu, suy luận, phản biện, điều phối và giao tiếp với người dùng</a:t>
            </a:r>
            <a:endParaRPr lang="vi-VN" dirty="0">
              <a:latin typeface="Bahnschrift"/>
            </a:endParaRPr>
          </a:p>
        </p:txBody>
      </p:sp>
      <p:sp>
        <p:nvSpPr>
          <p:cNvPr id="3" name="Hộp Văn bản 2">
            <a:extLst>
              <a:ext uri="{FF2B5EF4-FFF2-40B4-BE49-F238E27FC236}">
                <a16:creationId xmlns:a16="http://schemas.microsoft.com/office/drawing/2014/main" id="{DD61E883-73A6-DF06-6938-5A264E460850}"/>
              </a:ext>
            </a:extLst>
          </p:cNvPr>
          <p:cNvSpPr txBox="1"/>
          <p:nvPr/>
        </p:nvSpPr>
        <p:spPr>
          <a:xfrm>
            <a:off x="5497153" y="2155715"/>
            <a:ext cx="3267806" cy="19875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vi-VN" dirty="0">
                <a:solidFill>
                  <a:srgbClr val="004AFA"/>
                </a:solidFill>
                <a:latin typeface="Bahnschrift"/>
              </a:rPr>
              <a:t>- Xây dựng hệ thống Multi Agent hỗ trợ gợi ý phim cho người dùng</a:t>
            </a:r>
            <a:endParaRPr lang="en-US" dirty="0">
              <a:latin typeface="Bahnschrift"/>
            </a:endParaRPr>
          </a:p>
          <a:p>
            <a:pPr algn="just">
              <a:lnSpc>
                <a:spcPct val="150000"/>
              </a:lnSpc>
            </a:pPr>
            <a:r>
              <a:rPr lang="vi-VN" dirty="0">
                <a:solidFill>
                  <a:srgbClr val="004AFA"/>
                </a:solidFill>
                <a:latin typeface="Bahnschrift"/>
              </a:rPr>
              <a:t>- Đưa ra các phân tích, gợi ý và tương tác với người dùng</a:t>
            </a:r>
            <a:endParaRPr lang="vi-VN" dirty="0">
              <a:latin typeface="Bahnschrift"/>
            </a:endParaRPr>
          </a:p>
          <a:p>
            <a:pPr algn="just">
              <a:lnSpc>
                <a:spcPct val="150000"/>
              </a:lnSpc>
            </a:pPr>
            <a:r>
              <a:rPr lang="vi-VN" dirty="0">
                <a:solidFill>
                  <a:srgbClr val="004AFA"/>
                </a:solidFill>
                <a:latin typeface="Bahnschrift"/>
              </a:rPr>
              <a:t>- Tạo ra nền tảng để ứng dụng vào các hệ thống gợi ý</a:t>
            </a:r>
            <a:endParaRPr lang="vi-VN" dirty="0">
              <a:latin typeface="Bahnschrift"/>
            </a:endParaRPr>
          </a:p>
        </p:txBody>
      </p:sp>
      <p:sp>
        <p:nvSpPr>
          <p:cNvPr id="4" name="Hộp Văn bản 3">
            <a:extLst>
              <a:ext uri="{FF2B5EF4-FFF2-40B4-BE49-F238E27FC236}">
                <a16:creationId xmlns:a16="http://schemas.microsoft.com/office/drawing/2014/main" id="{A3636519-45B7-1AE3-C175-90129A05B41E}"/>
              </a:ext>
            </a:extLst>
          </p:cNvPr>
          <p:cNvSpPr txBox="1"/>
          <p:nvPr/>
        </p:nvSpPr>
        <p:spPr>
          <a:xfrm>
            <a:off x="1250331" y="1453537"/>
            <a:ext cx="18414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sz="2800" b="1" dirty="0">
                <a:solidFill>
                  <a:srgbClr val="004AFA"/>
                </a:solidFill>
                <a:latin typeface="Bahnschrift" panose="020B0502040204020203" pitchFamily="34" charset="0"/>
              </a:rPr>
              <a:t>Giới thiệu</a:t>
            </a:r>
          </a:p>
        </p:txBody>
      </p:sp>
      <p:sp>
        <p:nvSpPr>
          <p:cNvPr id="5" name="Hộp Văn bản 4">
            <a:extLst>
              <a:ext uri="{FF2B5EF4-FFF2-40B4-BE49-F238E27FC236}">
                <a16:creationId xmlns:a16="http://schemas.microsoft.com/office/drawing/2014/main" id="{E577BAAD-C920-1A48-C7B8-9F34B1F6BB61}"/>
              </a:ext>
            </a:extLst>
          </p:cNvPr>
          <p:cNvSpPr txBox="1"/>
          <p:nvPr/>
        </p:nvSpPr>
        <p:spPr>
          <a:xfrm>
            <a:off x="6210306" y="1453537"/>
            <a:ext cx="18414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sz="2800" b="1" dirty="0">
                <a:solidFill>
                  <a:srgbClr val="004AFA"/>
                </a:solidFill>
                <a:latin typeface="Bahnschrift" panose="020B0502040204020203" pitchFamily="34" charset="0"/>
              </a:rPr>
              <a:t>Mục tiêu</a:t>
            </a:r>
          </a:p>
        </p:txBody>
      </p:sp>
      <p:pic>
        <p:nvPicPr>
          <p:cNvPr id="6" name="Picture 5" descr="A blue and yellow logo&#10;&#10;AI-generated content may be incorrect.">
            <a:extLst>
              <a:ext uri="{FF2B5EF4-FFF2-40B4-BE49-F238E27FC236}">
                <a16:creationId xmlns:a16="http://schemas.microsoft.com/office/drawing/2014/main" id="{E48ADD2B-13FB-2BEF-B579-551B1030D60F}"/>
              </a:ext>
            </a:extLst>
          </p:cNvPr>
          <p:cNvPicPr>
            <a:picLocks noChangeAspect="1"/>
          </p:cNvPicPr>
          <p:nvPr/>
        </p:nvPicPr>
        <p:blipFill>
          <a:blip r:embed="rId4"/>
          <a:stretch>
            <a:fillRect/>
          </a:stretch>
        </p:blipFill>
        <p:spPr>
          <a:xfrm>
            <a:off x="137160" y="114312"/>
            <a:ext cx="444137" cy="492242"/>
          </a:xfrm>
          <a:prstGeom prst="rect">
            <a:avLst/>
          </a:prstGeom>
        </p:spPr>
      </p:pic>
    </p:spTree>
    <p:extLst>
      <p:ext uri="{BB962C8B-B14F-4D97-AF65-F5344CB8AC3E}">
        <p14:creationId xmlns:p14="http://schemas.microsoft.com/office/powerpoint/2010/main" val="792402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482"/>
        <p:cNvGrpSpPr/>
        <p:nvPr/>
      </p:nvGrpSpPr>
      <p:grpSpPr>
        <a:xfrm>
          <a:off x="0" y="0"/>
          <a:ext cx="0" cy="0"/>
          <a:chOff x="0" y="0"/>
          <a:chExt cx="0" cy="0"/>
        </a:xfrm>
      </p:grpSpPr>
      <p:sp>
        <p:nvSpPr>
          <p:cNvPr id="1483" name="Google Shape;1483;p38"/>
          <p:cNvSpPr txBox="1">
            <a:spLocks noGrp="1"/>
          </p:cNvSpPr>
          <p:nvPr>
            <p:ph type="title" idx="2"/>
          </p:nvPr>
        </p:nvSpPr>
        <p:spPr>
          <a:xfrm>
            <a:off x="924265" y="162112"/>
            <a:ext cx="8912192" cy="390626"/>
          </a:xfrm>
          <a:prstGeom prst="rect">
            <a:avLst/>
          </a:prstGeom>
        </p:spPr>
        <p:txBody>
          <a:bodyPr spcFirstLastPara="1" wrap="square" lIns="91425" tIns="91425" rIns="91425" bIns="91425" anchor="ctr" anchorCtr="0">
            <a:noAutofit/>
          </a:bodyPr>
          <a:lstStyle/>
          <a:p>
            <a:r>
              <a:rPr lang="en" sz="3200" dirty="0">
                <a:latin typeface="IBM Plex Mono"/>
              </a:rPr>
              <a:t>Công nghệ sử dụng</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8" name="Google Shape;1498;p38"/>
            <p:cNvPicPr preferRelativeResize="0"/>
            <p:nvPr/>
          </p:nvPicPr>
          <p:blipFill rotWithShape="1">
            <a:blip r:embed="rId4">
              <a:alphaModFix/>
            </a:blip>
            <a:srcRect l="16960" t="24718" r="7121" b="26177"/>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Hình chữ nhật: Góc Tròn 5">
            <a:extLst>
              <a:ext uri="{FF2B5EF4-FFF2-40B4-BE49-F238E27FC236}">
                <a16:creationId xmlns:a16="http://schemas.microsoft.com/office/drawing/2014/main" id="{8FBE8307-54E0-094B-6D9C-BF470AB2E726}"/>
              </a:ext>
            </a:extLst>
          </p:cNvPr>
          <p:cNvSpPr/>
          <p:nvPr/>
        </p:nvSpPr>
        <p:spPr>
          <a:xfrm>
            <a:off x="1238460" y="875464"/>
            <a:ext cx="2655276" cy="342020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Hình chữ nhật: Góc Tròn 6">
            <a:extLst>
              <a:ext uri="{FF2B5EF4-FFF2-40B4-BE49-F238E27FC236}">
                <a16:creationId xmlns:a16="http://schemas.microsoft.com/office/drawing/2014/main" id="{722EA30B-A184-5D27-F494-21E4DF1D0C86}"/>
              </a:ext>
            </a:extLst>
          </p:cNvPr>
          <p:cNvSpPr/>
          <p:nvPr/>
        </p:nvSpPr>
        <p:spPr>
          <a:xfrm>
            <a:off x="4990890" y="875463"/>
            <a:ext cx="2655276" cy="342020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8" name="Hình ảnh 7" descr="Docker là gì ? - Cộng Đồng Linux">
            <a:extLst>
              <a:ext uri="{FF2B5EF4-FFF2-40B4-BE49-F238E27FC236}">
                <a16:creationId xmlns:a16="http://schemas.microsoft.com/office/drawing/2014/main" id="{8EB9A6C9-3B0D-DA3E-EE65-E75BA8F12194}"/>
              </a:ext>
            </a:extLst>
          </p:cNvPr>
          <p:cNvPicPr>
            <a:picLocks noChangeAspect="1"/>
          </p:cNvPicPr>
          <p:nvPr/>
        </p:nvPicPr>
        <p:blipFill>
          <a:blip r:embed="rId5"/>
          <a:stretch>
            <a:fillRect/>
          </a:stretch>
        </p:blipFill>
        <p:spPr>
          <a:xfrm>
            <a:off x="1462664" y="3515503"/>
            <a:ext cx="720970" cy="546707"/>
          </a:xfrm>
          <a:prstGeom prst="rect">
            <a:avLst/>
          </a:prstGeom>
        </p:spPr>
      </p:pic>
      <p:pic>
        <p:nvPicPr>
          <p:cNvPr id="11" name="Hình ảnh 10" descr="Python - Wikiversity">
            <a:extLst>
              <a:ext uri="{FF2B5EF4-FFF2-40B4-BE49-F238E27FC236}">
                <a16:creationId xmlns:a16="http://schemas.microsoft.com/office/drawing/2014/main" id="{2700A6E7-C2EF-8609-8097-FF9B2C56C15A}"/>
              </a:ext>
            </a:extLst>
          </p:cNvPr>
          <p:cNvPicPr>
            <a:picLocks noChangeAspect="1"/>
          </p:cNvPicPr>
          <p:nvPr/>
        </p:nvPicPr>
        <p:blipFill>
          <a:blip r:embed="rId6"/>
          <a:stretch>
            <a:fillRect/>
          </a:stretch>
        </p:blipFill>
        <p:spPr>
          <a:xfrm>
            <a:off x="2182376" y="2866921"/>
            <a:ext cx="659424" cy="659424"/>
          </a:xfrm>
          <a:prstGeom prst="rect">
            <a:avLst/>
          </a:prstGeom>
        </p:spPr>
      </p:pic>
      <p:pic>
        <p:nvPicPr>
          <p:cNvPr id="12" name="Hình ảnh 11" descr="PyTorch vs TensorFlow: Comparative Guide of AI Frameworks 2025">
            <a:extLst>
              <a:ext uri="{FF2B5EF4-FFF2-40B4-BE49-F238E27FC236}">
                <a16:creationId xmlns:a16="http://schemas.microsoft.com/office/drawing/2014/main" id="{9F4A5B4C-5728-92DF-EF18-D4B4E2B8F194}"/>
              </a:ext>
            </a:extLst>
          </p:cNvPr>
          <p:cNvPicPr>
            <a:picLocks noChangeAspect="1"/>
          </p:cNvPicPr>
          <p:nvPr/>
        </p:nvPicPr>
        <p:blipFill>
          <a:blip r:embed="rId7"/>
          <a:stretch>
            <a:fillRect/>
          </a:stretch>
        </p:blipFill>
        <p:spPr>
          <a:xfrm>
            <a:off x="2510204" y="3513155"/>
            <a:ext cx="1195754" cy="597877"/>
          </a:xfrm>
          <a:prstGeom prst="rect">
            <a:avLst/>
          </a:prstGeom>
        </p:spPr>
      </p:pic>
      <p:cxnSp>
        <p:nvCxnSpPr>
          <p:cNvPr id="13" name="Đường kết nối Mũi tên Thẳng 12">
            <a:extLst>
              <a:ext uri="{FF2B5EF4-FFF2-40B4-BE49-F238E27FC236}">
                <a16:creationId xmlns:a16="http://schemas.microsoft.com/office/drawing/2014/main" id="{7D830F6B-F161-7A32-7F7E-F6B32024BF89}"/>
              </a:ext>
            </a:extLst>
          </p:cNvPr>
          <p:cNvCxnSpPr/>
          <p:nvPr/>
        </p:nvCxnSpPr>
        <p:spPr>
          <a:xfrm>
            <a:off x="1241668" y="2416288"/>
            <a:ext cx="2656702" cy="8792"/>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4" name="Hộp Văn bản 13">
            <a:extLst>
              <a:ext uri="{FF2B5EF4-FFF2-40B4-BE49-F238E27FC236}">
                <a16:creationId xmlns:a16="http://schemas.microsoft.com/office/drawing/2014/main" id="{6212678E-A16A-A1F8-F678-133415193DC7}"/>
              </a:ext>
            </a:extLst>
          </p:cNvPr>
          <p:cNvSpPr txBox="1"/>
          <p:nvPr/>
        </p:nvSpPr>
        <p:spPr>
          <a:xfrm>
            <a:off x="2057370" y="2511629"/>
            <a:ext cx="89663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vi-VN" b="1" err="1">
                <a:solidFill>
                  <a:schemeClr val="bg1">
                    <a:lumMod val="49000"/>
                  </a:schemeClr>
                </a:solidFill>
                <a:latin typeface="Bahnschrift"/>
              </a:rPr>
              <a:t>Backend</a:t>
            </a:r>
            <a:endParaRPr lang="vi-VN" b="1">
              <a:solidFill>
                <a:schemeClr val="bg1">
                  <a:lumMod val="49000"/>
                </a:schemeClr>
              </a:solidFill>
              <a:latin typeface="Bahnschrift"/>
            </a:endParaRPr>
          </a:p>
        </p:txBody>
      </p:sp>
      <p:sp>
        <p:nvSpPr>
          <p:cNvPr id="15" name="Hộp Văn bản 14">
            <a:extLst>
              <a:ext uri="{FF2B5EF4-FFF2-40B4-BE49-F238E27FC236}">
                <a16:creationId xmlns:a16="http://schemas.microsoft.com/office/drawing/2014/main" id="{66F6ECD7-85FE-0B9C-62F9-14C65D6B982F}"/>
              </a:ext>
            </a:extLst>
          </p:cNvPr>
          <p:cNvSpPr txBox="1"/>
          <p:nvPr/>
        </p:nvSpPr>
        <p:spPr>
          <a:xfrm>
            <a:off x="2305359" y="1038131"/>
            <a:ext cx="418006" cy="3149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vi-VN" b="1">
                <a:solidFill>
                  <a:schemeClr val="bg1">
                    <a:lumMod val="49000"/>
                  </a:schemeClr>
                </a:solidFill>
                <a:latin typeface="Bahnschrift"/>
              </a:rPr>
              <a:t>UI</a:t>
            </a:r>
          </a:p>
        </p:txBody>
      </p:sp>
      <p:pic>
        <p:nvPicPr>
          <p:cNvPr id="16" name="Hình ảnh 15" descr="Streamlit Releases Version 1.0, the Fastest Way to Build">
            <a:extLst>
              <a:ext uri="{FF2B5EF4-FFF2-40B4-BE49-F238E27FC236}">
                <a16:creationId xmlns:a16="http://schemas.microsoft.com/office/drawing/2014/main" id="{081F4792-C871-FFBF-F3A2-7E58CA79B18F}"/>
              </a:ext>
            </a:extLst>
          </p:cNvPr>
          <p:cNvPicPr>
            <a:picLocks noChangeAspect="1"/>
          </p:cNvPicPr>
          <p:nvPr/>
        </p:nvPicPr>
        <p:blipFill>
          <a:blip r:embed="rId8"/>
          <a:stretch>
            <a:fillRect/>
          </a:stretch>
        </p:blipFill>
        <p:spPr>
          <a:xfrm>
            <a:off x="1823148" y="1393582"/>
            <a:ext cx="1362809" cy="712179"/>
          </a:xfrm>
          <a:prstGeom prst="rect">
            <a:avLst/>
          </a:prstGeom>
        </p:spPr>
      </p:pic>
      <p:pic>
        <p:nvPicPr>
          <p:cNvPr id="19" name="Hình ảnh 18" descr="How ChatGPT, OpenAI, and Azure OpenAI Work Together">
            <a:extLst>
              <a:ext uri="{FF2B5EF4-FFF2-40B4-BE49-F238E27FC236}">
                <a16:creationId xmlns:a16="http://schemas.microsoft.com/office/drawing/2014/main" id="{F02F1AB6-5C8F-0FDC-E87C-BE6A9056A5ED}"/>
              </a:ext>
            </a:extLst>
          </p:cNvPr>
          <p:cNvPicPr>
            <a:picLocks noChangeAspect="1"/>
          </p:cNvPicPr>
          <p:nvPr/>
        </p:nvPicPr>
        <p:blipFill>
          <a:blip r:embed="rId9"/>
          <a:stretch>
            <a:fillRect/>
          </a:stretch>
        </p:blipFill>
        <p:spPr>
          <a:xfrm>
            <a:off x="5862209" y="3251602"/>
            <a:ext cx="1054295" cy="567750"/>
          </a:xfrm>
          <a:prstGeom prst="rect">
            <a:avLst/>
          </a:prstGeom>
        </p:spPr>
      </p:pic>
      <p:pic>
        <p:nvPicPr>
          <p:cNvPr id="21" name="Hình ảnh 20" descr="Windows Subsystem for Linux – jenx.si">
            <a:extLst>
              <a:ext uri="{FF2B5EF4-FFF2-40B4-BE49-F238E27FC236}">
                <a16:creationId xmlns:a16="http://schemas.microsoft.com/office/drawing/2014/main" id="{C70CF699-4160-D346-1C49-8C8BA8EDE945}"/>
              </a:ext>
            </a:extLst>
          </p:cNvPr>
          <p:cNvPicPr>
            <a:picLocks noChangeAspect="1"/>
          </p:cNvPicPr>
          <p:nvPr/>
        </p:nvPicPr>
        <p:blipFill>
          <a:blip r:embed="rId10"/>
          <a:stretch>
            <a:fillRect/>
          </a:stretch>
        </p:blipFill>
        <p:spPr>
          <a:xfrm>
            <a:off x="4937974" y="1236545"/>
            <a:ext cx="2743199" cy="1393722"/>
          </a:xfrm>
          <a:prstGeom prst="rect">
            <a:avLst/>
          </a:prstGeom>
        </p:spPr>
      </p:pic>
      <p:sp>
        <p:nvSpPr>
          <p:cNvPr id="2" name="Hộp Văn bản 1">
            <a:extLst>
              <a:ext uri="{FF2B5EF4-FFF2-40B4-BE49-F238E27FC236}">
                <a16:creationId xmlns:a16="http://schemas.microsoft.com/office/drawing/2014/main" id="{2941E0C6-ACC6-7B90-324C-E6916267CAB0}"/>
              </a:ext>
            </a:extLst>
          </p:cNvPr>
          <p:cNvSpPr txBox="1"/>
          <p:nvPr/>
        </p:nvSpPr>
        <p:spPr>
          <a:xfrm>
            <a:off x="6070691" y="890154"/>
            <a:ext cx="4251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vi-VN" b="1">
                <a:solidFill>
                  <a:schemeClr val="bg1">
                    <a:lumMod val="49000"/>
                  </a:schemeClr>
                </a:solidFill>
                <a:latin typeface="Bahnschrift"/>
              </a:rPr>
              <a:t>OS</a:t>
            </a:r>
          </a:p>
        </p:txBody>
      </p:sp>
      <p:sp>
        <p:nvSpPr>
          <p:cNvPr id="3" name="Hộp Văn bản 2">
            <a:extLst>
              <a:ext uri="{FF2B5EF4-FFF2-40B4-BE49-F238E27FC236}">
                <a16:creationId xmlns:a16="http://schemas.microsoft.com/office/drawing/2014/main" id="{518F1B62-622F-E573-05DC-42CF04072DAD}"/>
              </a:ext>
            </a:extLst>
          </p:cNvPr>
          <p:cNvSpPr txBox="1"/>
          <p:nvPr/>
        </p:nvSpPr>
        <p:spPr>
          <a:xfrm>
            <a:off x="5722531" y="2864522"/>
            <a:ext cx="133240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b="1">
                <a:solidFill>
                  <a:schemeClr val="bg1">
                    <a:lumMod val="49000"/>
                  </a:schemeClr>
                </a:solidFill>
                <a:latin typeface="Bahnschrift"/>
              </a:rPr>
              <a:t>API </a:t>
            </a:r>
            <a:r>
              <a:rPr lang="vi-VN" b="1" err="1">
                <a:solidFill>
                  <a:schemeClr val="bg1">
                    <a:lumMod val="49000"/>
                  </a:schemeClr>
                </a:solidFill>
                <a:latin typeface="Bahnschrift"/>
              </a:rPr>
              <a:t>Platforms</a:t>
            </a:r>
            <a:endParaRPr lang="vi-VN" b="1">
              <a:solidFill>
                <a:schemeClr val="bg1">
                  <a:lumMod val="49000"/>
                </a:schemeClr>
              </a:solidFill>
              <a:latin typeface="Bahnschrift"/>
            </a:endParaRPr>
          </a:p>
        </p:txBody>
      </p:sp>
      <p:cxnSp>
        <p:nvCxnSpPr>
          <p:cNvPr id="4" name="Đường kết nối Mũi tên Thẳng 3">
            <a:extLst>
              <a:ext uri="{FF2B5EF4-FFF2-40B4-BE49-F238E27FC236}">
                <a16:creationId xmlns:a16="http://schemas.microsoft.com/office/drawing/2014/main" id="{6071EE9B-71F5-14BE-AD42-8F8094541FB9}"/>
              </a:ext>
            </a:extLst>
          </p:cNvPr>
          <p:cNvCxnSpPr/>
          <p:nvPr/>
        </p:nvCxnSpPr>
        <p:spPr>
          <a:xfrm>
            <a:off x="4991518" y="2759528"/>
            <a:ext cx="2637692" cy="17584"/>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5" name="Picture 4" descr="A blue and yellow logo&#10;&#10;AI-generated content may be incorrect.">
            <a:extLst>
              <a:ext uri="{FF2B5EF4-FFF2-40B4-BE49-F238E27FC236}">
                <a16:creationId xmlns:a16="http://schemas.microsoft.com/office/drawing/2014/main" id="{97F1BF32-E021-0D55-4840-20267E4B63A7}"/>
              </a:ext>
            </a:extLst>
          </p:cNvPr>
          <p:cNvPicPr>
            <a:picLocks noChangeAspect="1"/>
          </p:cNvPicPr>
          <p:nvPr/>
        </p:nvPicPr>
        <p:blipFill>
          <a:blip r:embed="rId11"/>
          <a:stretch>
            <a:fillRect/>
          </a:stretch>
        </p:blipFill>
        <p:spPr>
          <a:xfrm>
            <a:off x="137160" y="114312"/>
            <a:ext cx="444137" cy="4922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show="0">
  <p:cSld>
    <p:bg>
      <p:bgPr>
        <a:blipFill dpi="0" rotWithShape="1">
          <a:blip r:embed="rId3">
            <a:lum/>
          </a:blip>
          <a:srcRect/>
          <a:stretch>
            <a:fillRect/>
          </a:stretch>
        </a:blipFill>
        <a:effectLst/>
      </p:bgPr>
    </p:bg>
    <p:spTree>
      <p:nvGrpSpPr>
        <p:cNvPr id="1" name="Shape 1665"/>
        <p:cNvGrpSpPr/>
        <p:nvPr/>
      </p:nvGrpSpPr>
      <p:grpSpPr>
        <a:xfrm>
          <a:off x="0" y="0"/>
          <a:ext cx="0" cy="0"/>
          <a:chOff x="0" y="0"/>
          <a:chExt cx="0" cy="0"/>
        </a:xfrm>
      </p:grpSpPr>
      <p:sp>
        <p:nvSpPr>
          <p:cNvPr id="1666" name="Google Shape;1666;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 err="1"/>
              <a:t>Kiến</a:t>
            </a:r>
            <a:r>
              <a:rPr lang="en"/>
              <a:t> </a:t>
            </a:r>
            <a:r>
              <a:rPr lang="en" err="1"/>
              <a:t>trúc</a:t>
            </a:r>
            <a:r>
              <a:rPr lang="en"/>
              <a:t> Multi-Agent System</a:t>
            </a:r>
          </a:p>
        </p:txBody>
      </p:sp>
      <p:pic>
        <p:nvPicPr>
          <p:cNvPr id="16" name="Picture 15" descr="A diagram of a company&#10;&#10;AI-generated content may be incorrect.">
            <a:extLst>
              <a:ext uri="{FF2B5EF4-FFF2-40B4-BE49-F238E27FC236}">
                <a16:creationId xmlns:a16="http://schemas.microsoft.com/office/drawing/2014/main" id="{45CAE182-5BD8-718C-B676-9E41F136A876}"/>
              </a:ext>
            </a:extLst>
          </p:cNvPr>
          <p:cNvPicPr>
            <a:picLocks noChangeAspect="1"/>
          </p:cNvPicPr>
          <p:nvPr/>
        </p:nvPicPr>
        <p:blipFill>
          <a:blip r:embed="rId4"/>
          <a:stretch>
            <a:fillRect/>
          </a:stretch>
        </p:blipFill>
        <p:spPr>
          <a:xfrm>
            <a:off x="1202874" y="1469112"/>
            <a:ext cx="6962342" cy="226370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529"/>
        <p:cNvGrpSpPr/>
        <p:nvPr/>
      </p:nvGrpSpPr>
      <p:grpSpPr>
        <a:xfrm>
          <a:off x="0" y="0"/>
          <a:ext cx="0" cy="0"/>
          <a:chOff x="0" y="0"/>
          <a:chExt cx="0" cy="0"/>
        </a:xfrm>
      </p:grpSpPr>
      <p:sp>
        <p:nvSpPr>
          <p:cNvPr id="1530" name="Google Shape;1530;p39"/>
          <p:cNvSpPr txBox="1">
            <a:spLocks noGrp="1"/>
          </p:cNvSpPr>
          <p:nvPr>
            <p:ph type="title"/>
          </p:nvPr>
        </p:nvSpPr>
        <p:spPr>
          <a:xfrm>
            <a:off x="2307789" y="9374"/>
            <a:ext cx="7704000" cy="572700"/>
          </a:xfrm>
          <a:prstGeom prst="rect">
            <a:avLst/>
          </a:prstGeom>
        </p:spPr>
        <p:txBody>
          <a:bodyPr spcFirstLastPara="1" wrap="square" lIns="91425" tIns="91425" rIns="91425" bIns="91425" anchor="t" anchorCtr="0">
            <a:noAutofit/>
          </a:bodyPr>
          <a:lstStyle/>
          <a:p>
            <a:pPr algn="l"/>
            <a:r>
              <a:rPr lang="en" dirty="0"/>
              <a:t>Kiến trúc hệ thống</a:t>
            </a:r>
            <a:endParaRPr lang="vi-VN" dirty="0"/>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descr="A diagram of a system&#10;&#10;AI-generated content may be incorrect.">
            <a:extLst>
              <a:ext uri="{FF2B5EF4-FFF2-40B4-BE49-F238E27FC236}">
                <a16:creationId xmlns:a16="http://schemas.microsoft.com/office/drawing/2014/main" id="{B2B5BBFB-567C-6E22-55B4-17DD89B443E9}"/>
              </a:ext>
            </a:extLst>
          </p:cNvPr>
          <p:cNvPicPr>
            <a:picLocks noChangeAspect="1"/>
          </p:cNvPicPr>
          <p:nvPr/>
        </p:nvPicPr>
        <p:blipFill>
          <a:blip r:embed="rId4"/>
          <a:srcRect l="2593" t="8203" r="772"/>
          <a:stretch/>
        </p:blipFill>
        <p:spPr>
          <a:xfrm>
            <a:off x="2717073" y="692333"/>
            <a:ext cx="6544492" cy="3795792"/>
          </a:xfrm>
          <a:prstGeom prst="rect">
            <a:avLst/>
          </a:prstGeom>
        </p:spPr>
      </p:pic>
      <p:sp>
        <p:nvSpPr>
          <p:cNvPr id="5" name="TextBox 4">
            <a:extLst>
              <a:ext uri="{FF2B5EF4-FFF2-40B4-BE49-F238E27FC236}">
                <a16:creationId xmlns:a16="http://schemas.microsoft.com/office/drawing/2014/main" id="{ED4EDD47-CC2B-9655-AFED-8B1F127CC7F6}"/>
              </a:ext>
            </a:extLst>
          </p:cNvPr>
          <p:cNvSpPr txBox="1"/>
          <p:nvPr/>
        </p:nvSpPr>
        <p:spPr>
          <a:xfrm>
            <a:off x="137161" y="766367"/>
            <a:ext cx="2716458" cy="3216265"/>
          </a:xfrm>
          <a:prstGeom prst="rect">
            <a:avLst/>
          </a:prstGeom>
          <a:noFill/>
        </p:spPr>
        <p:txBody>
          <a:bodyPr wrap="square" rtlCol="0">
            <a:spAutoFit/>
          </a:bodyPr>
          <a:lstStyle/>
          <a:p>
            <a:pPr>
              <a:lnSpc>
                <a:spcPct val="150000"/>
              </a:lnSpc>
            </a:pPr>
            <a:r>
              <a:rPr lang="vi-VN" dirty="0">
                <a:solidFill>
                  <a:schemeClr val="bg1">
                    <a:lumMod val="50000"/>
                  </a:schemeClr>
                </a:solidFill>
                <a:latin typeface="Bahnschrift" panose="020B0502040204020203" pitchFamily="34" charset="0"/>
              </a:rPr>
              <a:t>Các thành phần chính:</a:t>
            </a:r>
          </a:p>
          <a:p>
            <a:pPr>
              <a:lnSpc>
                <a:spcPct val="150000"/>
              </a:lnSpc>
            </a:pPr>
            <a:endParaRPr lang="vi-VN" dirty="0">
              <a:solidFill>
                <a:schemeClr val="bg1">
                  <a:lumMod val="50000"/>
                </a:schemeClr>
              </a:solidFill>
              <a:latin typeface="Bahnschrift" panose="020B0502040204020203" pitchFamily="34" charset="0"/>
            </a:endParaRPr>
          </a:p>
          <a:p>
            <a:r>
              <a:rPr lang="vi-VN" dirty="0">
                <a:solidFill>
                  <a:schemeClr val="bg1">
                    <a:lumMod val="50000"/>
                  </a:schemeClr>
                </a:solidFill>
                <a:latin typeface="Bahnschrift" panose="020B0502040204020203" pitchFamily="34" charset="0"/>
              </a:rPr>
              <a:t>- User và Interpreter Agent</a:t>
            </a:r>
          </a:p>
          <a:p>
            <a:r>
              <a:rPr lang="vi-VN" sz="1100" i="1" dirty="0">
                <a:solidFill>
                  <a:schemeClr val="bg1">
                    <a:lumMod val="50000"/>
                  </a:schemeClr>
                </a:solidFill>
                <a:latin typeface="Bahnschrift" panose="020B0502040204020203" pitchFamily="34" charset="0"/>
              </a:rPr>
              <a:t>Tiếp nhận &amp; hiểu yêu cầu</a:t>
            </a:r>
          </a:p>
          <a:p>
            <a:endParaRPr lang="vi-VN" sz="900" i="1" dirty="0">
              <a:solidFill>
                <a:schemeClr val="bg1">
                  <a:lumMod val="50000"/>
                </a:schemeClr>
              </a:solidFill>
              <a:latin typeface="Bahnschrift" panose="020B0502040204020203" pitchFamily="34" charset="0"/>
            </a:endParaRPr>
          </a:p>
          <a:p>
            <a:r>
              <a:rPr lang="vi-VN" dirty="0">
                <a:solidFill>
                  <a:schemeClr val="bg1">
                    <a:lumMod val="50000"/>
                  </a:schemeClr>
                </a:solidFill>
                <a:latin typeface="Bahnschrift" panose="020B0502040204020203" pitchFamily="34" charset="0"/>
              </a:rPr>
              <a:t>- Manager Agent</a:t>
            </a:r>
          </a:p>
          <a:p>
            <a:r>
              <a:rPr lang="vi-VN" sz="1100" i="1" dirty="0">
                <a:solidFill>
                  <a:schemeClr val="bg1">
                    <a:lumMod val="50000"/>
                  </a:schemeClr>
                </a:solidFill>
                <a:latin typeface="Bahnschrift" panose="020B0502040204020203" pitchFamily="34" charset="0"/>
              </a:rPr>
              <a:t>Trung tâm điều phối</a:t>
            </a:r>
          </a:p>
          <a:p>
            <a:endParaRPr lang="vi-VN" sz="900" i="1" dirty="0">
              <a:solidFill>
                <a:schemeClr val="bg1">
                  <a:lumMod val="50000"/>
                </a:schemeClr>
              </a:solidFill>
              <a:latin typeface="Bahnschrift" panose="020B0502040204020203" pitchFamily="34" charset="0"/>
            </a:endParaRPr>
          </a:p>
          <a:p>
            <a:r>
              <a:rPr lang="vi-VN" dirty="0">
                <a:solidFill>
                  <a:schemeClr val="bg1">
                    <a:lumMod val="50000"/>
                  </a:schemeClr>
                </a:solidFill>
                <a:latin typeface="Bahnschrift" panose="020B0502040204020203" pitchFamily="34" charset="0"/>
              </a:rPr>
              <a:t>- Analysis System</a:t>
            </a:r>
          </a:p>
          <a:p>
            <a:r>
              <a:rPr lang="vi-VN" sz="1100" i="1" dirty="0">
                <a:solidFill>
                  <a:schemeClr val="bg1">
                    <a:lumMod val="50000"/>
                  </a:schemeClr>
                </a:solidFill>
                <a:latin typeface="Bahnschrift" panose="020B0502040204020203" pitchFamily="34" charset="0"/>
              </a:rPr>
              <a:t>Phân tích &amp; tạo danh sách gợi ý</a:t>
            </a:r>
          </a:p>
          <a:p>
            <a:endParaRPr lang="vi-VN" sz="900" i="1" dirty="0">
              <a:solidFill>
                <a:schemeClr val="bg1">
                  <a:lumMod val="50000"/>
                </a:schemeClr>
              </a:solidFill>
              <a:latin typeface="Bahnschrift" panose="020B0502040204020203" pitchFamily="34" charset="0"/>
            </a:endParaRPr>
          </a:p>
          <a:p>
            <a:r>
              <a:rPr lang="vi-VN" dirty="0">
                <a:solidFill>
                  <a:schemeClr val="bg1">
                    <a:lumMod val="50000"/>
                  </a:schemeClr>
                </a:solidFill>
                <a:latin typeface="Bahnschrift" panose="020B0502040204020203" pitchFamily="34" charset="0"/>
              </a:rPr>
              <a:t>- Search System</a:t>
            </a:r>
          </a:p>
          <a:p>
            <a:r>
              <a:rPr lang="vi-VN" sz="1100" i="1" dirty="0">
                <a:solidFill>
                  <a:schemeClr val="bg1">
                    <a:lumMod val="50000"/>
                  </a:schemeClr>
                </a:solidFill>
                <a:latin typeface="Bahnschrift" panose="020B0502040204020203" pitchFamily="34" charset="0"/>
              </a:rPr>
              <a:t>Tìm kiếm &amp; bổ sung thông tin chi tiết</a:t>
            </a:r>
          </a:p>
          <a:p>
            <a:endParaRPr lang="vi-VN" sz="900" i="1" dirty="0">
              <a:solidFill>
                <a:schemeClr val="bg1">
                  <a:lumMod val="50000"/>
                </a:schemeClr>
              </a:solidFill>
              <a:latin typeface="Bahnschrift" panose="020B0502040204020203" pitchFamily="34" charset="0"/>
            </a:endParaRPr>
          </a:p>
          <a:p>
            <a:r>
              <a:rPr lang="vi-VN" dirty="0">
                <a:solidFill>
                  <a:schemeClr val="bg1">
                    <a:lumMod val="50000"/>
                  </a:schemeClr>
                </a:solidFill>
                <a:latin typeface="Bahnschrift" panose="020B0502040204020203" pitchFamily="34" charset="0"/>
              </a:rPr>
              <a:t>- Reflector Agent</a:t>
            </a:r>
          </a:p>
          <a:p>
            <a:r>
              <a:rPr lang="vi-VN" sz="1100" i="1" dirty="0">
                <a:solidFill>
                  <a:schemeClr val="bg1">
                    <a:lumMod val="50000"/>
                  </a:schemeClr>
                </a:solidFill>
                <a:latin typeface="Bahnschrift" panose="020B0502040204020203" pitchFamily="34" charset="0"/>
              </a:rPr>
              <a:t>Phản hồi và cải thiện kết quả</a:t>
            </a:r>
          </a:p>
        </p:txBody>
      </p:sp>
      <p:pic>
        <p:nvPicPr>
          <p:cNvPr id="2" name="Picture 1" descr="A blue and yellow logo&#10;&#10;AI-generated content may be incorrect.">
            <a:extLst>
              <a:ext uri="{FF2B5EF4-FFF2-40B4-BE49-F238E27FC236}">
                <a16:creationId xmlns:a16="http://schemas.microsoft.com/office/drawing/2014/main" id="{69F573D6-A0F4-A6BC-ED6A-A739C86CADD5}"/>
              </a:ext>
            </a:extLst>
          </p:cNvPr>
          <p:cNvPicPr>
            <a:picLocks noChangeAspect="1"/>
          </p:cNvPicPr>
          <p:nvPr/>
        </p:nvPicPr>
        <p:blipFill>
          <a:blip r:embed="rId5"/>
          <a:stretch>
            <a:fillRect/>
          </a:stretch>
        </p:blipFill>
        <p:spPr>
          <a:xfrm>
            <a:off x="137160" y="114312"/>
            <a:ext cx="444137" cy="4922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633"/>
        <p:cNvGrpSpPr/>
        <p:nvPr/>
      </p:nvGrpSpPr>
      <p:grpSpPr>
        <a:xfrm>
          <a:off x="0" y="0"/>
          <a:ext cx="0" cy="0"/>
          <a:chOff x="0" y="0"/>
          <a:chExt cx="0" cy="0"/>
        </a:xfrm>
      </p:grpSpPr>
      <p:sp>
        <p:nvSpPr>
          <p:cNvPr id="1634" name="Google Shape;1634;p41"/>
          <p:cNvSpPr txBox="1">
            <a:spLocks noGrp="1"/>
          </p:cNvSpPr>
          <p:nvPr>
            <p:ph type="title"/>
          </p:nvPr>
        </p:nvSpPr>
        <p:spPr>
          <a:xfrm>
            <a:off x="2284025" y="218829"/>
            <a:ext cx="7704000" cy="572700"/>
          </a:xfrm>
          <a:prstGeom prst="rect">
            <a:avLst/>
          </a:prstGeom>
        </p:spPr>
        <p:txBody>
          <a:bodyPr spcFirstLastPara="1" wrap="square" lIns="91425" tIns="91425" rIns="91425" bIns="91425" anchor="t" anchorCtr="0">
            <a:noAutofit/>
          </a:bodyPr>
          <a:lstStyle/>
          <a:p>
            <a:r>
              <a:rPr lang="en" dirty="0"/>
              <a:t>Systems &amp; Tasks</a:t>
            </a:r>
          </a:p>
        </p:txBody>
      </p:sp>
      <p:graphicFrame>
        <p:nvGraphicFramePr>
          <p:cNvPr id="3" name="Table 2">
            <a:extLst>
              <a:ext uri="{FF2B5EF4-FFF2-40B4-BE49-F238E27FC236}">
                <a16:creationId xmlns:a16="http://schemas.microsoft.com/office/drawing/2014/main" id="{EA0593FB-F699-AD85-835E-33FA915F659A}"/>
              </a:ext>
            </a:extLst>
          </p:cNvPr>
          <p:cNvGraphicFramePr>
            <a:graphicFrameLocks noGrp="1"/>
          </p:cNvGraphicFramePr>
          <p:nvPr>
            <p:extLst>
              <p:ext uri="{D42A27DB-BD31-4B8C-83A1-F6EECF244321}">
                <p14:modId xmlns:p14="http://schemas.microsoft.com/office/powerpoint/2010/main" val="2784159858"/>
              </p:ext>
            </p:extLst>
          </p:nvPr>
        </p:nvGraphicFramePr>
        <p:xfrm>
          <a:off x="3416935" y="2431731"/>
          <a:ext cx="5727065" cy="1920240"/>
        </p:xfrm>
        <a:graphic>
          <a:graphicData uri="http://schemas.openxmlformats.org/drawingml/2006/table">
            <a:tbl>
              <a:tblPr firstRow="1" firstCol="1" bandRow="1">
                <a:tableStyleId>{FCFD89B0-09A9-401F-B85D-9E3E2F4A158D}</a:tableStyleId>
              </a:tblPr>
              <a:tblGrid>
                <a:gridCol w="2162175">
                  <a:extLst>
                    <a:ext uri="{9D8B030D-6E8A-4147-A177-3AD203B41FA5}">
                      <a16:colId xmlns:a16="http://schemas.microsoft.com/office/drawing/2014/main" val="4148650892"/>
                    </a:ext>
                  </a:extLst>
                </a:gridCol>
                <a:gridCol w="3564890">
                  <a:extLst>
                    <a:ext uri="{9D8B030D-6E8A-4147-A177-3AD203B41FA5}">
                      <a16:colId xmlns:a16="http://schemas.microsoft.com/office/drawing/2014/main" val="1609398425"/>
                    </a:ext>
                  </a:extLst>
                </a:gridCol>
              </a:tblGrid>
              <a:tr h="0">
                <a:tc gridSpan="2">
                  <a:txBody>
                    <a:bodyPr/>
                    <a:lstStyle/>
                    <a:p>
                      <a:pPr algn="ctr">
                        <a:buNone/>
                      </a:pPr>
                      <a:r>
                        <a:rPr lang="en-US" b="1">
                          <a:solidFill>
                            <a:schemeClr val="accent2">
                              <a:lumMod val="50000"/>
                            </a:schemeClr>
                          </a:solidFill>
                          <a:effectLst/>
                        </a:rPr>
                        <a:t>Tasks</a:t>
                      </a:r>
                      <a:endParaRPr lang="en-US">
                        <a:solidFill>
                          <a:schemeClr val="accent2">
                            <a:lumMod val="50000"/>
                          </a:schemeClr>
                        </a:solidFill>
                        <a:effectLst/>
                      </a:endParaRPr>
                    </a:p>
                  </a:txBody>
                  <a:tcPr marL="68580" marR="68580" marT="0" marB="0">
                    <a:lnL>
                      <a:noFill/>
                    </a:lnL>
                    <a:lnR>
                      <a:noFill/>
                    </a:lnR>
                    <a:lnT>
                      <a:noFill/>
                    </a:lnT>
                    <a:lnB w="190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124643495"/>
                  </a:ext>
                </a:extLst>
              </a:tr>
              <a:tr h="0">
                <a:tc>
                  <a:txBody>
                    <a:bodyPr/>
                    <a:lstStyle/>
                    <a:p>
                      <a:pPr algn="r">
                        <a:buNone/>
                      </a:pPr>
                      <a:r>
                        <a:rPr lang="en-US" b="1">
                          <a:solidFill>
                            <a:schemeClr val="accent2">
                              <a:lumMod val="50000"/>
                            </a:schemeClr>
                          </a:solidFill>
                          <a:effectLst/>
                        </a:rPr>
                        <a:t>Rating Prediction</a:t>
                      </a:r>
                      <a:endParaRPr lang="en-US">
                        <a:solidFill>
                          <a:schemeClr val="accent2">
                            <a:lumMod val="50000"/>
                          </a:schemeClr>
                        </a:solidFill>
                        <a:effectLst/>
                      </a:endParaRPr>
                    </a:p>
                  </a:txBody>
                  <a:tcPr marL="68580" marR="68580" marT="0" marB="0">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F2F2"/>
                    </a:solidFill>
                  </a:tcPr>
                </a:tc>
                <a:tc>
                  <a:txBody>
                    <a:bodyPr/>
                    <a:lstStyle/>
                    <a:p>
                      <a:pPr>
                        <a:buNone/>
                      </a:pPr>
                      <a:r>
                        <a:rPr lang="vi-VN" dirty="0">
                          <a:solidFill>
                            <a:schemeClr val="accent2">
                              <a:lumMod val="50000"/>
                            </a:schemeClr>
                          </a:solidFill>
                          <a:effectLst/>
                        </a:rPr>
                        <a:t>Dự đoán điểm số mà người dùng sẽ đánh giá sản phẩm</a:t>
                      </a:r>
                    </a:p>
                  </a:txBody>
                  <a:tcPr marL="68580" marR="68580" marT="0" marB="0">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540652105"/>
                  </a:ext>
                </a:extLst>
              </a:tr>
              <a:tr h="0">
                <a:tc>
                  <a:txBody>
                    <a:bodyPr/>
                    <a:lstStyle/>
                    <a:p>
                      <a:pPr algn="r">
                        <a:buNone/>
                      </a:pPr>
                      <a:r>
                        <a:rPr lang="en-US" b="1">
                          <a:solidFill>
                            <a:schemeClr val="accent2">
                              <a:lumMod val="50000"/>
                            </a:schemeClr>
                          </a:solidFill>
                          <a:effectLst/>
                        </a:rPr>
                        <a:t>Sequential Recommendation</a:t>
                      </a:r>
                      <a:endParaRPr lang="en-US">
                        <a:solidFill>
                          <a:schemeClr val="accent2">
                            <a:lumMod val="50000"/>
                          </a:schemeClr>
                        </a:solidFill>
                        <a:effectLst/>
                      </a:endParaRPr>
                    </a:p>
                  </a:txBody>
                  <a:tcPr marL="68580" marR="68580" marT="0" marB="0">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buNone/>
                      </a:pPr>
                      <a:r>
                        <a:rPr lang="vi-VN">
                          <a:solidFill>
                            <a:schemeClr val="accent2">
                              <a:lumMod val="50000"/>
                            </a:schemeClr>
                          </a:solidFill>
                          <a:effectLst/>
                        </a:rPr>
                        <a:t>Dự đoán sản phẩm tiếp theo mà người dùng có khả năng quan tâm</a:t>
                      </a:r>
                    </a:p>
                  </a:txBody>
                  <a:tcPr marL="68580" marR="68580" marT="0" marB="0">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5022182"/>
                  </a:ext>
                </a:extLst>
              </a:tr>
              <a:tr h="0">
                <a:tc>
                  <a:txBody>
                    <a:bodyPr/>
                    <a:lstStyle/>
                    <a:p>
                      <a:pPr algn="r">
                        <a:buNone/>
                      </a:pPr>
                      <a:r>
                        <a:rPr lang="en-US" b="1" dirty="0" err="1">
                          <a:solidFill>
                            <a:schemeClr val="accent2">
                              <a:lumMod val="50000"/>
                            </a:schemeClr>
                          </a:solidFill>
                          <a:effectLst/>
                        </a:rPr>
                        <a:t>Explaination</a:t>
                      </a:r>
                      <a:r>
                        <a:rPr lang="en-US" b="1" dirty="0">
                          <a:solidFill>
                            <a:schemeClr val="accent2">
                              <a:lumMod val="50000"/>
                            </a:schemeClr>
                          </a:solidFill>
                          <a:effectLst/>
                        </a:rPr>
                        <a:t> Generation</a:t>
                      </a:r>
                      <a:endParaRPr lang="en-US" dirty="0">
                        <a:solidFill>
                          <a:schemeClr val="accent2">
                            <a:lumMod val="50000"/>
                          </a:schemeClr>
                        </a:solidFill>
                        <a:effectLst/>
                      </a:endParaRPr>
                    </a:p>
                  </a:txBody>
                  <a:tcPr marL="68580" marR="68580" marT="0" marB="0">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F2F2"/>
                    </a:solidFill>
                  </a:tcPr>
                </a:tc>
                <a:tc>
                  <a:txBody>
                    <a:bodyPr/>
                    <a:lstStyle/>
                    <a:p>
                      <a:pPr>
                        <a:buNone/>
                      </a:pPr>
                      <a:r>
                        <a:rPr lang="vi-VN">
                          <a:solidFill>
                            <a:schemeClr val="accent2">
                              <a:lumMod val="50000"/>
                            </a:schemeClr>
                          </a:solidFill>
                          <a:effectLst/>
                        </a:rPr>
                        <a:t>Tạo ra lời giải thích rõ ràng và phù hợp cho các gợi ý đưa ra.</a:t>
                      </a:r>
                    </a:p>
                  </a:txBody>
                  <a:tcPr marL="68580" marR="68580" marT="0" marB="0">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646227703"/>
                  </a:ext>
                </a:extLst>
              </a:tr>
              <a:tr h="0">
                <a:tc>
                  <a:txBody>
                    <a:bodyPr/>
                    <a:lstStyle/>
                    <a:p>
                      <a:pPr algn="r">
                        <a:buNone/>
                      </a:pPr>
                      <a:r>
                        <a:rPr lang="en-US" b="1">
                          <a:solidFill>
                            <a:schemeClr val="accent2">
                              <a:lumMod val="50000"/>
                            </a:schemeClr>
                          </a:solidFill>
                          <a:effectLst/>
                        </a:rPr>
                        <a:t>Conversational Recommendation </a:t>
                      </a:r>
                      <a:endParaRPr lang="en-US">
                        <a:solidFill>
                          <a:schemeClr val="accent2">
                            <a:lumMod val="50000"/>
                          </a:schemeClr>
                        </a:solidFill>
                        <a:effectLst/>
                      </a:endParaRPr>
                    </a:p>
                  </a:txBody>
                  <a:tcPr marL="68580" marR="68580" marT="0" marB="0">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noFill/>
                  </a:tcPr>
                </a:tc>
                <a:tc>
                  <a:txBody>
                    <a:bodyPr/>
                    <a:lstStyle/>
                    <a:p>
                      <a:pPr>
                        <a:buNone/>
                      </a:pPr>
                      <a:r>
                        <a:rPr lang="vi-VN" dirty="0">
                          <a:solidFill>
                            <a:schemeClr val="accent2">
                              <a:lumMod val="50000"/>
                            </a:schemeClr>
                          </a:solidFill>
                          <a:effectLst/>
                        </a:rPr>
                        <a:t>Gợi ý sản phẩm thông qua hội thoại tự nhiên với người dùng.</a:t>
                      </a:r>
                    </a:p>
                  </a:txBody>
                  <a:tcPr marL="68580" marR="68580" marT="0" marB="0">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541253512"/>
                  </a:ext>
                </a:extLst>
              </a:tr>
            </a:tbl>
          </a:graphicData>
        </a:graphic>
      </p:graphicFrame>
      <p:graphicFrame>
        <p:nvGraphicFramePr>
          <p:cNvPr id="7" name="Table 6">
            <a:extLst>
              <a:ext uri="{FF2B5EF4-FFF2-40B4-BE49-F238E27FC236}">
                <a16:creationId xmlns:a16="http://schemas.microsoft.com/office/drawing/2014/main" id="{DB84BC66-29CD-4477-FF94-7EF93293E1D6}"/>
              </a:ext>
            </a:extLst>
          </p:cNvPr>
          <p:cNvGraphicFramePr>
            <a:graphicFrameLocks noGrp="1"/>
          </p:cNvGraphicFramePr>
          <p:nvPr>
            <p:extLst>
              <p:ext uri="{D42A27DB-BD31-4B8C-83A1-F6EECF244321}">
                <p14:modId xmlns:p14="http://schemas.microsoft.com/office/powerpoint/2010/main" val="2967130182"/>
              </p:ext>
            </p:extLst>
          </p:nvPr>
        </p:nvGraphicFramePr>
        <p:xfrm>
          <a:off x="279876" y="996315"/>
          <a:ext cx="5163917" cy="1280160"/>
        </p:xfrm>
        <a:graphic>
          <a:graphicData uri="http://schemas.openxmlformats.org/drawingml/2006/table">
            <a:tbl>
              <a:tblPr firstRow="1" firstCol="1" bandRow="1">
                <a:tableStyleId>{FCFD89B0-09A9-401F-B85D-9E3E2F4A158D}</a:tableStyleId>
              </a:tblPr>
              <a:tblGrid>
                <a:gridCol w="1933705">
                  <a:extLst>
                    <a:ext uri="{9D8B030D-6E8A-4147-A177-3AD203B41FA5}">
                      <a16:colId xmlns:a16="http://schemas.microsoft.com/office/drawing/2014/main" val="433495395"/>
                    </a:ext>
                  </a:extLst>
                </a:gridCol>
                <a:gridCol w="3230212">
                  <a:extLst>
                    <a:ext uri="{9D8B030D-6E8A-4147-A177-3AD203B41FA5}">
                      <a16:colId xmlns:a16="http://schemas.microsoft.com/office/drawing/2014/main" val="940488480"/>
                    </a:ext>
                  </a:extLst>
                </a:gridCol>
              </a:tblGrid>
              <a:tr h="0">
                <a:tc gridSpan="2">
                  <a:txBody>
                    <a:bodyPr/>
                    <a:lstStyle/>
                    <a:p>
                      <a:pPr algn="ctr">
                        <a:buNone/>
                      </a:pPr>
                      <a:r>
                        <a:rPr lang="en-US" b="1">
                          <a:solidFill>
                            <a:schemeClr val="accent2">
                              <a:lumMod val="50000"/>
                            </a:schemeClr>
                          </a:solidFill>
                          <a:effectLst/>
                        </a:rPr>
                        <a:t>Systems</a:t>
                      </a:r>
                      <a:endParaRPr lang="en-US">
                        <a:solidFill>
                          <a:schemeClr val="accent2">
                            <a:lumMod val="50000"/>
                          </a:schemeClr>
                        </a:solidFill>
                        <a:effectLst/>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41748255"/>
                  </a:ext>
                </a:extLst>
              </a:tr>
              <a:tr h="0">
                <a:tc>
                  <a:txBody>
                    <a:bodyPr/>
                    <a:lstStyle/>
                    <a:p>
                      <a:pPr algn="r">
                        <a:buNone/>
                      </a:pPr>
                      <a:r>
                        <a:rPr lang="en-US" b="1" err="1">
                          <a:solidFill>
                            <a:schemeClr val="accent2">
                              <a:lumMod val="50000"/>
                            </a:schemeClr>
                          </a:solidFill>
                          <a:effectLst/>
                        </a:rPr>
                        <a:t>ReActSystem</a:t>
                      </a:r>
                      <a:endParaRPr lang="en-US" err="1">
                        <a:solidFill>
                          <a:schemeClr val="accent2">
                            <a:lumMod val="50000"/>
                          </a:schemeClr>
                        </a:solidFill>
                        <a:effectLst/>
                      </a:endParaRPr>
                    </a:p>
                  </a:txBody>
                  <a:tcPr marL="68580" marR="68580" marT="0" marB="0">
                    <a:lnL w="12700" cap="flat" cmpd="sng" algn="ctr">
                      <a:solidFill>
                        <a:srgbClr val="BFBFBF"/>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F2F2"/>
                    </a:solidFill>
                  </a:tcPr>
                </a:tc>
                <a:tc>
                  <a:txBody>
                    <a:bodyPr/>
                    <a:lstStyle/>
                    <a:p>
                      <a:pPr>
                        <a:buNone/>
                      </a:pPr>
                      <a:r>
                        <a:rPr lang="en-US">
                          <a:solidFill>
                            <a:schemeClr val="accent2">
                              <a:lumMod val="50000"/>
                            </a:schemeClr>
                          </a:solidFill>
                          <a:effectLst/>
                        </a:rPr>
                        <a:t>Reason + Act</a:t>
                      </a:r>
                    </a:p>
                  </a:txBody>
                  <a:tcPr marL="68580" marR="68580" marT="0" marB="0">
                    <a:lnL w="19050" cap="flat" cmpd="sng" algn="ctr">
                      <a:solidFill>
                        <a:srgbClr val="000000"/>
                      </a:solidFill>
                      <a:prstDash val="solid"/>
                      <a:round/>
                      <a:headEnd type="none" w="med" len="med"/>
                      <a:tailEnd type="none" w="med" len="med"/>
                    </a:lnL>
                    <a:lnR w="12700" cap="flat" cmpd="sng" algn="ctr">
                      <a:solidFill>
                        <a:srgbClr val="BFBFBF"/>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40064070"/>
                  </a:ext>
                </a:extLst>
              </a:tr>
              <a:tr h="0">
                <a:tc>
                  <a:txBody>
                    <a:bodyPr/>
                    <a:lstStyle/>
                    <a:p>
                      <a:pPr algn="r">
                        <a:buNone/>
                      </a:pPr>
                      <a:r>
                        <a:rPr lang="en-US" b="1" err="1">
                          <a:solidFill>
                            <a:schemeClr val="accent2">
                              <a:lumMod val="50000"/>
                            </a:schemeClr>
                          </a:solidFill>
                          <a:effectLst/>
                        </a:rPr>
                        <a:t>ReflectionSystem</a:t>
                      </a:r>
                      <a:endParaRPr lang="en-US" err="1">
                        <a:solidFill>
                          <a:schemeClr val="accent2">
                            <a:lumMod val="50000"/>
                          </a:schemeClr>
                        </a:solidFill>
                        <a:effectLst/>
                      </a:endParaRPr>
                    </a:p>
                  </a:txBody>
                  <a:tcPr marL="68580" marR="68580" marT="0" marB="0">
                    <a:lnL w="12700" cap="flat" cmpd="sng" algn="ctr">
                      <a:solidFill>
                        <a:srgbClr val="BFBFBF"/>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buNone/>
                      </a:pPr>
                      <a:r>
                        <a:rPr lang="en-US" dirty="0" err="1">
                          <a:solidFill>
                            <a:schemeClr val="accent2">
                              <a:lumMod val="50000"/>
                            </a:schemeClr>
                          </a:solidFill>
                          <a:effectLst/>
                        </a:rPr>
                        <a:t>Tự</a:t>
                      </a:r>
                      <a:r>
                        <a:rPr lang="en-US" dirty="0">
                          <a:solidFill>
                            <a:schemeClr val="accent2">
                              <a:lumMod val="50000"/>
                            </a:schemeClr>
                          </a:solidFill>
                          <a:effectLst/>
                        </a:rPr>
                        <a:t> </a:t>
                      </a:r>
                      <a:r>
                        <a:rPr lang="en-US" dirty="0" err="1">
                          <a:solidFill>
                            <a:schemeClr val="accent2">
                              <a:lumMod val="50000"/>
                            </a:schemeClr>
                          </a:solidFill>
                          <a:effectLst/>
                        </a:rPr>
                        <a:t>đánh</a:t>
                      </a:r>
                      <a:r>
                        <a:rPr lang="en-US" dirty="0">
                          <a:solidFill>
                            <a:schemeClr val="accent2">
                              <a:lumMod val="50000"/>
                            </a:schemeClr>
                          </a:solidFill>
                          <a:effectLst/>
                        </a:rPr>
                        <a:t> </a:t>
                      </a:r>
                      <a:r>
                        <a:rPr lang="en-US" dirty="0" err="1">
                          <a:solidFill>
                            <a:schemeClr val="accent2">
                              <a:lumMod val="50000"/>
                            </a:schemeClr>
                          </a:solidFill>
                          <a:effectLst/>
                        </a:rPr>
                        <a:t>giá</a:t>
                      </a:r>
                      <a:r>
                        <a:rPr lang="en-US" dirty="0">
                          <a:solidFill>
                            <a:schemeClr val="accent2">
                              <a:lumMod val="50000"/>
                            </a:schemeClr>
                          </a:solidFill>
                          <a:effectLst/>
                        </a:rPr>
                        <a:t> + </a:t>
                      </a:r>
                      <a:r>
                        <a:rPr lang="en-US" dirty="0" err="1">
                          <a:solidFill>
                            <a:schemeClr val="accent2">
                              <a:lumMod val="50000"/>
                            </a:schemeClr>
                          </a:solidFill>
                          <a:effectLst/>
                        </a:rPr>
                        <a:t>Cải</a:t>
                      </a:r>
                      <a:r>
                        <a:rPr lang="en-US" dirty="0">
                          <a:solidFill>
                            <a:schemeClr val="accent2">
                              <a:lumMod val="50000"/>
                            </a:schemeClr>
                          </a:solidFill>
                          <a:effectLst/>
                        </a:rPr>
                        <a:t> </a:t>
                      </a:r>
                      <a:r>
                        <a:rPr lang="en-US" dirty="0" err="1">
                          <a:solidFill>
                            <a:schemeClr val="accent2">
                              <a:lumMod val="50000"/>
                            </a:schemeClr>
                          </a:solidFill>
                          <a:effectLst/>
                        </a:rPr>
                        <a:t>thiện</a:t>
                      </a:r>
                      <a:endParaRPr lang="en-US" dirty="0">
                        <a:solidFill>
                          <a:schemeClr val="accent2">
                            <a:lumMod val="50000"/>
                          </a:schemeClr>
                        </a:solidFill>
                        <a:effectLst/>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BFBFBF"/>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0608646"/>
                  </a:ext>
                </a:extLst>
              </a:tr>
              <a:tr h="0">
                <a:tc>
                  <a:txBody>
                    <a:bodyPr/>
                    <a:lstStyle/>
                    <a:p>
                      <a:pPr algn="r">
                        <a:buNone/>
                      </a:pPr>
                      <a:r>
                        <a:rPr lang="en-US" b="1" err="1">
                          <a:solidFill>
                            <a:schemeClr val="accent2">
                              <a:lumMod val="50000"/>
                            </a:schemeClr>
                          </a:solidFill>
                          <a:effectLst/>
                        </a:rPr>
                        <a:t>ChatSystem</a:t>
                      </a:r>
                      <a:endParaRPr lang="en-US" err="1">
                        <a:solidFill>
                          <a:schemeClr val="accent2">
                            <a:lumMod val="50000"/>
                          </a:schemeClr>
                        </a:solidFill>
                        <a:effectLst/>
                      </a:endParaRPr>
                    </a:p>
                  </a:txBody>
                  <a:tcPr marL="68580" marR="68580" marT="0" marB="0">
                    <a:lnL w="12700" cap="flat" cmpd="sng" algn="ctr">
                      <a:solidFill>
                        <a:srgbClr val="BFBFBF"/>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F2F2"/>
                    </a:solidFill>
                  </a:tcPr>
                </a:tc>
                <a:tc>
                  <a:txBody>
                    <a:bodyPr/>
                    <a:lstStyle/>
                    <a:p>
                      <a:pPr>
                        <a:buNone/>
                      </a:pPr>
                      <a:r>
                        <a:rPr lang="en-US">
                          <a:solidFill>
                            <a:schemeClr val="accent2">
                              <a:lumMod val="50000"/>
                            </a:schemeClr>
                          </a:solidFill>
                          <a:effectLst/>
                        </a:rPr>
                        <a:t>Giao </a:t>
                      </a:r>
                      <a:r>
                        <a:rPr lang="en-US" err="1">
                          <a:solidFill>
                            <a:schemeClr val="accent2">
                              <a:lumMod val="50000"/>
                            </a:schemeClr>
                          </a:solidFill>
                          <a:effectLst/>
                        </a:rPr>
                        <a:t>tiếp</a:t>
                      </a:r>
                      <a:r>
                        <a:rPr lang="en-US">
                          <a:solidFill>
                            <a:schemeClr val="accent2">
                              <a:lumMod val="50000"/>
                            </a:schemeClr>
                          </a:solidFill>
                          <a:effectLst/>
                        </a:rPr>
                        <a:t> &amp; </a:t>
                      </a:r>
                      <a:r>
                        <a:rPr lang="en-US" err="1">
                          <a:solidFill>
                            <a:schemeClr val="accent2">
                              <a:lumMod val="50000"/>
                            </a:schemeClr>
                          </a:solidFill>
                          <a:effectLst/>
                        </a:rPr>
                        <a:t>hội</a:t>
                      </a:r>
                      <a:r>
                        <a:rPr lang="en-US">
                          <a:solidFill>
                            <a:schemeClr val="accent2">
                              <a:lumMod val="50000"/>
                            </a:schemeClr>
                          </a:solidFill>
                          <a:effectLst/>
                        </a:rPr>
                        <a:t> </a:t>
                      </a:r>
                      <a:r>
                        <a:rPr lang="en-US" err="1">
                          <a:solidFill>
                            <a:schemeClr val="accent2">
                              <a:lumMod val="50000"/>
                            </a:schemeClr>
                          </a:solidFill>
                          <a:effectLst/>
                        </a:rPr>
                        <a:t>thoại</a:t>
                      </a:r>
                    </a:p>
                  </a:txBody>
                  <a:tcPr marL="68580" marR="68580" marT="0" marB="0">
                    <a:lnL w="19050" cap="flat" cmpd="sng" algn="ctr">
                      <a:solidFill>
                        <a:srgbClr val="000000"/>
                      </a:solidFill>
                      <a:prstDash val="solid"/>
                      <a:round/>
                      <a:headEnd type="none" w="med" len="med"/>
                      <a:tailEnd type="none" w="med" len="med"/>
                    </a:lnL>
                    <a:lnR w="12700" cap="flat" cmpd="sng" algn="ctr">
                      <a:solidFill>
                        <a:srgbClr val="BFBFBF"/>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823152042"/>
                  </a:ext>
                </a:extLst>
              </a:tr>
              <a:tr h="0">
                <a:tc>
                  <a:txBody>
                    <a:bodyPr/>
                    <a:lstStyle/>
                    <a:p>
                      <a:pPr algn="r">
                        <a:buNone/>
                      </a:pPr>
                      <a:r>
                        <a:rPr lang="en-US" b="1" err="1">
                          <a:solidFill>
                            <a:schemeClr val="accent2">
                              <a:lumMod val="50000"/>
                            </a:schemeClr>
                          </a:solidFill>
                          <a:effectLst/>
                        </a:rPr>
                        <a:t>AnalyseSystem</a:t>
                      </a:r>
                      <a:endParaRPr lang="en-US" err="1">
                        <a:solidFill>
                          <a:schemeClr val="accent2">
                            <a:lumMod val="50000"/>
                          </a:schemeClr>
                        </a:solidFill>
                        <a:effectLst/>
                      </a:endParaRPr>
                    </a:p>
                  </a:txBody>
                  <a:tcPr marL="68580" marR="68580" marT="0" marB="0">
                    <a:lnL w="12700" cap="flat" cmpd="sng" algn="ctr">
                      <a:solidFill>
                        <a:srgbClr val="BFBFBF"/>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buNone/>
                      </a:pPr>
                      <a:r>
                        <a:rPr lang="en-US" err="1">
                          <a:solidFill>
                            <a:schemeClr val="accent2">
                              <a:lumMod val="50000"/>
                            </a:schemeClr>
                          </a:solidFill>
                          <a:effectLst/>
                        </a:rPr>
                        <a:t>Phân</a:t>
                      </a:r>
                      <a:r>
                        <a:rPr lang="en-US">
                          <a:solidFill>
                            <a:schemeClr val="accent2">
                              <a:lumMod val="50000"/>
                            </a:schemeClr>
                          </a:solidFill>
                          <a:effectLst/>
                        </a:rPr>
                        <a:t> </a:t>
                      </a:r>
                      <a:r>
                        <a:rPr lang="en-US" err="1">
                          <a:solidFill>
                            <a:schemeClr val="accent2">
                              <a:lumMod val="50000"/>
                            </a:schemeClr>
                          </a:solidFill>
                          <a:effectLst/>
                        </a:rPr>
                        <a:t>tích</a:t>
                      </a:r>
                      <a:r>
                        <a:rPr lang="en-US">
                          <a:solidFill>
                            <a:schemeClr val="accent2">
                              <a:lumMod val="50000"/>
                            </a:schemeClr>
                          </a:solidFill>
                          <a:effectLst/>
                        </a:rPr>
                        <a:t> </a:t>
                      </a:r>
                      <a:r>
                        <a:rPr lang="en-US" err="1">
                          <a:solidFill>
                            <a:schemeClr val="accent2">
                              <a:lumMod val="50000"/>
                            </a:schemeClr>
                          </a:solidFill>
                          <a:effectLst/>
                        </a:rPr>
                        <a:t>sâu</a:t>
                      </a:r>
                      <a:r>
                        <a:rPr lang="en-US">
                          <a:solidFill>
                            <a:schemeClr val="accent2">
                              <a:lumMod val="50000"/>
                            </a:schemeClr>
                          </a:solidFill>
                          <a:effectLst/>
                        </a:rPr>
                        <a:t> + logic</a:t>
                      </a:r>
                    </a:p>
                  </a:txBody>
                  <a:tcPr marL="68580" marR="68580" marT="0" marB="0">
                    <a:lnL w="19050" cap="flat" cmpd="sng" algn="ctr">
                      <a:solidFill>
                        <a:srgbClr val="000000"/>
                      </a:solidFill>
                      <a:prstDash val="solid"/>
                      <a:round/>
                      <a:headEnd type="none" w="med" len="med"/>
                      <a:tailEnd type="none" w="med" len="med"/>
                    </a:lnL>
                    <a:lnR w="12700" cap="flat" cmpd="sng" algn="ctr">
                      <a:solidFill>
                        <a:srgbClr val="BFBFBF"/>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1339428"/>
                  </a:ext>
                </a:extLst>
              </a:tr>
              <a:tr h="0">
                <a:tc>
                  <a:txBody>
                    <a:bodyPr/>
                    <a:lstStyle/>
                    <a:p>
                      <a:pPr algn="r">
                        <a:buNone/>
                      </a:pPr>
                      <a:r>
                        <a:rPr lang="en-US" b="1" err="1">
                          <a:solidFill>
                            <a:schemeClr val="accent2">
                              <a:lumMod val="50000"/>
                            </a:schemeClr>
                          </a:solidFill>
                          <a:effectLst/>
                        </a:rPr>
                        <a:t>CollaborationSystem</a:t>
                      </a:r>
                      <a:endParaRPr lang="en-US" err="1">
                        <a:solidFill>
                          <a:schemeClr val="accent2">
                            <a:lumMod val="50000"/>
                          </a:schemeClr>
                        </a:solidFill>
                        <a:effectLst/>
                      </a:endParaRPr>
                    </a:p>
                  </a:txBody>
                  <a:tcPr marL="68580" marR="68580" marT="0" marB="0">
                    <a:lnL w="12700" cap="flat" cmpd="sng" algn="ctr">
                      <a:solidFill>
                        <a:srgbClr val="BFBFBF"/>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a:buNone/>
                      </a:pPr>
                      <a:r>
                        <a:rPr lang="en-US" dirty="0" err="1">
                          <a:solidFill>
                            <a:schemeClr val="accent2">
                              <a:lumMod val="50000"/>
                            </a:schemeClr>
                          </a:solidFill>
                          <a:effectLst/>
                        </a:rPr>
                        <a:t>Điều</a:t>
                      </a:r>
                      <a:r>
                        <a:rPr lang="en-US" dirty="0">
                          <a:solidFill>
                            <a:schemeClr val="accent2">
                              <a:lumMod val="50000"/>
                            </a:schemeClr>
                          </a:solidFill>
                          <a:effectLst/>
                        </a:rPr>
                        <a:t> </a:t>
                      </a:r>
                      <a:r>
                        <a:rPr lang="en-US" dirty="0" err="1">
                          <a:solidFill>
                            <a:schemeClr val="accent2">
                              <a:lumMod val="50000"/>
                            </a:schemeClr>
                          </a:solidFill>
                          <a:effectLst/>
                        </a:rPr>
                        <a:t>phối</a:t>
                      </a:r>
                      <a:r>
                        <a:rPr lang="en-US" dirty="0">
                          <a:solidFill>
                            <a:schemeClr val="accent2">
                              <a:lumMod val="50000"/>
                            </a:schemeClr>
                          </a:solidFill>
                          <a:effectLst/>
                        </a:rPr>
                        <a:t> agent + </a:t>
                      </a:r>
                      <a:r>
                        <a:rPr lang="en-US" dirty="0" err="1">
                          <a:solidFill>
                            <a:schemeClr val="accent2">
                              <a:lumMod val="50000"/>
                            </a:schemeClr>
                          </a:solidFill>
                          <a:effectLst/>
                        </a:rPr>
                        <a:t>làm</a:t>
                      </a:r>
                      <a:r>
                        <a:rPr lang="en-US" dirty="0">
                          <a:solidFill>
                            <a:schemeClr val="accent2">
                              <a:lumMod val="50000"/>
                            </a:schemeClr>
                          </a:solidFill>
                          <a:effectLst/>
                        </a:rPr>
                        <a:t> </a:t>
                      </a:r>
                      <a:r>
                        <a:rPr lang="en-US" dirty="0" err="1">
                          <a:solidFill>
                            <a:schemeClr val="accent2">
                              <a:lumMod val="50000"/>
                            </a:schemeClr>
                          </a:solidFill>
                          <a:effectLst/>
                        </a:rPr>
                        <a:t>việc</a:t>
                      </a:r>
                      <a:r>
                        <a:rPr lang="en-US" dirty="0">
                          <a:solidFill>
                            <a:schemeClr val="accent2">
                              <a:lumMod val="50000"/>
                            </a:schemeClr>
                          </a:solidFill>
                          <a:effectLst/>
                        </a:rPr>
                        <a:t> </a:t>
                      </a:r>
                      <a:r>
                        <a:rPr lang="en-US" dirty="0" err="1">
                          <a:solidFill>
                            <a:schemeClr val="accent2">
                              <a:lumMod val="50000"/>
                            </a:schemeClr>
                          </a:solidFill>
                          <a:effectLst/>
                        </a:rPr>
                        <a:t>nhóm</a:t>
                      </a:r>
                      <a:endParaRPr lang="en-US" dirty="0">
                        <a:solidFill>
                          <a:schemeClr val="accent2">
                            <a:lumMod val="50000"/>
                          </a:schemeClr>
                        </a:solidFill>
                        <a:effectLst/>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BFBFBF"/>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449333688"/>
                  </a:ext>
                </a:extLst>
              </a:tr>
            </a:tbl>
          </a:graphicData>
        </a:graphic>
      </p:graphicFrame>
      <p:pic>
        <p:nvPicPr>
          <p:cNvPr id="2" name="Picture 1" descr="A blue and yellow logo&#10;&#10;AI-generated content may be incorrect.">
            <a:extLst>
              <a:ext uri="{FF2B5EF4-FFF2-40B4-BE49-F238E27FC236}">
                <a16:creationId xmlns:a16="http://schemas.microsoft.com/office/drawing/2014/main" id="{4A0B650A-A84D-F4CE-A9DD-BDEEAE4E16DD}"/>
              </a:ext>
            </a:extLst>
          </p:cNvPr>
          <p:cNvPicPr>
            <a:picLocks noChangeAspect="1"/>
          </p:cNvPicPr>
          <p:nvPr/>
        </p:nvPicPr>
        <p:blipFill>
          <a:blip r:embed="rId4"/>
          <a:stretch>
            <a:fillRect/>
          </a:stretch>
        </p:blipFill>
        <p:spPr>
          <a:xfrm>
            <a:off x="137160" y="114312"/>
            <a:ext cx="444137" cy="4922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show="0">
  <p:cSld>
    <p:bg>
      <p:bgPr>
        <a:blipFill dpi="0" rotWithShape="1">
          <a:blip r:embed="rId3">
            <a:lum/>
          </a:blip>
          <a:srcRect/>
          <a:stretch>
            <a:fillRect/>
          </a:stretch>
        </a:blipFill>
        <a:effectLst/>
      </p:bgPr>
    </p:bg>
    <p:spTree>
      <p:nvGrpSpPr>
        <p:cNvPr id="1" name="Shape 1529">
          <a:extLst>
            <a:ext uri="{FF2B5EF4-FFF2-40B4-BE49-F238E27FC236}">
              <a16:creationId xmlns:a16="http://schemas.microsoft.com/office/drawing/2014/main" id="{090D2657-C99C-10EF-6DC1-193CE1BA4EE4}"/>
            </a:ext>
          </a:extLst>
        </p:cNvPr>
        <p:cNvGrpSpPr/>
        <p:nvPr/>
      </p:nvGrpSpPr>
      <p:grpSpPr>
        <a:xfrm>
          <a:off x="0" y="0"/>
          <a:ext cx="0" cy="0"/>
          <a:chOff x="0" y="0"/>
          <a:chExt cx="0" cy="0"/>
        </a:xfrm>
      </p:grpSpPr>
      <p:grpSp>
        <p:nvGrpSpPr>
          <p:cNvPr id="1533" name="Google Shape;1533;p39">
            <a:extLst>
              <a:ext uri="{FF2B5EF4-FFF2-40B4-BE49-F238E27FC236}">
                <a16:creationId xmlns:a16="http://schemas.microsoft.com/office/drawing/2014/main" id="{8379DE45-B1B7-1B50-BDEC-68FA5C1765FC}"/>
              </a:ext>
            </a:extLst>
          </p:cNvPr>
          <p:cNvGrpSpPr/>
          <p:nvPr/>
        </p:nvGrpSpPr>
        <p:grpSpPr>
          <a:xfrm>
            <a:off x="-123925" y="4132283"/>
            <a:ext cx="4558967" cy="1141122"/>
            <a:chOff x="-123925" y="4132283"/>
            <a:chExt cx="4558967" cy="1141122"/>
          </a:xfrm>
        </p:grpSpPr>
        <p:grpSp>
          <p:nvGrpSpPr>
            <p:cNvPr id="1534" name="Google Shape;1534;p39">
              <a:extLst>
                <a:ext uri="{FF2B5EF4-FFF2-40B4-BE49-F238E27FC236}">
                  <a16:creationId xmlns:a16="http://schemas.microsoft.com/office/drawing/2014/main" id="{0340DDF1-4324-3001-4AFA-A27C400F581A}"/>
                </a:ext>
              </a:extLst>
            </p:cNvPr>
            <p:cNvGrpSpPr/>
            <p:nvPr/>
          </p:nvGrpSpPr>
          <p:grpSpPr>
            <a:xfrm>
              <a:off x="-2" y="4132283"/>
              <a:ext cx="2308406" cy="1141122"/>
              <a:chOff x="-2" y="4132283"/>
              <a:chExt cx="2308406" cy="1141122"/>
            </a:xfrm>
          </p:grpSpPr>
          <p:sp>
            <p:nvSpPr>
              <p:cNvPr id="1535" name="Google Shape;1535;p39">
                <a:extLst>
                  <a:ext uri="{FF2B5EF4-FFF2-40B4-BE49-F238E27FC236}">
                    <a16:creationId xmlns:a16="http://schemas.microsoft.com/office/drawing/2014/main" id="{D5AA272A-DC4A-59F8-F061-87EAE2F17178}"/>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a:extLst>
                  <a:ext uri="{FF2B5EF4-FFF2-40B4-BE49-F238E27FC236}">
                    <a16:creationId xmlns:a16="http://schemas.microsoft.com/office/drawing/2014/main" id="{9A1B79DE-BF15-6456-EE11-5778C2A5FC4F}"/>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a:extLst>
                <a:ext uri="{FF2B5EF4-FFF2-40B4-BE49-F238E27FC236}">
                  <a16:creationId xmlns:a16="http://schemas.microsoft.com/office/drawing/2014/main" id="{5C99E58D-02FF-85CE-F524-F4634F46F1E9}"/>
                </a:ext>
              </a:extLst>
            </p:cNvPr>
            <p:cNvGrpSpPr/>
            <p:nvPr/>
          </p:nvGrpSpPr>
          <p:grpSpPr>
            <a:xfrm>
              <a:off x="-123925" y="4386226"/>
              <a:ext cx="4558967" cy="134100"/>
              <a:chOff x="796100" y="3019701"/>
              <a:chExt cx="4558967" cy="134100"/>
            </a:xfrm>
          </p:grpSpPr>
          <p:sp>
            <p:nvSpPr>
              <p:cNvPr id="1538" name="Google Shape;1538;p39">
                <a:extLst>
                  <a:ext uri="{FF2B5EF4-FFF2-40B4-BE49-F238E27FC236}">
                    <a16:creationId xmlns:a16="http://schemas.microsoft.com/office/drawing/2014/main" id="{F4E21F34-48D6-129C-8556-9515EDDE8F6C}"/>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a:extLst>
                  <a:ext uri="{FF2B5EF4-FFF2-40B4-BE49-F238E27FC236}">
                    <a16:creationId xmlns:a16="http://schemas.microsoft.com/office/drawing/2014/main" id="{BF36A57F-A87F-A274-87A4-56B4F0D7FDFE}"/>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a:extLst>
                  <a:ext uri="{FF2B5EF4-FFF2-40B4-BE49-F238E27FC236}">
                    <a16:creationId xmlns:a16="http://schemas.microsoft.com/office/drawing/2014/main" id="{C4E78A2C-9DC2-0EBA-DD05-78EEAE59C56E}"/>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TextBox 1">
            <a:extLst>
              <a:ext uri="{FF2B5EF4-FFF2-40B4-BE49-F238E27FC236}">
                <a16:creationId xmlns:a16="http://schemas.microsoft.com/office/drawing/2014/main" id="{EC3A196A-5A67-B375-E353-2A63450A02E7}"/>
              </a:ext>
            </a:extLst>
          </p:cNvPr>
          <p:cNvSpPr txBox="1"/>
          <p:nvPr/>
        </p:nvSpPr>
        <p:spPr>
          <a:xfrm>
            <a:off x="731184" y="1075765"/>
            <a:ext cx="7135345"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bg2"/>
                </a:solidFill>
                <a:latin typeface="Bahnschrift"/>
                <a:ea typeface="Segoe WPC"/>
                <a:cs typeface="Segoe WPC"/>
              </a:rPr>
              <a:t>Quy </a:t>
            </a:r>
            <a:r>
              <a:rPr lang="en-US" b="1" err="1">
                <a:solidFill>
                  <a:schemeClr val="bg2"/>
                </a:solidFill>
                <a:latin typeface="Bahnschrift"/>
                <a:ea typeface="Segoe WPC"/>
                <a:cs typeface="Segoe WPC"/>
              </a:rPr>
              <a:t>trình</a:t>
            </a:r>
            <a:r>
              <a:rPr lang="en-US" b="1">
                <a:solidFill>
                  <a:schemeClr val="bg2"/>
                </a:solidFill>
                <a:latin typeface="Bahnschrift"/>
                <a:ea typeface="Segoe WPC"/>
                <a:cs typeface="Segoe WPC"/>
              </a:rPr>
              <a:t> 4 </a:t>
            </a:r>
            <a:r>
              <a:rPr lang="en-US" b="1" err="1">
                <a:solidFill>
                  <a:schemeClr val="bg2"/>
                </a:solidFill>
                <a:latin typeface="Bahnschrift"/>
                <a:ea typeface="Segoe WPC"/>
                <a:cs typeface="Segoe WPC"/>
              </a:rPr>
              <a:t>Bước</a:t>
            </a:r>
            <a:r>
              <a:rPr lang="en-US">
                <a:solidFill>
                  <a:schemeClr val="bg2"/>
                </a:solidFill>
                <a:latin typeface="Bahnschrift"/>
                <a:ea typeface="Segoe WPC"/>
                <a:cs typeface="Segoe WPC"/>
              </a:rPr>
              <a:t>:</a:t>
            </a:r>
            <a:endParaRPr lang="en-US">
              <a:solidFill>
                <a:schemeClr val="bg2"/>
              </a:solidFill>
              <a:latin typeface="Bahnschrift"/>
            </a:endParaRPr>
          </a:p>
          <a:p>
            <a:pPr marL="228600" lvl="1" indent="-228600">
              <a:buFont typeface=""/>
              <a:buChar char="•"/>
            </a:pPr>
            <a:r>
              <a:rPr lang="en-US" b="1" err="1">
                <a:solidFill>
                  <a:schemeClr val="bg2"/>
                </a:solidFill>
                <a:latin typeface="Bahnschrift"/>
                <a:ea typeface="Segoe WPC"/>
                <a:cs typeface="Segoe WPC"/>
              </a:rPr>
              <a:t>Tiếp</a:t>
            </a:r>
            <a:r>
              <a:rPr lang="en-US" b="1">
                <a:solidFill>
                  <a:schemeClr val="bg2"/>
                </a:solidFill>
                <a:latin typeface="Bahnschrift"/>
                <a:ea typeface="Segoe WPC"/>
                <a:cs typeface="Segoe WPC"/>
              </a:rPr>
              <a:t> </a:t>
            </a:r>
            <a:r>
              <a:rPr lang="en-US" b="1" err="1">
                <a:solidFill>
                  <a:schemeClr val="bg2"/>
                </a:solidFill>
                <a:latin typeface="Bahnschrift"/>
                <a:ea typeface="Segoe WPC"/>
                <a:cs typeface="Segoe WPC"/>
              </a:rPr>
              <a:t>nhận</a:t>
            </a:r>
            <a:r>
              <a:rPr lang="en-US" b="1">
                <a:solidFill>
                  <a:schemeClr val="bg2"/>
                </a:solidFill>
                <a:latin typeface="Bahnschrift"/>
                <a:ea typeface="Segoe WPC"/>
                <a:cs typeface="Segoe WPC"/>
              </a:rPr>
              <a:t> &amp; </a:t>
            </a:r>
            <a:r>
              <a:rPr lang="en-US" b="1" err="1">
                <a:solidFill>
                  <a:schemeClr val="bg2"/>
                </a:solidFill>
                <a:latin typeface="Bahnschrift"/>
                <a:ea typeface="Segoe WPC"/>
                <a:cs typeface="Segoe WPC"/>
              </a:rPr>
              <a:t>Phân</a:t>
            </a:r>
            <a:r>
              <a:rPr lang="en-US" b="1">
                <a:solidFill>
                  <a:schemeClr val="bg2"/>
                </a:solidFill>
                <a:latin typeface="Bahnschrift"/>
                <a:ea typeface="Segoe WPC"/>
                <a:cs typeface="Segoe WPC"/>
              </a:rPr>
              <a:t> </a:t>
            </a:r>
            <a:r>
              <a:rPr lang="en-US" b="1" err="1">
                <a:solidFill>
                  <a:schemeClr val="bg2"/>
                </a:solidFill>
                <a:latin typeface="Bahnschrift"/>
                <a:ea typeface="Segoe WPC"/>
                <a:cs typeface="Segoe WPC"/>
              </a:rPr>
              <a:t>rã</a:t>
            </a:r>
            <a:r>
              <a:rPr lang="en-US" b="1">
                <a:solidFill>
                  <a:schemeClr val="bg2"/>
                </a:solidFill>
                <a:latin typeface="Bahnschrift"/>
                <a:ea typeface="Segoe WPC"/>
                <a:cs typeface="Segoe WPC"/>
              </a:rPr>
              <a:t> (Plan)</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Người</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dùng</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nhập</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câu</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hỏi</a:t>
            </a:r>
            <a:r>
              <a:rPr lang="en-US">
                <a:solidFill>
                  <a:schemeClr val="bg2"/>
                </a:solidFill>
                <a:latin typeface="Bahnschrift"/>
                <a:ea typeface="Segoe WPC"/>
                <a:cs typeface="Segoe WPC"/>
              </a:rPr>
              <a:t> -&gt; </a:t>
            </a:r>
            <a:r>
              <a:rPr lang="en-US" b="1">
                <a:solidFill>
                  <a:schemeClr val="bg2"/>
                </a:solidFill>
                <a:latin typeface="Bahnschrift"/>
                <a:ea typeface="Segoe WPC"/>
                <a:cs typeface="Segoe WPC"/>
              </a:rPr>
              <a:t>Manager</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phân</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tích</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và</a:t>
            </a:r>
            <a:r>
              <a:rPr lang="en-US">
                <a:solidFill>
                  <a:schemeClr val="bg2"/>
                </a:solidFill>
                <a:latin typeface="Bahnschrift"/>
                <a:ea typeface="Segoe WPC"/>
                <a:cs typeface="Segoe WPC"/>
              </a:rPr>
              <a:t> chia </a:t>
            </a:r>
            <a:r>
              <a:rPr lang="en-US" err="1">
                <a:solidFill>
                  <a:schemeClr val="bg2"/>
                </a:solidFill>
                <a:latin typeface="Bahnschrift"/>
                <a:ea typeface="Segoe WPC"/>
                <a:cs typeface="Segoe WPC"/>
              </a:rPr>
              <a:t>nhỏ</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thành</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chuỗi</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các</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nhiệm</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vụ</a:t>
            </a:r>
            <a:r>
              <a:rPr lang="en-US">
                <a:solidFill>
                  <a:schemeClr val="bg2"/>
                </a:solidFill>
                <a:latin typeface="Bahnschrift"/>
                <a:ea typeface="Segoe WPC"/>
                <a:cs typeface="Segoe WPC"/>
              </a:rPr>
              <a:t> con (Sub-tasks) </a:t>
            </a:r>
            <a:r>
              <a:rPr lang="en-US" err="1">
                <a:solidFill>
                  <a:schemeClr val="bg2"/>
                </a:solidFill>
                <a:latin typeface="Bahnschrift"/>
                <a:ea typeface="Segoe WPC"/>
                <a:cs typeface="Segoe WPC"/>
              </a:rPr>
              <a:t>bằng</a:t>
            </a:r>
            <a:r>
              <a:rPr lang="en-US">
                <a:solidFill>
                  <a:schemeClr val="bg2"/>
                </a:solidFill>
                <a:latin typeface="Bahnschrift"/>
                <a:ea typeface="Segoe WPC"/>
                <a:cs typeface="Segoe WPC"/>
              </a:rPr>
              <a:t> Interpreter Agent.</a:t>
            </a:r>
          </a:p>
          <a:p>
            <a:pPr marL="228600" lvl="1" indent="-228600">
              <a:buFont typeface=""/>
              <a:buChar char="•"/>
            </a:pPr>
            <a:r>
              <a:rPr lang="en-US" b="1" err="1">
                <a:solidFill>
                  <a:schemeClr val="bg2"/>
                </a:solidFill>
                <a:latin typeface="Bahnschrift"/>
                <a:ea typeface="Segoe WPC"/>
                <a:cs typeface="Segoe WPC"/>
              </a:rPr>
              <a:t>Thực</a:t>
            </a:r>
            <a:r>
              <a:rPr lang="en-US" b="1">
                <a:solidFill>
                  <a:schemeClr val="bg2"/>
                </a:solidFill>
                <a:latin typeface="Bahnschrift"/>
                <a:ea typeface="Segoe WPC"/>
                <a:cs typeface="Segoe WPC"/>
              </a:rPr>
              <a:t> </a:t>
            </a:r>
            <a:r>
              <a:rPr lang="en-US" b="1" err="1">
                <a:solidFill>
                  <a:schemeClr val="bg2"/>
                </a:solidFill>
                <a:latin typeface="Bahnschrift"/>
                <a:ea typeface="Segoe WPC"/>
                <a:cs typeface="Segoe WPC"/>
              </a:rPr>
              <a:t>thi</a:t>
            </a:r>
            <a:r>
              <a:rPr lang="en-US" b="1">
                <a:solidFill>
                  <a:schemeClr val="bg2"/>
                </a:solidFill>
                <a:latin typeface="Bahnschrift"/>
                <a:ea typeface="Segoe WPC"/>
                <a:cs typeface="Segoe WPC"/>
              </a:rPr>
              <a:t> (Execute)</a:t>
            </a:r>
            <a:r>
              <a:rPr lang="en-US">
                <a:solidFill>
                  <a:schemeClr val="bg2"/>
                </a:solidFill>
                <a:latin typeface="Bahnschrift"/>
                <a:ea typeface="Segoe WPC"/>
                <a:cs typeface="Segoe WPC"/>
              </a:rPr>
              <a:t>:</a:t>
            </a:r>
          </a:p>
          <a:p>
            <a:pPr marL="685800" lvl="3" indent="-228600">
              <a:buFont typeface=""/>
              <a:buChar char="•"/>
            </a:pPr>
            <a:r>
              <a:rPr lang="en-US">
                <a:solidFill>
                  <a:schemeClr val="bg2"/>
                </a:solidFill>
                <a:latin typeface="Bahnschrift"/>
                <a:ea typeface="Segoe WPC"/>
                <a:cs typeface="Segoe WPC"/>
              </a:rPr>
              <a:t>Manager </a:t>
            </a:r>
            <a:r>
              <a:rPr lang="en-US" err="1">
                <a:solidFill>
                  <a:schemeClr val="bg2"/>
                </a:solidFill>
                <a:latin typeface="Bahnschrift"/>
                <a:ea typeface="Segoe WPC"/>
                <a:cs typeface="Segoe WPC"/>
              </a:rPr>
              <a:t>giao</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việc</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cho</a:t>
            </a:r>
            <a:r>
              <a:rPr lang="en-US">
                <a:solidFill>
                  <a:schemeClr val="bg2"/>
                </a:solidFill>
                <a:latin typeface="Bahnschrift"/>
                <a:ea typeface="Segoe WPC"/>
                <a:cs typeface="Segoe WPC"/>
              </a:rPr>
              <a:t> Analyst </a:t>
            </a:r>
            <a:r>
              <a:rPr lang="en-US" err="1">
                <a:solidFill>
                  <a:schemeClr val="bg2"/>
                </a:solidFill>
                <a:latin typeface="Bahnschrift"/>
                <a:ea typeface="Segoe WPC"/>
                <a:cs typeface="Segoe WPC"/>
              </a:rPr>
              <a:t>để</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lấy</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danh</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sách</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ứng</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viên</a:t>
            </a:r>
            <a:r>
              <a:rPr lang="en-US">
                <a:solidFill>
                  <a:schemeClr val="bg2"/>
                </a:solidFill>
                <a:latin typeface="Bahnschrift"/>
                <a:ea typeface="Segoe WPC"/>
                <a:cs typeface="Segoe WPC"/>
              </a:rPr>
              <a:t> (candidate items) </a:t>
            </a:r>
            <a:r>
              <a:rPr lang="en-US" err="1">
                <a:solidFill>
                  <a:schemeClr val="bg2"/>
                </a:solidFill>
                <a:latin typeface="Bahnschrift"/>
                <a:ea typeface="Segoe WPC"/>
                <a:cs typeface="Segoe WPC"/>
              </a:rPr>
              <a:t>từ</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dữ</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liệu</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huấn</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luyện</a:t>
            </a:r>
            <a:r>
              <a:rPr lang="en-US">
                <a:solidFill>
                  <a:schemeClr val="bg2"/>
                </a:solidFill>
                <a:latin typeface="Bahnschrift"/>
                <a:ea typeface="Segoe WPC"/>
                <a:cs typeface="Segoe WPC"/>
              </a:rPr>
              <a:t>.</a:t>
            </a:r>
          </a:p>
          <a:p>
            <a:pPr marL="685800" lvl="3" indent="-228600">
              <a:buFont typeface=""/>
              <a:buChar char="•"/>
            </a:pPr>
            <a:r>
              <a:rPr lang="en-US">
                <a:solidFill>
                  <a:schemeClr val="bg2"/>
                </a:solidFill>
                <a:latin typeface="Bahnschrift"/>
                <a:ea typeface="Segoe WPC"/>
                <a:cs typeface="Segoe WPC"/>
              </a:rPr>
              <a:t>Manager </a:t>
            </a:r>
            <a:r>
              <a:rPr lang="en-US" err="1">
                <a:solidFill>
                  <a:schemeClr val="bg2"/>
                </a:solidFill>
                <a:latin typeface="Bahnschrift"/>
                <a:ea typeface="Segoe WPC"/>
                <a:cs typeface="Segoe WPC"/>
              </a:rPr>
              <a:t>yêu</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cầu</a:t>
            </a:r>
            <a:r>
              <a:rPr lang="en-US">
                <a:solidFill>
                  <a:schemeClr val="bg2"/>
                </a:solidFill>
                <a:latin typeface="Bahnschrift"/>
                <a:ea typeface="Segoe WPC"/>
                <a:cs typeface="Segoe WPC"/>
              </a:rPr>
              <a:t> Searcher </a:t>
            </a:r>
            <a:r>
              <a:rPr lang="en-US" err="1">
                <a:solidFill>
                  <a:schemeClr val="bg2"/>
                </a:solidFill>
                <a:latin typeface="Bahnschrift"/>
                <a:ea typeface="Segoe WPC"/>
                <a:cs typeface="Segoe WPC"/>
              </a:rPr>
              <a:t>lấy</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thông</a:t>
            </a:r>
            <a:r>
              <a:rPr lang="en-US">
                <a:solidFill>
                  <a:schemeClr val="bg2"/>
                </a:solidFill>
                <a:latin typeface="Bahnschrift"/>
                <a:ea typeface="Segoe WPC"/>
                <a:cs typeface="Segoe WPC"/>
              </a:rPr>
              <a:t> tin </a:t>
            </a:r>
            <a:r>
              <a:rPr lang="en-US" err="1">
                <a:solidFill>
                  <a:schemeClr val="bg2"/>
                </a:solidFill>
                <a:latin typeface="Bahnschrift"/>
                <a:ea typeface="Segoe WPC"/>
                <a:cs typeface="Segoe WPC"/>
              </a:rPr>
              <a:t>mô</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tả</a:t>
            </a:r>
            <a:r>
              <a:rPr lang="en-US">
                <a:solidFill>
                  <a:schemeClr val="bg2"/>
                </a:solidFill>
                <a:latin typeface="Bahnschrift"/>
                <a:ea typeface="Segoe WPC"/>
                <a:cs typeface="Segoe WPC"/>
              </a:rPr>
              <a:t> chi </a:t>
            </a:r>
            <a:r>
              <a:rPr lang="en-US" err="1">
                <a:solidFill>
                  <a:schemeClr val="bg2"/>
                </a:solidFill>
                <a:latin typeface="Bahnschrift"/>
                <a:ea typeface="Segoe WPC"/>
                <a:cs typeface="Segoe WPC"/>
              </a:rPr>
              <a:t>tiết</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nếu</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cần</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giải</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thích</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lý</a:t>
            </a:r>
            <a:r>
              <a:rPr lang="en-US">
                <a:solidFill>
                  <a:schemeClr val="bg2"/>
                </a:solidFill>
                <a:latin typeface="Bahnschrift"/>
                <a:ea typeface="Segoe WPC"/>
                <a:cs typeface="Segoe WPC"/>
              </a:rPr>
              <a:t> do </a:t>
            </a:r>
            <a:r>
              <a:rPr lang="en-US" err="1">
                <a:solidFill>
                  <a:schemeClr val="bg2"/>
                </a:solidFill>
                <a:latin typeface="Bahnschrift"/>
                <a:ea typeface="Segoe WPC"/>
                <a:cs typeface="Segoe WPC"/>
              </a:rPr>
              <a:t>gợi</a:t>
            </a:r>
            <a:r>
              <a:rPr lang="en-US">
                <a:solidFill>
                  <a:schemeClr val="bg2"/>
                </a:solidFill>
                <a:latin typeface="Bahnschrift"/>
                <a:ea typeface="Segoe WPC"/>
                <a:cs typeface="Segoe WPC"/>
              </a:rPr>
              <a:t> ý.</a:t>
            </a:r>
          </a:p>
          <a:p>
            <a:pPr marL="228600" lvl="1" indent="-228600">
              <a:buFont typeface=""/>
              <a:buChar char="•"/>
            </a:pPr>
            <a:r>
              <a:rPr lang="en-US" b="1" err="1">
                <a:solidFill>
                  <a:schemeClr val="bg2"/>
                </a:solidFill>
                <a:latin typeface="Bahnschrift"/>
                <a:ea typeface="Segoe WPC"/>
                <a:cs typeface="Segoe WPC"/>
              </a:rPr>
              <a:t>Tổng</a:t>
            </a:r>
            <a:r>
              <a:rPr lang="en-US" b="1">
                <a:solidFill>
                  <a:schemeClr val="bg2"/>
                </a:solidFill>
                <a:latin typeface="Bahnschrift"/>
                <a:ea typeface="Segoe WPC"/>
                <a:cs typeface="Segoe WPC"/>
              </a:rPr>
              <a:t> </a:t>
            </a:r>
            <a:r>
              <a:rPr lang="en-US" b="1" err="1">
                <a:solidFill>
                  <a:schemeClr val="bg2"/>
                </a:solidFill>
                <a:latin typeface="Bahnschrift"/>
                <a:ea typeface="Segoe WPC"/>
                <a:cs typeface="Segoe WPC"/>
              </a:rPr>
              <a:t>hợp</a:t>
            </a:r>
            <a:r>
              <a:rPr lang="en-US" b="1">
                <a:solidFill>
                  <a:schemeClr val="bg2"/>
                </a:solidFill>
                <a:latin typeface="Bahnschrift"/>
                <a:ea typeface="Segoe WPC"/>
                <a:cs typeface="Segoe WPC"/>
              </a:rPr>
              <a:t> &amp; Suy </a:t>
            </a:r>
            <a:r>
              <a:rPr lang="en-US" b="1" err="1">
                <a:solidFill>
                  <a:schemeClr val="bg2"/>
                </a:solidFill>
                <a:latin typeface="Bahnschrift"/>
                <a:ea typeface="Segoe WPC"/>
                <a:cs typeface="Segoe WPC"/>
              </a:rPr>
              <a:t>luận</a:t>
            </a:r>
            <a:r>
              <a:rPr lang="en-US" b="1">
                <a:solidFill>
                  <a:schemeClr val="bg2"/>
                </a:solidFill>
                <a:latin typeface="Bahnschrift"/>
                <a:ea typeface="Segoe WPC"/>
                <a:cs typeface="Segoe WPC"/>
              </a:rPr>
              <a:t> (Reasoning)</a:t>
            </a:r>
            <a:r>
              <a:rPr lang="en-US">
                <a:solidFill>
                  <a:schemeClr val="bg2"/>
                </a:solidFill>
                <a:latin typeface="Bahnschrift"/>
                <a:ea typeface="Segoe WPC"/>
                <a:cs typeface="Segoe WPC"/>
              </a:rPr>
              <a:t>: Các </a:t>
            </a:r>
            <a:r>
              <a:rPr lang="en-US" err="1">
                <a:solidFill>
                  <a:schemeClr val="bg2"/>
                </a:solidFill>
                <a:latin typeface="Bahnschrift"/>
                <a:ea typeface="Segoe WPC"/>
                <a:cs typeface="Segoe WPC"/>
              </a:rPr>
              <a:t>kết</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quả</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từ</a:t>
            </a:r>
            <a:r>
              <a:rPr lang="en-US">
                <a:solidFill>
                  <a:schemeClr val="bg2"/>
                </a:solidFill>
                <a:latin typeface="Bahnschrift"/>
                <a:ea typeface="Segoe WPC"/>
                <a:cs typeface="Segoe WPC"/>
              </a:rPr>
              <a:t> Analyst </a:t>
            </a:r>
            <a:r>
              <a:rPr lang="en-US" err="1">
                <a:solidFill>
                  <a:schemeClr val="bg2"/>
                </a:solidFill>
                <a:latin typeface="Bahnschrift"/>
                <a:ea typeface="Segoe WPC"/>
                <a:cs typeface="Segoe WPC"/>
              </a:rPr>
              <a:t>và</a:t>
            </a:r>
            <a:r>
              <a:rPr lang="en-US">
                <a:solidFill>
                  <a:schemeClr val="bg2"/>
                </a:solidFill>
                <a:latin typeface="Bahnschrift"/>
                <a:ea typeface="Segoe WPC"/>
                <a:cs typeface="Segoe WPC"/>
              </a:rPr>
              <a:t> Searcher </a:t>
            </a:r>
            <a:r>
              <a:rPr lang="en-US" err="1">
                <a:solidFill>
                  <a:schemeClr val="bg2"/>
                </a:solidFill>
                <a:latin typeface="Bahnschrift"/>
                <a:ea typeface="Segoe WPC"/>
                <a:cs typeface="Segoe WPC"/>
              </a:rPr>
              <a:t>được</a:t>
            </a:r>
            <a:r>
              <a:rPr lang="en-US">
                <a:solidFill>
                  <a:schemeClr val="bg2"/>
                </a:solidFill>
                <a:latin typeface="Bahnschrift"/>
                <a:ea typeface="Segoe WPC"/>
                <a:cs typeface="Segoe WPC"/>
              </a:rPr>
              <a:t> Manager </a:t>
            </a:r>
            <a:r>
              <a:rPr lang="en-US" err="1">
                <a:solidFill>
                  <a:schemeClr val="bg2"/>
                </a:solidFill>
                <a:latin typeface="Bahnschrift"/>
                <a:ea typeface="Segoe WPC"/>
                <a:cs typeface="Segoe WPC"/>
              </a:rPr>
              <a:t>tổng</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hợp</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lại</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Hệ</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thống</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sử</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dụng</a:t>
            </a:r>
            <a:r>
              <a:rPr lang="en-US">
                <a:solidFill>
                  <a:schemeClr val="bg2"/>
                </a:solidFill>
                <a:latin typeface="Bahnschrift"/>
                <a:ea typeface="Segoe WPC"/>
                <a:cs typeface="Segoe WPC"/>
              </a:rPr>
              <a:t> LLM </a:t>
            </a:r>
            <a:r>
              <a:rPr lang="en-US" err="1">
                <a:solidFill>
                  <a:schemeClr val="bg2"/>
                </a:solidFill>
                <a:latin typeface="Bahnschrift"/>
                <a:ea typeface="Segoe WPC"/>
                <a:cs typeface="Segoe WPC"/>
              </a:rPr>
              <a:t>để</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sinh</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ra</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lời</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giải</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thích</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tự</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nhiên</a:t>
            </a:r>
            <a:r>
              <a:rPr lang="en-US">
                <a:solidFill>
                  <a:schemeClr val="bg2"/>
                </a:solidFill>
                <a:latin typeface="Bahnschrift"/>
                <a:ea typeface="Segoe WPC"/>
                <a:cs typeface="Segoe WPC"/>
              </a:rPr>
              <a:t>.</a:t>
            </a:r>
          </a:p>
          <a:p>
            <a:pPr marL="228600" lvl="1" indent="-228600">
              <a:buFont typeface=""/>
              <a:buChar char="•"/>
            </a:pPr>
            <a:r>
              <a:rPr lang="en-US" b="1" err="1">
                <a:solidFill>
                  <a:schemeClr val="bg2"/>
                </a:solidFill>
                <a:latin typeface="Bahnschrift"/>
                <a:ea typeface="Segoe WPC"/>
                <a:cs typeface="Segoe WPC"/>
              </a:rPr>
              <a:t>Tự</a:t>
            </a:r>
            <a:r>
              <a:rPr lang="en-US" b="1">
                <a:solidFill>
                  <a:schemeClr val="bg2"/>
                </a:solidFill>
                <a:latin typeface="Bahnschrift"/>
                <a:ea typeface="Segoe WPC"/>
                <a:cs typeface="Segoe WPC"/>
              </a:rPr>
              <a:t> </a:t>
            </a:r>
            <a:r>
              <a:rPr lang="en-US" b="1" err="1">
                <a:solidFill>
                  <a:schemeClr val="bg2"/>
                </a:solidFill>
                <a:latin typeface="Bahnschrift"/>
                <a:ea typeface="Segoe WPC"/>
                <a:cs typeface="Segoe WPC"/>
              </a:rPr>
              <a:t>Phản</a:t>
            </a:r>
            <a:r>
              <a:rPr lang="en-US" b="1">
                <a:solidFill>
                  <a:schemeClr val="bg2"/>
                </a:solidFill>
                <a:latin typeface="Bahnschrift"/>
                <a:ea typeface="Segoe WPC"/>
                <a:cs typeface="Segoe WPC"/>
              </a:rPr>
              <a:t> </a:t>
            </a:r>
            <a:r>
              <a:rPr lang="en-US" b="1" err="1">
                <a:solidFill>
                  <a:schemeClr val="bg2"/>
                </a:solidFill>
                <a:latin typeface="Bahnschrift"/>
                <a:ea typeface="Segoe WPC"/>
                <a:cs typeface="Segoe WPC"/>
              </a:rPr>
              <a:t>biện</a:t>
            </a:r>
            <a:r>
              <a:rPr lang="en-US" b="1">
                <a:solidFill>
                  <a:schemeClr val="bg2"/>
                </a:solidFill>
                <a:latin typeface="Bahnschrift"/>
                <a:ea typeface="Segoe WPC"/>
                <a:cs typeface="Segoe WPC"/>
              </a:rPr>
              <a:t> (Reflect)</a:t>
            </a:r>
            <a:r>
              <a:rPr lang="en-US">
                <a:solidFill>
                  <a:schemeClr val="bg2"/>
                </a:solidFill>
                <a:latin typeface="Bahnschrift"/>
                <a:ea typeface="Segoe WPC"/>
                <a:cs typeface="Segoe WPC"/>
              </a:rPr>
              <a:t>: Reflector </a:t>
            </a:r>
            <a:r>
              <a:rPr lang="en-US" err="1">
                <a:solidFill>
                  <a:schemeClr val="bg2"/>
                </a:solidFill>
                <a:latin typeface="Bahnschrift"/>
                <a:ea typeface="Segoe WPC"/>
                <a:cs typeface="Segoe WPC"/>
              </a:rPr>
              <a:t>xem</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xét</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câu</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trả</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lời</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kiểm</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tra</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độ</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chính</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xác</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và</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tính</a:t>
            </a:r>
            <a:r>
              <a:rPr lang="en-US">
                <a:solidFill>
                  <a:schemeClr val="bg2"/>
                </a:solidFill>
                <a:latin typeface="Bahnschrift"/>
                <a:ea typeface="Segoe WPC"/>
                <a:cs typeface="Segoe WPC"/>
              </a:rPr>
              <a:t> logic. </a:t>
            </a:r>
            <a:r>
              <a:rPr lang="en-US" err="1">
                <a:solidFill>
                  <a:schemeClr val="bg2"/>
                </a:solidFill>
                <a:latin typeface="Bahnschrift"/>
                <a:ea typeface="Segoe WPC"/>
                <a:cs typeface="Segoe WPC"/>
              </a:rPr>
              <a:t>Nếu</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chưa</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đạt</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quy</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trình</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sẽ</a:t>
            </a:r>
            <a:r>
              <a:rPr lang="en-US">
                <a:solidFill>
                  <a:schemeClr val="bg2"/>
                </a:solidFill>
                <a:latin typeface="Bahnschrift"/>
                <a:ea typeface="Segoe WPC"/>
                <a:cs typeface="Segoe WPC"/>
              </a:rPr>
              <a:t> quay </a:t>
            </a:r>
            <a:r>
              <a:rPr lang="en-US" err="1">
                <a:solidFill>
                  <a:schemeClr val="bg2"/>
                </a:solidFill>
                <a:latin typeface="Bahnschrift"/>
                <a:ea typeface="Segoe WPC"/>
                <a:cs typeface="Segoe WPC"/>
              </a:rPr>
              <a:t>lại</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bước</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thực</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thi</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để</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tinh</a:t>
            </a:r>
            <a:r>
              <a:rPr lang="en-US">
                <a:solidFill>
                  <a:schemeClr val="bg2"/>
                </a:solidFill>
                <a:latin typeface="Bahnschrift"/>
                <a:ea typeface="Segoe WPC"/>
                <a:cs typeface="Segoe WPC"/>
              </a:rPr>
              <a:t> </a:t>
            </a:r>
            <a:r>
              <a:rPr lang="en-US" err="1">
                <a:solidFill>
                  <a:schemeClr val="bg2"/>
                </a:solidFill>
                <a:latin typeface="Bahnschrift"/>
                <a:ea typeface="Segoe WPC"/>
                <a:cs typeface="Segoe WPC"/>
              </a:rPr>
              <a:t>chỉnh</a:t>
            </a:r>
            <a:r>
              <a:rPr lang="en-US">
                <a:solidFill>
                  <a:schemeClr val="bg2"/>
                </a:solidFill>
                <a:latin typeface="Bahnschrift"/>
                <a:ea typeface="Segoe WPC"/>
                <a:cs typeface="Segoe WPC"/>
              </a:rPr>
              <a:t>.</a:t>
            </a:r>
          </a:p>
          <a:p>
            <a:pPr algn="ctr"/>
            <a:endParaRPr lang="en-US">
              <a:solidFill>
                <a:schemeClr val="bg2"/>
              </a:solidFill>
              <a:latin typeface="Bahnschrift"/>
            </a:endParaRPr>
          </a:p>
        </p:txBody>
      </p:sp>
    </p:spTree>
    <p:extLst>
      <p:ext uri="{BB962C8B-B14F-4D97-AF65-F5344CB8AC3E}">
        <p14:creationId xmlns:p14="http://schemas.microsoft.com/office/powerpoint/2010/main" val="2979754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544"/>
        <p:cNvGrpSpPr/>
        <p:nvPr/>
      </p:nvGrpSpPr>
      <p:grpSpPr>
        <a:xfrm>
          <a:off x="0" y="0"/>
          <a:ext cx="0" cy="0"/>
          <a:chOff x="0" y="0"/>
          <a:chExt cx="0" cy="0"/>
        </a:xfrm>
      </p:grpSpPr>
      <p:grpSp>
        <p:nvGrpSpPr>
          <p:cNvPr id="1545" name="Google Shape;1545;p40"/>
          <p:cNvGrpSpPr/>
          <p:nvPr/>
        </p:nvGrpSpPr>
        <p:grpSpPr>
          <a:xfrm>
            <a:off x="-2765817" y="-2958610"/>
            <a:ext cx="8164418" cy="6343459"/>
            <a:chOff x="-2613417" y="-2806210"/>
            <a:chExt cx="8164418" cy="6343459"/>
          </a:xfrm>
        </p:grpSpPr>
        <p:grpSp>
          <p:nvGrpSpPr>
            <p:cNvPr id="1546" name="Google Shape;1546;p40"/>
            <p:cNvGrpSpPr/>
            <p:nvPr/>
          </p:nvGrpSpPr>
          <p:grpSpPr>
            <a:xfrm>
              <a:off x="-2613417" y="-2806210"/>
              <a:ext cx="8164418" cy="6343459"/>
              <a:chOff x="-2613417" y="-2806210"/>
              <a:chExt cx="8164418" cy="6343459"/>
            </a:xfrm>
          </p:grpSpPr>
          <p:grpSp>
            <p:nvGrpSpPr>
              <p:cNvPr id="1547" name="Google Shape;1547;p40"/>
              <p:cNvGrpSpPr/>
              <p:nvPr/>
            </p:nvGrpSpPr>
            <p:grpSpPr>
              <a:xfrm>
                <a:off x="-191059" y="95963"/>
                <a:ext cx="1538562" cy="971589"/>
                <a:chOff x="-191059" y="95963"/>
                <a:chExt cx="1538562" cy="971589"/>
              </a:xfrm>
            </p:grpSpPr>
            <p:grpSp>
              <p:nvGrpSpPr>
                <p:cNvPr id="1548" name="Google Shape;1548;p40"/>
                <p:cNvGrpSpPr/>
                <p:nvPr/>
              </p:nvGrpSpPr>
              <p:grpSpPr>
                <a:xfrm>
                  <a:off x="-191059" y="201619"/>
                  <a:ext cx="904284" cy="865933"/>
                  <a:chOff x="2038491" y="-937756"/>
                  <a:chExt cx="904284" cy="865933"/>
                </a:xfrm>
              </p:grpSpPr>
              <p:grpSp>
                <p:nvGrpSpPr>
                  <p:cNvPr id="1549" name="Google Shape;1549;p40"/>
                  <p:cNvGrpSpPr/>
                  <p:nvPr/>
                </p:nvGrpSpPr>
                <p:grpSpPr>
                  <a:xfrm>
                    <a:off x="2096570" y="-863491"/>
                    <a:ext cx="717621" cy="717392"/>
                    <a:chOff x="1483457" y="3953671"/>
                    <a:chExt cx="717621" cy="717392"/>
                  </a:xfrm>
                </p:grpSpPr>
                <p:sp>
                  <p:nvSpPr>
                    <p:cNvPr id="1550" name="Google Shape;1550;p4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5" name="Google Shape;1555;p40"/>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6" name="Google Shape;1556;p40"/>
                <p:cNvGrpSpPr/>
                <p:nvPr/>
              </p:nvGrpSpPr>
              <p:grpSpPr>
                <a:xfrm>
                  <a:off x="584533" y="95963"/>
                  <a:ext cx="473483" cy="453403"/>
                  <a:chOff x="2038491" y="-937756"/>
                  <a:chExt cx="904284" cy="865933"/>
                </a:xfrm>
              </p:grpSpPr>
              <p:grpSp>
                <p:nvGrpSpPr>
                  <p:cNvPr id="1557" name="Google Shape;1557;p40"/>
                  <p:cNvGrpSpPr/>
                  <p:nvPr/>
                </p:nvGrpSpPr>
                <p:grpSpPr>
                  <a:xfrm>
                    <a:off x="2096570" y="-863491"/>
                    <a:ext cx="717621" cy="717392"/>
                    <a:chOff x="1483457" y="3953671"/>
                    <a:chExt cx="717621" cy="717392"/>
                  </a:xfrm>
                </p:grpSpPr>
                <p:sp>
                  <p:nvSpPr>
                    <p:cNvPr id="1558" name="Google Shape;1558;p4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3" name="Google Shape;1563;p40"/>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4" name="Google Shape;1564;p40"/>
                <p:cNvGrpSpPr/>
                <p:nvPr/>
              </p:nvGrpSpPr>
              <p:grpSpPr>
                <a:xfrm>
                  <a:off x="530445" y="481913"/>
                  <a:ext cx="473483" cy="453403"/>
                  <a:chOff x="2038491" y="-937756"/>
                  <a:chExt cx="904284" cy="865933"/>
                </a:xfrm>
              </p:grpSpPr>
              <p:grpSp>
                <p:nvGrpSpPr>
                  <p:cNvPr id="1565" name="Google Shape;1565;p40"/>
                  <p:cNvGrpSpPr/>
                  <p:nvPr/>
                </p:nvGrpSpPr>
                <p:grpSpPr>
                  <a:xfrm>
                    <a:off x="2096570" y="-863491"/>
                    <a:ext cx="717621" cy="717392"/>
                    <a:chOff x="1483457" y="3953671"/>
                    <a:chExt cx="717621" cy="717392"/>
                  </a:xfrm>
                </p:grpSpPr>
                <p:sp>
                  <p:nvSpPr>
                    <p:cNvPr id="1566" name="Google Shape;1566;p4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1" name="Google Shape;1571;p40"/>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2" name="Google Shape;1572;p40"/>
                <p:cNvGrpSpPr/>
                <p:nvPr/>
              </p:nvGrpSpPr>
              <p:grpSpPr>
                <a:xfrm>
                  <a:off x="874020" y="312788"/>
                  <a:ext cx="473483" cy="453403"/>
                  <a:chOff x="2038491" y="-937756"/>
                  <a:chExt cx="904284" cy="865933"/>
                </a:xfrm>
              </p:grpSpPr>
              <p:grpSp>
                <p:nvGrpSpPr>
                  <p:cNvPr id="1573" name="Google Shape;1573;p40"/>
                  <p:cNvGrpSpPr/>
                  <p:nvPr/>
                </p:nvGrpSpPr>
                <p:grpSpPr>
                  <a:xfrm>
                    <a:off x="2096570" y="-863491"/>
                    <a:ext cx="717621" cy="717392"/>
                    <a:chOff x="1483457" y="3953671"/>
                    <a:chExt cx="717621" cy="717392"/>
                  </a:xfrm>
                </p:grpSpPr>
                <p:sp>
                  <p:nvSpPr>
                    <p:cNvPr id="1574" name="Google Shape;1574;p4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4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9" name="Google Shape;1579;p40"/>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80" name="Google Shape;1580;p40"/>
              <p:cNvGrpSpPr/>
              <p:nvPr/>
            </p:nvGrpSpPr>
            <p:grpSpPr>
              <a:xfrm rot="-7479050">
                <a:off x="-2051246" y="-1642948"/>
                <a:ext cx="4889863" cy="3931229"/>
                <a:chOff x="7103825" y="-713112"/>
                <a:chExt cx="3785226" cy="3043150"/>
              </a:xfrm>
            </p:grpSpPr>
            <p:sp>
              <p:nvSpPr>
                <p:cNvPr id="1581" name="Google Shape;1581;p40"/>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82" name="Google Shape;1582;p40"/>
                <p:cNvPicPr preferRelativeResize="0"/>
                <p:nvPr/>
              </p:nvPicPr>
              <p:blipFill rotWithShape="1">
                <a:blip r:embed="rId4">
                  <a:alphaModFix/>
                </a:blip>
                <a:srcRect t="17657" b="17663"/>
                <a:stretch/>
              </p:blipFill>
              <p:spPr>
                <a:xfrm>
                  <a:off x="7103825" y="-713112"/>
                  <a:ext cx="3785226" cy="2888974"/>
                </a:xfrm>
                <a:prstGeom prst="rect">
                  <a:avLst/>
                </a:prstGeom>
                <a:noFill/>
                <a:ln>
                  <a:noFill/>
                </a:ln>
              </p:spPr>
            </p:pic>
          </p:grpSp>
          <p:grpSp>
            <p:nvGrpSpPr>
              <p:cNvPr id="1583" name="Google Shape;1583;p40"/>
              <p:cNvGrpSpPr/>
              <p:nvPr/>
            </p:nvGrpSpPr>
            <p:grpSpPr>
              <a:xfrm>
                <a:off x="-640220" y="-2653973"/>
                <a:ext cx="6191222" cy="6191222"/>
                <a:chOff x="-640220" y="-2502423"/>
                <a:chExt cx="6191222" cy="6191222"/>
              </a:xfrm>
            </p:grpSpPr>
            <p:sp>
              <p:nvSpPr>
                <p:cNvPr id="1584" name="Google Shape;1584;p40"/>
                <p:cNvSpPr/>
                <p:nvPr/>
              </p:nvSpPr>
              <p:spPr>
                <a:xfrm rot="-8100000">
                  <a:off x="452224" y="-1781500"/>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0"/>
                <p:cNvSpPr/>
                <p:nvPr/>
              </p:nvSpPr>
              <p:spPr>
                <a:xfrm rot="-8100000">
                  <a:off x="83608" y="-617740"/>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86" name="Google Shape;1586;p40"/>
            <p:cNvGrpSpPr/>
            <p:nvPr/>
          </p:nvGrpSpPr>
          <p:grpSpPr>
            <a:xfrm>
              <a:off x="-12" y="-195650"/>
              <a:ext cx="439200" cy="439100"/>
              <a:chOff x="1101075" y="2142375"/>
              <a:chExt cx="439200" cy="439100"/>
            </a:xfrm>
          </p:grpSpPr>
          <p:sp>
            <p:nvSpPr>
              <p:cNvPr id="1587" name="Google Shape;1587;p4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89" name="Google Shape;1589;p40"/>
          <p:cNvGrpSpPr/>
          <p:nvPr/>
        </p:nvGrpSpPr>
        <p:grpSpPr>
          <a:xfrm>
            <a:off x="4605344" y="2412775"/>
            <a:ext cx="5765856" cy="4103650"/>
            <a:chOff x="4452944" y="2184175"/>
            <a:chExt cx="5765856" cy="4103650"/>
          </a:xfrm>
        </p:grpSpPr>
        <p:pic>
          <p:nvPicPr>
            <p:cNvPr id="1590" name="Google Shape;1590;p40"/>
            <p:cNvPicPr preferRelativeResize="0"/>
            <p:nvPr/>
          </p:nvPicPr>
          <p:blipFill rotWithShape="1">
            <a:blip r:embed="rId5">
              <a:alphaModFix/>
            </a:blip>
            <a:srcRect l="16960" t="24718" r="7121" b="26177"/>
            <a:stretch/>
          </p:blipFill>
          <p:spPr>
            <a:xfrm rot="-5400000" flipH="1">
              <a:off x="6600975" y="2670000"/>
              <a:ext cx="4103650" cy="3132000"/>
            </a:xfrm>
            <a:prstGeom prst="rect">
              <a:avLst/>
            </a:prstGeom>
            <a:noFill/>
            <a:ln>
              <a:noFill/>
            </a:ln>
          </p:spPr>
        </p:pic>
        <p:grpSp>
          <p:nvGrpSpPr>
            <p:cNvPr id="1591" name="Google Shape;1591;p40"/>
            <p:cNvGrpSpPr/>
            <p:nvPr/>
          </p:nvGrpSpPr>
          <p:grpSpPr>
            <a:xfrm rot="-5400000" flipH="1">
              <a:off x="8074852" y="4089881"/>
              <a:ext cx="1478405" cy="1186772"/>
              <a:chOff x="7945225" y="4302000"/>
              <a:chExt cx="904666" cy="726121"/>
            </a:xfrm>
          </p:grpSpPr>
          <p:sp>
            <p:nvSpPr>
              <p:cNvPr id="1592" name="Google Shape;1592;p4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5" name="Google Shape;1595;p40"/>
            <p:cNvSpPr/>
            <p:nvPr/>
          </p:nvSpPr>
          <p:spPr>
            <a:xfrm rot="-5400000" flipH="1">
              <a:off x="5435889" y="14813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6" name="Google Shape;1596;p40"/>
            <p:cNvGrpSpPr/>
            <p:nvPr/>
          </p:nvGrpSpPr>
          <p:grpSpPr>
            <a:xfrm rot="-5400000" flipH="1">
              <a:off x="7140078" y="3883230"/>
              <a:ext cx="134004" cy="134004"/>
              <a:chOff x="8356813" y="1074288"/>
              <a:chExt cx="351900" cy="351900"/>
            </a:xfrm>
          </p:grpSpPr>
          <p:sp>
            <p:nvSpPr>
              <p:cNvPr id="1597" name="Google Shape;1597;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9" name="Google Shape;1599;p40"/>
            <p:cNvGrpSpPr/>
            <p:nvPr/>
          </p:nvGrpSpPr>
          <p:grpSpPr>
            <a:xfrm rot="-5400000" flipH="1">
              <a:off x="6766253" y="3499155"/>
              <a:ext cx="134004" cy="134004"/>
              <a:chOff x="8356813" y="1074288"/>
              <a:chExt cx="351900" cy="351900"/>
            </a:xfrm>
          </p:grpSpPr>
          <p:sp>
            <p:nvSpPr>
              <p:cNvPr id="1600" name="Google Shape;1600;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2" name="Google Shape;1602;p40"/>
            <p:cNvSpPr/>
            <p:nvPr/>
          </p:nvSpPr>
          <p:spPr>
            <a:xfrm rot="5400000" flipH="1">
              <a:off x="6561314" y="2368138"/>
              <a:ext cx="1902692" cy="406951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0"/>
            <p:cNvSpPr/>
            <p:nvPr/>
          </p:nvSpPr>
          <p:spPr>
            <a:xfrm rot="5400000" flipH="1">
              <a:off x="6562398" y="2676948"/>
              <a:ext cx="1902692" cy="406951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4" name="Google Shape;1604;p40"/>
            <p:cNvGrpSpPr/>
            <p:nvPr/>
          </p:nvGrpSpPr>
          <p:grpSpPr>
            <a:xfrm rot="-5400000" flipH="1">
              <a:off x="7404606" y="3451356"/>
              <a:ext cx="582050" cy="582425"/>
              <a:chOff x="959750" y="3039275"/>
              <a:chExt cx="582050" cy="582425"/>
            </a:xfrm>
          </p:grpSpPr>
          <p:sp>
            <p:nvSpPr>
              <p:cNvPr id="1605" name="Google Shape;1605;p4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2" name="Google Shape;1612;p40"/>
            <p:cNvGrpSpPr/>
            <p:nvPr/>
          </p:nvGrpSpPr>
          <p:grpSpPr>
            <a:xfrm rot="-5400000" flipH="1">
              <a:off x="7237650" y="4201057"/>
              <a:ext cx="699928" cy="1651024"/>
              <a:chOff x="8337812" y="3492483"/>
              <a:chExt cx="699928" cy="1651024"/>
            </a:xfrm>
          </p:grpSpPr>
          <p:sp>
            <p:nvSpPr>
              <p:cNvPr id="1613" name="Google Shape;1613;p4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6" name="Google Shape;1616;p40"/>
            <p:cNvSpPr/>
            <p:nvPr/>
          </p:nvSpPr>
          <p:spPr>
            <a:xfrm rot="147769" flipH="1">
              <a:off x="7025973" y="450498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40"/>
            <p:cNvSpPr/>
            <p:nvPr/>
          </p:nvSpPr>
          <p:spPr>
            <a:xfrm rot="147769" flipH="1">
              <a:off x="6785273" y="456993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8" name="Google Shape;1618;p40"/>
            <p:cNvGrpSpPr/>
            <p:nvPr/>
          </p:nvGrpSpPr>
          <p:grpSpPr>
            <a:xfrm rot="-5400000" flipH="1">
              <a:off x="5819578" y="4727817"/>
              <a:ext cx="134004" cy="134004"/>
              <a:chOff x="8356813" y="1074288"/>
              <a:chExt cx="351900" cy="351900"/>
            </a:xfrm>
          </p:grpSpPr>
          <p:sp>
            <p:nvSpPr>
              <p:cNvPr id="1619" name="Google Shape;1619;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22" name="Google Shape;1622;p40"/>
          <p:cNvSpPr txBox="1">
            <a:spLocks noGrp="1"/>
          </p:cNvSpPr>
          <p:nvPr>
            <p:ph type="subTitle" idx="1"/>
          </p:nvPr>
        </p:nvSpPr>
        <p:spPr>
          <a:xfrm>
            <a:off x="1158186" y="201605"/>
            <a:ext cx="6138736" cy="643131"/>
          </a:xfrm>
          <a:prstGeom prst="rect">
            <a:avLst/>
          </a:prstGeom>
        </p:spPr>
        <p:txBody>
          <a:bodyPr spcFirstLastPara="1" wrap="square" lIns="91425" tIns="91425" rIns="91425" bIns="91425" anchor="ctr" anchorCtr="0">
            <a:noAutofit/>
          </a:bodyPr>
          <a:lstStyle/>
          <a:p>
            <a:pPr marL="0" indent="0"/>
            <a:r>
              <a:rPr lang="en" b="1" err="1">
                <a:solidFill>
                  <a:schemeClr val="bg1">
                    <a:lumMod val="50000"/>
                  </a:schemeClr>
                </a:solidFill>
                <a:latin typeface="IBM Plex Mono"/>
              </a:rPr>
              <a:t>Tập</a:t>
            </a:r>
            <a:r>
              <a:rPr lang="en" b="1">
                <a:solidFill>
                  <a:schemeClr val="bg1">
                    <a:lumMod val="50000"/>
                  </a:schemeClr>
                </a:solidFill>
                <a:latin typeface="IBM Plex Mono"/>
              </a:rPr>
              <a:t> </a:t>
            </a:r>
            <a:r>
              <a:rPr lang="en" b="1" err="1">
                <a:solidFill>
                  <a:schemeClr val="bg1">
                    <a:lumMod val="50000"/>
                  </a:schemeClr>
                </a:solidFill>
                <a:latin typeface="IBM Plex Mono"/>
              </a:rPr>
              <a:t>dữ</a:t>
            </a:r>
            <a:r>
              <a:rPr lang="en" b="1">
                <a:solidFill>
                  <a:schemeClr val="bg1">
                    <a:lumMod val="50000"/>
                  </a:schemeClr>
                </a:solidFill>
                <a:latin typeface="IBM Plex Mono"/>
              </a:rPr>
              <a:t> </a:t>
            </a:r>
            <a:r>
              <a:rPr lang="en" b="1" err="1">
                <a:solidFill>
                  <a:schemeClr val="bg1">
                    <a:lumMod val="50000"/>
                  </a:schemeClr>
                </a:solidFill>
                <a:latin typeface="IBM Plex Mono"/>
              </a:rPr>
              <a:t>liệu</a:t>
            </a:r>
            <a:r>
              <a:rPr lang="en" b="1">
                <a:solidFill>
                  <a:schemeClr val="bg1">
                    <a:lumMod val="50000"/>
                  </a:schemeClr>
                </a:solidFill>
                <a:latin typeface="IBM Plex Mono"/>
              </a:rPr>
              <a:t> </a:t>
            </a:r>
            <a:r>
              <a:rPr lang="en" b="1" err="1">
                <a:solidFill>
                  <a:schemeClr val="bg1">
                    <a:lumMod val="50000"/>
                  </a:schemeClr>
                </a:solidFill>
                <a:latin typeface="IBM Plex Mono"/>
              </a:rPr>
              <a:t>được</a:t>
            </a:r>
            <a:r>
              <a:rPr lang="en" b="1">
                <a:solidFill>
                  <a:schemeClr val="bg1">
                    <a:lumMod val="50000"/>
                  </a:schemeClr>
                </a:solidFill>
                <a:latin typeface="IBM Plex Mono"/>
              </a:rPr>
              <a:t> </a:t>
            </a:r>
            <a:r>
              <a:rPr lang="en" b="1" err="1">
                <a:solidFill>
                  <a:schemeClr val="bg1">
                    <a:lumMod val="50000"/>
                  </a:schemeClr>
                </a:solidFill>
                <a:latin typeface="IBM Plex Mono"/>
              </a:rPr>
              <a:t>sử</a:t>
            </a:r>
            <a:r>
              <a:rPr lang="en" b="1">
                <a:solidFill>
                  <a:schemeClr val="bg1">
                    <a:lumMod val="50000"/>
                  </a:schemeClr>
                </a:solidFill>
                <a:latin typeface="IBM Plex Mono"/>
              </a:rPr>
              <a:t> </a:t>
            </a:r>
            <a:r>
              <a:rPr lang="en" b="1" err="1">
                <a:solidFill>
                  <a:schemeClr val="bg1">
                    <a:lumMod val="50000"/>
                  </a:schemeClr>
                </a:solidFill>
                <a:latin typeface="IBM Plex Mono"/>
              </a:rPr>
              <a:t>dụng</a:t>
            </a:r>
            <a:endParaRPr lang="en" b="1">
              <a:solidFill>
                <a:schemeClr val="bg1">
                  <a:lumMod val="50000"/>
                </a:schemeClr>
              </a:solidFill>
              <a:latin typeface="IBM Plex Mono"/>
            </a:endParaRPr>
          </a:p>
        </p:txBody>
      </p:sp>
      <p:grpSp>
        <p:nvGrpSpPr>
          <p:cNvPr id="1623" name="Google Shape;1623;p40"/>
          <p:cNvGrpSpPr/>
          <p:nvPr/>
        </p:nvGrpSpPr>
        <p:grpSpPr>
          <a:xfrm rot="-5400000" flipH="1">
            <a:off x="8904403" y="2929792"/>
            <a:ext cx="134004" cy="134004"/>
            <a:chOff x="8356813" y="1074288"/>
            <a:chExt cx="351900" cy="351900"/>
          </a:xfrm>
        </p:grpSpPr>
        <p:sp>
          <p:nvSpPr>
            <p:cNvPr id="1624" name="Google Shape;1624;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Hộp Văn bản 1">
            <a:extLst>
              <a:ext uri="{FF2B5EF4-FFF2-40B4-BE49-F238E27FC236}">
                <a16:creationId xmlns:a16="http://schemas.microsoft.com/office/drawing/2014/main" id="{0CB6737D-2058-5561-02C5-7C003982A3ED}"/>
              </a:ext>
            </a:extLst>
          </p:cNvPr>
          <p:cNvSpPr txBox="1"/>
          <p:nvPr/>
        </p:nvSpPr>
        <p:spPr>
          <a:xfrm>
            <a:off x="712176" y="984738"/>
            <a:ext cx="8169518"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dirty="0">
                <a:solidFill>
                  <a:schemeClr val="accent2">
                    <a:lumMod val="50000"/>
                  </a:schemeClr>
                </a:solidFill>
                <a:latin typeface="Bahnschrift"/>
              </a:rPr>
              <a:t>MovieLens 100k gồm 100.000 đánh giá phim của 943 người dùng trên 1682 bộ phim</a:t>
            </a:r>
          </a:p>
          <a:p>
            <a:r>
              <a:rPr lang="vi-VN" dirty="0">
                <a:solidFill>
                  <a:schemeClr val="accent2">
                    <a:lumMod val="50000"/>
                  </a:schemeClr>
                </a:solidFill>
                <a:latin typeface="Bahnschrift"/>
              </a:rPr>
              <a:t>Mỗi user đánh giá ≥20 phim, thang điểm 1–5.</a:t>
            </a:r>
          </a:p>
          <a:p>
            <a:endParaRPr lang="vi-VN" dirty="0">
              <a:solidFill>
                <a:schemeClr val="accent2">
                  <a:lumMod val="50000"/>
                </a:schemeClr>
              </a:solidFill>
              <a:latin typeface="Bahnschrift"/>
            </a:endParaRPr>
          </a:p>
          <a:p>
            <a:r>
              <a:rPr lang="vi-VN" b="1" dirty="0">
                <a:solidFill>
                  <a:schemeClr val="accent2">
                    <a:lumMod val="50000"/>
                  </a:schemeClr>
                </a:solidFill>
                <a:latin typeface="Bahnschrift"/>
              </a:rPr>
              <a:t>Cấu trúc dữ liệu hệ thống</a:t>
            </a:r>
            <a:br>
              <a:rPr lang="vi-VN" dirty="0">
                <a:solidFill>
                  <a:schemeClr val="accent2">
                    <a:lumMod val="50000"/>
                  </a:schemeClr>
                </a:solidFill>
                <a:latin typeface="Bahnschrift"/>
              </a:rPr>
            </a:br>
            <a:r>
              <a:rPr lang="vi-VN" dirty="0">
                <a:solidFill>
                  <a:schemeClr val="accent2">
                    <a:lumMod val="50000"/>
                  </a:schemeClr>
                </a:solidFill>
                <a:latin typeface="Bahnschrift"/>
              </a:rPr>
              <a:t> – </a:t>
            </a:r>
            <a:r>
              <a:rPr lang="vi-VN" i="1" dirty="0">
                <a:solidFill>
                  <a:schemeClr val="accent2">
                    <a:lumMod val="50000"/>
                  </a:schemeClr>
                </a:solidFill>
                <a:latin typeface="Bahnschrift"/>
              </a:rPr>
              <a:t>Interactions</a:t>
            </a:r>
            <a:r>
              <a:rPr lang="vi-VN" dirty="0">
                <a:solidFill>
                  <a:schemeClr val="accent2">
                    <a:lumMod val="50000"/>
                  </a:schemeClr>
                </a:solidFill>
                <a:latin typeface="Bahnschrift"/>
              </a:rPr>
              <a:t>: train/test/dev, gồm user_id, item_id, rating, timestamp.</a:t>
            </a:r>
            <a:br>
              <a:rPr lang="vi-VN" dirty="0">
                <a:solidFill>
                  <a:schemeClr val="accent2">
                    <a:lumMod val="50000"/>
                  </a:schemeClr>
                </a:solidFill>
                <a:latin typeface="Bahnschrift"/>
              </a:rPr>
            </a:br>
            <a:r>
              <a:rPr lang="vi-VN" dirty="0">
                <a:solidFill>
                  <a:schemeClr val="accent2">
                    <a:lumMod val="50000"/>
                  </a:schemeClr>
                </a:solidFill>
                <a:latin typeface="Bahnschrift"/>
              </a:rPr>
              <a:t> – </a:t>
            </a:r>
            <a:r>
              <a:rPr lang="vi-VN" i="1" dirty="0">
                <a:solidFill>
                  <a:schemeClr val="accent2">
                    <a:lumMod val="50000"/>
                  </a:schemeClr>
                </a:solidFill>
                <a:latin typeface="Bahnschrift"/>
              </a:rPr>
              <a:t>Users</a:t>
            </a:r>
            <a:r>
              <a:rPr lang="vi-VN" dirty="0">
                <a:solidFill>
                  <a:schemeClr val="accent2">
                    <a:lumMod val="50000"/>
                  </a:schemeClr>
                </a:solidFill>
                <a:latin typeface="Bahnschrift"/>
              </a:rPr>
              <a:t>: tuổi, giới tính, nghề nghiệp.</a:t>
            </a:r>
            <a:br>
              <a:rPr lang="vi-VN" dirty="0">
                <a:solidFill>
                  <a:schemeClr val="accent2">
                    <a:lumMod val="50000"/>
                  </a:schemeClr>
                </a:solidFill>
                <a:latin typeface="Bahnschrift"/>
              </a:rPr>
            </a:br>
            <a:r>
              <a:rPr lang="vi-VN" dirty="0">
                <a:solidFill>
                  <a:schemeClr val="accent2">
                    <a:lumMod val="50000"/>
                  </a:schemeClr>
                </a:solidFill>
                <a:latin typeface="Bahnschrift"/>
              </a:rPr>
              <a:t> – </a:t>
            </a:r>
            <a:r>
              <a:rPr lang="vi-VN" i="1" dirty="0">
                <a:solidFill>
                  <a:schemeClr val="accent2">
                    <a:lumMod val="50000"/>
                  </a:schemeClr>
                </a:solidFill>
                <a:latin typeface="Bahnschrift"/>
              </a:rPr>
              <a:t>Items</a:t>
            </a:r>
            <a:r>
              <a:rPr lang="vi-VN" dirty="0">
                <a:solidFill>
                  <a:schemeClr val="accent2">
                    <a:lumMod val="50000"/>
                  </a:schemeClr>
                </a:solidFill>
                <a:latin typeface="Bahnschrift"/>
              </a:rPr>
              <a:t>: tiêu đề, ngày phát hành, thể loại (multi-label), thuộc tính tổng hợp.</a:t>
            </a:r>
            <a:br>
              <a:rPr lang="vi-VN" dirty="0">
                <a:solidFill>
                  <a:schemeClr val="accent2">
                    <a:lumMod val="50000"/>
                  </a:schemeClr>
                </a:solidFill>
                <a:latin typeface="Bahnschrift"/>
              </a:rPr>
            </a:br>
            <a:r>
              <a:rPr lang="vi-VN" dirty="0">
                <a:solidFill>
                  <a:schemeClr val="accent2">
                    <a:lumMod val="50000"/>
                  </a:schemeClr>
                </a:solidFill>
                <a:latin typeface="Bahnschrift"/>
              </a:rPr>
              <a:t> – </a:t>
            </a:r>
            <a:r>
              <a:rPr lang="vi-VN" i="1" dirty="0">
                <a:solidFill>
                  <a:schemeClr val="accent2">
                    <a:lumMod val="50000"/>
                  </a:schemeClr>
                </a:solidFill>
                <a:latin typeface="Bahnschrift"/>
              </a:rPr>
              <a:t>SQLite</a:t>
            </a:r>
            <a:r>
              <a:rPr lang="vi-VN" dirty="0">
                <a:solidFill>
                  <a:schemeClr val="accent2">
                    <a:lumMod val="50000"/>
                  </a:schemeClr>
                </a:solidFill>
                <a:latin typeface="Bahnschrift"/>
              </a:rPr>
              <a:t>: 3 bảng (users, items, ratings) với quan hệ 1–N, hỗ trợ truy vấn cho các Agent.</a:t>
            </a:r>
          </a:p>
          <a:p>
            <a:endParaRPr lang="vi-VN" dirty="0">
              <a:solidFill>
                <a:schemeClr val="accent2">
                  <a:lumMod val="50000"/>
                </a:schemeClr>
              </a:solidFill>
              <a:latin typeface="Bahnschrift"/>
            </a:endParaRPr>
          </a:p>
          <a:p>
            <a:r>
              <a:rPr lang="vi-VN" b="1" dirty="0">
                <a:solidFill>
                  <a:schemeClr val="accent2">
                    <a:lumMod val="50000"/>
                  </a:schemeClr>
                </a:solidFill>
                <a:latin typeface="Bahnschrift"/>
              </a:rPr>
              <a:t>Tiền xử lý</a:t>
            </a:r>
            <a:br>
              <a:rPr lang="vi-VN" dirty="0">
                <a:solidFill>
                  <a:schemeClr val="accent2">
                    <a:lumMod val="50000"/>
                  </a:schemeClr>
                </a:solidFill>
                <a:latin typeface="Bahnschrift"/>
              </a:rPr>
            </a:br>
            <a:r>
              <a:rPr lang="vi-VN" dirty="0">
                <a:solidFill>
                  <a:schemeClr val="accent2">
                    <a:lumMod val="50000"/>
                  </a:schemeClr>
                </a:solidFill>
                <a:latin typeface="Bahnschrift" panose="020B0502040204020203" pitchFamily="34" charset="0"/>
              </a:rPr>
              <a:t>Dữ liệu được tiền xử lý bằng cách mã hóa thể loại phim dưới dạng one-hot, chuẩn hóa ID người dùng và sản phẩm, sau đó chia tập train/test theo Leave-One-Out hoặc Time-based nhằm đảm bảo tính tuần tự và mô phỏng đúng hành vi người dùng trong bài toán gợi ý.</a:t>
            </a:r>
          </a:p>
        </p:txBody>
      </p:sp>
      <p:pic>
        <p:nvPicPr>
          <p:cNvPr id="3" name="Picture 2" descr="A blue and yellow logo&#10;&#10;AI-generated content may be incorrect.">
            <a:extLst>
              <a:ext uri="{FF2B5EF4-FFF2-40B4-BE49-F238E27FC236}">
                <a16:creationId xmlns:a16="http://schemas.microsoft.com/office/drawing/2014/main" id="{FA06A96E-480A-B778-62A1-F25111A33A36}"/>
              </a:ext>
            </a:extLst>
          </p:cNvPr>
          <p:cNvPicPr>
            <a:picLocks noChangeAspect="1"/>
          </p:cNvPicPr>
          <p:nvPr/>
        </p:nvPicPr>
        <p:blipFill>
          <a:blip r:embed="rId6"/>
          <a:stretch>
            <a:fillRect/>
          </a:stretch>
        </p:blipFill>
        <p:spPr>
          <a:xfrm>
            <a:off x="137160" y="114312"/>
            <a:ext cx="444137" cy="49224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544">
          <a:extLst>
            <a:ext uri="{FF2B5EF4-FFF2-40B4-BE49-F238E27FC236}">
              <a16:creationId xmlns:a16="http://schemas.microsoft.com/office/drawing/2014/main" id="{E5E72BC7-E4F5-0058-7FC6-25BF1EB3CA34}"/>
            </a:ext>
          </a:extLst>
        </p:cNvPr>
        <p:cNvGrpSpPr/>
        <p:nvPr/>
      </p:nvGrpSpPr>
      <p:grpSpPr>
        <a:xfrm>
          <a:off x="0" y="0"/>
          <a:ext cx="0" cy="0"/>
          <a:chOff x="0" y="0"/>
          <a:chExt cx="0" cy="0"/>
        </a:xfrm>
      </p:grpSpPr>
      <p:grpSp>
        <p:nvGrpSpPr>
          <p:cNvPr id="1545" name="Google Shape;1545;p40">
            <a:extLst>
              <a:ext uri="{FF2B5EF4-FFF2-40B4-BE49-F238E27FC236}">
                <a16:creationId xmlns:a16="http://schemas.microsoft.com/office/drawing/2014/main" id="{F25E0507-FD0B-8124-2B07-F7F373B7CE54}"/>
              </a:ext>
            </a:extLst>
          </p:cNvPr>
          <p:cNvGrpSpPr/>
          <p:nvPr/>
        </p:nvGrpSpPr>
        <p:grpSpPr>
          <a:xfrm>
            <a:off x="-2765817" y="-2958610"/>
            <a:ext cx="8164418" cy="6343459"/>
            <a:chOff x="-2613417" y="-2806210"/>
            <a:chExt cx="8164418" cy="6343459"/>
          </a:xfrm>
        </p:grpSpPr>
        <p:grpSp>
          <p:nvGrpSpPr>
            <p:cNvPr id="1546" name="Google Shape;1546;p40">
              <a:extLst>
                <a:ext uri="{FF2B5EF4-FFF2-40B4-BE49-F238E27FC236}">
                  <a16:creationId xmlns:a16="http://schemas.microsoft.com/office/drawing/2014/main" id="{BC229576-E9E5-0376-DB4F-59514FD7A94F}"/>
                </a:ext>
              </a:extLst>
            </p:cNvPr>
            <p:cNvGrpSpPr/>
            <p:nvPr/>
          </p:nvGrpSpPr>
          <p:grpSpPr>
            <a:xfrm>
              <a:off x="-2613417" y="-2806210"/>
              <a:ext cx="8164418" cy="6343459"/>
              <a:chOff x="-2613417" y="-2806210"/>
              <a:chExt cx="8164418" cy="6343459"/>
            </a:xfrm>
          </p:grpSpPr>
          <p:grpSp>
            <p:nvGrpSpPr>
              <p:cNvPr id="1547" name="Google Shape;1547;p40">
                <a:extLst>
                  <a:ext uri="{FF2B5EF4-FFF2-40B4-BE49-F238E27FC236}">
                    <a16:creationId xmlns:a16="http://schemas.microsoft.com/office/drawing/2014/main" id="{A0DF0A56-6780-43EC-E68D-4EDE47A7F711}"/>
                  </a:ext>
                </a:extLst>
              </p:cNvPr>
              <p:cNvGrpSpPr/>
              <p:nvPr/>
            </p:nvGrpSpPr>
            <p:grpSpPr>
              <a:xfrm>
                <a:off x="-191059" y="95963"/>
                <a:ext cx="1538562" cy="971589"/>
                <a:chOff x="-191059" y="95963"/>
                <a:chExt cx="1538562" cy="971589"/>
              </a:xfrm>
            </p:grpSpPr>
            <p:grpSp>
              <p:nvGrpSpPr>
                <p:cNvPr id="1548" name="Google Shape;1548;p40">
                  <a:extLst>
                    <a:ext uri="{FF2B5EF4-FFF2-40B4-BE49-F238E27FC236}">
                      <a16:creationId xmlns:a16="http://schemas.microsoft.com/office/drawing/2014/main" id="{BB9BC2F5-975B-5F48-77D4-591229B7194B}"/>
                    </a:ext>
                  </a:extLst>
                </p:cNvPr>
                <p:cNvGrpSpPr/>
                <p:nvPr/>
              </p:nvGrpSpPr>
              <p:grpSpPr>
                <a:xfrm>
                  <a:off x="-191059" y="201619"/>
                  <a:ext cx="904284" cy="865933"/>
                  <a:chOff x="2038491" y="-937756"/>
                  <a:chExt cx="904284" cy="865933"/>
                </a:xfrm>
              </p:grpSpPr>
              <p:grpSp>
                <p:nvGrpSpPr>
                  <p:cNvPr id="1549" name="Google Shape;1549;p40">
                    <a:extLst>
                      <a:ext uri="{FF2B5EF4-FFF2-40B4-BE49-F238E27FC236}">
                        <a16:creationId xmlns:a16="http://schemas.microsoft.com/office/drawing/2014/main" id="{5665C3F4-2251-414B-B77F-55C382582112}"/>
                      </a:ext>
                    </a:extLst>
                  </p:cNvPr>
                  <p:cNvGrpSpPr/>
                  <p:nvPr/>
                </p:nvGrpSpPr>
                <p:grpSpPr>
                  <a:xfrm>
                    <a:off x="2096570" y="-863491"/>
                    <a:ext cx="717621" cy="717392"/>
                    <a:chOff x="1483457" y="3953671"/>
                    <a:chExt cx="717621" cy="717392"/>
                  </a:xfrm>
                </p:grpSpPr>
                <p:sp>
                  <p:nvSpPr>
                    <p:cNvPr id="1550" name="Google Shape;1550;p40">
                      <a:extLst>
                        <a:ext uri="{FF2B5EF4-FFF2-40B4-BE49-F238E27FC236}">
                          <a16:creationId xmlns:a16="http://schemas.microsoft.com/office/drawing/2014/main" id="{A0F11E21-1587-21D6-2D0E-50E92E46E59F}"/>
                        </a:ext>
                      </a:extLst>
                    </p:cNvPr>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0">
                      <a:extLst>
                        <a:ext uri="{FF2B5EF4-FFF2-40B4-BE49-F238E27FC236}">
                          <a16:creationId xmlns:a16="http://schemas.microsoft.com/office/drawing/2014/main" id="{71D3E9A2-403F-8123-58C4-70A1E6F722E5}"/>
                        </a:ext>
                      </a:extLst>
                    </p:cNvPr>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0">
                      <a:extLst>
                        <a:ext uri="{FF2B5EF4-FFF2-40B4-BE49-F238E27FC236}">
                          <a16:creationId xmlns:a16="http://schemas.microsoft.com/office/drawing/2014/main" id="{946E1850-CB41-DE7A-BD0D-C45BE2852703}"/>
                        </a:ext>
                      </a:extLst>
                    </p:cNvPr>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0">
                      <a:extLst>
                        <a:ext uri="{FF2B5EF4-FFF2-40B4-BE49-F238E27FC236}">
                          <a16:creationId xmlns:a16="http://schemas.microsoft.com/office/drawing/2014/main" id="{E07E104B-E2B2-8035-F452-96E5DBD50696}"/>
                        </a:ext>
                      </a:extLst>
                    </p:cNvPr>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0">
                      <a:extLst>
                        <a:ext uri="{FF2B5EF4-FFF2-40B4-BE49-F238E27FC236}">
                          <a16:creationId xmlns:a16="http://schemas.microsoft.com/office/drawing/2014/main" id="{B2F10344-AAED-176D-C6E8-CF315534CD6B}"/>
                        </a:ext>
                      </a:extLst>
                    </p:cNvPr>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5" name="Google Shape;1555;p40">
                    <a:extLst>
                      <a:ext uri="{FF2B5EF4-FFF2-40B4-BE49-F238E27FC236}">
                        <a16:creationId xmlns:a16="http://schemas.microsoft.com/office/drawing/2014/main" id="{6D71A611-0064-F76A-A71A-F466682E4730}"/>
                      </a:ext>
                    </a:extLst>
                  </p:cNvPr>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6" name="Google Shape;1556;p40">
                  <a:extLst>
                    <a:ext uri="{FF2B5EF4-FFF2-40B4-BE49-F238E27FC236}">
                      <a16:creationId xmlns:a16="http://schemas.microsoft.com/office/drawing/2014/main" id="{FFB90BE2-8B16-372E-47B1-9D8A23DEEA5A}"/>
                    </a:ext>
                  </a:extLst>
                </p:cNvPr>
                <p:cNvGrpSpPr/>
                <p:nvPr/>
              </p:nvGrpSpPr>
              <p:grpSpPr>
                <a:xfrm>
                  <a:off x="584533" y="95963"/>
                  <a:ext cx="473483" cy="453403"/>
                  <a:chOff x="2038491" y="-937756"/>
                  <a:chExt cx="904284" cy="865933"/>
                </a:xfrm>
              </p:grpSpPr>
              <p:grpSp>
                <p:nvGrpSpPr>
                  <p:cNvPr id="1557" name="Google Shape;1557;p40">
                    <a:extLst>
                      <a:ext uri="{FF2B5EF4-FFF2-40B4-BE49-F238E27FC236}">
                        <a16:creationId xmlns:a16="http://schemas.microsoft.com/office/drawing/2014/main" id="{3321BD0E-7732-65FD-C628-3E18DBF0805A}"/>
                      </a:ext>
                    </a:extLst>
                  </p:cNvPr>
                  <p:cNvGrpSpPr/>
                  <p:nvPr/>
                </p:nvGrpSpPr>
                <p:grpSpPr>
                  <a:xfrm>
                    <a:off x="2096570" y="-863491"/>
                    <a:ext cx="717621" cy="717392"/>
                    <a:chOff x="1483457" y="3953671"/>
                    <a:chExt cx="717621" cy="717392"/>
                  </a:xfrm>
                </p:grpSpPr>
                <p:sp>
                  <p:nvSpPr>
                    <p:cNvPr id="1558" name="Google Shape;1558;p40">
                      <a:extLst>
                        <a:ext uri="{FF2B5EF4-FFF2-40B4-BE49-F238E27FC236}">
                          <a16:creationId xmlns:a16="http://schemas.microsoft.com/office/drawing/2014/main" id="{051875CC-67B8-7C22-063C-1DC137E356AC}"/>
                        </a:ext>
                      </a:extLst>
                    </p:cNvPr>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0">
                      <a:extLst>
                        <a:ext uri="{FF2B5EF4-FFF2-40B4-BE49-F238E27FC236}">
                          <a16:creationId xmlns:a16="http://schemas.microsoft.com/office/drawing/2014/main" id="{AC25984F-4CF5-5560-B64E-2BC458EFC652}"/>
                        </a:ext>
                      </a:extLst>
                    </p:cNvPr>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0">
                      <a:extLst>
                        <a:ext uri="{FF2B5EF4-FFF2-40B4-BE49-F238E27FC236}">
                          <a16:creationId xmlns:a16="http://schemas.microsoft.com/office/drawing/2014/main" id="{83E7B992-CB67-A9A5-87AE-235905025E85}"/>
                        </a:ext>
                      </a:extLst>
                    </p:cNvPr>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0">
                      <a:extLst>
                        <a:ext uri="{FF2B5EF4-FFF2-40B4-BE49-F238E27FC236}">
                          <a16:creationId xmlns:a16="http://schemas.microsoft.com/office/drawing/2014/main" id="{9847C99B-30BE-BF80-0C82-855864166243}"/>
                        </a:ext>
                      </a:extLst>
                    </p:cNvPr>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0">
                      <a:extLst>
                        <a:ext uri="{FF2B5EF4-FFF2-40B4-BE49-F238E27FC236}">
                          <a16:creationId xmlns:a16="http://schemas.microsoft.com/office/drawing/2014/main" id="{58EEF385-4657-8E13-83A4-44BE7AAC738B}"/>
                        </a:ext>
                      </a:extLst>
                    </p:cNvPr>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3" name="Google Shape;1563;p40">
                    <a:extLst>
                      <a:ext uri="{FF2B5EF4-FFF2-40B4-BE49-F238E27FC236}">
                        <a16:creationId xmlns:a16="http://schemas.microsoft.com/office/drawing/2014/main" id="{76E7FE02-2ED3-83FC-A295-DE51B029F4BB}"/>
                      </a:ext>
                    </a:extLst>
                  </p:cNvPr>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4" name="Google Shape;1564;p40">
                  <a:extLst>
                    <a:ext uri="{FF2B5EF4-FFF2-40B4-BE49-F238E27FC236}">
                      <a16:creationId xmlns:a16="http://schemas.microsoft.com/office/drawing/2014/main" id="{C4367703-4565-FBEE-A92B-4512ADCA14D9}"/>
                    </a:ext>
                  </a:extLst>
                </p:cNvPr>
                <p:cNvGrpSpPr/>
                <p:nvPr/>
              </p:nvGrpSpPr>
              <p:grpSpPr>
                <a:xfrm>
                  <a:off x="530445" y="481913"/>
                  <a:ext cx="473483" cy="453403"/>
                  <a:chOff x="2038491" y="-937756"/>
                  <a:chExt cx="904284" cy="865933"/>
                </a:xfrm>
              </p:grpSpPr>
              <p:grpSp>
                <p:nvGrpSpPr>
                  <p:cNvPr id="1565" name="Google Shape;1565;p40">
                    <a:extLst>
                      <a:ext uri="{FF2B5EF4-FFF2-40B4-BE49-F238E27FC236}">
                        <a16:creationId xmlns:a16="http://schemas.microsoft.com/office/drawing/2014/main" id="{FDD9B137-114C-BC5E-9ACA-8F9B71520A5C}"/>
                      </a:ext>
                    </a:extLst>
                  </p:cNvPr>
                  <p:cNvGrpSpPr/>
                  <p:nvPr/>
                </p:nvGrpSpPr>
                <p:grpSpPr>
                  <a:xfrm>
                    <a:off x="2096570" y="-863491"/>
                    <a:ext cx="717621" cy="717392"/>
                    <a:chOff x="1483457" y="3953671"/>
                    <a:chExt cx="717621" cy="717392"/>
                  </a:xfrm>
                </p:grpSpPr>
                <p:sp>
                  <p:nvSpPr>
                    <p:cNvPr id="1566" name="Google Shape;1566;p40">
                      <a:extLst>
                        <a:ext uri="{FF2B5EF4-FFF2-40B4-BE49-F238E27FC236}">
                          <a16:creationId xmlns:a16="http://schemas.microsoft.com/office/drawing/2014/main" id="{788B762B-19B9-C1BF-7C2D-8C122D3565E7}"/>
                        </a:ext>
                      </a:extLst>
                    </p:cNvPr>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0">
                      <a:extLst>
                        <a:ext uri="{FF2B5EF4-FFF2-40B4-BE49-F238E27FC236}">
                          <a16:creationId xmlns:a16="http://schemas.microsoft.com/office/drawing/2014/main" id="{FB091942-CAF3-9AAA-0FEB-8FF00DDEE816}"/>
                        </a:ext>
                      </a:extLst>
                    </p:cNvPr>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0">
                      <a:extLst>
                        <a:ext uri="{FF2B5EF4-FFF2-40B4-BE49-F238E27FC236}">
                          <a16:creationId xmlns:a16="http://schemas.microsoft.com/office/drawing/2014/main" id="{684D261E-60DE-375F-A0A0-C0D87AF5216E}"/>
                        </a:ext>
                      </a:extLst>
                    </p:cNvPr>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0">
                      <a:extLst>
                        <a:ext uri="{FF2B5EF4-FFF2-40B4-BE49-F238E27FC236}">
                          <a16:creationId xmlns:a16="http://schemas.microsoft.com/office/drawing/2014/main" id="{69597FD4-2CB2-38DA-0C06-15E2555D9992}"/>
                        </a:ext>
                      </a:extLst>
                    </p:cNvPr>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0">
                      <a:extLst>
                        <a:ext uri="{FF2B5EF4-FFF2-40B4-BE49-F238E27FC236}">
                          <a16:creationId xmlns:a16="http://schemas.microsoft.com/office/drawing/2014/main" id="{3E9E5C07-B75B-DCE1-1CC4-198C8401F63D}"/>
                        </a:ext>
                      </a:extLst>
                    </p:cNvPr>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1" name="Google Shape;1571;p40">
                    <a:extLst>
                      <a:ext uri="{FF2B5EF4-FFF2-40B4-BE49-F238E27FC236}">
                        <a16:creationId xmlns:a16="http://schemas.microsoft.com/office/drawing/2014/main" id="{EA97C9AA-AA26-4EA4-144E-92694F856980}"/>
                      </a:ext>
                    </a:extLst>
                  </p:cNvPr>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2" name="Google Shape;1572;p40">
                  <a:extLst>
                    <a:ext uri="{FF2B5EF4-FFF2-40B4-BE49-F238E27FC236}">
                      <a16:creationId xmlns:a16="http://schemas.microsoft.com/office/drawing/2014/main" id="{3B8DD518-5729-E779-0632-0363B60A3CBC}"/>
                    </a:ext>
                  </a:extLst>
                </p:cNvPr>
                <p:cNvGrpSpPr/>
                <p:nvPr/>
              </p:nvGrpSpPr>
              <p:grpSpPr>
                <a:xfrm>
                  <a:off x="874020" y="312788"/>
                  <a:ext cx="473483" cy="453403"/>
                  <a:chOff x="2038491" y="-937756"/>
                  <a:chExt cx="904284" cy="865933"/>
                </a:xfrm>
              </p:grpSpPr>
              <p:grpSp>
                <p:nvGrpSpPr>
                  <p:cNvPr id="1573" name="Google Shape;1573;p40">
                    <a:extLst>
                      <a:ext uri="{FF2B5EF4-FFF2-40B4-BE49-F238E27FC236}">
                        <a16:creationId xmlns:a16="http://schemas.microsoft.com/office/drawing/2014/main" id="{59FAEBE5-0908-A0F9-B76D-33D403430917}"/>
                      </a:ext>
                    </a:extLst>
                  </p:cNvPr>
                  <p:cNvGrpSpPr/>
                  <p:nvPr/>
                </p:nvGrpSpPr>
                <p:grpSpPr>
                  <a:xfrm>
                    <a:off x="2096570" y="-863491"/>
                    <a:ext cx="717621" cy="717392"/>
                    <a:chOff x="1483457" y="3953671"/>
                    <a:chExt cx="717621" cy="717392"/>
                  </a:xfrm>
                </p:grpSpPr>
                <p:sp>
                  <p:nvSpPr>
                    <p:cNvPr id="1574" name="Google Shape;1574;p40">
                      <a:extLst>
                        <a:ext uri="{FF2B5EF4-FFF2-40B4-BE49-F238E27FC236}">
                          <a16:creationId xmlns:a16="http://schemas.microsoft.com/office/drawing/2014/main" id="{161BFA72-2D62-340E-4E92-0E5344E1D86B}"/>
                        </a:ext>
                      </a:extLst>
                    </p:cNvPr>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0">
                      <a:extLst>
                        <a:ext uri="{FF2B5EF4-FFF2-40B4-BE49-F238E27FC236}">
                          <a16:creationId xmlns:a16="http://schemas.microsoft.com/office/drawing/2014/main" id="{0ADFE8B6-492E-89E8-DAD0-5131DE327CCA}"/>
                        </a:ext>
                      </a:extLst>
                    </p:cNvPr>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0">
                      <a:extLst>
                        <a:ext uri="{FF2B5EF4-FFF2-40B4-BE49-F238E27FC236}">
                          <a16:creationId xmlns:a16="http://schemas.microsoft.com/office/drawing/2014/main" id="{3B80D511-C841-FA44-CD52-D5E841B515AE}"/>
                        </a:ext>
                      </a:extLst>
                    </p:cNvPr>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0">
                      <a:extLst>
                        <a:ext uri="{FF2B5EF4-FFF2-40B4-BE49-F238E27FC236}">
                          <a16:creationId xmlns:a16="http://schemas.microsoft.com/office/drawing/2014/main" id="{E481C9B6-DCC9-285A-BDF1-3CA9EE2051AE}"/>
                        </a:ext>
                      </a:extLst>
                    </p:cNvPr>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40">
                      <a:extLst>
                        <a:ext uri="{FF2B5EF4-FFF2-40B4-BE49-F238E27FC236}">
                          <a16:creationId xmlns:a16="http://schemas.microsoft.com/office/drawing/2014/main" id="{7B057C0F-0AC8-53FB-FAFF-41AF9ACF973C}"/>
                        </a:ext>
                      </a:extLst>
                    </p:cNvPr>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9" name="Google Shape;1579;p40">
                    <a:extLst>
                      <a:ext uri="{FF2B5EF4-FFF2-40B4-BE49-F238E27FC236}">
                        <a16:creationId xmlns:a16="http://schemas.microsoft.com/office/drawing/2014/main" id="{24B96E06-2783-27FC-76C5-73A83B7DBF7F}"/>
                      </a:ext>
                    </a:extLst>
                  </p:cNvPr>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80" name="Google Shape;1580;p40">
                <a:extLst>
                  <a:ext uri="{FF2B5EF4-FFF2-40B4-BE49-F238E27FC236}">
                    <a16:creationId xmlns:a16="http://schemas.microsoft.com/office/drawing/2014/main" id="{E5CE1F3F-0395-A72D-7BAB-E839960E3D7F}"/>
                  </a:ext>
                </a:extLst>
              </p:cNvPr>
              <p:cNvGrpSpPr/>
              <p:nvPr/>
            </p:nvGrpSpPr>
            <p:grpSpPr>
              <a:xfrm rot="-7479050">
                <a:off x="-2051246" y="-1642948"/>
                <a:ext cx="4889863" cy="3931229"/>
                <a:chOff x="7103825" y="-713112"/>
                <a:chExt cx="3785226" cy="3043150"/>
              </a:xfrm>
            </p:grpSpPr>
            <p:sp>
              <p:nvSpPr>
                <p:cNvPr id="1581" name="Google Shape;1581;p40">
                  <a:extLst>
                    <a:ext uri="{FF2B5EF4-FFF2-40B4-BE49-F238E27FC236}">
                      <a16:creationId xmlns:a16="http://schemas.microsoft.com/office/drawing/2014/main" id="{AF67A9C8-A1D3-707E-7A31-50E2831A1BC2}"/>
                    </a:ext>
                  </a:extLst>
                </p:cNvPr>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82" name="Google Shape;1582;p40">
                  <a:extLst>
                    <a:ext uri="{FF2B5EF4-FFF2-40B4-BE49-F238E27FC236}">
                      <a16:creationId xmlns:a16="http://schemas.microsoft.com/office/drawing/2014/main" id="{ABE26CC5-20E7-64A4-0CD6-308B2BD0273F}"/>
                    </a:ext>
                  </a:extLst>
                </p:cNvPr>
                <p:cNvPicPr preferRelativeResize="0"/>
                <p:nvPr/>
              </p:nvPicPr>
              <p:blipFill rotWithShape="1">
                <a:blip r:embed="rId4">
                  <a:alphaModFix/>
                </a:blip>
                <a:srcRect t="17657" b="17663"/>
                <a:stretch/>
              </p:blipFill>
              <p:spPr>
                <a:xfrm>
                  <a:off x="7103825" y="-713112"/>
                  <a:ext cx="3785226" cy="2888974"/>
                </a:xfrm>
                <a:prstGeom prst="rect">
                  <a:avLst/>
                </a:prstGeom>
                <a:noFill/>
                <a:ln>
                  <a:noFill/>
                </a:ln>
              </p:spPr>
            </p:pic>
          </p:grpSp>
          <p:grpSp>
            <p:nvGrpSpPr>
              <p:cNvPr id="1583" name="Google Shape;1583;p40">
                <a:extLst>
                  <a:ext uri="{FF2B5EF4-FFF2-40B4-BE49-F238E27FC236}">
                    <a16:creationId xmlns:a16="http://schemas.microsoft.com/office/drawing/2014/main" id="{8BE346AB-D188-14C9-1D0D-A06969DB1814}"/>
                  </a:ext>
                </a:extLst>
              </p:cNvPr>
              <p:cNvGrpSpPr/>
              <p:nvPr/>
            </p:nvGrpSpPr>
            <p:grpSpPr>
              <a:xfrm>
                <a:off x="-640220" y="-2653973"/>
                <a:ext cx="6191222" cy="6191222"/>
                <a:chOff x="-640220" y="-2502423"/>
                <a:chExt cx="6191222" cy="6191222"/>
              </a:xfrm>
            </p:grpSpPr>
            <p:sp>
              <p:nvSpPr>
                <p:cNvPr id="1584" name="Google Shape;1584;p40">
                  <a:extLst>
                    <a:ext uri="{FF2B5EF4-FFF2-40B4-BE49-F238E27FC236}">
                      <a16:creationId xmlns:a16="http://schemas.microsoft.com/office/drawing/2014/main" id="{6FB153BF-286A-478E-B5FE-466038E7DBAF}"/>
                    </a:ext>
                  </a:extLst>
                </p:cNvPr>
                <p:cNvSpPr/>
                <p:nvPr/>
              </p:nvSpPr>
              <p:spPr>
                <a:xfrm rot="-8100000">
                  <a:off x="452224" y="-1781500"/>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0">
                  <a:extLst>
                    <a:ext uri="{FF2B5EF4-FFF2-40B4-BE49-F238E27FC236}">
                      <a16:creationId xmlns:a16="http://schemas.microsoft.com/office/drawing/2014/main" id="{7AF3AA2C-3F96-BC0B-1FB2-74A5F0436A37}"/>
                    </a:ext>
                  </a:extLst>
                </p:cNvPr>
                <p:cNvSpPr/>
                <p:nvPr/>
              </p:nvSpPr>
              <p:spPr>
                <a:xfrm rot="-8100000">
                  <a:off x="83608" y="-617740"/>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86" name="Google Shape;1586;p40">
              <a:extLst>
                <a:ext uri="{FF2B5EF4-FFF2-40B4-BE49-F238E27FC236}">
                  <a16:creationId xmlns:a16="http://schemas.microsoft.com/office/drawing/2014/main" id="{33FB5DE3-0DA7-DFF5-CD24-7BB785D222DD}"/>
                </a:ext>
              </a:extLst>
            </p:cNvPr>
            <p:cNvGrpSpPr/>
            <p:nvPr/>
          </p:nvGrpSpPr>
          <p:grpSpPr>
            <a:xfrm>
              <a:off x="-12" y="-195650"/>
              <a:ext cx="439200" cy="439100"/>
              <a:chOff x="1101075" y="2142375"/>
              <a:chExt cx="439200" cy="439100"/>
            </a:xfrm>
          </p:grpSpPr>
          <p:sp>
            <p:nvSpPr>
              <p:cNvPr id="1587" name="Google Shape;1587;p40">
                <a:extLst>
                  <a:ext uri="{FF2B5EF4-FFF2-40B4-BE49-F238E27FC236}">
                    <a16:creationId xmlns:a16="http://schemas.microsoft.com/office/drawing/2014/main" id="{85DC388A-DEDA-98CA-BDF4-8CD4B115AC60}"/>
                  </a:ext>
                </a:extLst>
              </p:cNvPr>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0">
                <a:extLst>
                  <a:ext uri="{FF2B5EF4-FFF2-40B4-BE49-F238E27FC236}">
                    <a16:creationId xmlns:a16="http://schemas.microsoft.com/office/drawing/2014/main" id="{1874153D-F602-2B2B-0AD5-670A3202F238}"/>
                  </a:ext>
                </a:extLst>
              </p:cNvPr>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89" name="Google Shape;1589;p40">
            <a:extLst>
              <a:ext uri="{FF2B5EF4-FFF2-40B4-BE49-F238E27FC236}">
                <a16:creationId xmlns:a16="http://schemas.microsoft.com/office/drawing/2014/main" id="{B3F2060C-EBEA-C540-EBA9-C2CA6B7BCAC3}"/>
              </a:ext>
            </a:extLst>
          </p:cNvPr>
          <p:cNvGrpSpPr/>
          <p:nvPr/>
        </p:nvGrpSpPr>
        <p:grpSpPr>
          <a:xfrm>
            <a:off x="5630304" y="2412775"/>
            <a:ext cx="4740896" cy="4103650"/>
            <a:chOff x="5477904" y="2184175"/>
            <a:chExt cx="4740896" cy="4103650"/>
          </a:xfrm>
        </p:grpSpPr>
        <p:pic>
          <p:nvPicPr>
            <p:cNvPr id="1590" name="Google Shape;1590;p40">
              <a:extLst>
                <a:ext uri="{FF2B5EF4-FFF2-40B4-BE49-F238E27FC236}">
                  <a16:creationId xmlns:a16="http://schemas.microsoft.com/office/drawing/2014/main" id="{A7493341-EF89-04A9-051D-3AAC6A177163}"/>
                </a:ext>
              </a:extLst>
            </p:cNvPr>
            <p:cNvPicPr preferRelativeResize="0"/>
            <p:nvPr/>
          </p:nvPicPr>
          <p:blipFill rotWithShape="1">
            <a:blip r:embed="rId5">
              <a:alphaModFix/>
            </a:blip>
            <a:srcRect l="16960" t="24718" r="7121" b="26177"/>
            <a:stretch/>
          </p:blipFill>
          <p:spPr>
            <a:xfrm rot="-5400000" flipH="1">
              <a:off x="6600975" y="2670000"/>
              <a:ext cx="4103650" cy="3132000"/>
            </a:xfrm>
            <a:prstGeom prst="rect">
              <a:avLst/>
            </a:prstGeom>
            <a:noFill/>
            <a:ln>
              <a:noFill/>
            </a:ln>
          </p:spPr>
        </p:pic>
        <p:grpSp>
          <p:nvGrpSpPr>
            <p:cNvPr id="1591" name="Google Shape;1591;p40">
              <a:extLst>
                <a:ext uri="{FF2B5EF4-FFF2-40B4-BE49-F238E27FC236}">
                  <a16:creationId xmlns:a16="http://schemas.microsoft.com/office/drawing/2014/main" id="{834CC132-37CB-177E-A783-FEB8E6E6026E}"/>
                </a:ext>
              </a:extLst>
            </p:cNvPr>
            <p:cNvGrpSpPr/>
            <p:nvPr/>
          </p:nvGrpSpPr>
          <p:grpSpPr>
            <a:xfrm rot="-5400000" flipH="1">
              <a:off x="8074852" y="4089881"/>
              <a:ext cx="1478405" cy="1186772"/>
              <a:chOff x="7945225" y="4302000"/>
              <a:chExt cx="904666" cy="726121"/>
            </a:xfrm>
          </p:grpSpPr>
          <p:sp>
            <p:nvSpPr>
              <p:cNvPr id="1592" name="Google Shape;1592;p40">
                <a:extLst>
                  <a:ext uri="{FF2B5EF4-FFF2-40B4-BE49-F238E27FC236}">
                    <a16:creationId xmlns:a16="http://schemas.microsoft.com/office/drawing/2014/main" id="{1AD8B877-36DB-156F-9C95-0AA6D87162CF}"/>
                  </a:ext>
                </a:extLst>
              </p:cNvPr>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0">
                <a:extLst>
                  <a:ext uri="{FF2B5EF4-FFF2-40B4-BE49-F238E27FC236}">
                    <a16:creationId xmlns:a16="http://schemas.microsoft.com/office/drawing/2014/main" id="{7862FAB0-ED31-3DB2-2BDD-07CCBEC4E262}"/>
                  </a:ext>
                </a:extLst>
              </p:cNvPr>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0">
                <a:extLst>
                  <a:ext uri="{FF2B5EF4-FFF2-40B4-BE49-F238E27FC236}">
                    <a16:creationId xmlns:a16="http://schemas.microsoft.com/office/drawing/2014/main" id="{C9501245-B9EB-94E6-2155-DD3A61A4BAA9}"/>
                  </a:ext>
                </a:extLst>
              </p:cNvPr>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6" name="Google Shape;1596;p40">
              <a:extLst>
                <a:ext uri="{FF2B5EF4-FFF2-40B4-BE49-F238E27FC236}">
                  <a16:creationId xmlns:a16="http://schemas.microsoft.com/office/drawing/2014/main" id="{1EDA149F-F637-AFE2-DFEE-1AAD82FBAD75}"/>
                </a:ext>
              </a:extLst>
            </p:cNvPr>
            <p:cNvGrpSpPr/>
            <p:nvPr/>
          </p:nvGrpSpPr>
          <p:grpSpPr>
            <a:xfrm rot="-5400000" flipH="1">
              <a:off x="7140078" y="3883230"/>
              <a:ext cx="134004" cy="134004"/>
              <a:chOff x="8356813" y="1074288"/>
              <a:chExt cx="351900" cy="351900"/>
            </a:xfrm>
          </p:grpSpPr>
          <p:sp>
            <p:nvSpPr>
              <p:cNvPr id="1597" name="Google Shape;1597;p40">
                <a:extLst>
                  <a:ext uri="{FF2B5EF4-FFF2-40B4-BE49-F238E27FC236}">
                    <a16:creationId xmlns:a16="http://schemas.microsoft.com/office/drawing/2014/main" id="{EC8AB995-CB59-1E47-8026-3DAEB21027A2}"/>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0">
                <a:extLst>
                  <a:ext uri="{FF2B5EF4-FFF2-40B4-BE49-F238E27FC236}">
                    <a16:creationId xmlns:a16="http://schemas.microsoft.com/office/drawing/2014/main" id="{8DB05DD0-8320-5B87-6A40-DB8B0FD0EC1A}"/>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9" name="Google Shape;1599;p40">
              <a:extLst>
                <a:ext uri="{FF2B5EF4-FFF2-40B4-BE49-F238E27FC236}">
                  <a16:creationId xmlns:a16="http://schemas.microsoft.com/office/drawing/2014/main" id="{18E741C2-05FD-C9B0-0E24-E87CD6E3BED9}"/>
                </a:ext>
              </a:extLst>
            </p:cNvPr>
            <p:cNvGrpSpPr/>
            <p:nvPr/>
          </p:nvGrpSpPr>
          <p:grpSpPr>
            <a:xfrm rot="-5400000" flipH="1">
              <a:off x="6766253" y="3499155"/>
              <a:ext cx="134004" cy="134004"/>
              <a:chOff x="8356813" y="1074288"/>
              <a:chExt cx="351900" cy="351900"/>
            </a:xfrm>
          </p:grpSpPr>
          <p:sp>
            <p:nvSpPr>
              <p:cNvPr id="1600" name="Google Shape;1600;p40">
                <a:extLst>
                  <a:ext uri="{FF2B5EF4-FFF2-40B4-BE49-F238E27FC236}">
                    <a16:creationId xmlns:a16="http://schemas.microsoft.com/office/drawing/2014/main" id="{99366180-C6AC-6B01-9F13-6EE1C57171C4}"/>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0">
                <a:extLst>
                  <a:ext uri="{FF2B5EF4-FFF2-40B4-BE49-F238E27FC236}">
                    <a16:creationId xmlns:a16="http://schemas.microsoft.com/office/drawing/2014/main" id="{16F8DEBD-9317-A264-DAD8-248CDCF9465B}"/>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2" name="Google Shape;1602;p40">
              <a:extLst>
                <a:ext uri="{FF2B5EF4-FFF2-40B4-BE49-F238E27FC236}">
                  <a16:creationId xmlns:a16="http://schemas.microsoft.com/office/drawing/2014/main" id="{9C7779BB-4ED6-B434-EFE1-3B7BDA6211F7}"/>
                </a:ext>
              </a:extLst>
            </p:cNvPr>
            <p:cNvSpPr/>
            <p:nvPr/>
          </p:nvSpPr>
          <p:spPr>
            <a:xfrm rot="5400000" flipH="1">
              <a:off x="6561314" y="2368138"/>
              <a:ext cx="1902692" cy="406951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0">
              <a:extLst>
                <a:ext uri="{FF2B5EF4-FFF2-40B4-BE49-F238E27FC236}">
                  <a16:creationId xmlns:a16="http://schemas.microsoft.com/office/drawing/2014/main" id="{FEB84BE5-5D1E-08B5-D27C-1D7A95AE91B2}"/>
                </a:ext>
              </a:extLst>
            </p:cNvPr>
            <p:cNvSpPr/>
            <p:nvPr/>
          </p:nvSpPr>
          <p:spPr>
            <a:xfrm rot="5400000" flipH="1">
              <a:off x="6562398" y="2676948"/>
              <a:ext cx="1902692" cy="406951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4" name="Google Shape;1604;p40">
              <a:extLst>
                <a:ext uri="{FF2B5EF4-FFF2-40B4-BE49-F238E27FC236}">
                  <a16:creationId xmlns:a16="http://schemas.microsoft.com/office/drawing/2014/main" id="{331A5C0F-DAC1-57E4-7012-41E94CCD0EFE}"/>
                </a:ext>
              </a:extLst>
            </p:cNvPr>
            <p:cNvGrpSpPr/>
            <p:nvPr/>
          </p:nvGrpSpPr>
          <p:grpSpPr>
            <a:xfrm rot="-5400000" flipH="1">
              <a:off x="7404606" y="3451356"/>
              <a:ext cx="582050" cy="582425"/>
              <a:chOff x="959750" y="3039275"/>
              <a:chExt cx="582050" cy="582425"/>
            </a:xfrm>
          </p:grpSpPr>
          <p:sp>
            <p:nvSpPr>
              <p:cNvPr id="1605" name="Google Shape;1605;p40">
                <a:extLst>
                  <a:ext uri="{FF2B5EF4-FFF2-40B4-BE49-F238E27FC236}">
                    <a16:creationId xmlns:a16="http://schemas.microsoft.com/office/drawing/2014/main" id="{FF380B3C-677C-90EE-8029-DBB974DF2DAE}"/>
                  </a:ext>
                </a:extLst>
              </p:cNvPr>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0">
                <a:extLst>
                  <a:ext uri="{FF2B5EF4-FFF2-40B4-BE49-F238E27FC236}">
                    <a16:creationId xmlns:a16="http://schemas.microsoft.com/office/drawing/2014/main" id="{458F2FD3-03B3-B69A-06BC-D76AFC3C8153}"/>
                  </a:ext>
                </a:extLst>
              </p:cNvPr>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0">
                <a:extLst>
                  <a:ext uri="{FF2B5EF4-FFF2-40B4-BE49-F238E27FC236}">
                    <a16:creationId xmlns:a16="http://schemas.microsoft.com/office/drawing/2014/main" id="{3595B233-3872-97A2-EB27-487B7B207507}"/>
                  </a:ext>
                </a:extLst>
              </p:cNvPr>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0">
                <a:extLst>
                  <a:ext uri="{FF2B5EF4-FFF2-40B4-BE49-F238E27FC236}">
                    <a16:creationId xmlns:a16="http://schemas.microsoft.com/office/drawing/2014/main" id="{DA090FDF-98FE-45B0-2E46-17E0566F0A39}"/>
                  </a:ext>
                </a:extLst>
              </p:cNvPr>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0">
                <a:extLst>
                  <a:ext uri="{FF2B5EF4-FFF2-40B4-BE49-F238E27FC236}">
                    <a16:creationId xmlns:a16="http://schemas.microsoft.com/office/drawing/2014/main" id="{3E513383-16C1-A5C9-901E-D8EA393465C3}"/>
                  </a:ext>
                </a:extLst>
              </p:cNvPr>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0">
                <a:extLst>
                  <a:ext uri="{FF2B5EF4-FFF2-40B4-BE49-F238E27FC236}">
                    <a16:creationId xmlns:a16="http://schemas.microsoft.com/office/drawing/2014/main" id="{F19A789C-972B-1AE3-D6AA-45BF788B1FFC}"/>
                  </a:ext>
                </a:extLst>
              </p:cNvPr>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0">
                <a:extLst>
                  <a:ext uri="{FF2B5EF4-FFF2-40B4-BE49-F238E27FC236}">
                    <a16:creationId xmlns:a16="http://schemas.microsoft.com/office/drawing/2014/main" id="{5D4BDF3C-6B91-8838-692E-B10FA7B02673}"/>
                  </a:ext>
                </a:extLst>
              </p:cNvPr>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2" name="Google Shape;1612;p40">
              <a:extLst>
                <a:ext uri="{FF2B5EF4-FFF2-40B4-BE49-F238E27FC236}">
                  <a16:creationId xmlns:a16="http://schemas.microsoft.com/office/drawing/2014/main" id="{898ED28A-6944-B118-2BB5-55F5FCE08859}"/>
                </a:ext>
              </a:extLst>
            </p:cNvPr>
            <p:cNvGrpSpPr/>
            <p:nvPr/>
          </p:nvGrpSpPr>
          <p:grpSpPr>
            <a:xfrm rot="-5400000" flipH="1">
              <a:off x="7237650" y="4201057"/>
              <a:ext cx="699928" cy="1651024"/>
              <a:chOff x="8337812" y="3492483"/>
              <a:chExt cx="699928" cy="1651024"/>
            </a:xfrm>
          </p:grpSpPr>
          <p:sp>
            <p:nvSpPr>
              <p:cNvPr id="1613" name="Google Shape;1613;p40">
                <a:extLst>
                  <a:ext uri="{FF2B5EF4-FFF2-40B4-BE49-F238E27FC236}">
                    <a16:creationId xmlns:a16="http://schemas.microsoft.com/office/drawing/2014/main" id="{A76B0D0F-73E0-7398-ECF5-B99ACACA79CE}"/>
                  </a:ext>
                </a:extLst>
              </p:cNvPr>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0">
                <a:extLst>
                  <a:ext uri="{FF2B5EF4-FFF2-40B4-BE49-F238E27FC236}">
                    <a16:creationId xmlns:a16="http://schemas.microsoft.com/office/drawing/2014/main" id="{0AD5F9F2-13C4-574F-CC5B-B3548F50237C}"/>
                  </a:ext>
                </a:extLst>
              </p:cNvPr>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0">
                <a:extLst>
                  <a:ext uri="{FF2B5EF4-FFF2-40B4-BE49-F238E27FC236}">
                    <a16:creationId xmlns:a16="http://schemas.microsoft.com/office/drawing/2014/main" id="{857E5C3C-D42A-1F25-7134-F3EB0CC72B06}"/>
                  </a:ext>
                </a:extLst>
              </p:cNvPr>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6" name="Google Shape;1616;p40">
              <a:extLst>
                <a:ext uri="{FF2B5EF4-FFF2-40B4-BE49-F238E27FC236}">
                  <a16:creationId xmlns:a16="http://schemas.microsoft.com/office/drawing/2014/main" id="{6D3D63C6-7FAA-E7C2-A7DE-CFF6A29A129F}"/>
                </a:ext>
              </a:extLst>
            </p:cNvPr>
            <p:cNvSpPr/>
            <p:nvPr/>
          </p:nvSpPr>
          <p:spPr>
            <a:xfrm rot="147769" flipH="1">
              <a:off x="7025973" y="450498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40">
              <a:extLst>
                <a:ext uri="{FF2B5EF4-FFF2-40B4-BE49-F238E27FC236}">
                  <a16:creationId xmlns:a16="http://schemas.microsoft.com/office/drawing/2014/main" id="{2DC94B0D-2087-D778-DA1F-6070A115B5E6}"/>
                </a:ext>
              </a:extLst>
            </p:cNvPr>
            <p:cNvSpPr/>
            <p:nvPr/>
          </p:nvSpPr>
          <p:spPr>
            <a:xfrm rot="147769" flipH="1">
              <a:off x="6785273" y="456993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8" name="Google Shape;1618;p40">
              <a:extLst>
                <a:ext uri="{FF2B5EF4-FFF2-40B4-BE49-F238E27FC236}">
                  <a16:creationId xmlns:a16="http://schemas.microsoft.com/office/drawing/2014/main" id="{FA955FF9-19D3-C6A2-63C8-21C19B55971E}"/>
                </a:ext>
              </a:extLst>
            </p:cNvPr>
            <p:cNvGrpSpPr/>
            <p:nvPr/>
          </p:nvGrpSpPr>
          <p:grpSpPr>
            <a:xfrm rot="-5400000" flipH="1">
              <a:off x="5819578" y="4727817"/>
              <a:ext cx="134004" cy="134004"/>
              <a:chOff x="8356813" y="1074288"/>
              <a:chExt cx="351900" cy="351900"/>
            </a:xfrm>
          </p:grpSpPr>
          <p:sp>
            <p:nvSpPr>
              <p:cNvPr id="1619" name="Google Shape;1619;p40">
                <a:extLst>
                  <a:ext uri="{FF2B5EF4-FFF2-40B4-BE49-F238E27FC236}">
                    <a16:creationId xmlns:a16="http://schemas.microsoft.com/office/drawing/2014/main" id="{01B41C8A-BDFA-DF1A-FF63-3B9C0B9BF34C}"/>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0">
                <a:extLst>
                  <a:ext uri="{FF2B5EF4-FFF2-40B4-BE49-F238E27FC236}">
                    <a16:creationId xmlns:a16="http://schemas.microsoft.com/office/drawing/2014/main" id="{ECDE4C18-0A81-1427-4CEA-09C2BCA816F5}"/>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22" name="Google Shape;1622;p40">
            <a:extLst>
              <a:ext uri="{FF2B5EF4-FFF2-40B4-BE49-F238E27FC236}">
                <a16:creationId xmlns:a16="http://schemas.microsoft.com/office/drawing/2014/main" id="{BF6FC510-D954-3739-A288-98CB49313954}"/>
              </a:ext>
            </a:extLst>
          </p:cNvPr>
          <p:cNvSpPr txBox="1">
            <a:spLocks noGrp="1"/>
          </p:cNvSpPr>
          <p:nvPr>
            <p:ph type="subTitle" idx="1"/>
          </p:nvPr>
        </p:nvSpPr>
        <p:spPr>
          <a:xfrm>
            <a:off x="637521" y="98396"/>
            <a:ext cx="7368000" cy="643131"/>
          </a:xfrm>
          <a:prstGeom prst="rect">
            <a:avLst/>
          </a:prstGeom>
        </p:spPr>
        <p:txBody>
          <a:bodyPr spcFirstLastPara="1" wrap="square" lIns="91425" tIns="91425" rIns="91425" bIns="91425" anchor="ctr" anchorCtr="0">
            <a:noAutofit/>
          </a:bodyPr>
          <a:lstStyle/>
          <a:p>
            <a:pPr marL="0" indent="0">
              <a:lnSpc>
                <a:spcPct val="114999"/>
              </a:lnSpc>
            </a:pPr>
            <a:r>
              <a:rPr lang="en" err="1">
                <a:solidFill>
                  <a:schemeClr val="bg1">
                    <a:lumMod val="50000"/>
                  </a:schemeClr>
                </a:solidFill>
                <a:latin typeface="IBM Plex Mono Bold"/>
              </a:rPr>
              <a:t>Sơ</a:t>
            </a:r>
            <a:r>
              <a:rPr lang="en">
                <a:solidFill>
                  <a:schemeClr val="bg1">
                    <a:lumMod val="50000"/>
                  </a:schemeClr>
                </a:solidFill>
                <a:latin typeface="IBM Plex Mono Bold"/>
              </a:rPr>
              <a:t> </a:t>
            </a:r>
            <a:r>
              <a:rPr lang="en" err="1">
                <a:solidFill>
                  <a:schemeClr val="bg1">
                    <a:lumMod val="50000"/>
                  </a:schemeClr>
                </a:solidFill>
                <a:latin typeface="IBM Plex Mono Bold"/>
              </a:rPr>
              <a:t>đồ</a:t>
            </a:r>
            <a:r>
              <a:rPr lang="en">
                <a:solidFill>
                  <a:schemeClr val="bg1">
                    <a:lumMod val="50000"/>
                  </a:schemeClr>
                </a:solidFill>
                <a:latin typeface="IBM Plex Mono Bold"/>
              </a:rPr>
              <a:t> </a:t>
            </a:r>
            <a:r>
              <a:rPr lang="en" err="1">
                <a:solidFill>
                  <a:schemeClr val="bg1">
                    <a:lumMod val="50000"/>
                  </a:schemeClr>
                </a:solidFill>
                <a:latin typeface="IBM Plex Mono Bold"/>
              </a:rPr>
              <a:t>luồng</a:t>
            </a:r>
            <a:r>
              <a:rPr lang="en">
                <a:solidFill>
                  <a:schemeClr val="bg1">
                    <a:lumMod val="50000"/>
                  </a:schemeClr>
                </a:solidFill>
                <a:latin typeface="IBM Plex Mono Bold"/>
              </a:rPr>
              <a:t> </a:t>
            </a:r>
            <a:r>
              <a:rPr lang="en" err="1">
                <a:solidFill>
                  <a:schemeClr val="bg1">
                    <a:lumMod val="50000"/>
                  </a:schemeClr>
                </a:solidFill>
                <a:latin typeface="IBM Plex Mono Bold"/>
              </a:rPr>
              <a:t>dữ</a:t>
            </a:r>
            <a:r>
              <a:rPr lang="en">
                <a:solidFill>
                  <a:schemeClr val="bg1">
                    <a:lumMod val="50000"/>
                  </a:schemeClr>
                </a:solidFill>
                <a:latin typeface="IBM Plex Mono Bold"/>
              </a:rPr>
              <a:t> </a:t>
            </a:r>
            <a:r>
              <a:rPr lang="en" err="1">
                <a:solidFill>
                  <a:schemeClr val="bg1">
                    <a:lumMod val="50000"/>
                  </a:schemeClr>
                </a:solidFill>
                <a:latin typeface="IBM Plex Mono Bold"/>
              </a:rPr>
              <a:t>liệu</a:t>
            </a:r>
            <a:r>
              <a:rPr lang="en">
                <a:solidFill>
                  <a:schemeClr val="bg1">
                    <a:lumMod val="50000"/>
                  </a:schemeClr>
                </a:solidFill>
                <a:latin typeface="IBM Plex Mono Bold"/>
              </a:rPr>
              <a:t> </a:t>
            </a:r>
            <a:r>
              <a:rPr lang="en" err="1">
                <a:solidFill>
                  <a:schemeClr val="bg1">
                    <a:lumMod val="50000"/>
                  </a:schemeClr>
                </a:solidFill>
                <a:latin typeface="IBM Plex Mono Bold"/>
              </a:rPr>
              <a:t>và</a:t>
            </a:r>
            <a:r>
              <a:rPr lang="en">
                <a:solidFill>
                  <a:schemeClr val="bg1">
                    <a:lumMod val="50000"/>
                  </a:schemeClr>
                </a:solidFill>
                <a:latin typeface="IBM Plex Mono Bold"/>
              </a:rPr>
              <a:t> </a:t>
            </a:r>
            <a:r>
              <a:rPr lang="en" err="1">
                <a:solidFill>
                  <a:schemeClr val="bg1">
                    <a:lumMod val="50000"/>
                  </a:schemeClr>
                </a:solidFill>
                <a:latin typeface="IBM Plex Mono Bold"/>
              </a:rPr>
              <a:t>lưu</a:t>
            </a:r>
            <a:r>
              <a:rPr lang="en">
                <a:solidFill>
                  <a:schemeClr val="bg1">
                    <a:lumMod val="50000"/>
                  </a:schemeClr>
                </a:solidFill>
                <a:latin typeface="IBM Plex Mono Bold"/>
              </a:rPr>
              <a:t> </a:t>
            </a:r>
            <a:r>
              <a:rPr lang="en" err="1">
                <a:solidFill>
                  <a:schemeClr val="bg1">
                    <a:lumMod val="50000"/>
                  </a:schemeClr>
                </a:solidFill>
                <a:latin typeface="IBM Plex Mono Bold"/>
              </a:rPr>
              <a:t>trữ</a:t>
            </a:r>
            <a:endParaRPr lang="en-US" err="1">
              <a:solidFill>
                <a:schemeClr val="bg1">
                  <a:lumMod val="50000"/>
                </a:schemeClr>
              </a:solidFill>
              <a:latin typeface="IBM Plex Mono Bold"/>
            </a:endParaRPr>
          </a:p>
        </p:txBody>
      </p:sp>
      <p:grpSp>
        <p:nvGrpSpPr>
          <p:cNvPr id="1623" name="Google Shape;1623;p40">
            <a:extLst>
              <a:ext uri="{FF2B5EF4-FFF2-40B4-BE49-F238E27FC236}">
                <a16:creationId xmlns:a16="http://schemas.microsoft.com/office/drawing/2014/main" id="{1B16A2B0-5124-AA7A-72BE-6C3302B07190}"/>
              </a:ext>
            </a:extLst>
          </p:cNvPr>
          <p:cNvGrpSpPr/>
          <p:nvPr/>
        </p:nvGrpSpPr>
        <p:grpSpPr>
          <a:xfrm rot="-5400000" flipH="1">
            <a:off x="8904403" y="2929792"/>
            <a:ext cx="134004" cy="134004"/>
            <a:chOff x="8356813" y="1074288"/>
            <a:chExt cx="351900" cy="351900"/>
          </a:xfrm>
        </p:grpSpPr>
        <p:sp>
          <p:nvSpPr>
            <p:cNvPr id="1624" name="Google Shape;1624;p40">
              <a:extLst>
                <a:ext uri="{FF2B5EF4-FFF2-40B4-BE49-F238E27FC236}">
                  <a16:creationId xmlns:a16="http://schemas.microsoft.com/office/drawing/2014/main" id="{C2FD82AB-10C5-B607-AB18-4B769CCF355C}"/>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0">
              <a:extLst>
                <a:ext uri="{FF2B5EF4-FFF2-40B4-BE49-F238E27FC236}">
                  <a16:creationId xmlns:a16="http://schemas.microsoft.com/office/drawing/2014/main" id="{85535AD7-A73D-06A3-D304-87CA86CD6D58}"/>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descr="A diagram of a data flow&#10;&#10;AI-generated content may be incorrect.">
            <a:extLst>
              <a:ext uri="{FF2B5EF4-FFF2-40B4-BE49-F238E27FC236}">
                <a16:creationId xmlns:a16="http://schemas.microsoft.com/office/drawing/2014/main" id="{0D626760-7A94-B046-B76C-F61A24F63CB6}"/>
              </a:ext>
            </a:extLst>
          </p:cNvPr>
          <p:cNvPicPr>
            <a:picLocks noChangeAspect="1"/>
          </p:cNvPicPr>
          <p:nvPr/>
        </p:nvPicPr>
        <p:blipFill>
          <a:blip r:embed="rId6"/>
          <a:stretch>
            <a:fillRect/>
          </a:stretch>
        </p:blipFill>
        <p:spPr>
          <a:xfrm>
            <a:off x="3498888" y="682944"/>
            <a:ext cx="5640026" cy="3788227"/>
          </a:xfrm>
          <a:prstGeom prst="rect">
            <a:avLst/>
          </a:prstGeom>
        </p:spPr>
      </p:pic>
      <p:sp>
        <p:nvSpPr>
          <p:cNvPr id="2" name="TextBox 1">
            <a:extLst>
              <a:ext uri="{FF2B5EF4-FFF2-40B4-BE49-F238E27FC236}">
                <a16:creationId xmlns:a16="http://schemas.microsoft.com/office/drawing/2014/main" id="{0859B4C1-EA1B-2198-DD98-E3816339BAD9}"/>
              </a:ext>
            </a:extLst>
          </p:cNvPr>
          <p:cNvSpPr txBox="1"/>
          <p:nvPr/>
        </p:nvSpPr>
        <p:spPr>
          <a:xfrm>
            <a:off x="280445" y="1119767"/>
            <a:ext cx="3303017" cy="2729978"/>
          </a:xfrm>
          <a:prstGeom prst="rect">
            <a:avLst/>
          </a:prstGeom>
          <a:noFill/>
        </p:spPr>
        <p:txBody>
          <a:bodyPr wrap="square" rtlCol="0">
            <a:spAutoFit/>
          </a:bodyPr>
          <a:lstStyle/>
          <a:p>
            <a:pPr>
              <a:spcAft>
                <a:spcPts val="800"/>
              </a:spcAft>
            </a:pPr>
            <a:r>
              <a:rPr lang="vi-VN" sz="1800" kern="100" dirty="0">
                <a:solidFill>
                  <a:schemeClr val="accent2">
                    <a:lumMod val="50000"/>
                  </a:schemeClr>
                </a:solidFill>
                <a:effectLst/>
                <a:latin typeface="Bahnschrift" panose="020B0502040204020203" pitchFamily="34" charset="0"/>
                <a:ea typeface="Arial" panose="020B0604020202020204" pitchFamily="34" charset="0"/>
                <a:cs typeface="Times New Roman" panose="02020603050405020304" pitchFamily="18" charset="0"/>
              </a:rPr>
              <a:t>Các thành phần chính sơ đồ:</a:t>
            </a:r>
          </a:p>
          <a:p>
            <a:pPr>
              <a:spcAft>
                <a:spcPts val="800"/>
              </a:spcAft>
            </a:pPr>
            <a:endParaRPr lang="vi-VN" sz="1800" kern="100" dirty="0">
              <a:solidFill>
                <a:schemeClr val="accent2">
                  <a:lumMod val="50000"/>
                </a:schemeClr>
              </a:solidFill>
              <a:effectLst/>
              <a:latin typeface="Bahnschrift" panose="020B0502040204020203" pitchFamily="34" charset="0"/>
              <a:ea typeface="Arial" panose="020B0604020202020204" pitchFamily="34" charset="0"/>
              <a:cs typeface="Times New Roman" panose="02020603050405020304" pitchFamily="18" charset="0"/>
            </a:endParaRPr>
          </a:p>
          <a:p>
            <a:pPr>
              <a:spcAft>
                <a:spcPts val="800"/>
              </a:spcAft>
            </a:pPr>
            <a:r>
              <a:rPr lang="vi-VN" sz="1800" kern="100" dirty="0">
                <a:solidFill>
                  <a:schemeClr val="accent2">
                    <a:lumMod val="50000"/>
                  </a:schemeClr>
                </a:solidFill>
                <a:effectLst/>
                <a:latin typeface="Bahnschrift" panose="020B0502040204020203" pitchFamily="34" charset="0"/>
                <a:ea typeface="Arial" panose="020B0604020202020204" pitchFamily="34" charset="0"/>
                <a:cs typeface="Times New Roman" panose="02020603050405020304" pitchFamily="18" charset="0"/>
              </a:rPr>
              <a:t>- MovieLens 100K Dataset</a:t>
            </a:r>
          </a:p>
          <a:p>
            <a:pPr>
              <a:spcAft>
                <a:spcPts val="800"/>
              </a:spcAft>
            </a:pPr>
            <a:r>
              <a:rPr lang="vi-VN" sz="1800" kern="100" dirty="0">
                <a:solidFill>
                  <a:schemeClr val="accent2">
                    <a:lumMod val="50000"/>
                  </a:schemeClr>
                </a:solidFill>
                <a:effectLst/>
                <a:latin typeface="Bahnschrift" panose="020B0502040204020203" pitchFamily="34" charset="0"/>
                <a:ea typeface="Arial" panose="020B0604020202020204" pitchFamily="34" charset="0"/>
                <a:cs typeface="Times New Roman" panose="02020603050405020304" pitchFamily="18" charset="0"/>
              </a:rPr>
              <a:t>- Preprocessing Pipeline</a:t>
            </a:r>
          </a:p>
          <a:p>
            <a:pPr>
              <a:spcAft>
                <a:spcPts val="800"/>
              </a:spcAft>
            </a:pPr>
            <a:r>
              <a:rPr lang="vi-VN" sz="1800" kern="100" dirty="0">
                <a:solidFill>
                  <a:schemeClr val="accent2">
                    <a:lumMod val="50000"/>
                  </a:schemeClr>
                </a:solidFill>
                <a:effectLst/>
                <a:latin typeface="Bahnschrift" panose="020B0502040204020203" pitchFamily="34" charset="0"/>
                <a:ea typeface="Arial" panose="020B0604020202020204" pitchFamily="34" charset="0"/>
                <a:cs typeface="Times New Roman" panose="02020603050405020304" pitchFamily="18" charset="0"/>
              </a:rPr>
              <a:t>- File Storage - CSV Files</a:t>
            </a:r>
          </a:p>
          <a:p>
            <a:pPr>
              <a:spcAft>
                <a:spcPts val="800"/>
              </a:spcAft>
            </a:pPr>
            <a:r>
              <a:rPr lang="vi-VN" sz="1800" kern="100" dirty="0">
                <a:solidFill>
                  <a:schemeClr val="accent2">
                    <a:lumMod val="50000"/>
                  </a:schemeClr>
                </a:solidFill>
                <a:effectLst/>
                <a:latin typeface="Bahnschrift" panose="020B0502040204020203" pitchFamily="34" charset="0"/>
                <a:ea typeface="Arial" panose="020B0604020202020204" pitchFamily="34" charset="0"/>
                <a:cs typeface="Times New Roman" panose="02020603050405020304" pitchFamily="18" charset="0"/>
              </a:rPr>
              <a:t>- Database Storage - SQLite</a:t>
            </a:r>
          </a:p>
          <a:p>
            <a:pPr>
              <a:spcAft>
                <a:spcPts val="800"/>
              </a:spcAft>
            </a:pPr>
            <a:r>
              <a:rPr lang="vi-VN" sz="1800" kern="100" dirty="0">
                <a:solidFill>
                  <a:schemeClr val="accent2">
                    <a:lumMod val="50000"/>
                  </a:schemeClr>
                </a:solidFill>
                <a:effectLst/>
                <a:latin typeface="Bahnschrift" panose="020B0502040204020203" pitchFamily="34" charset="0"/>
                <a:ea typeface="Arial" panose="020B0604020202020204" pitchFamily="34" charset="0"/>
                <a:cs typeface="Times New Roman" panose="02020603050405020304" pitchFamily="18" charset="0"/>
              </a:rPr>
              <a:t>- System Consumers</a:t>
            </a:r>
          </a:p>
        </p:txBody>
      </p:sp>
      <p:pic>
        <p:nvPicPr>
          <p:cNvPr id="3" name="Picture 2" descr="A blue and yellow logo&#10;&#10;AI-generated content may be incorrect.">
            <a:extLst>
              <a:ext uri="{FF2B5EF4-FFF2-40B4-BE49-F238E27FC236}">
                <a16:creationId xmlns:a16="http://schemas.microsoft.com/office/drawing/2014/main" id="{451CFBA4-C1F4-F6B5-96E5-05E0ACA4DDB9}"/>
              </a:ext>
            </a:extLst>
          </p:cNvPr>
          <p:cNvPicPr>
            <a:picLocks noChangeAspect="1"/>
          </p:cNvPicPr>
          <p:nvPr/>
        </p:nvPicPr>
        <p:blipFill>
          <a:blip r:embed="rId7"/>
          <a:stretch>
            <a:fillRect/>
          </a:stretch>
        </p:blipFill>
        <p:spPr>
          <a:xfrm>
            <a:off x="137160" y="114312"/>
            <a:ext cx="444137" cy="492242"/>
          </a:xfrm>
          <a:prstGeom prst="rect">
            <a:avLst/>
          </a:prstGeom>
        </p:spPr>
      </p:pic>
    </p:spTree>
    <p:extLst>
      <p:ext uri="{BB962C8B-B14F-4D97-AF65-F5344CB8AC3E}">
        <p14:creationId xmlns:p14="http://schemas.microsoft.com/office/powerpoint/2010/main" val="1758848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show="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BC2E514E-7D2B-0F8D-EABA-A3F48A5F9288}"/>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39699BCD-E624-C03B-406B-3A5EFA67F124}"/>
              </a:ext>
            </a:extLst>
          </p:cNvPr>
          <p:cNvSpPr txBox="1">
            <a:spLocks noGrp="1"/>
          </p:cNvSpPr>
          <p:nvPr>
            <p:ph type="title"/>
          </p:nvPr>
        </p:nvSpPr>
        <p:spPr>
          <a:xfrm>
            <a:off x="807923" y="173929"/>
            <a:ext cx="7704000" cy="572700"/>
          </a:xfrm>
          <a:prstGeom prst="rect">
            <a:avLst/>
          </a:prstGeom>
        </p:spPr>
        <p:txBody>
          <a:bodyPr spcFirstLastPara="1" wrap="square" lIns="91425" tIns="91425" rIns="91425" bIns="91425" anchor="t" anchorCtr="0">
            <a:noAutofit/>
          </a:bodyPr>
          <a:lstStyle/>
          <a:p>
            <a:r>
              <a:rPr lang="vi-VN"/>
              <a:t>7</a:t>
            </a:r>
            <a:r>
              <a:rPr lang="en"/>
              <a:t>. Mapping Systems &amp; Tasks</a:t>
            </a:r>
          </a:p>
        </p:txBody>
      </p:sp>
      <p:pic>
        <p:nvPicPr>
          <p:cNvPr id="2" name="Picture 1" descr="A diagram of a system&#10;&#10;AI-generated content may be incorrect.">
            <a:extLst>
              <a:ext uri="{FF2B5EF4-FFF2-40B4-BE49-F238E27FC236}">
                <a16:creationId xmlns:a16="http://schemas.microsoft.com/office/drawing/2014/main" id="{7BAFF571-E094-0992-328D-789D3402BC56}"/>
              </a:ext>
            </a:extLst>
          </p:cNvPr>
          <p:cNvPicPr>
            <a:picLocks noChangeAspect="1"/>
          </p:cNvPicPr>
          <p:nvPr/>
        </p:nvPicPr>
        <p:blipFill>
          <a:blip r:embed="rId4"/>
          <a:stretch>
            <a:fillRect/>
          </a:stretch>
        </p:blipFill>
        <p:spPr>
          <a:xfrm>
            <a:off x="1428750" y="835819"/>
            <a:ext cx="6286500" cy="4297241"/>
          </a:xfrm>
          <a:prstGeom prst="rect">
            <a:avLst/>
          </a:prstGeom>
        </p:spPr>
      </p:pic>
    </p:spTree>
    <p:extLst>
      <p:ext uri="{BB962C8B-B14F-4D97-AF65-F5344CB8AC3E}">
        <p14:creationId xmlns:p14="http://schemas.microsoft.com/office/powerpoint/2010/main" val="2876806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BC2E514E-7D2B-0F8D-EABA-A3F48A5F9288}"/>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39699BCD-E624-C03B-406B-3A5EFA67F124}"/>
              </a:ext>
            </a:extLst>
          </p:cNvPr>
          <p:cNvSpPr txBox="1">
            <a:spLocks noGrp="1"/>
          </p:cNvSpPr>
          <p:nvPr>
            <p:ph type="title"/>
          </p:nvPr>
        </p:nvSpPr>
        <p:spPr>
          <a:xfrm>
            <a:off x="1591695" y="206587"/>
            <a:ext cx="7704000" cy="572700"/>
          </a:xfrm>
          <a:prstGeom prst="rect">
            <a:avLst/>
          </a:prstGeom>
        </p:spPr>
        <p:txBody>
          <a:bodyPr spcFirstLastPara="1" wrap="square" lIns="91425" tIns="91425" rIns="91425" bIns="91425" anchor="t" anchorCtr="0">
            <a:noAutofit/>
          </a:bodyPr>
          <a:lstStyle/>
          <a:p>
            <a:r>
              <a:rPr lang="en" dirty="0"/>
              <a:t>Huấn luyện mô hình</a:t>
            </a:r>
          </a:p>
        </p:txBody>
      </p:sp>
      <p:sp>
        <p:nvSpPr>
          <p:cNvPr id="2" name="TextBox 1">
            <a:extLst>
              <a:ext uri="{FF2B5EF4-FFF2-40B4-BE49-F238E27FC236}">
                <a16:creationId xmlns:a16="http://schemas.microsoft.com/office/drawing/2014/main" id="{152B21B9-701A-60B1-0CC3-66324103B8B5}"/>
              </a:ext>
            </a:extLst>
          </p:cNvPr>
          <p:cNvSpPr txBox="1"/>
          <p:nvPr/>
        </p:nvSpPr>
        <p:spPr>
          <a:xfrm>
            <a:off x="2023398" y="1103716"/>
            <a:ext cx="5097204" cy="18957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sz="1600" b="1" dirty="0">
                <a:solidFill>
                  <a:schemeClr val="bg2"/>
                </a:solidFill>
                <a:latin typeface="Bahnschrift"/>
              </a:rPr>
              <a:t>Collaborative Filtering (CF)</a:t>
            </a:r>
            <a:endParaRPr lang="en-US" sz="1600" dirty="0">
              <a:solidFill>
                <a:schemeClr val="bg2"/>
              </a:solidFill>
              <a:latin typeface="Bahnschrift"/>
            </a:endParaRPr>
          </a:p>
          <a:p>
            <a:pPr algn="just">
              <a:lnSpc>
                <a:spcPct val="150000"/>
              </a:lnSpc>
            </a:pPr>
            <a:r>
              <a:rPr lang="en-US" sz="1600" dirty="0">
                <a:solidFill>
                  <a:schemeClr val="bg2"/>
                </a:solidFill>
                <a:latin typeface="Bahnschrift"/>
              </a:rPr>
              <a:t> 1. Memory-based (</a:t>
            </a:r>
            <a:r>
              <a:rPr lang="en-US" sz="1600" i="1" dirty="0">
                <a:solidFill>
                  <a:schemeClr val="bg2"/>
                </a:solidFill>
              </a:rPr>
              <a:t>Neighborhood-based CF)</a:t>
            </a:r>
            <a:endParaRPr lang="en-US" sz="1600" dirty="0">
              <a:solidFill>
                <a:schemeClr val="bg2"/>
              </a:solidFill>
            </a:endParaRPr>
          </a:p>
          <a:p>
            <a:pPr algn="just">
              <a:lnSpc>
                <a:spcPct val="150000"/>
              </a:lnSpc>
            </a:pPr>
            <a:r>
              <a:rPr lang="en-US" sz="1600" dirty="0">
                <a:solidFill>
                  <a:schemeClr val="bg2"/>
                </a:solidFill>
                <a:latin typeface="Bahnschrift"/>
                <a:ea typeface="Segoe WPC"/>
              </a:rPr>
              <a:t> 2. Model-based (</a:t>
            </a:r>
            <a:r>
              <a:rPr lang="en-US" sz="1600" i="1" dirty="0">
                <a:solidFill>
                  <a:schemeClr val="bg2"/>
                </a:solidFill>
                <a:latin typeface="Bahnschrift"/>
                <a:ea typeface="Segoe WPC"/>
              </a:rPr>
              <a:t>Matrix Factorization – MF</a:t>
            </a:r>
            <a:r>
              <a:rPr lang="en-US" sz="1600" dirty="0">
                <a:solidFill>
                  <a:schemeClr val="bg2"/>
                </a:solidFill>
                <a:latin typeface="Bahnschrift"/>
                <a:ea typeface="Segoe WPC"/>
              </a:rPr>
              <a:t>)</a:t>
            </a:r>
          </a:p>
          <a:p>
            <a:pPr algn="just">
              <a:lnSpc>
                <a:spcPct val="150000"/>
              </a:lnSpc>
            </a:pPr>
            <a:endParaRPr lang="en-US" sz="1600" b="1" dirty="0">
              <a:solidFill>
                <a:schemeClr val="bg2"/>
              </a:solidFill>
              <a:latin typeface="Bahnschrift"/>
              <a:ea typeface="Segoe WPC"/>
            </a:endParaRPr>
          </a:p>
          <a:p>
            <a:pPr algn="just">
              <a:lnSpc>
                <a:spcPct val="150000"/>
              </a:lnSpc>
            </a:pPr>
            <a:r>
              <a:rPr lang="en-US" sz="1600" b="1" dirty="0">
                <a:solidFill>
                  <a:schemeClr val="bg2"/>
                </a:solidFill>
                <a:latin typeface="Bahnschrift"/>
                <a:ea typeface="Segoe WPC"/>
              </a:rPr>
              <a:t>Sequential Recommendation – </a:t>
            </a:r>
            <a:r>
              <a:rPr lang="en-US" sz="1600" b="1" dirty="0" err="1">
                <a:solidFill>
                  <a:schemeClr val="bg2"/>
                </a:solidFill>
                <a:latin typeface="Bahnschrift"/>
                <a:ea typeface="Segoe WPC"/>
              </a:rPr>
              <a:t>SASRec</a:t>
            </a:r>
            <a:endParaRPr lang="en-US" sz="1600" dirty="0">
              <a:solidFill>
                <a:schemeClr val="bg2"/>
              </a:solidFill>
              <a:latin typeface="Bahnschrift"/>
              <a:ea typeface="Segoe WPC"/>
            </a:endParaRPr>
          </a:p>
        </p:txBody>
      </p:sp>
      <p:pic>
        <p:nvPicPr>
          <p:cNvPr id="3" name="Picture 2" descr="A blue and yellow logo&#10;&#10;AI-generated content may be incorrect.">
            <a:extLst>
              <a:ext uri="{FF2B5EF4-FFF2-40B4-BE49-F238E27FC236}">
                <a16:creationId xmlns:a16="http://schemas.microsoft.com/office/drawing/2014/main" id="{E3FB049B-FE51-7D5B-AF9E-2BD6B7B9DB8B}"/>
              </a:ext>
            </a:extLst>
          </p:cNvPr>
          <p:cNvPicPr>
            <a:picLocks noChangeAspect="1"/>
          </p:cNvPicPr>
          <p:nvPr/>
        </p:nvPicPr>
        <p:blipFill>
          <a:blip r:embed="rId4"/>
          <a:stretch>
            <a:fillRect/>
          </a:stretch>
        </p:blipFill>
        <p:spPr>
          <a:xfrm>
            <a:off x="137160" y="114312"/>
            <a:ext cx="444137" cy="492242"/>
          </a:xfrm>
          <a:prstGeom prst="rect">
            <a:avLst/>
          </a:prstGeom>
        </p:spPr>
      </p:pic>
    </p:spTree>
    <p:extLst>
      <p:ext uri="{BB962C8B-B14F-4D97-AF65-F5344CB8AC3E}">
        <p14:creationId xmlns:p14="http://schemas.microsoft.com/office/powerpoint/2010/main" val="600493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A1CD7065-17AE-E7F9-DF30-3D45EF1B1F4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355EBBF-ADEB-302F-D7D9-532AF9C03C21}"/>
              </a:ext>
            </a:extLst>
          </p:cNvPr>
          <p:cNvSpPr/>
          <p:nvPr/>
        </p:nvSpPr>
        <p:spPr>
          <a:xfrm>
            <a:off x="-457200" y="4349931"/>
            <a:ext cx="9764486" cy="793569"/>
          </a:xfrm>
          <a:prstGeom prst="rect">
            <a:avLst/>
          </a:prstGeom>
          <a:ln>
            <a:solidFill>
              <a:schemeClr val="accent6"/>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vi-VN"/>
          </a:p>
        </p:txBody>
      </p:sp>
      <p:sp>
        <p:nvSpPr>
          <p:cNvPr id="1634" name="Google Shape;1634;p41">
            <a:extLst>
              <a:ext uri="{FF2B5EF4-FFF2-40B4-BE49-F238E27FC236}">
                <a16:creationId xmlns:a16="http://schemas.microsoft.com/office/drawing/2014/main" id="{DA68072C-F2E2-4877-E639-24C210F99E50}"/>
              </a:ext>
            </a:extLst>
          </p:cNvPr>
          <p:cNvSpPr txBox="1">
            <a:spLocks noGrp="1"/>
          </p:cNvSpPr>
          <p:nvPr>
            <p:ph type="title"/>
          </p:nvPr>
        </p:nvSpPr>
        <p:spPr>
          <a:xfrm>
            <a:off x="660607" y="37303"/>
            <a:ext cx="8740025" cy="572700"/>
          </a:xfrm>
          <a:prstGeom prst="rect">
            <a:avLst/>
          </a:prstGeom>
        </p:spPr>
        <p:txBody>
          <a:bodyPr spcFirstLastPara="1" wrap="square" lIns="91425" tIns="91425" rIns="91425" bIns="91425" anchor="t" anchorCtr="0">
            <a:noAutofit/>
          </a:bodyPr>
          <a:lstStyle/>
          <a:p>
            <a:r>
              <a:rPr lang="en" sz="2400" dirty="0"/>
              <a:t>Huấn luyện Collaborative Filtering (1/2)</a:t>
            </a:r>
          </a:p>
        </p:txBody>
      </p:sp>
      <p:sp>
        <p:nvSpPr>
          <p:cNvPr id="2" name="TextBox 1">
            <a:extLst>
              <a:ext uri="{FF2B5EF4-FFF2-40B4-BE49-F238E27FC236}">
                <a16:creationId xmlns:a16="http://schemas.microsoft.com/office/drawing/2014/main" id="{84F7A587-52CD-A15A-184B-D9F4FB258688}"/>
              </a:ext>
            </a:extLst>
          </p:cNvPr>
          <p:cNvSpPr txBox="1"/>
          <p:nvPr/>
        </p:nvSpPr>
        <p:spPr>
          <a:xfrm>
            <a:off x="261430" y="1014351"/>
            <a:ext cx="851137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err="1">
                <a:solidFill>
                  <a:schemeClr val="bg2"/>
                </a:solidFill>
                <a:latin typeface="Bahnschrift"/>
              </a:rPr>
              <a:t>Gợi</a:t>
            </a:r>
            <a:r>
              <a:rPr lang="en-US" dirty="0">
                <a:solidFill>
                  <a:schemeClr val="bg2"/>
                </a:solidFill>
                <a:latin typeface="Bahnschrift"/>
              </a:rPr>
              <a:t> ý </a:t>
            </a:r>
            <a:r>
              <a:rPr lang="en-US" dirty="0" err="1">
                <a:solidFill>
                  <a:schemeClr val="bg2"/>
                </a:solidFill>
                <a:latin typeface="Bahnschrift"/>
              </a:rPr>
              <a:t>dựa</a:t>
            </a:r>
            <a:r>
              <a:rPr lang="en-US" dirty="0">
                <a:solidFill>
                  <a:schemeClr val="bg2"/>
                </a:solidFill>
                <a:latin typeface="Bahnschrift"/>
              </a:rPr>
              <a:t> </a:t>
            </a:r>
            <a:r>
              <a:rPr lang="en-US" dirty="0" err="1">
                <a:solidFill>
                  <a:schemeClr val="bg2"/>
                </a:solidFill>
                <a:latin typeface="Bahnschrift"/>
              </a:rPr>
              <a:t>trực</a:t>
            </a:r>
            <a:r>
              <a:rPr lang="en-US" dirty="0">
                <a:solidFill>
                  <a:schemeClr val="bg2"/>
                </a:solidFill>
                <a:latin typeface="Bahnschrift"/>
              </a:rPr>
              <a:t> </a:t>
            </a:r>
            <a:r>
              <a:rPr lang="en-US" dirty="0" err="1">
                <a:solidFill>
                  <a:schemeClr val="bg2"/>
                </a:solidFill>
                <a:latin typeface="Bahnschrift"/>
              </a:rPr>
              <a:t>tiếp</a:t>
            </a:r>
            <a:r>
              <a:rPr lang="en-US" dirty="0">
                <a:solidFill>
                  <a:schemeClr val="bg2"/>
                </a:solidFill>
                <a:latin typeface="Bahnschrift"/>
              </a:rPr>
              <a:t> </a:t>
            </a:r>
            <a:r>
              <a:rPr lang="en-US" dirty="0" err="1">
                <a:solidFill>
                  <a:schemeClr val="bg2"/>
                </a:solidFill>
                <a:latin typeface="Bahnschrift"/>
              </a:rPr>
              <a:t>trên</a:t>
            </a:r>
            <a:r>
              <a:rPr lang="en-US" dirty="0">
                <a:solidFill>
                  <a:schemeClr val="bg2"/>
                </a:solidFill>
                <a:latin typeface="Bahnschrift"/>
              </a:rPr>
              <a:t> </a:t>
            </a:r>
            <a:r>
              <a:rPr lang="en-US" dirty="0" err="1">
                <a:solidFill>
                  <a:schemeClr val="bg2"/>
                </a:solidFill>
                <a:latin typeface="Bahnschrift"/>
              </a:rPr>
              <a:t>dữ</a:t>
            </a:r>
            <a:r>
              <a:rPr lang="en-US" dirty="0">
                <a:solidFill>
                  <a:schemeClr val="bg2"/>
                </a:solidFill>
                <a:latin typeface="Bahnschrift"/>
              </a:rPr>
              <a:t> </a:t>
            </a:r>
            <a:r>
              <a:rPr lang="en-US" dirty="0" err="1">
                <a:solidFill>
                  <a:schemeClr val="bg2"/>
                </a:solidFill>
                <a:latin typeface="Bahnschrift"/>
              </a:rPr>
              <a:t>liệu</a:t>
            </a:r>
            <a:r>
              <a:rPr lang="en-US" dirty="0">
                <a:solidFill>
                  <a:schemeClr val="bg2"/>
                </a:solidFill>
                <a:latin typeface="Bahnschrift"/>
              </a:rPr>
              <a:t> </a:t>
            </a:r>
            <a:r>
              <a:rPr lang="en-US" dirty="0" err="1">
                <a:solidFill>
                  <a:schemeClr val="bg2"/>
                </a:solidFill>
                <a:latin typeface="Bahnschrift"/>
              </a:rPr>
              <a:t>tương</a:t>
            </a:r>
            <a:r>
              <a:rPr lang="en-US" dirty="0">
                <a:solidFill>
                  <a:schemeClr val="bg2"/>
                </a:solidFill>
                <a:latin typeface="Bahnschrift"/>
              </a:rPr>
              <a:t> </a:t>
            </a:r>
            <a:r>
              <a:rPr lang="en-US" dirty="0" err="1">
                <a:solidFill>
                  <a:schemeClr val="bg2"/>
                </a:solidFill>
                <a:latin typeface="Bahnschrift"/>
              </a:rPr>
              <a:t>tác</a:t>
            </a:r>
            <a:r>
              <a:rPr lang="en-US" dirty="0">
                <a:solidFill>
                  <a:schemeClr val="bg2"/>
                </a:solidFill>
                <a:latin typeface="Bahnschrift"/>
              </a:rPr>
              <a:t> </a:t>
            </a:r>
            <a:r>
              <a:rPr lang="en-US" dirty="0" err="1">
                <a:solidFill>
                  <a:schemeClr val="bg2"/>
                </a:solidFill>
                <a:latin typeface="Bahnschrift"/>
              </a:rPr>
              <a:t>gốc</a:t>
            </a:r>
            <a:r>
              <a:rPr lang="en-US" dirty="0">
                <a:solidFill>
                  <a:schemeClr val="bg2"/>
                </a:solidFill>
                <a:latin typeface="Bahnschrift"/>
              </a:rPr>
              <a:t> (ratings, clicks, views) </a:t>
            </a:r>
            <a:r>
              <a:rPr lang="en-US" dirty="0" err="1">
                <a:solidFill>
                  <a:schemeClr val="bg2"/>
                </a:solidFill>
                <a:latin typeface="Bahnschrift"/>
              </a:rPr>
              <a:t>mà</a:t>
            </a:r>
            <a:r>
              <a:rPr lang="en-US" dirty="0">
                <a:solidFill>
                  <a:schemeClr val="bg2"/>
                </a:solidFill>
                <a:latin typeface="Bahnschrift"/>
              </a:rPr>
              <a:t> </a:t>
            </a:r>
            <a:r>
              <a:rPr lang="en-US" dirty="0" err="1">
                <a:solidFill>
                  <a:schemeClr val="bg2"/>
                </a:solidFill>
                <a:latin typeface="Bahnschrift"/>
              </a:rPr>
              <a:t>không</a:t>
            </a:r>
            <a:r>
              <a:rPr lang="en-US" dirty="0">
                <a:solidFill>
                  <a:schemeClr val="bg2"/>
                </a:solidFill>
                <a:latin typeface="Bahnschrift"/>
              </a:rPr>
              <a:t> </a:t>
            </a:r>
            <a:r>
              <a:rPr lang="en-US" dirty="0" err="1">
                <a:solidFill>
                  <a:schemeClr val="bg2"/>
                </a:solidFill>
                <a:latin typeface="Bahnschrift"/>
              </a:rPr>
              <a:t>cần</a:t>
            </a:r>
            <a:r>
              <a:rPr lang="en-US" dirty="0">
                <a:solidFill>
                  <a:schemeClr val="bg2"/>
                </a:solidFill>
                <a:latin typeface="Bahnschrift"/>
              </a:rPr>
              <a:t> </a:t>
            </a:r>
            <a:r>
              <a:rPr lang="en-US" dirty="0" err="1">
                <a:solidFill>
                  <a:schemeClr val="bg2"/>
                </a:solidFill>
                <a:latin typeface="Bahnschrift"/>
              </a:rPr>
              <a:t>huấn</a:t>
            </a:r>
            <a:r>
              <a:rPr lang="en-US" dirty="0">
                <a:solidFill>
                  <a:schemeClr val="bg2"/>
                </a:solidFill>
                <a:latin typeface="Bahnschrift"/>
              </a:rPr>
              <a:t> </a:t>
            </a:r>
            <a:r>
              <a:rPr lang="en-US" dirty="0" err="1">
                <a:solidFill>
                  <a:schemeClr val="bg2"/>
                </a:solidFill>
                <a:latin typeface="Bahnschrift"/>
              </a:rPr>
              <a:t>luyện</a:t>
            </a:r>
            <a:r>
              <a:rPr lang="en-US" dirty="0">
                <a:solidFill>
                  <a:schemeClr val="bg2"/>
                </a:solidFill>
                <a:latin typeface="Bahnschrift"/>
              </a:rPr>
              <a:t> </a:t>
            </a:r>
            <a:r>
              <a:rPr lang="en-US" dirty="0" err="1">
                <a:solidFill>
                  <a:schemeClr val="bg2"/>
                </a:solidFill>
                <a:latin typeface="Bahnschrift"/>
              </a:rPr>
              <a:t>mô</a:t>
            </a:r>
            <a:r>
              <a:rPr lang="en-US" dirty="0">
                <a:solidFill>
                  <a:schemeClr val="bg2"/>
                </a:solidFill>
                <a:latin typeface="Bahnschrift"/>
              </a:rPr>
              <a:t> </a:t>
            </a:r>
            <a:r>
              <a:rPr lang="en-US" dirty="0" err="1">
                <a:solidFill>
                  <a:schemeClr val="bg2"/>
                </a:solidFill>
                <a:latin typeface="Bahnschrift"/>
              </a:rPr>
              <a:t>hình</a:t>
            </a:r>
            <a:r>
              <a:rPr lang="en-US" dirty="0">
                <a:solidFill>
                  <a:schemeClr val="bg2"/>
                </a:solidFill>
                <a:latin typeface="Bahnschrift"/>
              </a:rPr>
              <a:t> </a:t>
            </a:r>
            <a:r>
              <a:rPr lang="en-US" dirty="0" err="1">
                <a:solidFill>
                  <a:schemeClr val="bg2"/>
                </a:solidFill>
                <a:latin typeface="Bahnschrift"/>
              </a:rPr>
              <a:t>phức</a:t>
            </a:r>
            <a:r>
              <a:rPr lang="en-US" dirty="0">
                <a:solidFill>
                  <a:schemeClr val="bg2"/>
                </a:solidFill>
                <a:latin typeface="Bahnschrift"/>
              </a:rPr>
              <a:t> </a:t>
            </a:r>
            <a:r>
              <a:rPr lang="en-US" dirty="0" err="1">
                <a:solidFill>
                  <a:schemeClr val="bg2"/>
                </a:solidFill>
                <a:latin typeface="Bahnschrift"/>
              </a:rPr>
              <a:t>tạp</a:t>
            </a:r>
            <a:r>
              <a:rPr lang="en-US" dirty="0">
                <a:solidFill>
                  <a:schemeClr val="bg2"/>
                </a:solidFill>
                <a:latin typeface="Bahnschrift"/>
              </a:rPr>
              <a:t>.</a:t>
            </a:r>
          </a:p>
        </p:txBody>
      </p:sp>
      <p:graphicFrame>
        <p:nvGraphicFramePr>
          <p:cNvPr id="4" name="Table 3">
            <a:extLst>
              <a:ext uri="{FF2B5EF4-FFF2-40B4-BE49-F238E27FC236}">
                <a16:creationId xmlns:a16="http://schemas.microsoft.com/office/drawing/2014/main" id="{D660DCD6-F5E4-2DBD-3337-BD6D51A78D5D}"/>
              </a:ext>
            </a:extLst>
          </p:cNvPr>
          <p:cNvGraphicFramePr>
            <a:graphicFrameLocks noGrp="1"/>
          </p:cNvGraphicFramePr>
          <p:nvPr>
            <p:extLst>
              <p:ext uri="{D42A27DB-BD31-4B8C-83A1-F6EECF244321}">
                <p14:modId xmlns:p14="http://schemas.microsoft.com/office/powerpoint/2010/main" val="4267289009"/>
              </p:ext>
            </p:extLst>
          </p:nvPr>
        </p:nvGraphicFramePr>
        <p:xfrm>
          <a:off x="261430" y="1607988"/>
          <a:ext cx="8556264" cy="1036320"/>
        </p:xfrm>
        <a:graphic>
          <a:graphicData uri="http://schemas.openxmlformats.org/drawingml/2006/table">
            <a:tbl>
              <a:tblPr firstRow="1" bandRow="1">
                <a:tableStyleId>{FCFD89B0-09A9-401F-B85D-9E3E2F4A158D}</a:tableStyleId>
              </a:tblPr>
              <a:tblGrid>
                <a:gridCol w="1628549">
                  <a:extLst>
                    <a:ext uri="{9D8B030D-6E8A-4147-A177-3AD203B41FA5}">
                      <a16:colId xmlns:a16="http://schemas.microsoft.com/office/drawing/2014/main" val="312556779"/>
                    </a:ext>
                  </a:extLst>
                </a:gridCol>
                <a:gridCol w="6927715">
                  <a:extLst>
                    <a:ext uri="{9D8B030D-6E8A-4147-A177-3AD203B41FA5}">
                      <a16:colId xmlns:a16="http://schemas.microsoft.com/office/drawing/2014/main" val="303745967"/>
                    </a:ext>
                  </a:extLst>
                </a:gridCol>
              </a:tblGrid>
              <a:tr h="370840">
                <a:tc>
                  <a:txBody>
                    <a:bodyPr/>
                    <a:lstStyle/>
                    <a:p>
                      <a:pPr algn="l"/>
                      <a:r>
                        <a:rPr lang="vi-VN" b="1" dirty="0">
                          <a:solidFill>
                            <a:schemeClr val="bg2"/>
                          </a:solidFill>
                          <a:latin typeface="Bahnschrift" panose="020B0502040204020203" pitchFamily="34" charset="0"/>
                        </a:rPr>
                        <a:t>User-based CF</a:t>
                      </a:r>
                    </a:p>
                  </a:txBody>
                  <a:tcPr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vi-VN" dirty="0">
                          <a:solidFill>
                            <a:schemeClr val="bg2"/>
                          </a:solidFill>
                          <a:latin typeface="Bahnschrift" panose="020B0502040204020203" pitchFamily="34" charset="0"/>
                        </a:rPr>
                        <a:t>- Tìm các người dùng giống bạn (user hiện tại, ví dụ: thích các phim tương tự).</a:t>
                      </a:r>
                    </a:p>
                    <a:p>
                      <a:pPr algn="l"/>
                      <a:r>
                        <a:rPr lang="vi-VN" dirty="0">
                          <a:solidFill>
                            <a:schemeClr val="bg2"/>
                          </a:solidFill>
                          <a:latin typeface="Bahnschrift" panose="020B0502040204020203" pitchFamily="34" charset="0"/>
                        </a:rPr>
                        <a:t>- Gợi ý những item mà họ đã thích nhưng bạn chưa xem.</a:t>
                      </a:r>
                    </a:p>
                  </a:txBody>
                  <a:tcPr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69514216"/>
                  </a:ext>
                </a:extLst>
              </a:tr>
              <a:tr h="370840">
                <a:tc>
                  <a:txBody>
                    <a:bodyPr/>
                    <a:lstStyle/>
                    <a:p>
                      <a:pPr algn="l"/>
                      <a:r>
                        <a:rPr lang="vi-VN" b="1" dirty="0">
                          <a:solidFill>
                            <a:schemeClr val="bg2"/>
                          </a:solidFill>
                          <a:latin typeface="Bahnschrift" panose="020B0502040204020203" pitchFamily="34" charset="0"/>
                        </a:rPr>
                        <a:t>Item-based CF</a:t>
                      </a:r>
                    </a:p>
                  </a:txBody>
                  <a:tcPr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l"/>
                      <a:r>
                        <a:rPr lang="vi-VN" dirty="0">
                          <a:solidFill>
                            <a:schemeClr val="bg2"/>
                          </a:solidFill>
                          <a:latin typeface="Bahnschrift" panose="020B0502040204020203" pitchFamily="34" charset="0"/>
                        </a:rPr>
                        <a:t>- Tìm các item giống nhau dựa trên pattern đánh giá (item user đã thích).</a:t>
                      </a:r>
                    </a:p>
                    <a:p>
                      <a:pPr algn="l"/>
                      <a:r>
                        <a:rPr lang="vi-VN" dirty="0">
                          <a:solidFill>
                            <a:schemeClr val="bg2"/>
                          </a:solidFill>
                          <a:latin typeface="Bahnschrift" panose="020B0502040204020203" pitchFamily="34" charset="0"/>
                        </a:rPr>
                        <a:t>- Ví dụ: Nếu nhiều người xem Movie A cũng xem Movie B, thì A và B là “tương tự”.</a:t>
                      </a:r>
                    </a:p>
                  </a:txBody>
                  <a:tcPr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060293025"/>
                  </a:ext>
                </a:extLst>
              </a:tr>
            </a:tbl>
          </a:graphicData>
        </a:graphic>
      </p:graphicFrame>
      <p:sp>
        <p:nvSpPr>
          <p:cNvPr id="6" name="TextBox 5">
            <a:extLst>
              <a:ext uri="{FF2B5EF4-FFF2-40B4-BE49-F238E27FC236}">
                <a16:creationId xmlns:a16="http://schemas.microsoft.com/office/drawing/2014/main" id="{BD8BEDEB-BE3D-1735-6FAC-6C948EF60E9E}"/>
              </a:ext>
            </a:extLst>
          </p:cNvPr>
          <p:cNvSpPr txBox="1"/>
          <p:nvPr/>
        </p:nvSpPr>
        <p:spPr>
          <a:xfrm>
            <a:off x="261430" y="2749493"/>
            <a:ext cx="6204684" cy="1600438"/>
          </a:xfrm>
          <a:prstGeom prst="rect">
            <a:avLst/>
          </a:prstGeom>
          <a:noFill/>
        </p:spPr>
        <p:txBody>
          <a:bodyPr wrap="square" rtlCol="0">
            <a:spAutoFit/>
          </a:bodyPr>
          <a:lstStyle/>
          <a:p>
            <a:r>
              <a:rPr lang="vi-VN" b="1" dirty="0">
                <a:solidFill>
                  <a:schemeClr val="bg2"/>
                </a:solidFill>
                <a:latin typeface="Bahnschrift" panose="020B0502040204020203" pitchFamily="34" charset="0"/>
              </a:rPr>
              <a:t>Tính độ tương đồng: </a:t>
            </a:r>
          </a:p>
          <a:p>
            <a:r>
              <a:rPr lang="vi-VN" dirty="0">
                <a:solidFill>
                  <a:schemeClr val="bg2"/>
                </a:solidFill>
                <a:latin typeface="Bahnschrift" panose="020B0502040204020203" pitchFamily="34" charset="0"/>
              </a:rPr>
              <a:t>  - Lấy vector tương tác (ratings, clicks) của mỗi user/item.</a:t>
            </a:r>
          </a:p>
          <a:p>
            <a:r>
              <a:rPr lang="vi-VN" dirty="0">
                <a:solidFill>
                  <a:schemeClr val="bg2"/>
                </a:solidFill>
                <a:latin typeface="Bahnschrift" panose="020B0502040204020203" pitchFamily="34" charset="0"/>
              </a:rPr>
              <a:t>  - So sánh từng cặp user hoặc item bằng các metric:</a:t>
            </a:r>
          </a:p>
          <a:p>
            <a:r>
              <a:rPr lang="vi-VN" dirty="0">
                <a:solidFill>
                  <a:schemeClr val="bg2"/>
                </a:solidFill>
                <a:latin typeface="Bahnschrift" panose="020B0502040204020203" pitchFamily="34" charset="0"/>
              </a:rPr>
              <a:t>   • Cosine similarity: đo góc giữa 2 vector.</a:t>
            </a:r>
          </a:p>
          <a:p>
            <a:r>
              <a:rPr lang="vi-VN" dirty="0">
                <a:solidFill>
                  <a:schemeClr val="bg2"/>
                </a:solidFill>
                <a:latin typeface="Bahnschrift" panose="020B0502040204020203" pitchFamily="34" charset="0"/>
              </a:rPr>
              <a:t>   • Pearson correlation: đo mức độ tuyến tính sau khi trừ mean.</a:t>
            </a:r>
          </a:p>
          <a:p>
            <a:r>
              <a:rPr lang="vi-VN" dirty="0">
                <a:solidFill>
                  <a:schemeClr val="bg2"/>
                </a:solidFill>
                <a:latin typeface="Bahnschrift" panose="020B0502040204020203" pitchFamily="34" charset="0"/>
              </a:rPr>
              <a:t>  - Kết quả → một ma trận tương đồng (similarity matrix).</a:t>
            </a:r>
          </a:p>
          <a:p>
            <a:r>
              <a:rPr lang="vi-VN" dirty="0">
                <a:solidFill>
                  <a:schemeClr val="bg2"/>
                </a:solidFill>
                <a:latin typeface="Bahnschrift" panose="020B0502040204020203" pitchFamily="34" charset="0"/>
              </a:rPr>
              <a:t>  - Từ ma trận tương đồng, chọn ra k phần tử có độ tương đồng cao nhất.</a:t>
            </a:r>
          </a:p>
        </p:txBody>
      </p:sp>
      <p:sp>
        <p:nvSpPr>
          <p:cNvPr id="7" name="Rectangle: Rounded Corners 6">
            <a:extLst>
              <a:ext uri="{FF2B5EF4-FFF2-40B4-BE49-F238E27FC236}">
                <a16:creationId xmlns:a16="http://schemas.microsoft.com/office/drawing/2014/main" id="{1BFE0BAF-34E3-DC6D-5F4F-BA13470FC3CE}"/>
              </a:ext>
            </a:extLst>
          </p:cNvPr>
          <p:cNvSpPr/>
          <p:nvPr/>
        </p:nvSpPr>
        <p:spPr>
          <a:xfrm>
            <a:off x="484259" y="634643"/>
            <a:ext cx="3759928" cy="331353"/>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dirty="0">
                <a:solidFill>
                  <a:schemeClr val="bg2"/>
                </a:solidFill>
                <a:latin typeface="Bahnschrift" panose="020B0502040204020203" pitchFamily="34" charset="0"/>
              </a:rPr>
              <a:t>1. Memory-based (Neighborhood-based CF)</a:t>
            </a:r>
          </a:p>
        </p:txBody>
      </p:sp>
      <p:pic>
        <p:nvPicPr>
          <p:cNvPr id="11" name="Picture 10">
            <a:extLst>
              <a:ext uri="{FF2B5EF4-FFF2-40B4-BE49-F238E27FC236}">
                <a16:creationId xmlns:a16="http://schemas.microsoft.com/office/drawing/2014/main" id="{66DAD480-83FD-37B3-E69C-EA38DAD1E889}"/>
              </a:ext>
            </a:extLst>
          </p:cNvPr>
          <p:cNvPicPr>
            <a:picLocks noChangeAspect="1"/>
          </p:cNvPicPr>
          <p:nvPr/>
        </p:nvPicPr>
        <p:blipFill>
          <a:blip r:embed="rId4"/>
          <a:srcRect l="17152" r="14140"/>
          <a:stretch/>
        </p:blipFill>
        <p:spPr>
          <a:xfrm>
            <a:off x="6537960" y="2644308"/>
            <a:ext cx="2344610" cy="2423842"/>
          </a:xfrm>
          <a:prstGeom prst="rect">
            <a:avLst/>
          </a:prstGeom>
        </p:spPr>
      </p:pic>
      <p:pic>
        <p:nvPicPr>
          <p:cNvPr id="5" name="Picture 4" descr="A blue and yellow logo&#10;&#10;AI-generated content may be incorrect.">
            <a:extLst>
              <a:ext uri="{FF2B5EF4-FFF2-40B4-BE49-F238E27FC236}">
                <a16:creationId xmlns:a16="http://schemas.microsoft.com/office/drawing/2014/main" id="{C82642C7-8972-BF31-E0F6-19F9EBAC15F6}"/>
              </a:ext>
            </a:extLst>
          </p:cNvPr>
          <p:cNvPicPr>
            <a:picLocks noChangeAspect="1"/>
          </p:cNvPicPr>
          <p:nvPr/>
        </p:nvPicPr>
        <p:blipFill>
          <a:blip r:embed="rId5"/>
          <a:stretch>
            <a:fillRect/>
          </a:stretch>
        </p:blipFill>
        <p:spPr>
          <a:xfrm>
            <a:off x="130628" y="69406"/>
            <a:ext cx="444137" cy="492242"/>
          </a:xfrm>
          <a:prstGeom prst="rect">
            <a:avLst/>
          </a:prstGeom>
        </p:spPr>
      </p:pic>
    </p:spTree>
    <p:extLst>
      <p:ext uri="{BB962C8B-B14F-4D97-AF65-F5344CB8AC3E}">
        <p14:creationId xmlns:p14="http://schemas.microsoft.com/office/powerpoint/2010/main" val="3190621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F638CE6E-20D0-E04A-8871-9E354C317B0C}"/>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E66E1E7A-68D3-DB24-728D-66AA863A78F5}"/>
              </a:ext>
            </a:extLst>
          </p:cNvPr>
          <p:cNvSpPr txBox="1">
            <a:spLocks noGrp="1"/>
          </p:cNvSpPr>
          <p:nvPr>
            <p:ph type="title"/>
          </p:nvPr>
        </p:nvSpPr>
        <p:spPr>
          <a:xfrm>
            <a:off x="661050" y="85143"/>
            <a:ext cx="9140076" cy="521411"/>
          </a:xfrm>
          <a:prstGeom prst="rect">
            <a:avLst/>
          </a:prstGeom>
        </p:spPr>
        <p:txBody>
          <a:bodyPr spcFirstLastPara="1" wrap="square" lIns="91425" tIns="91425" rIns="91425" bIns="91425" anchor="t" anchorCtr="0">
            <a:noAutofit/>
          </a:bodyPr>
          <a:lstStyle/>
          <a:p>
            <a:r>
              <a:rPr lang="en" sz="2400" err="1"/>
              <a:t>Huấn</a:t>
            </a:r>
            <a:r>
              <a:rPr lang="en" sz="2400"/>
              <a:t> </a:t>
            </a:r>
            <a:r>
              <a:rPr lang="en" sz="2400" err="1"/>
              <a:t>luyện</a:t>
            </a:r>
            <a:r>
              <a:rPr lang="en" sz="2400"/>
              <a:t> Collaborative Filtering (2/2)</a:t>
            </a:r>
            <a:endParaRPr lang="en-US"/>
          </a:p>
        </p:txBody>
      </p:sp>
      <p:pic>
        <p:nvPicPr>
          <p:cNvPr id="4" name="Picture 3" descr="GitHub - hovav698/Movie-recommendation-using-Autoencoder-and-matrix ...">
            <a:extLst>
              <a:ext uri="{FF2B5EF4-FFF2-40B4-BE49-F238E27FC236}">
                <a16:creationId xmlns:a16="http://schemas.microsoft.com/office/drawing/2014/main" id="{9DF75DD2-378E-710D-1CCA-4918D7F0EA9A}"/>
              </a:ext>
            </a:extLst>
          </p:cNvPr>
          <p:cNvPicPr>
            <a:picLocks noChangeAspect="1"/>
          </p:cNvPicPr>
          <p:nvPr/>
        </p:nvPicPr>
        <p:blipFill>
          <a:blip r:embed="rId4"/>
          <a:stretch>
            <a:fillRect/>
          </a:stretch>
        </p:blipFill>
        <p:spPr>
          <a:xfrm>
            <a:off x="5301595" y="2992993"/>
            <a:ext cx="3562707" cy="1537321"/>
          </a:xfrm>
          <a:prstGeom prst="rect">
            <a:avLst/>
          </a:prstGeom>
        </p:spPr>
      </p:pic>
      <p:sp>
        <p:nvSpPr>
          <p:cNvPr id="3" name="Rectangle: Rounded Corners 2">
            <a:extLst>
              <a:ext uri="{FF2B5EF4-FFF2-40B4-BE49-F238E27FC236}">
                <a16:creationId xmlns:a16="http://schemas.microsoft.com/office/drawing/2014/main" id="{5D1B4D1F-5B9C-2026-2ABC-AC25745B8FB4}"/>
              </a:ext>
            </a:extLst>
          </p:cNvPr>
          <p:cNvSpPr/>
          <p:nvPr/>
        </p:nvSpPr>
        <p:spPr>
          <a:xfrm>
            <a:off x="758579" y="670272"/>
            <a:ext cx="3759928" cy="331353"/>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b="1" dirty="0">
                <a:solidFill>
                  <a:schemeClr val="bg2"/>
                </a:solidFill>
                <a:latin typeface="Bahnschrift" panose="020B0502040204020203" pitchFamily="34" charset="0"/>
              </a:rPr>
              <a:t>2. Model-based (Matrix Factorization – MF) </a:t>
            </a:r>
          </a:p>
        </p:txBody>
      </p:sp>
      <p:sp>
        <p:nvSpPr>
          <p:cNvPr id="5" name="TextBox 4">
            <a:extLst>
              <a:ext uri="{FF2B5EF4-FFF2-40B4-BE49-F238E27FC236}">
                <a16:creationId xmlns:a16="http://schemas.microsoft.com/office/drawing/2014/main" id="{4C77A2A9-93C0-F1C2-3D12-D2CE4C155B7B}"/>
              </a:ext>
            </a:extLst>
          </p:cNvPr>
          <p:cNvSpPr txBox="1"/>
          <p:nvPr/>
        </p:nvSpPr>
        <p:spPr>
          <a:xfrm>
            <a:off x="385354" y="1051552"/>
            <a:ext cx="6087292" cy="307777"/>
          </a:xfrm>
          <a:prstGeom prst="rect">
            <a:avLst/>
          </a:prstGeom>
          <a:noFill/>
        </p:spPr>
        <p:txBody>
          <a:bodyPr wrap="square" rtlCol="0">
            <a:spAutoFit/>
          </a:bodyPr>
          <a:lstStyle/>
          <a:p>
            <a:r>
              <a:rPr lang="vi-VN" dirty="0">
                <a:solidFill>
                  <a:schemeClr val="bg2"/>
                </a:solidFill>
                <a:latin typeface="Bahnschrift" panose="020B0502040204020203" pitchFamily="34" charset="0"/>
              </a:rPr>
              <a:t>Dùng mô hình học máy để học pattern ẩn, học từ dữ liệu lịch sử</a:t>
            </a:r>
          </a:p>
        </p:txBody>
      </p:sp>
      <p:sp>
        <p:nvSpPr>
          <p:cNvPr id="7" name="TextBox 6">
            <a:extLst>
              <a:ext uri="{FF2B5EF4-FFF2-40B4-BE49-F238E27FC236}">
                <a16:creationId xmlns:a16="http://schemas.microsoft.com/office/drawing/2014/main" id="{C6CD6109-CA0B-6EA4-098B-005859774FCD}"/>
              </a:ext>
            </a:extLst>
          </p:cNvPr>
          <p:cNvSpPr txBox="1"/>
          <p:nvPr/>
        </p:nvSpPr>
        <p:spPr>
          <a:xfrm>
            <a:off x="437605" y="1538113"/>
            <a:ext cx="7876903" cy="1600438"/>
          </a:xfrm>
          <a:prstGeom prst="rect">
            <a:avLst/>
          </a:prstGeom>
          <a:noFill/>
        </p:spPr>
        <p:txBody>
          <a:bodyPr wrap="square" rtlCol="0">
            <a:spAutoFit/>
          </a:bodyPr>
          <a:lstStyle/>
          <a:p>
            <a:pPr algn="just" rtl="0" fontAlgn="base"/>
            <a:r>
              <a:rPr lang="en-US" b="1" i="0" u="none" strike="noStrike" dirty="0">
                <a:solidFill>
                  <a:schemeClr val="bg2"/>
                </a:solidFill>
                <a:effectLst/>
                <a:latin typeface="Bahnschrift" panose="020B0502040204020203" pitchFamily="34" charset="0"/>
              </a:rPr>
              <a:t>Ý </a:t>
            </a:r>
            <a:r>
              <a:rPr lang="en-US" b="1" i="0" u="none" strike="noStrike" dirty="0" err="1">
                <a:solidFill>
                  <a:schemeClr val="bg2"/>
                </a:solidFill>
                <a:effectLst/>
                <a:latin typeface="Bahnschrift" panose="020B0502040204020203" pitchFamily="34" charset="0"/>
              </a:rPr>
              <a:t>tưởng</a:t>
            </a:r>
            <a:r>
              <a:rPr lang="en-US" b="1" i="0" u="none" strike="noStrike" dirty="0">
                <a:solidFill>
                  <a:schemeClr val="bg2"/>
                </a:solidFill>
                <a:effectLst/>
                <a:latin typeface="Bahnschrift" panose="020B0502040204020203" pitchFamily="34" charset="0"/>
              </a:rPr>
              <a:t> </a:t>
            </a:r>
            <a:r>
              <a:rPr lang="en-US" b="1" i="0" u="none" strike="noStrike" dirty="0" err="1">
                <a:solidFill>
                  <a:schemeClr val="bg2"/>
                </a:solidFill>
                <a:effectLst/>
                <a:latin typeface="Bahnschrift" panose="020B0502040204020203" pitchFamily="34" charset="0"/>
              </a:rPr>
              <a:t>chính</a:t>
            </a:r>
            <a:r>
              <a:rPr lang="en-US" b="0" i="0" dirty="0">
                <a:solidFill>
                  <a:schemeClr val="bg2"/>
                </a:solidFill>
                <a:effectLst/>
                <a:latin typeface="Bahnschrift" panose="020B0502040204020203" pitchFamily="34" charset="0"/>
              </a:rPr>
              <a:t>​</a:t>
            </a:r>
            <a:r>
              <a:rPr lang="en-US" dirty="0">
                <a:solidFill>
                  <a:schemeClr val="bg2"/>
                </a:solidFill>
                <a:latin typeface="Bahnschrift" panose="020B0502040204020203" pitchFamily="34" charset="0"/>
              </a:rPr>
              <a:t>: </a:t>
            </a:r>
            <a:r>
              <a:rPr lang="en-US" b="0" i="0" u="none" strike="noStrike" dirty="0" err="1">
                <a:solidFill>
                  <a:schemeClr val="bg2"/>
                </a:solidFill>
                <a:effectLst/>
                <a:latin typeface="Bahnschrift" panose="020B0502040204020203" pitchFamily="34" charset="0"/>
              </a:rPr>
              <a:t>Phân</a:t>
            </a:r>
            <a:r>
              <a:rPr lang="en-US" b="0" i="0" u="none" strike="noStrike" dirty="0">
                <a:solidFill>
                  <a:schemeClr val="bg2"/>
                </a:solidFill>
                <a:effectLst/>
                <a:latin typeface="Bahnschrift" panose="020B0502040204020203" pitchFamily="34" charset="0"/>
              </a:rPr>
              <a:t> </a:t>
            </a:r>
            <a:r>
              <a:rPr lang="en-US" b="0" i="0" u="none" strike="noStrike" dirty="0" err="1">
                <a:solidFill>
                  <a:schemeClr val="bg2"/>
                </a:solidFill>
                <a:effectLst/>
                <a:latin typeface="Bahnschrift" panose="020B0502040204020203" pitchFamily="34" charset="0"/>
              </a:rPr>
              <a:t>rã</a:t>
            </a:r>
            <a:r>
              <a:rPr lang="en-US" b="0" i="0" u="none" strike="noStrike" dirty="0">
                <a:solidFill>
                  <a:schemeClr val="bg2"/>
                </a:solidFill>
                <a:effectLst/>
                <a:latin typeface="Bahnschrift" panose="020B0502040204020203" pitchFamily="34" charset="0"/>
              </a:rPr>
              <a:t> ma </a:t>
            </a:r>
            <a:r>
              <a:rPr lang="en-US" b="0" i="0" u="none" strike="noStrike" dirty="0" err="1">
                <a:solidFill>
                  <a:schemeClr val="bg2"/>
                </a:solidFill>
                <a:effectLst/>
                <a:latin typeface="Bahnschrift" panose="020B0502040204020203" pitchFamily="34" charset="0"/>
              </a:rPr>
              <a:t>trận</a:t>
            </a:r>
            <a:r>
              <a:rPr lang="en-US" b="0" i="0" u="none" strike="noStrike" dirty="0">
                <a:solidFill>
                  <a:schemeClr val="bg2"/>
                </a:solidFill>
                <a:effectLst/>
                <a:latin typeface="Bahnschrift" panose="020B0502040204020203" pitchFamily="34" charset="0"/>
              </a:rPr>
              <a:t> User–Movie </a:t>
            </a:r>
            <a:r>
              <a:rPr lang="en-US" b="0" i="0" u="none" strike="noStrike" dirty="0" err="1">
                <a:solidFill>
                  <a:schemeClr val="bg2"/>
                </a:solidFill>
                <a:effectLst/>
                <a:latin typeface="Bahnschrift" panose="020B0502040204020203" pitchFamily="34" charset="0"/>
              </a:rPr>
              <a:t>thành</a:t>
            </a:r>
            <a:r>
              <a:rPr lang="en-US" b="0" i="0" u="none" strike="noStrike" dirty="0">
                <a:solidFill>
                  <a:schemeClr val="bg2"/>
                </a:solidFill>
                <a:effectLst/>
                <a:latin typeface="Bahnschrift" panose="020B0502040204020203" pitchFamily="34" charset="0"/>
              </a:rPr>
              <a:t> </a:t>
            </a:r>
            <a:r>
              <a:rPr lang="en-US" b="1" i="0" u="none" strike="noStrike" dirty="0">
                <a:solidFill>
                  <a:schemeClr val="bg2"/>
                </a:solidFill>
                <a:effectLst/>
                <a:latin typeface="Bahnschrift" panose="020B0502040204020203" pitchFamily="34" charset="0"/>
              </a:rPr>
              <a:t>2 ma </a:t>
            </a:r>
            <a:r>
              <a:rPr lang="en-US" b="1" i="0" u="none" strike="noStrike" dirty="0" err="1">
                <a:solidFill>
                  <a:schemeClr val="bg2"/>
                </a:solidFill>
                <a:effectLst/>
                <a:latin typeface="Bahnschrift" panose="020B0502040204020203" pitchFamily="34" charset="0"/>
              </a:rPr>
              <a:t>trận</a:t>
            </a:r>
            <a:r>
              <a:rPr lang="en-US" b="1" i="0" u="none" strike="noStrike" dirty="0">
                <a:solidFill>
                  <a:schemeClr val="bg2"/>
                </a:solidFill>
                <a:effectLst/>
                <a:latin typeface="Bahnschrift" panose="020B0502040204020203" pitchFamily="34" charset="0"/>
              </a:rPr>
              <a:t> latent</a:t>
            </a:r>
            <a:r>
              <a:rPr lang="en-US" b="0" i="0" u="none" strike="noStrike" dirty="0">
                <a:solidFill>
                  <a:schemeClr val="bg2"/>
                </a:solidFill>
                <a:effectLst/>
                <a:latin typeface="Bahnschrift" panose="020B0502040204020203" pitchFamily="34" charset="0"/>
              </a:rPr>
              <a:t>:</a:t>
            </a:r>
            <a:r>
              <a:rPr lang="en-US" b="0" i="0" dirty="0">
                <a:solidFill>
                  <a:schemeClr val="bg2"/>
                </a:solidFill>
                <a:effectLst/>
                <a:latin typeface="Bahnschrift" panose="020B0502040204020203" pitchFamily="34" charset="0"/>
              </a:rPr>
              <a:t>​</a:t>
            </a:r>
          </a:p>
          <a:p>
            <a:pPr algn="just" rtl="0" fontAlgn="base"/>
            <a:r>
              <a:rPr lang="vi-VN" b="0" i="0" dirty="0">
                <a:solidFill>
                  <a:schemeClr val="bg2"/>
                </a:solidFill>
                <a:effectLst/>
                <a:latin typeface="Bahnschrift" panose="020B0502040204020203" pitchFamily="34" charset="0"/>
              </a:rPr>
              <a:t>- User vector → sở thích ẩn (thích hành động, lãng mạn, hài, …)</a:t>
            </a:r>
          </a:p>
          <a:p>
            <a:pPr algn="just" rtl="0" fontAlgn="base"/>
            <a:r>
              <a:rPr lang="vi-VN" b="0" i="0" dirty="0">
                <a:solidFill>
                  <a:schemeClr val="bg2"/>
                </a:solidFill>
                <a:effectLst/>
                <a:latin typeface="Bahnschrift" panose="020B0502040204020203" pitchFamily="34" charset="0"/>
              </a:rPr>
              <a:t>- Movie vector → đặc trưng ẩn của phim (độ hành động, độ drama, độ hài, …)</a:t>
            </a:r>
          </a:p>
          <a:p>
            <a:pPr algn="just" rtl="0" fontAlgn="base"/>
            <a:endParaRPr lang="vi-VN" b="0" i="0" dirty="0">
              <a:solidFill>
                <a:schemeClr val="bg2"/>
              </a:solidFill>
              <a:effectLst/>
              <a:latin typeface="Bahnschrift" panose="020B0502040204020203" pitchFamily="34" charset="0"/>
            </a:endParaRPr>
          </a:p>
          <a:p>
            <a:pPr algn="just" rtl="0" fontAlgn="base"/>
            <a:r>
              <a:rPr lang="vi-VN" b="1" i="0" dirty="0">
                <a:solidFill>
                  <a:schemeClr val="bg2"/>
                </a:solidFill>
                <a:effectLst/>
                <a:latin typeface="Bahnschrift" panose="020B0502040204020203" pitchFamily="34" charset="0"/>
              </a:rPr>
              <a:t>Cách gợi ý</a:t>
            </a:r>
          </a:p>
          <a:p>
            <a:pPr algn="just" rtl="0" fontAlgn="base"/>
            <a:r>
              <a:rPr lang="vi-VN" b="0" i="0" dirty="0">
                <a:solidFill>
                  <a:schemeClr val="bg2"/>
                </a:solidFill>
                <a:effectLst/>
                <a:latin typeface="Bahnschrift" panose="020B0502040204020203" pitchFamily="34" charset="0"/>
              </a:rPr>
              <a:t>- Rating dự đoán = độ tương đồng giữa vector user và vector phim.</a:t>
            </a:r>
          </a:p>
          <a:p>
            <a:pPr algn="just" rtl="0" fontAlgn="base"/>
            <a:r>
              <a:rPr lang="vi-VN" b="0" i="0" dirty="0">
                <a:solidFill>
                  <a:schemeClr val="bg2"/>
                </a:solidFill>
                <a:effectLst/>
                <a:latin typeface="Bahnschrift" panose="020B0502040204020203" pitchFamily="34" charset="0"/>
              </a:rPr>
              <a:t>- Nếu sở thích user khớp đặc trưng phim → hệ thống gợi ý.</a:t>
            </a:r>
            <a:endParaRPr lang="en-US" b="0" i="0" dirty="0">
              <a:solidFill>
                <a:schemeClr val="bg2"/>
              </a:solidFill>
              <a:effectLst/>
              <a:latin typeface="Bahnschrift" panose="020B0502040204020203" pitchFamily="34" charset="0"/>
            </a:endParaRPr>
          </a:p>
        </p:txBody>
      </p:sp>
      <p:pic>
        <p:nvPicPr>
          <p:cNvPr id="2" name="Picture 1" descr="A blue and yellow logo&#10;&#10;AI-generated content may be incorrect.">
            <a:extLst>
              <a:ext uri="{FF2B5EF4-FFF2-40B4-BE49-F238E27FC236}">
                <a16:creationId xmlns:a16="http://schemas.microsoft.com/office/drawing/2014/main" id="{5DFFC8E6-CB04-CA55-4667-2E933D31062A}"/>
              </a:ext>
            </a:extLst>
          </p:cNvPr>
          <p:cNvPicPr>
            <a:picLocks noChangeAspect="1"/>
          </p:cNvPicPr>
          <p:nvPr/>
        </p:nvPicPr>
        <p:blipFill>
          <a:blip r:embed="rId5"/>
          <a:stretch>
            <a:fillRect/>
          </a:stretch>
        </p:blipFill>
        <p:spPr>
          <a:xfrm>
            <a:off x="137160" y="114312"/>
            <a:ext cx="444137" cy="492242"/>
          </a:xfrm>
          <a:prstGeom prst="rect">
            <a:avLst/>
          </a:prstGeom>
        </p:spPr>
      </p:pic>
    </p:spTree>
    <p:extLst>
      <p:ext uri="{BB962C8B-B14F-4D97-AF65-F5344CB8AC3E}">
        <p14:creationId xmlns:p14="http://schemas.microsoft.com/office/powerpoint/2010/main" val="943631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E45DC6A1-5A2D-6420-5C06-FA527C99B88D}"/>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05E6A0BD-22AA-CEE3-9442-DA4C9B86AD8B}"/>
              </a:ext>
            </a:extLst>
          </p:cNvPr>
          <p:cNvSpPr txBox="1">
            <a:spLocks noGrp="1"/>
          </p:cNvSpPr>
          <p:nvPr>
            <p:ph type="title"/>
          </p:nvPr>
        </p:nvSpPr>
        <p:spPr>
          <a:xfrm>
            <a:off x="980503" y="33854"/>
            <a:ext cx="5723792" cy="572700"/>
          </a:xfrm>
          <a:prstGeom prst="rect">
            <a:avLst/>
          </a:prstGeom>
        </p:spPr>
        <p:txBody>
          <a:bodyPr spcFirstLastPara="1" wrap="square" lIns="91425" tIns="91425" rIns="91425" bIns="91425" anchor="t" anchorCtr="0">
            <a:noAutofit/>
          </a:bodyPr>
          <a:lstStyle/>
          <a:p>
            <a:r>
              <a:rPr lang="en" dirty="0"/>
              <a:t>Ưu và nhược điểm của CF</a:t>
            </a:r>
          </a:p>
        </p:txBody>
      </p:sp>
      <p:sp>
        <p:nvSpPr>
          <p:cNvPr id="4" name="TextBox 3">
            <a:extLst>
              <a:ext uri="{FF2B5EF4-FFF2-40B4-BE49-F238E27FC236}">
                <a16:creationId xmlns:a16="http://schemas.microsoft.com/office/drawing/2014/main" id="{E3910710-9027-0910-60E8-8BE46F5B7C60}"/>
              </a:ext>
            </a:extLst>
          </p:cNvPr>
          <p:cNvSpPr txBox="1"/>
          <p:nvPr/>
        </p:nvSpPr>
        <p:spPr>
          <a:xfrm>
            <a:off x="890868" y="974912"/>
            <a:ext cx="7538757"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err="1">
                <a:solidFill>
                  <a:schemeClr val="bg2"/>
                </a:solidFill>
                <a:latin typeface="Bahnschrift"/>
              </a:rPr>
              <a:t>Ưu</a:t>
            </a:r>
            <a:r>
              <a:rPr lang="en-US" b="1">
                <a:solidFill>
                  <a:schemeClr val="bg2"/>
                </a:solidFill>
                <a:latin typeface="Bahnschrift"/>
              </a:rPr>
              <a:t> </a:t>
            </a:r>
            <a:r>
              <a:rPr lang="en-US" b="1" err="1">
                <a:solidFill>
                  <a:schemeClr val="bg2"/>
                </a:solidFill>
                <a:latin typeface="Bahnschrift"/>
              </a:rPr>
              <a:t>điểm</a:t>
            </a:r>
            <a:endParaRPr lang="en-US">
              <a:solidFill>
                <a:schemeClr val="bg2"/>
              </a:solidFill>
              <a:latin typeface="Bahnschrift"/>
            </a:endParaRPr>
          </a:p>
          <a:p>
            <a:pPr marL="285750" indent="-285750">
              <a:buFont typeface="Arial"/>
              <a:buChar char="•"/>
            </a:pPr>
            <a:r>
              <a:rPr lang="en-US">
                <a:solidFill>
                  <a:schemeClr val="bg2"/>
                </a:solidFill>
                <a:latin typeface="Bahnschrift"/>
              </a:rPr>
              <a:t>Khai </a:t>
            </a:r>
            <a:r>
              <a:rPr lang="en-US" err="1">
                <a:solidFill>
                  <a:schemeClr val="bg2"/>
                </a:solidFill>
                <a:latin typeface="Bahnschrift"/>
              </a:rPr>
              <a:t>thác</a:t>
            </a:r>
            <a:r>
              <a:rPr lang="en-US">
                <a:solidFill>
                  <a:schemeClr val="bg2"/>
                </a:solidFill>
                <a:latin typeface="Bahnschrift"/>
              </a:rPr>
              <a:t> </a:t>
            </a:r>
            <a:r>
              <a:rPr lang="en-US" err="1">
                <a:solidFill>
                  <a:schemeClr val="bg2"/>
                </a:solidFill>
                <a:latin typeface="Bahnschrift"/>
              </a:rPr>
              <a:t>trực</a:t>
            </a:r>
            <a:r>
              <a:rPr lang="en-US">
                <a:solidFill>
                  <a:schemeClr val="bg2"/>
                </a:solidFill>
                <a:latin typeface="Bahnschrift"/>
              </a:rPr>
              <a:t> </a:t>
            </a:r>
            <a:r>
              <a:rPr lang="en-US" err="1">
                <a:solidFill>
                  <a:schemeClr val="bg2"/>
                </a:solidFill>
                <a:latin typeface="Bahnschrift"/>
              </a:rPr>
              <a:t>tiếp</a:t>
            </a:r>
            <a:r>
              <a:rPr lang="en-US">
                <a:solidFill>
                  <a:schemeClr val="bg2"/>
                </a:solidFill>
                <a:latin typeface="Bahnschrift"/>
              </a:rPr>
              <a:t> </a:t>
            </a:r>
            <a:r>
              <a:rPr lang="en-US" err="1">
                <a:solidFill>
                  <a:schemeClr val="bg2"/>
                </a:solidFill>
                <a:latin typeface="Bahnschrift"/>
              </a:rPr>
              <a:t>hành</a:t>
            </a:r>
            <a:r>
              <a:rPr lang="en-US">
                <a:solidFill>
                  <a:schemeClr val="bg2"/>
                </a:solidFill>
                <a:latin typeface="Bahnschrift"/>
              </a:rPr>
              <a:t> vi </a:t>
            </a:r>
            <a:r>
              <a:rPr lang="en-US" err="1">
                <a:solidFill>
                  <a:schemeClr val="bg2"/>
                </a:solidFill>
                <a:latin typeface="Bahnschrift"/>
              </a:rPr>
              <a:t>người</a:t>
            </a:r>
            <a:r>
              <a:rPr lang="en-US">
                <a:solidFill>
                  <a:schemeClr val="bg2"/>
                </a:solidFill>
                <a:latin typeface="Bahnschrift"/>
              </a:rPr>
              <a:t> </a:t>
            </a:r>
            <a:r>
              <a:rPr lang="en-US" err="1">
                <a:solidFill>
                  <a:schemeClr val="bg2"/>
                </a:solidFill>
                <a:latin typeface="Bahnschrift"/>
              </a:rPr>
              <a:t>dùng</a:t>
            </a:r>
            <a:r>
              <a:rPr lang="en-US">
                <a:solidFill>
                  <a:schemeClr val="bg2"/>
                </a:solidFill>
                <a:latin typeface="Bahnschrift"/>
              </a:rPr>
              <a:t>, </a:t>
            </a:r>
            <a:r>
              <a:rPr lang="en-US" err="1">
                <a:solidFill>
                  <a:schemeClr val="bg2"/>
                </a:solidFill>
                <a:latin typeface="Bahnschrift"/>
              </a:rPr>
              <a:t>không</a:t>
            </a:r>
            <a:r>
              <a:rPr lang="en-US">
                <a:solidFill>
                  <a:schemeClr val="bg2"/>
                </a:solidFill>
                <a:latin typeface="Bahnschrift"/>
              </a:rPr>
              <a:t> </a:t>
            </a:r>
            <a:r>
              <a:rPr lang="en-US" err="1">
                <a:solidFill>
                  <a:schemeClr val="bg2"/>
                </a:solidFill>
                <a:latin typeface="Bahnschrift"/>
              </a:rPr>
              <a:t>cần</a:t>
            </a:r>
            <a:r>
              <a:rPr lang="en-US">
                <a:solidFill>
                  <a:schemeClr val="bg2"/>
                </a:solidFill>
                <a:latin typeface="Bahnschrift"/>
              </a:rPr>
              <a:t> </a:t>
            </a:r>
            <a:r>
              <a:rPr lang="en-US" err="1">
                <a:solidFill>
                  <a:schemeClr val="bg2"/>
                </a:solidFill>
                <a:latin typeface="Bahnschrift"/>
              </a:rPr>
              <a:t>thông</a:t>
            </a:r>
            <a:r>
              <a:rPr lang="en-US">
                <a:solidFill>
                  <a:schemeClr val="bg2"/>
                </a:solidFill>
                <a:latin typeface="Bahnschrift"/>
              </a:rPr>
              <a:t> tin </a:t>
            </a:r>
            <a:r>
              <a:rPr lang="en-US" err="1">
                <a:solidFill>
                  <a:schemeClr val="bg2"/>
                </a:solidFill>
                <a:latin typeface="Bahnschrift"/>
              </a:rPr>
              <a:t>mô</a:t>
            </a:r>
            <a:r>
              <a:rPr lang="en-US">
                <a:solidFill>
                  <a:schemeClr val="bg2"/>
                </a:solidFill>
                <a:latin typeface="Bahnschrift"/>
              </a:rPr>
              <a:t> </a:t>
            </a:r>
            <a:r>
              <a:rPr lang="en-US" err="1">
                <a:solidFill>
                  <a:schemeClr val="bg2"/>
                </a:solidFill>
                <a:latin typeface="Bahnschrift"/>
              </a:rPr>
              <a:t>tả</a:t>
            </a:r>
            <a:r>
              <a:rPr lang="en-US">
                <a:solidFill>
                  <a:schemeClr val="bg2"/>
                </a:solidFill>
                <a:latin typeface="Bahnschrift"/>
              </a:rPr>
              <a:t> item.</a:t>
            </a:r>
          </a:p>
          <a:p>
            <a:pPr marL="285750" indent="-285750">
              <a:buFont typeface="Arial"/>
              <a:buChar char="•"/>
            </a:pPr>
            <a:r>
              <a:rPr lang="en-US" err="1">
                <a:solidFill>
                  <a:schemeClr val="bg2"/>
                </a:solidFill>
                <a:latin typeface="Bahnschrift"/>
              </a:rPr>
              <a:t>Có</a:t>
            </a:r>
            <a:r>
              <a:rPr lang="en-US">
                <a:solidFill>
                  <a:schemeClr val="bg2"/>
                </a:solidFill>
                <a:latin typeface="Bahnschrift"/>
              </a:rPr>
              <a:t> </a:t>
            </a:r>
            <a:r>
              <a:rPr lang="en-US" err="1">
                <a:solidFill>
                  <a:schemeClr val="bg2"/>
                </a:solidFill>
                <a:latin typeface="Bahnschrift"/>
              </a:rPr>
              <a:t>khả</a:t>
            </a:r>
            <a:r>
              <a:rPr lang="en-US">
                <a:solidFill>
                  <a:schemeClr val="bg2"/>
                </a:solidFill>
                <a:latin typeface="Bahnschrift"/>
              </a:rPr>
              <a:t> </a:t>
            </a:r>
            <a:r>
              <a:rPr lang="en-US" err="1">
                <a:solidFill>
                  <a:schemeClr val="bg2"/>
                </a:solidFill>
                <a:latin typeface="Bahnschrift"/>
              </a:rPr>
              <a:t>năng</a:t>
            </a:r>
            <a:r>
              <a:rPr lang="en-US">
                <a:solidFill>
                  <a:schemeClr val="bg2"/>
                </a:solidFill>
                <a:latin typeface="Bahnschrift"/>
              </a:rPr>
              <a:t> </a:t>
            </a:r>
            <a:r>
              <a:rPr lang="en-US" err="1">
                <a:solidFill>
                  <a:schemeClr val="bg2"/>
                </a:solidFill>
                <a:latin typeface="Bahnschrift"/>
              </a:rPr>
              <a:t>học</a:t>
            </a:r>
            <a:r>
              <a:rPr lang="en-US">
                <a:solidFill>
                  <a:schemeClr val="bg2"/>
                </a:solidFill>
                <a:latin typeface="Bahnschrift"/>
              </a:rPr>
              <a:t> </a:t>
            </a:r>
            <a:r>
              <a:rPr lang="en-US" err="1">
                <a:solidFill>
                  <a:schemeClr val="bg2"/>
                </a:solidFill>
                <a:latin typeface="Bahnschrift"/>
              </a:rPr>
              <a:t>sở</a:t>
            </a:r>
            <a:r>
              <a:rPr lang="en-US">
                <a:solidFill>
                  <a:schemeClr val="bg2"/>
                </a:solidFill>
                <a:latin typeface="Bahnschrift"/>
              </a:rPr>
              <a:t> </a:t>
            </a:r>
            <a:r>
              <a:rPr lang="en-US" err="1">
                <a:solidFill>
                  <a:schemeClr val="bg2"/>
                </a:solidFill>
                <a:latin typeface="Bahnschrift"/>
              </a:rPr>
              <a:t>thích</a:t>
            </a:r>
            <a:r>
              <a:rPr lang="en-US">
                <a:solidFill>
                  <a:schemeClr val="bg2"/>
                </a:solidFill>
                <a:latin typeface="Bahnschrift"/>
              </a:rPr>
              <a:t> </a:t>
            </a:r>
            <a:r>
              <a:rPr lang="en-US" err="1">
                <a:solidFill>
                  <a:schemeClr val="bg2"/>
                </a:solidFill>
                <a:latin typeface="Bahnschrift"/>
              </a:rPr>
              <a:t>ẩn</a:t>
            </a:r>
            <a:r>
              <a:rPr lang="en-US">
                <a:solidFill>
                  <a:schemeClr val="bg2"/>
                </a:solidFill>
                <a:latin typeface="Bahnschrift"/>
              </a:rPr>
              <a:t> </a:t>
            </a:r>
            <a:r>
              <a:rPr lang="en-US" err="1">
                <a:solidFill>
                  <a:schemeClr val="bg2"/>
                </a:solidFill>
                <a:latin typeface="Bahnschrift"/>
              </a:rPr>
              <a:t>và</a:t>
            </a:r>
            <a:r>
              <a:rPr lang="en-US">
                <a:solidFill>
                  <a:schemeClr val="bg2"/>
                </a:solidFill>
                <a:latin typeface="Bahnschrift"/>
              </a:rPr>
              <a:t> </a:t>
            </a:r>
            <a:r>
              <a:rPr lang="en-US" err="1">
                <a:solidFill>
                  <a:schemeClr val="bg2"/>
                </a:solidFill>
                <a:latin typeface="Bahnschrift"/>
              </a:rPr>
              <a:t>mô</a:t>
            </a:r>
            <a:r>
              <a:rPr lang="en-US">
                <a:solidFill>
                  <a:schemeClr val="bg2"/>
                </a:solidFill>
                <a:latin typeface="Bahnschrift"/>
              </a:rPr>
              <a:t> </a:t>
            </a:r>
            <a:r>
              <a:rPr lang="en-US" err="1">
                <a:solidFill>
                  <a:schemeClr val="bg2"/>
                </a:solidFill>
                <a:latin typeface="Bahnschrift"/>
              </a:rPr>
              <a:t>hình</a:t>
            </a:r>
            <a:r>
              <a:rPr lang="en-US">
                <a:solidFill>
                  <a:schemeClr val="bg2"/>
                </a:solidFill>
                <a:latin typeface="Bahnschrift"/>
              </a:rPr>
              <a:t> </a:t>
            </a:r>
            <a:r>
              <a:rPr lang="en-US" err="1">
                <a:solidFill>
                  <a:schemeClr val="bg2"/>
                </a:solidFill>
                <a:latin typeface="Bahnschrift"/>
              </a:rPr>
              <a:t>hóa</a:t>
            </a:r>
            <a:r>
              <a:rPr lang="en-US">
                <a:solidFill>
                  <a:schemeClr val="bg2"/>
                </a:solidFill>
                <a:latin typeface="Bahnschrift"/>
              </a:rPr>
              <a:t> </a:t>
            </a:r>
            <a:r>
              <a:rPr lang="en-US" err="1">
                <a:solidFill>
                  <a:schemeClr val="bg2"/>
                </a:solidFill>
                <a:latin typeface="Bahnschrift"/>
              </a:rPr>
              <a:t>mối</a:t>
            </a:r>
            <a:r>
              <a:rPr lang="en-US">
                <a:solidFill>
                  <a:schemeClr val="bg2"/>
                </a:solidFill>
                <a:latin typeface="Bahnschrift"/>
              </a:rPr>
              <a:t> </a:t>
            </a:r>
            <a:r>
              <a:rPr lang="en-US" err="1">
                <a:solidFill>
                  <a:schemeClr val="bg2"/>
                </a:solidFill>
                <a:latin typeface="Bahnschrift"/>
              </a:rPr>
              <a:t>quan</a:t>
            </a:r>
            <a:r>
              <a:rPr lang="en-US">
                <a:solidFill>
                  <a:schemeClr val="bg2"/>
                </a:solidFill>
                <a:latin typeface="Bahnschrift"/>
              </a:rPr>
              <a:t> </a:t>
            </a:r>
            <a:r>
              <a:rPr lang="en-US" err="1">
                <a:solidFill>
                  <a:schemeClr val="bg2"/>
                </a:solidFill>
                <a:latin typeface="Bahnschrift"/>
              </a:rPr>
              <a:t>hệ</a:t>
            </a:r>
            <a:r>
              <a:rPr lang="en-US">
                <a:solidFill>
                  <a:schemeClr val="bg2"/>
                </a:solidFill>
                <a:latin typeface="Bahnschrift"/>
              </a:rPr>
              <a:t> </a:t>
            </a:r>
            <a:r>
              <a:rPr lang="en-US" err="1">
                <a:solidFill>
                  <a:schemeClr val="bg2"/>
                </a:solidFill>
                <a:latin typeface="Bahnschrift"/>
              </a:rPr>
              <a:t>phức</a:t>
            </a:r>
            <a:r>
              <a:rPr lang="en-US">
                <a:solidFill>
                  <a:schemeClr val="bg2"/>
                </a:solidFill>
                <a:latin typeface="Bahnschrift"/>
              </a:rPr>
              <a:t> </a:t>
            </a:r>
            <a:r>
              <a:rPr lang="en-US" err="1">
                <a:solidFill>
                  <a:schemeClr val="bg2"/>
                </a:solidFill>
                <a:latin typeface="Bahnschrift"/>
              </a:rPr>
              <a:t>tạp</a:t>
            </a:r>
            <a:r>
              <a:rPr lang="en-US">
                <a:solidFill>
                  <a:schemeClr val="bg2"/>
                </a:solidFill>
                <a:latin typeface="Bahnschrift"/>
              </a:rPr>
              <a:t> </a:t>
            </a:r>
            <a:r>
              <a:rPr lang="en-US" err="1">
                <a:solidFill>
                  <a:schemeClr val="bg2"/>
                </a:solidFill>
                <a:latin typeface="Bahnschrift"/>
              </a:rPr>
              <a:t>giữa</a:t>
            </a:r>
            <a:r>
              <a:rPr lang="en-US">
                <a:solidFill>
                  <a:schemeClr val="bg2"/>
                </a:solidFill>
                <a:latin typeface="Bahnschrift"/>
              </a:rPr>
              <a:t> user–item.</a:t>
            </a:r>
          </a:p>
          <a:p>
            <a:pPr marL="285750" indent="-285750">
              <a:buFont typeface="Arial"/>
              <a:buChar char="•"/>
            </a:pPr>
            <a:r>
              <a:rPr lang="en-US">
                <a:solidFill>
                  <a:schemeClr val="bg2"/>
                </a:solidFill>
                <a:latin typeface="Bahnschrift"/>
              </a:rPr>
              <a:t>Hiệu </a:t>
            </a:r>
            <a:r>
              <a:rPr lang="en-US" err="1">
                <a:solidFill>
                  <a:schemeClr val="bg2"/>
                </a:solidFill>
                <a:latin typeface="Bahnschrift"/>
              </a:rPr>
              <a:t>quả</a:t>
            </a:r>
            <a:r>
              <a:rPr lang="en-US">
                <a:solidFill>
                  <a:schemeClr val="bg2"/>
                </a:solidFill>
                <a:latin typeface="Bahnschrift"/>
              </a:rPr>
              <a:t> </a:t>
            </a:r>
            <a:r>
              <a:rPr lang="en-US" err="1">
                <a:solidFill>
                  <a:schemeClr val="bg2"/>
                </a:solidFill>
                <a:latin typeface="Bahnschrift"/>
              </a:rPr>
              <a:t>và</a:t>
            </a:r>
            <a:r>
              <a:rPr lang="en-US">
                <a:solidFill>
                  <a:schemeClr val="bg2"/>
                </a:solidFill>
                <a:latin typeface="Bahnschrift"/>
              </a:rPr>
              <a:t> </a:t>
            </a:r>
            <a:r>
              <a:rPr lang="en-US" err="1">
                <a:solidFill>
                  <a:schemeClr val="bg2"/>
                </a:solidFill>
                <a:latin typeface="Bahnschrift"/>
              </a:rPr>
              <a:t>chính</a:t>
            </a:r>
            <a:r>
              <a:rPr lang="en-US">
                <a:solidFill>
                  <a:schemeClr val="bg2"/>
                </a:solidFill>
                <a:latin typeface="Bahnschrift"/>
              </a:rPr>
              <a:t> </a:t>
            </a:r>
            <a:r>
              <a:rPr lang="en-US" err="1">
                <a:solidFill>
                  <a:schemeClr val="bg2"/>
                </a:solidFill>
                <a:latin typeface="Bahnschrift"/>
              </a:rPr>
              <a:t>xác</a:t>
            </a:r>
            <a:r>
              <a:rPr lang="en-US">
                <a:solidFill>
                  <a:schemeClr val="bg2"/>
                </a:solidFill>
                <a:latin typeface="Bahnschrift"/>
              </a:rPr>
              <a:t> </a:t>
            </a:r>
            <a:r>
              <a:rPr lang="en-US" err="1">
                <a:solidFill>
                  <a:schemeClr val="bg2"/>
                </a:solidFill>
                <a:latin typeface="Bahnschrift"/>
              </a:rPr>
              <a:t>khi</a:t>
            </a:r>
            <a:r>
              <a:rPr lang="en-US">
                <a:solidFill>
                  <a:schemeClr val="bg2"/>
                </a:solidFill>
                <a:latin typeface="Bahnschrift"/>
              </a:rPr>
              <a:t> </a:t>
            </a:r>
            <a:r>
              <a:rPr lang="en-US" err="1">
                <a:solidFill>
                  <a:schemeClr val="bg2"/>
                </a:solidFill>
                <a:latin typeface="Bahnschrift"/>
              </a:rPr>
              <a:t>dữ</a:t>
            </a:r>
            <a:r>
              <a:rPr lang="en-US">
                <a:solidFill>
                  <a:schemeClr val="bg2"/>
                </a:solidFill>
                <a:latin typeface="Bahnschrift"/>
              </a:rPr>
              <a:t> </a:t>
            </a:r>
            <a:r>
              <a:rPr lang="en-US" err="1">
                <a:solidFill>
                  <a:schemeClr val="bg2"/>
                </a:solidFill>
                <a:latin typeface="Bahnschrift"/>
              </a:rPr>
              <a:t>liệu</a:t>
            </a:r>
            <a:r>
              <a:rPr lang="en-US">
                <a:solidFill>
                  <a:schemeClr val="bg2"/>
                </a:solidFill>
                <a:latin typeface="Bahnschrift"/>
              </a:rPr>
              <a:t> </a:t>
            </a:r>
            <a:r>
              <a:rPr lang="en-US" err="1">
                <a:solidFill>
                  <a:schemeClr val="bg2"/>
                </a:solidFill>
                <a:latin typeface="Bahnschrift"/>
              </a:rPr>
              <a:t>lớn</a:t>
            </a:r>
            <a:r>
              <a:rPr lang="en-US">
                <a:solidFill>
                  <a:schemeClr val="bg2"/>
                </a:solidFill>
                <a:latin typeface="Bahnschrift"/>
              </a:rPr>
              <a:t> </a:t>
            </a:r>
            <a:r>
              <a:rPr lang="en-US" err="1">
                <a:solidFill>
                  <a:schemeClr val="bg2"/>
                </a:solidFill>
                <a:latin typeface="Bahnschrift"/>
              </a:rPr>
              <a:t>và</a:t>
            </a:r>
            <a:r>
              <a:rPr lang="en-US">
                <a:solidFill>
                  <a:schemeClr val="bg2"/>
                </a:solidFill>
                <a:latin typeface="Bahnschrift"/>
              </a:rPr>
              <a:t> </a:t>
            </a:r>
            <a:r>
              <a:rPr lang="en-US" err="1">
                <a:solidFill>
                  <a:schemeClr val="bg2"/>
                </a:solidFill>
                <a:latin typeface="Bahnschrift"/>
              </a:rPr>
              <a:t>có</a:t>
            </a:r>
            <a:r>
              <a:rPr lang="en-US">
                <a:solidFill>
                  <a:schemeClr val="bg2"/>
                </a:solidFill>
                <a:latin typeface="Bahnschrift"/>
              </a:rPr>
              <a:t> </a:t>
            </a:r>
            <a:r>
              <a:rPr lang="en-US" err="1">
                <a:solidFill>
                  <a:schemeClr val="bg2"/>
                </a:solidFill>
                <a:latin typeface="Bahnschrift"/>
              </a:rPr>
              <a:t>nhiều</a:t>
            </a:r>
            <a:r>
              <a:rPr lang="en-US">
                <a:solidFill>
                  <a:schemeClr val="bg2"/>
                </a:solidFill>
                <a:latin typeface="Bahnschrift"/>
              </a:rPr>
              <a:t> </a:t>
            </a:r>
            <a:r>
              <a:rPr lang="en-US" err="1">
                <a:solidFill>
                  <a:schemeClr val="bg2"/>
                </a:solidFill>
                <a:latin typeface="Bahnschrift"/>
              </a:rPr>
              <a:t>tương</a:t>
            </a:r>
            <a:r>
              <a:rPr lang="en-US">
                <a:solidFill>
                  <a:schemeClr val="bg2"/>
                </a:solidFill>
                <a:latin typeface="Bahnschrift"/>
              </a:rPr>
              <a:t> </a:t>
            </a:r>
            <a:r>
              <a:rPr lang="en-US" err="1">
                <a:solidFill>
                  <a:schemeClr val="bg2"/>
                </a:solidFill>
                <a:latin typeface="Bahnschrift"/>
              </a:rPr>
              <a:t>tác</a:t>
            </a:r>
            <a:r>
              <a:rPr lang="en-US">
                <a:solidFill>
                  <a:schemeClr val="bg2"/>
                </a:solidFill>
                <a:latin typeface="Bahnschrift"/>
              </a:rPr>
              <a:t>.</a:t>
            </a:r>
          </a:p>
          <a:p>
            <a:pPr marL="285750" indent="-285750">
              <a:buFont typeface="Arial"/>
              <a:buChar char="•"/>
            </a:pPr>
            <a:r>
              <a:rPr lang="en-US" err="1">
                <a:solidFill>
                  <a:schemeClr val="bg2"/>
                </a:solidFill>
                <a:latin typeface="Bahnschrift"/>
              </a:rPr>
              <a:t>Dễ</a:t>
            </a:r>
            <a:r>
              <a:rPr lang="en-US">
                <a:solidFill>
                  <a:schemeClr val="bg2"/>
                </a:solidFill>
                <a:latin typeface="Bahnschrift"/>
              </a:rPr>
              <a:t> </a:t>
            </a:r>
            <a:r>
              <a:rPr lang="en-US" err="1">
                <a:solidFill>
                  <a:schemeClr val="bg2"/>
                </a:solidFill>
                <a:latin typeface="Bahnschrift"/>
              </a:rPr>
              <a:t>áp</a:t>
            </a:r>
            <a:r>
              <a:rPr lang="en-US">
                <a:solidFill>
                  <a:schemeClr val="bg2"/>
                </a:solidFill>
                <a:latin typeface="Bahnschrift"/>
              </a:rPr>
              <a:t> </a:t>
            </a:r>
            <a:r>
              <a:rPr lang="en-US" err="1">
                <a:solidFill>
                  <a:schemeClr val="bg2"/>
                </a:solidFill>
                <a:latin typeface="Bahnschrift"/>
              </a:rPr>
              <a:t>dụng</a:t>
            </a:r>
            <a:r>
              <a:rPr lang="en-US">
                <a:solidFill>
                  <a:schemeClr val="bg2"/>
                </a:solidFill>
                <a:latin typeface="Bahnschrift"/>
              </a:rPr>
              <a:t> </a:t>
            </a:r>
            <a:r>
              <a:rPr lang="en-US" err="1">
                <a:solidFill>
                  <a:schemeClr val="bg2"/>
                </a:solidFill>
                <a:latin typeface="Bahnschrift"/>
              </a:rPr>
              <a:t>cho</a:t>
            </a:r>
            <a:r>
              <a:rPr lang="en-US">
                <a:solidFill>
                  <a:schemeClr val="bg2"/>
                </a:solidFill>
                <a:latin typeface="Bahnschrift"/>
              </a:rPr>
              <a:t> </a:t>
            </a:r>
            <a:r>
              <a:rPr lang="en-US" err="1">
                <a:solidFill>
                  <a:schemeClr val="bg2"/>
                </a:solidFill>
                <a:latin typeface="Bahnschrift"/>
              </a:rPr>
              <a:t>nhiều</a:t>
            </a:r>
            <a:r>
              <a:rPr lang="en-US">
                <a:solidFill>
                  <a:schemeClr val="bg2"/>
                </a:solidFill>
                <a:latin typeface="Bahnschrift"/>
              </a:rPr>
              <a:t> </a:t>
            </a:r>
            <a:r>
              <a:rPr lang="en-US" err="1">
                <a:solidFill>
                  <a:schemeClr val="bg2"/>
                </a:solidFill>
                <a:latin typeface="Bahnschrift"/>
              </a:rPr>
              <a:t>lĩnh</a:t>
            </a:r>
            <a:r>
              <a:rPr lang="en-US">
                <a:solidFill>
                  <a:schemeClr val="bg2"/>
                </a:solidFill>
                <a:latin typeface="Bahnschrift"/>
              </a:rPr>
              <a:t> </a:t>
            </a:r>
            <a:r>
              <a:rPr lang="en-US" err="1">
                <a:solidFill>
                  <a:schemeClr val="bg2"/>
                </a:solidFill>
                <a:latin typeface="Bahnschrift"/>
              </a:rPr>
              <a:t>vực</a:t>
            </a:r>
            <a:r>
              <a:rPr lang="en-US">
                <a:solidFill>
                  <a:schemeClr val="bg2"/>
                </a:solidFill>
                <a:latin typeface="Bahnschrift"/>
              </a:rPr>
              <a:t> (</a:t>
            </a:r>
            <a:r>
              <a:rPr lang="en-US" err="1">
                <a:solidFill>
                  <a:schemeClr val="bg2"/>
                </a:solidFill>
                <a:latin typeface="Bahnschrift"/>
              </a:rPr>
              <a:t>phim</a:t>
            </a:r>
            <a:r>
              <a:rPr lang="en-US">
                <a:solidFill>
                  <a:schemeClr val="bg2"/>
                </a:solidFill>
                <a:latin typeface="Bahnschrift"/>
              </a:rPr>
              <a:t>, </a:t>
            </a:r>
            <a:r>
              <a:rPr lang="en-US" err="1">
                <a:solidFill>
                  <a:schemeClr val="bg2"/>
                </a:solidFill>
                <a:latin typeface="Bahnschrift"/>
              </a:rPr>
              <a:t>nhạc</a:t>
            </a:r>
            <a:r>
              <a:rPr lang="en-US">
                <a:solidFill>
                  <a:schemeClr val="bg2"/>
                </a:solidFill>
                <a:latin typeface="Bahnschrift"/>
              </a:rPr>
              <a:t>, </a:t>
            </a:r>
            <a:r>
              <a:rPr lang="en-US" err="1">
                <a:solidFill>
                  <a:schemeClr val="bg2"/>
                </a:solidFill>
                <a:latin typeface="Bahnschrift"/>
              </a:rPr>
              <a:t>thương</a:t>
            </a:r>
            <a:r>
              <a:rPr lang="en-US">
                <a:solidFill>
                  <a:schemeClr val="bg2"/>
                </a:solidFill>
                <a:latin typeface="Bahnschrift"/>
              </a:rPr>
              <a:t> </a:t>
            </a:r>
            <a:r>
              <a:rPr lang="en-US" err="1">
                <a:solidFill>
                  <a:schemeClr val="bg2"/>
                </a:solidFill>
                <a:latin typeface="Bahnschrift"/>
              </a:rPr>
              <a:t>mại</a:t>
            </a:r>
            <a:r>
              <a:rPr lang="en-US">
                <a:solidFill>
                  <a:schemeClr val="bg2"/>
                </a:solidFill>
                <a:latin typeface="Bahnschrift"/>
              </a:rPr>
              <a:t> </a:t>
            </a:r>
            <a:r>
              <a:rPr lang="en-US" err="1">
                <a:solidFill>
                  <a:schemeClr val="bg2"/>
                </a:solidFill>
                <a:latin typeface="Bahnschrift"/>
              </a:rPr>
              <a:t>điện</a:t>
            </a:r>
            <a:r>
              <a:rPr lang="en-US">
                <a:solidFill>
                  <a:schemeClr val="bg2"/>
                </a:solidFill>
                <a:latin typeface="Bahnschrift"/>
              </a:rPr>
              <a:t> </a:t>
            </a:r>
            <a:r>
              <a:rPr lang="en-US" err="1">
                <a:solidFill>
                  <a:schemeClr val="bg2"/>
                </a:solidFill>
                <a:latin typeface="Bahnschrift"/>
              </a:rPr>
              <a:t>tử</a:t>
            </a:r>
            <a:r>
              <a:rPr lang="en-US">
                <a:solidFill>
                  <a:schemeClr val="bg2"/>
                </a:solidFill>
                <a:latin typeface="Bahnschrift"/>
              </a:rPr>
              <a:t>…).</a:t>
            </a:r>
          </a:p>
          <a:p>
            <a:endParaRPr lang="en-US" b="1">
              <a:solidFill>
                <a:schemeClr val="bg2"/>
              </a:solidFill>
              <a:latin typeface="Bahnschrift"/>
            </a:endParaRPr>
          </a:p>
          <a:p>
            <a:r>
              <a:rPr lang="en-US" b="1" err="1">
                <a:solidFill>
                  <a:schemeClr val="bg2"/>
                </a:solidFill>
                <a:latin typeface="Bahnschrift"/>
              </a:rPr>
              <a:t>Nhược</a:t>
            </a:r>
            <a:r>
              <a:rPr lang="en-US" b="1">
                <a:solidFill>
                  <a:schemeClr val="bg2"/>
                </a:solidFill>
                <a:latin typeface="Bahnschrift"/>
              </a:rPr>
              <a:t> </a:t>
            </a:r>
            <a:r>
              <a:rPr lang="en-US" b="1" err="1">
                <a:solidFill>
                  <a:schemeClr val="bg2"/>
                </a:solidFill>
                <a:latin typeface="Bahnschrift"/>
              </a:rPr>
              <a:t>điểm</a:t>
            </a:r>
            <a:endParaRPr lang="en-US">
              <a:solidFill>
                <a:schemeClr val="bg2"/>
              </a:solidFill>
              <a:latin typeface="Bahnschrift"/>
            </a:endParaRPr>
          </a:p>
          <a:p>
            <a:pPr marL="285750" indent="-285750">
              <a:buChar char="•"/>
            </a:pPr>
            <a:r>
              <a:rPr lang="en-US" err="1">
                <a:solidFill>
                  <a:schemeClr val="bg2"/>
                </a:solidFill>
                <a:latin typeface="Bahnschrift"/>
              </a:rPr>
              <a:t>Nhạy</a:t>
            </a:r>
            <a:r>
              <a:rPr lang="en-US">
                <a:solidFill>
                  <a:schemeClr val="bg2"/>
                </a:solidFill>
                <a:latin typeface="Bahnschrift"/>
              </a:rPr>
              <a:t> </a:t>
            </a:r>
            <a:r>
              <a:rPr lang="en-US" err="1">
                <a:solidFill>
                  <a:schemeClr val="bg2"/>
                </a:solidFill>
                <a:latin typeface="Bahnschrift"/>
              </a:rPr>
              <a:t>cảm</a:t>
            </a:r>
            <a:r>
              <a:rPr lang="en-US">
                <a:solidFill>
                  <a:schemeClr val="bg2"/>
                </a:solidFill>
                <a:latin typeface="Bahnschrift"/>
              </a:rPr>
              <a:t> </a:t>
            </a:r>
            <a:r>
              <a:rPr lang="en-US" err="1">
                <a:solidFill>
                  <a:schemeClr val="bg2"/>
                </a:solidFill>
                <a:latin typeface="Bahnschrift"/>
              </a:rPr>
              <a:t>với</a:t>
            </a:r>
            <a:r>
              <a:rPr lang="en-US">
                <a:solidFill>
                  <a:schemeClr val="bg2"/>
                </a:solidFill>
                <a:latin typeface="Bahnschrift"/>
              </a:rPr>
              <a:t> data sparsity (ma </a:t>
            </a:r>
            <a:r>
              <a:rPr lang="en-US" err="1">
                <a:solidFill>
                  <a:schemeClr val="bg2"/>
                </a:solidFill>
                <a:latin typeface="Bahnschrift"/>
              </a:rPr>
              <a:t>trận</a:t>
            </a:r>
            <a:r>
              <a:rPr lang="en-US">
                <a:solidFill>
                  <a:schemeClr val="bg2"/>
                </a:solidFill>
                <a:latin typeface="Bahnschrift"/>
              </a:rPr>
              <a:t> </a:t>
            </a:r>
            <a:r>
              <a:rPr lang="en-US" err="1">
                <a:solidFill>
                  <a:schemeClr val="bg2"/>
                </a:solidFill>
                <a:latin typeface="Bahnschrift"/>
              </a:rPr>
              <a:t>tương</a:t>
            </a:r>
            <a:r>
              <a:rPr lang="en-US">
                <a:solidFill>
                  <a:schemeClr val="bg2"/>
                </a:solidFill>
                <a:latin typeface="Bahnschrift"/>
              </a:rPr>
              <a:t> </a:t>
            </a:r>
            <a:r>
              <a:rPr lang="en-US" err="1">
                <a:solidFill>
                  <a:schemeClr val="bg2"/>
                </a:solidFill>
                <a:latin typeface="Bahnschrift"/>
              </a:rPr>
              <a:t>tác</a:t>
            </a:r>
            <a:r>
              <a:rPr lang="en-US">
                <a:solidFill>
                  <a:schemeClr val="bg2"/>
                </a:solidFill>
                <a:latin typeface="Bahnschrift"/>
              </a:rPr>
              <a:t> </a:t>
            </a:r>
            <a:r>
              <a:rPr lang="en-US" err="1">
                <a:solidFill>
                  <a:schemeClr val="bg2"/>
                </a:solidFill>
                <a:latin typeface="Bahnschrift"/>
              </a:rPr>
              <a:t>rất</a:t>
            </a:r>
            <a:r>
              <a:rPr lang="en-US">
                <a:solidFill>
                  <a:schemeClr val="bg2"/>
                </a:solidFill>
                <a:latin typeface="Bahnschrift"/>
              </a:rPr>
              <a:t> </a:t>
            </a:r>
            <a:r>
              <a:rPr lang="en-US" err="1">
                <a:solidFill>
                  <a:schemeClr val="bg2"/>
                </a:solidFill>
                <a:latin typeface="Bahnschrift"/>
              </a:rPr>
              <a:t>thưa</a:t>
            </a:r>
            <a:r>
              <a:rPr lang="en-US">
                <a:solidFill>
                  <a:schemeClr val="bg2"/>
                </a:solidFill>
                <a:latin typeface="Bahnschrift"/>
              </a:rPr>
              <a:t>).</a:t>
            </a:r>
          </a:p>
          <a:p>
            <a:pPr marL="285750" indent="-285750">
              <a:buChar char="•"/>
            </a:pPr>
            <a:r>
              <a:rPr lang="en-US" err="1">
                <a:solidFill>
                  <a:schemeClr val="bg2"/>
                </a:solidFill>
                <a:latin typeface="Bahnschrift"/>
              </a:rPr>
              <a:t>Gặp</a:t>
            </a:r>
            <a:r>
              <a:rPr lang="en-US">
                <a:solidFill>
                  <a:schemeClr val="bg2"/>
                </a:solidFill>
                <a:latin typeface="Bahnschrift"/>
              </a:rPr>
              <a:t> </a:t>
            </a:r>
            <a:r>
              <a:rPr lang="en-US" err="1">
                <a:solidFill>
                  <a:schemeClr val="bg2"/>
                </a:solidFill>
                <a:latin typeface="Bahnschrift"/>
              </a:rPr>
              <a:t>vấn</a:t>
            </a:r>
            <a:r>
              <a:rPr lang="en-US">
                <a:solidFill>
                  <a:schemeClr val="bg2"/>
                </a:solidFill>
                <a:latin typeface="Bahnschrift"/>
              </a:rPr>
              <a:t> </a:t>
            </a:r>
            <a:r>
              <a:rPr lang="en-US" err="1">
                <a:solidFill>
                  <a:schemeClr val="bg2"/>
                </a:solidFill>
                <a:latin typeface="Bahnschrift"/>
              </a:rPr>
              <a:t>đề</a:t>
            </a:r>
            <a:r>
              <a:rPr lang="en-US">
                <a:solidFill>
                  <a:schemeClr val="bg2"/>
                </a:solidFill>
                <a:latin typeface="Bahnschrift"/>
              </a:rPr>
              <a:t> cold-start </a:t>
            </a:r>
            <a:r>
              <a:rPr lang="en-US" err="1">
                <a:solidFill>
                  <a:schemeClr val="bg2"/>
                </a:solidFill>
                <a:latin typeface="Bahnschrift"/>
              </a:rPr>
              <a:t>cho</a:t>
            </a:r>
            <a:r>
              <a:rPr lang="en-US">
                <a:solidFill>
                  <a:schemeClr val="bg2"/>
                </a:solidFill>
                <a:latin typeface="Bahnschrift"/>
              </a:rPr>
              <a:t> user </a:t>
            </a:r>
            <a:r>
              <a:rPr lang="en-US" err="1">
                <a:solidFill>
                  <a:schemeClr val="bg2"/>
                </a:solidFill>
                <a:latin typeface="Bahnschrift"/>
              </a:rPr>
              <a:t>mới</a:t>
            </a:r>
            <a:r>
              <a:rPr lang="en-US">
                <a:solidFill>
                  <a:schemeClr val="bg2"/>
                </a:solidFill>
                <a:latin typeface="Bahnschrift"/>
              </a:rPr>
              <a:t> </a:t>
            </a:r>
            <a:r>
              <a:rPr lang="en-US" err="1">
                <a:solidFill>
                  <a:schemeClr val="bg2"/>
                </a:solidFill>
                <a:latin typeface="Bahnschrift"/>
              </a:rPr>
              <a:t>hoặc</a:t>
            </a:r>
            <a:r>
              <a:rPr lang="en-US">
                <a:solidFill>
                  <a:schemeClr val="bg2"/>
                </a:solidFill>
                <a:latin typeface="Bahnschrift"/>
              </a:rPr>
              <a:t> item </a:t>
            </a:r>
            <a:r>
              <a:rPr lang="en-US" err="1">
                <a:solidFill>
                  <a:schemeClr val="bg2"/>
                </a:solidFill>
                <a:latin typeface="Bahnschrift"/>
              </a:rPr>
              <a:t>mới</a:t>
            </a:r>
            <a:r>
              <a:rPr lang="en-US">
                <a:solidFill>
                  <a:schemeClr val="bg2"/>
                </a:solidFill>
                <a:latin typeface="Bahnschrift"/>
              </a:rPr>
              <a:t>.</a:t>
            </a:r>
          </a:p>
          <a:p>
            <a:pPr marL="285750" indent="-285750">
              <a:buChar char="•"/>
            </a:pPr>
            <a:r>
              <a:rPr lang="en-US" err="1">
                <a:solidFill>
                  <a:schemeClr val="bg2"/>
                </a:solidFill>
                <a:latin typeface="Bahnschrift"/>
              </a:rPr>
              <a:t>Không</a:t>
            </a:r>
            <a:r>
              <a:rPr lang="en-US">
                <a:solidFill>
                  <a:schemeClr val="bg2"/>
                </a:solidFill>
                <a:latin typeface="Bahnschrift"/>
              </a:rPr>
              <a:t> </a:t>
            </a:r>
            <a:r>
              <a:rPr lang="en-US" err="1">
                <a:solidFill>
                  <a:schemeClr val="bg2"/>
                </a:solidFill>
                <a:latin typeface="Bahnschrift"/>
              </a:rPr>
              <a:t>xét</a:t>
            </a:r>
            <a:r>
              <a:rPr lang="en-US">
                <a:solidFill>
                  <a:schemeClr val="bg2"/>
                </a:solidFill>
                <a:latin typeface="Bahnschrift"/>
              </a:rPr>
              <a:t> </a:t>
            </a:r>
            <a:r>
              <a:rPr lang="en-US" err="1">
                <a:solidFill>
                  <a:schemeClr val="bg2"/>
                </a:solidFill>
                <a:latin typeface="Bahnschrift"/>
              </a:rPr>
              <a:t>được</a:t>
            </a:r>
            <a:r>
              <a:rPr lang="en-US">
                <a:solidFill>
                  <a:schemeClr val="bg2"/>
                </a:solidFill>
                <a:latin typeface="Bahnschrift"/>
              </a:rPr>
              <a:t> </a:t>
            </a:r>
            <a:r>
              <a:rPr lang="en-US" err="1">
                <a:solidFill>
                  <a:schemeClr val="bg2"/>
                </a:solidFill>
                <a:latin typeface="Bahnschrift"/>
              </a:rPr>
              <a:t>yếu</a:t>
            </a:r>
            <a:r>
              <a:rPr lang="en-US">
                <a:solidFill>
                  <a:schemeClr val="bg2"/>
                </a:solidFill>
                <a:latin typeface="Bahnschrift"/>
              </a:rPr>
              <a:t> </a:t>
            </a:r>
            <a:r>
              <a:rPr lang="en-US" err="1">
                <a:solidFill>
                  <a:schemeClr val="bg2"/>
                </a:solidFill>
                <a:latin typeface="Bahnschrift"/>
              </a:rPr>
              <a:t>tố</a:t>
            </a:r>
            <a:r>
              <a:rPr lang="en-US">
                <a:solidFill>
                  <a:schemeClr val="bg2"/>
                </a:solidFill>
                <a:latin typeface="Bahnschrift"/>
              </a:rPr>
              <a:t> </a:t>
            </a:r>
            <a:r>
              <a:rPr lang="en-US" err="1">
                <a:solidFill>
                  <a:schemeClr val="bg2"/>
                </a:solidFill>
                <a:latin typeface="Bahnschrift"/>
              </a:rPr>
              <a:t>thời</a:t>
            </a:r>
            <a:r>
              <a:rPr lang="en-US">
                <a:solidFill>
                  <a:schemeClr val="bg2"/>
                </a:solidFill>
                <a:latin typeface="Bahnschrift"/>
              </a:rPr>
              <a:t> </a:t>
            </a:r>
            <a:r>
              <a:rPr lang="en-US" err="1">
                <a:solidFill>
                  <a:schemeClr val="bg2"/>
                </a:solidFill>
                <a:latin typeface="Bahnschrift"/>
              </a:rPr>
              <a:t>gian</a:t>
            </a:r>
            <a:r>
              <a:rPr lang="en-US">
                <a:solidFill>
                  <a:schemeClr val="bg2"/>
                </a:solidFill>
                <a:latin typeface="Bahnschrift"/>
              </a:rPr>
              <a:t>, </a:t>
            </a:r>
            <a:r>
              <a:rPr lang="en-US" err="1">
                <a:solidFill>
                  <a:schemeClr val="bg2"/>
                </a:solidFill>
                <a:latin typeface="Bahnschrift"/>
              </a:rPr>
              <a:t>ngữ</a:t>
            </a:r>
            <a:r>
              <a:rPr lang="en-US">
                <a:solidFill>
                  <a:schemeClr val="bg2"/>
                </a:solidFill>
                <a:latin typeface="Bahnschrift"/>
              </a:rPr>
              <a:t> </a:t>
            </a:r>
            <a:r>
              <a:rPr lang="en-US" err="1">
                <a:solidFill>
                  <a:schemeClr val="bg2"/>
                </a:solidFill>
                <a:latin typeface="Bahnschrift"/>
              </a:rPr>
              <a:t>cảnh</a:t>
            </a:r>
            <a:r>
              <a:rPr lang="en-US">
                <a:solidFill>
                  <a:schemeClr val="bg2"/>
                </a:solidFill>
                <a:latin typeface="Bahnschrift"/>
              </a:rPr>
              <a:t> </a:t>
            </a:r>
            <a:r>
              <a:rPr lang="en-US" err="1">
                <a:solidFill>
                  <a:schemeClr val="bg2"/>
                </a:solidFill>
                <a:latin typeface="Bahnschrift"/>
              </a:rPr>
              <a:t>nếu</a:t>
            </a:r>
            <a:r>
              <a:rPr lang="en-US">
                <a:solidFill>
                  <a:schemeClr val="bg2"/>
                </a:solidFill>
                <a:latin typeface="Bahnschrift"/>
              </a:rPr>
              <a:t> </a:t>
            </a:r>
            <a:r>
              <a:rPr lang="en-US" err="1">
                <a:solidFill>
                  <a:schemeClr val="bg2"/>
                </a:solidFill>
                <a:latin typeface="Bahnschrift"/>
              </a:rPr>
              <a:t>không</a:t>
            </a:r>
            <a:r>
              <a:rPr lang="en-US">
                <a:solidFill>
                  <a:schemeClr val="bg2"/>
                </a:solidFill>
                <a:latin typeface="Bahnschrift"/>
              </a:rPr>
              <a:t> </a:t>
            </a:r>
            <a:r>
              <a:rPr lang="en-US" err="1">
                <a:solidFill>
                  <a:schemeClr val="bg2"/>
                </a:solidFill>
                <a:latin typeface="Bahnschrift"/>
              </a:rPr>
              <a:t>mở</a:t>
            </a:r>
            <a:r>
              <a:rPr lang="en-US">
                <a:solidFill>
                  <a:schemeClr val="bg2"/>
                </a:solidFill>
                <a:latin typeface="Bahnschrift"/>
              </a:rPr>
              <a:t> </a:t>
            </a:r>
            <a:r>
              <a:rPr lang="en-US" err="1">
                <a:solidFill>
                  <a:schemeClr val="bg2"/>
                </a:solidFill>
                <a:latin typeface="Bahnschrift"/>
              </a:rPr>
              <a:t>rộng</a:t>
            </a:r>
            <a:r>
              <a:rPr lang="en-US">
                <a:solidFill>
                  <a:schemeClr val="bg2"/>
                </a:solidFill>
                <a:latin typeface="Bahnschrift"/>
              </a:rPr>
              <a:t> </a:t>
            </a:r>
            <a:r>
              <a:rPr lang="en-US" err="1">
                <a:solidFill>
                  <a:schemeClr val="bg2"/>
                </a:solidFill>
                <a:latin typeface="Bahnschrift"/>
              </a:rPr>
              <a:t>mô</a:t>
            </a:r>
            <a:r>
              <a:rPr lang="en-US">
                <a:solidFill>
                  <a:schemeClr val="bg2"/>
                </a:solidFill>
                <a:latin typeface="Bahnschrift"/>
              </a:rPr>
              <a:t> </a:t>
            </a:r>
            <a:r>
              <a:rPr lang="en-US" err="1">
                <a:solidFill>
                  <a:schemeClr val="bg2"/>
                </a:solidFill>
                <a:latin typeface="Bahnschrift"/>
              </a:rPr>
              <a:t>hình</a:t>
            </a:r>
            <a:r>
              <a:rPr lang="en-US">
                <a:solidFill>
                  <a:schemeClr val="bg2"/>
                </a:solidFill>
                <a:latin typeface="Bahnschrift"/>
              </a:rPr>
              <a:t>.</a:t>
            </a:r>
          </a:p>
          <a:p>
            <a:pPr marL="285750" indent="-285750">
              <a:buChar char="•"/>
            </a:pPr>
            <a:r>
              <a:rPr lang="en-US" err="1">
                <a:solidFill>
                  <a:schemeClr val="bg2"/>
                </a:solidFill>
                <a:latin typeface="Bahnschrift"/>
              </a:rPr>
              <a:t>Mức</a:t>
            </a:r>
            <a:r>
              <a:rPr lang="en-US">
                <a:solidFill>
                  <a:schemeClr val="bg2"/>
                </a:solidFill>
                <a:latin typeface="Bahnschrift"/>
              </a:rPr>
              <a:t> </a:t>
            </a:r>
            <a:r>
              <a:rPr lang="en-US" err="1">
                <a:solidFill>
                  <a:schemeClr val="bg2"/>
                </a:solidFill>
                <a:latin typeface="Bahnschrift"/>
              </a:rPr>
              <a:t>độ</a:t>
            </a:r>
            <a:r>
              <a:rPr lang="en-US">
                <a:solidFill>
                  <a:schemeClr val="bg2"/>
                </a:solidFill>
                <a:latin typeface="Bahnschrift"/>
              </a:rPr>
              <a:t> </a:t>
            </a:r>
            <a:r>
              <a:rPr lang="en-US" err="1">
                <a:solidFill>
                  <a:schemeClr val="bg2"/>
                </a:solidFill>
                <a:latin typeface="Bahnschrift"/>
              </a:rPr>
              <a:t>giải</a:t>
            </a:r>
            <a:r>
              <a:rPr lang="en-US">
                <a:solidFill>
                  <a:schemeClr val="bg2"/>
                </a:solidFill>
                <a:latin typeface="Bahnschrift"/>
              </a:rPr>
              <a:t> </a:t>
            </a:r>
            <a:r>
              <a:rPr lang="en-US" err="1">
                <a:solidFill>
                  <a:schemeClr val="bg2"/>
                </a:solidFill>
                <a:latin typeface="Bahnschrift"/>
              </a:rPr>
              <a:t>thích</a:t>
            </a:r>
            <a:r>
              <a:rPr lang="en-US">
                <a:solidFill>
                  <a:schemeClr val="bg2"/>
                </a:solidFill>
                <a:latin typeface="Bahnschrift"/>
              </a:rPr>
              <a:t> </a:t>
            </a:r>
            <a:r>
              <a:rPr lang="en-US" err="1">
                <a:solidFill>
                  <a:schemeClr val="bg2"/>
                </a:solidFill>
                <a:latin typeface="Bahnschrift"/>
              </a:rPr>
              <a:t>không</a:t>
            </a:r>
            <a:r>
              <a:rPr lang="en-US">
                <a:solidFill>
                  <a:schemeClr val="bg2"/>
                </a:solidFill>
                <a:latin typeface="Bahnschrift"/>
              </a:rPr>
              <a:t> </a:t>
            </a:r>
            <a:r>
              <a:rPr lang="en-US" err="1">
                <a:solidFill>
                  <a:schemeClr val="bg2"/>
                </a:solidFill>
                <a:latin typeface="Bahnschrift"/>
              </a:rPr>
              <a:t>luôn</a:t>
            </a:r>
            <a:r>
              <a:rPr lang="en-US">
                <a:solidFill>
                  <a:schemeClr val="bg2"/>
                </a:solidFill>
                <a:latin typeface="Bahnschrift"/>
              </a:rPr>
              <a:t> </a:t>
            </a:r>
            <a:r>
              <a:rPr lang="en-US" err="1">
                <a:solidFill>
                  <a:schemeClr val="bg2"/>
                </a:solidFill>
                <a:latin typeface="Bahnschrift"/>
              </a:rPr>
              <a:t>rõ</a:t>
            </a:r>
            <a:r>
              <a:rPr lang="en-US">
                <a:solidFill>
                  <a:schemeClr val="bg2"/>
                </a:solidFill>
                <a:latin typeface="Bahnschrift"/>
              </a:rPr>
              <a:t> </a:t>
            </a:r>
            <a:r>
              <a:rPr lang="en-US" err="1">
                <a:solidFill>
                  <a:schemeClr val="bg2"/>
                </a:solidFill>
                <a:latin typeface="Bahnschrift"/>
              </a:rPr>
              <a:t>ràng</a:t>
            </a:r>
            <a:r>
              <a:rPr lang="en-US">
                <a:solidFill>
                  <a:schemeClr val="bg2"/>
                </a:solidFill>
                <a:latin typeface="Bahnschrift"/>
              </a:rPr>
              <a:t> (</a:t>
            </a:r>
            <a:r>
              <a:rPr lang="en-US" err="1">
                <a:solidFill>
                  <a:schemeClr val="bg2"/>
                </a:solidFill>
                <a:latin typeface="Bahnschrift"/>
              </a:rPr>
              <a:t>đặc</a:t>
            </a:r>
            <a:r>
              <a:rPr lang="en-US">
                <a:solidFill>
                  <a:schemeClr val="bg2"/>
                </a:solidFill>
                <a:latin typeface="Bahnschrift"/>
              </a:rPr>
              <a:t> </a:t>
            </a:r>
            <a:r>
              <a:rPr lang="en-US" err="1">
                <a:solidFill>
                  <a:schemeClr val="bg2"/>
                </a:solidFill>
                <a:latin typeface="Bahnschrift"/>
              </a:rPr>
              <a:t>biệt</a:t>
            </a:r>
            <a:r>
              <a:rPr lang="en-US">
                <a:solidFill>
                  <a:schemeClr val="bg2"/>
                </a:solidFill>
                <a:latin typeface="Bahnschrift"/>
              </a:rPr>
              <a:t> </a:t>
            </a:r>
            <a:r>
              <a:rPr lang="en-US" err="1">
                <a:solidFill>
                  <a:schemeClr val="bg2"/>
                </a:solidFill>
                <a:latin typeface="Bahnschrift"/>
              </a:rPr>
              <a:t>với</a:t>
            </a:r>
            <a:r>
              <a:rPr lang="en-US">
                <a:solidFill>
                  <a:schemeClr val="bg2"/>
                </a:solidFill>
                <a:latin typeface="Bahnschrift"/>
              </a:rPr>
              <a:t> </a:t>
            </a:r>
            <a:r>
              <a:rPr lang="en-US" err="1">
                <a:solidFill>
                  <a:schemeClr val="bg2"/>
                </a:solidFill>
                <a:latin typeface="Bahnschrift"/>
              </a:rPr>
              <a:t>mô</a:t>
            </a:r>
            <a:r>
              <a:rPr lang="en-US">
                <a:solidFill>
                  <a:schemeClr val="bg2"/>
                </a:solidFill>
                <a:latin typeface="Bahnschrift"/>
              </a:rPr>
              <a:t> </a:t>
            </a:r>
            <a:r>
              <a:rPr lang="en-US" err="1">
                <a:solidFill>
                  <a:schemeClr val="bg2"/>
                </a:solidFill>
                <a:latin typeface="Bahnschrift"/>
              </a:rPr>
              <a:t>hình</a:t>
            </a:r>
            <a:r>
              <a:rPr lang="en-US">
                <a:solidFill>
                  <a:schemeClr val="bg2"/>
                </a:solidFill>
                <a:latin typeface="Bahnschrift"/>
              </a:rPr>
              <a:t> </a:t>
            </a:r>
            <a:r>
              <a:rPr lang="en-US" err="1">
                <a:solidFill>
                  <a:schemeClr val="bg2"/>
                </a:solidFill>
                <a:latin typeface="Bahnschrift"/>
              </a:rPr>
              <a:t>học</a:t>
            </a:r>
            <a:r>
              <a:rPr lang="en-US">
                <a:solidFill>
                  <a:schemeClr val="bg2"/>
                </a:solidFill>
                <a:latin typeface="Bahnschrift"/>
              </a:rPr>
              <a:t> </a:t>
            </a:r>
            <a:r>
              <a:rPr lang="en-US" err="1">
                <a:solidFill>
                  <a:schemeClr val="bg2"/>
                </a:solidFill>
                <a:latin typeface="Bahnschrift"/>
              </a:rPr>
              <a:t>đặc</a:t>
            </a:r>
            <a:r>
              <a:rPr lang="en-US">
                <a:solidFill>
                  <a:schemeClr val="bg2"/>
                </a:solidFill>
                <a:latin typeface="Bahnschrift"/>
              </a:rPr>
              <a:t> </a:t>
            </a:r>
            <a:r>
              <a:rPr lang="en-US" err="1">
                <a:solidFill>
                  <a:schemeClr val="bg2"/>
                </a:solidFill>
                <a:latin typeface="Bahnschrift"/>
              </a:rPr>
              <a:t>trưng</a:t>
            </a:r>
            <a:r>
              <a:rPr lang="en-US">
                <a:solidFill>
                  <a:schemeClr val="bg2"/>
                </a:solidFill>
                <a:latin typeface="Bahnschrift"/>
              </a:rPr>
              <a:t> </a:t>
            </a:r>
            <a:r>
              <a:rPr lang="en-US" err="1">
                <a:solidFill>
                  <a:schemeClr val="bg2"/>
                </a:solidFill>
                <a:latin typeface="Bahnschrift"/>
              </a:rPr>
              <a:t>ẩn</a:t>
            </a:r>
            <a:r>
              <a:rPr lang="en-US">
                <a:solidFill>
                  <a:schemeClr val="bg2"/>
                </a:solidFill>
                <a:latin typeface="Bahnschrift"/>
              </a:rPr>
              <a:t>).</a:t>
            </a:r>
          </a:p>
          <a:p>
            <a:endParaRPr lang="en-US" b="1">
              <a:solidFill>
                <a:schemeClr val="bg2"/>
              </a:solidFill>
              <a:latin typeface="Bahnschrift"/>
            </a:endParaRPr>
          </a:p>
        </p:txBody>
      </p:sp>
      <p:pic>
        <p:nvPicPr>
          <p:cNvPr id="2" name="Picture 1" descr="A blue and yellow logo&#10;&#10;AI-generated content may be incorrect.">
            <a:extLst>
              <a:ext uri="{FF2B5EF4-FFF2-40B4-BE49-F238E27FC236}">
                <a16:creationId xmlns:a16="http://schemas.microsoft.com/office/drawing/2014/main" id="{BFDA9927-429B-BFF6-F8D1-F107100EB3ED}"/>
              </a:ext>
            </a:extLst>
          </p:cNvPr>
          <p:cNvPicPr>
            <a:picLocks noChangeAspect="1"/>
          </p:cNvPicPr>
          <p:nvPr/>
        </p:nvPicPr>
        <p:blipFill>
          <a:blip r:embed="rId4"/>
          <a:stretch>
            <a:fillRect/>
          </a:stretch>
        </p:blipFill>
        <p:spPr>
          <a:xfrm>
            <a:off x="137160" y="114312"/>
            <a:ext cx="444137" cy="492242"/>
          </a:xfrm>
          <a:prstGeom prst="rect">
            <a:avLst/>
          </a:prstGeom>
        </p:spPr>
      </p:pic>
    </p:spTree>
    <p:extLst>
      <p:ext uri="{BB962C8B-B14F-4D97-AF65-F5344CB8AC3E}">
        <p14:creationId xmlns:p14="http://schemas.microsoft.com/office/powerpoint/2010/main" val="1638951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6B2ADB4E-1B3C-DE61-F42F-7D750F00DA9C}"/>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36E79386-209D-6AC2-98F1-226F7A95567F}"/>
              </a:ext>
            </a:extLst>
          </p:cNvPr>
          <p:cNvSpPr txBox="1">
            <a:spLocks noGrp="1"/>
          </p:cNvSpPr>
          <p:nvPr>
            <p:ph type="title"/>
          </p:nvPr>
        </p:nvSpPr>
        <p:spPr>
          <a:xfrm>
            <a:off x="815264" y="114312"/>
            <a:ext cx="7704000" cy="572700"/>
          </a:xfrm>
          <a:prstGeom prst="rect">
            <a:avLst/>
          </a:prstGeom>
        </p:spPr>
        <p:txBody>
          <a:bodyPr spcFirstLastPara="1" wrap="square" lIns="91425" tIns="91425" rIns="91425" bIns="91425" anchor="t" anchorCtr="0">
            <a:noAutofit/>
          </a:bodyPr>
          <a:lstStyle/>
          <a:p>
            <a:r>
              <a:rPr lang="en" sz="2400" dirty="0"/>
              <a:t>Huấn luyện </a:t>
            </a:r>
            <a:r>
              <a:rPr lang="en-US" sz="2400" b="1" dirty="0">
                <a:solidFill>
                  <a:schemeClr val="bg2"/>
                </a:solidFill>
                <a:latin typeface="Bahnschrift"/>
              </a:rPr>
              <a:t>Sequential Recommendation  - </a:t>
            </a:r>
            <a:r>
              <a:rPr lang="en" sz="2400" dirty="0"/>
              <a:t>SASRec</a:t>
            </a:r>
          </a:p>
        </p:txBody>
      </p:sp>
      <p:sp>
        <p:nvSpPr>
          <p:cNvPr id="3" name="TextBox 2">
            <a:extLst>
              <a:ext uri="{FF2B5EF4-FFF2-40B4-BE49-F238E27FC236}">
                <a16:creationId xmlns:a16="http://schemas.microsoft.com/office/drawing/2014/main" id="{0D8ADA8D-FE3E-33C7-8BA4-D0278A5192CE}"/>
              </a:ext>
            </a:extLst>
          </p:cNvPr>
          <p:cNvSpPr txBox="1"/>
          <p:nvPr/>
        </p:nvSpPr>
        <p:spPr>
          <a:xfrm>
            <a:off x="697081" y="616003"/>
            <a:ext cx="7940367" cy="36092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b="1" dirty="0" err="1">
                <a:solidFill>
                  <a:schemeClr val="bg2"/>
                </a:solidFill>
                <a:latin typeface="Bahnschrift"/>
              </a:rPr>
              <a:t>Cơ</a:t>
            </a:r>
            <a:r>
              <a:rPr lang="en-US" b="1" dirty="0">
                <a:solidFill>
                  <a:schemeClr val="bg2"/>
                </a:solidFill>
                <a:latin typeface="Bahnschrift"/>
              </a:rPr>
              <a:t> </a:t>
            </a:r>
            <a:r>
              <a:rPr lang="en-US" b="1" dirty="0" err="1">
                <a:solidFill>
                  <a:schemeClr val="bg2"/>
                </a:solidFill>
                <a:latin typeface="Bahnschrift"/>
              </a:rPr>
              <a:t>chế</a:t>
            </a:r>
            <a:endParaRPr lang="en-US" b="1" dirty="0">
              <a:solidFill>
                <a:schemeClr val="bg2"/>
              </a:solidFill>
              <a:latin typeface="Bahnschrift"/>
            </a:endParaRPr>
          </a:p>
          <a:p>
            <a:pPr marL="228600" indent="-228600" algn="just">
              <a:lnSpc>
                <a:spcPct val="150000"/>
              </a:lnSpc>
              <a:buFont typeface=""/>
              <a:buChar char="•"/>
            </a:pPr>
            <a:r>
              <a:rPr lang="en-US" dirty="0" err="1">
                <a:solidFill>
                  <a:schemeClr val="bg2"/>
                </a:solidFill>
                <a:latin typeface="Bahnschrift"/>
              </a:rPr>
              <a:t>Kiến</a:t>
            </a:r>
            <a:r>
              <a:rPr lang="en-US" dirty="0">
                <a:solidFill>
                  <a:schemeClr val="bg2"/>
                </a:solidFill>
                <a:latin typeface="Bahnschrift"/>
              </a:rPr>
              <a:t> </a:t>
            </a:r>
            <a:r>
              <a:rPr lang="en-US" dirty="0" err="1">
                <a:solidFill>
                  <a:schemeClr val="bg2"/>
                </a:solidFill>
                <a:latin typeface="Bahnschrift"/>
              </a:rPr>
              <a:t>trúc</a:t>
            </a:r>
            <a:r>
              <a:rPr lang="en-US" dirty="0">
                <a:solidFill>
                  <a:schemeClr val="bg2"/>
                </a:solidFill>
                <a:latin typeface="Bahnschrift"/>
              </a:rPr>
              <a:t> Transformer </a:t>
            </a:r>
            <a:r>
              <a:rPr lang="en-US" dirty="0" err="1">
                <a:solidFill>
                  <a:schemeClr val="bg2"/>
                </a:solidFill>
                <a:latin typeface="Bahnschrift"/>
              </a:rPr>
              <a:t>sử</a:t>
            </a:r>
            <a:r>
              <a:rPr lang="en-US" dirty="0">
                <a:solidFill>
                  <a:schemeClr val="bg2"/>
                </a:solidFill>
                <a:latin typeface="Bahnschrift"/>
              </a:rPr>
              <a:t> </a:t>
            </a:r>
            <a:r>
              <a:rPr lang="en-US" dirty="0" err="1">
                <a:solidFill>
                  <a:schemeClr val="bg2"/>
                </a:solidFill>
                <a:latin typeface="Bahnschrift"/>
              </a:rPr>
              <a:t>dụng</a:t>
            </a:r>
            <a:r>
              <a:rPr lang="en-US" dirty="0">
                <a:solidFill>
                  <a:schemeClr val="bg2"/>
                </a:solidFill>
                <a:latin typeface="Bahnschrift"/>
              </a:rPr>
              <a:t> </a:t>
            </a:r>
            <a:r>
              <a:rPr lang="en-US" dirty="0" err="1">
                <a:solidFill>
                  <a:schemeClr val="bg2"/>
                </a:solidFill>
                <a:latin typeface="Bahnschrift"/>
              </a:rPr>
              <a:t>cơ</a:t>
            </a:r>
            <a:r>
              <a:rPr lang="en-US" dirty="0">
                <a:solidFill>
                  <a:schemeClr val="bg2"/>
                </a:solidFill>
                <a:latin typeface="Bahnschrift"/>
              </a:rPr>
              <a:t> </a:t>
            </a:r>
            <a:r>
              <a:rPr lang="en-US" dirty="0" err="1">
                <a:solidFill>
                  <a:schemeClr val="bg2"/>
                </a:solidFill>
                <a:latin typeface="Bahnschrift"/>
              </a:rPr>
              <a:t>chế</a:t>
            </a:r>
            <a:r>
              <a:rPr lang="en-US" dirty="0">
                <a:solidFill>
                  <a:schemeClr val="bg2"/>
                </a:solidFill>
                <a:latin typeface="Bahnschrift"/>
              </a:rPr>
              <a:t> Self-Attention </a:t>
            </a:r>
            <a:r>
              <a:rPr lang="en-US" dirty="0" err="1">
                <a:solidFill>
                  <a:schemeClr val="bg2"/>
                </a:solidFill>
                <a:latin typeface="Bahnschrift"/>
              </a:rPr>
              <a:t>để</a:t>
            </a:r>
            <a:r>
              <a:rPr lang="en-US" dirty="0">
                <a:solidFill>
                  <a:schemeClr val="bg2"/>
                </a:solidFill>
                <a:latin typeface="Bahnschrift"/>
              </a:rPr>
              <a:t> </a:t>
            </a:r>
            <a:r>
              <a:rPr lang="en-US" dirty="0" err="1">
                <a:solidFill>
                  <a:schemeClr val="bg2"/>
                </a:solidFill>
                <a:latin typeface="Bahnschrift"/>
              </a:rPr>
              <a:t>học</a:t>
            </a:r>
            <a:r>
              <a:rPr lang="en-US" dirty="0">
                <a:solidFill>
                  <a:schemeClr val="bg2"/>
                </a:solidFill>
                <a:latin typeface="Bahnschrift"/>
              </a:rPr>
              <a:t> </a:t>
            </a:r>
            <a:r>
              <a:rPr lang="en-US" dirty="0" err="1">
                <a:solidFill>
                  <a:schemeClr val="bg2"/>
                </a:solidFill>
                <a:latin typeface="Bahnschrift"/>
              </a:rPr>
              <a:t>từ</a:t>
            </a:r>
            <a:r>
              <a:rPr lang="en-US" dirty="0">
                <a:solidFill>
                  <a:schemeClr val="bg2"/>
                </a:solidFill>
                <a:latin typeface="Bahnschrift"/>
              </a:rPr>
              <a:t> </a:t>
            </a:r>
            <a:r>
              <a:rPr lang="en-US" dirty="0" err="1">
                <a:solidFill>
                  <a:schemeClr val="bg2"/>
                </a:solidFill>
                <a:latin typeface="Bahnschrift"/>
              </a:rPr>
              <a:t>chuỗi</a:t>
            </a:r>
            <a:r>
              <a:rPr lang="en-US" dirty="0">
                <a:solidFill>
                  <a:schemeClr val="bg2"/>
                </a:solidFill>
                <a:latin typeface="Bahnschrift"/>
              </a:rPr>
              <a:t> </a:t>
            </a:r>
            <a:r>
              <a:rPr lang="en-US" dirty="0" err="1">
                <a:solidFill>
                  <a:schemeClr val="bg2"/>
                </a:solidFill>
                <a:latin typeface="Bahnschrift"/>
              </a:rPr>
              <a:t>hành</a:t>
            </a:r>
            <a:r>
              <a:rPr lang="en-US" dirty="0">
                <a:solidFill>
                  <a:schemeClr val="bg2"/>
                </a:solidFill>
                <a:latin typeface="Bahnschrift"/>
              </a:rPr>
              <a:t> vi </a:t>
            </a:r>
            <a:r>
              <a:rPr lang="en-US" dirty="0" err="1">
                <a:solidFill>
                  <a:schemeClr val="bg2"/>
                </a:solidFill>
                <a:latin typeface="Bahnschrift"/>
              </a:rPr>
              <a:t>trước</a:t>
            </a:r>
            <a:r>
              <a:rPr lang="en-US" dirty="0">
                <a:solidFill>
                  <a:schemeClr val="bg2"/>
                </a:solidFill>
                <a:latin typeface="Bahnschrift"/>
              </a:rPr>
              <a:t> </a:t>
            </a:r>
            <a:r>
              <a:rPr lang="en-US" dirty="0" err="1">
                <a:solidFill>
                  <a:schemeClr val="bg2"/>
                </a:solidFill>
                <a:latin typeface="Bahnschrift"/>
              </a:rPr>
              <a:t>đó</a:t>
            </a:r>
            <a:r>
              <a:rPr lang="en-US" dirty="0">
                <a:solidFill>
                  <a:schemeClr val="bg2"/>
                </a:solidFill>
                <a:latin typeface="Bahnschrift"/>
              </a:rPr>
              <a:t>.</a:t>
            </a:r>
          </a:p>
          <a:p>
            <a:pPr marL="228600" indent="-228600" algn="just">
              <a:lnSpc>
                <a:spcPct val="150000"/>
              </a:lnSpc>
              <a:buFont typeface=""/>
              <a:buChar char="•"/>
            </a:pPr>
            <a:r>
              <a:rPr lang="en-US" dirty="0" err="1">
                <a:solidFill>
                  <a:schemeClr val="bg2"/>
                </a:solidFill>
                <a:latin typeface="Bahnschrift"/>
              </a:rPr>
              <a:t>Mô</a:t>
            </a:r>
            <a:r>
              <a:rPr lang="en-US" dirty="0">
                <a:solidFill>
                  <a:schemeClr val="bg2"/>
                </a:solidFill>
                <a:latin typeface="Bahnschrift"/>
              </a:rPr>
              <a:t> </a:t>
            </a:r>
            <a:r>
              <a:rPr lang="en-US" dirty="0" err="1">
                <a:solidFill>
                  <a:schemeClr val="bg2"/>
                </a:solidFill>
                <a:latin typeface="Bahnschrift"/>
              </a:rPr>
              <a:t>hình</a:t>
            </a:r>
            <a:r>
              <a:rPr lang="en-US" dirty="0">
                <a:solidFill>
                  <a:schemeClr val="bg2"/>
                </a:solidFill>
                <a:latin typeface="Bahnschrift"/>
              </a:rPr>
              <a:t> </a:t>
            </a:r>
            <a:r>
              <a:rPr lang="en-US" dirty="0" err="1">
                <a:solidFill>
                  <a:schemeClr val="bg2"/>
                </a:solidFill>
                <a:latin typeface="Bahnschrift"/>
              </a:rPr>
              <a:t>hóa</a:t>
            </a:r>
            <a:r>
              <a:rPr lang="en-US" dirty="0">
                <a:solidFill>
                  <a:schemeClr val="bg2"/>
                </a:solidFill>
                <a:latin typeface="Bahnschrift"/>
              </a:rPr>
              <a:t> </a:t>
            </a:r>
            <a:r>
              <a:rPr lang="en-US" dirty="0" err="1">
                <a:solidFill>
                  <a:schemeClr val="bg2"/>
                </a:solidFill>
                <a:latin typeface="Bahnschrift"/>
              </a:rPr>
              <a:t>chuỗi</a:t>
            </a:r>
            <a:r>
              <a:rPr lang="en-US" dirty="0">
                <a:solidFill>
                  <a:schemeClr val="bg2"/>
                </a:solidFill>
                <a:latin typeface="Bahnschrift"/>
              </a:rPr>
              <a:t> </a:t>
            </a:r>
            <a:r>
              <a:rPr lang="en-US" dirty="0" err="1">
                <a:solidFill>
                  <a:schemeClr val="bg2"/>
                </a:solidFill>
                <a:latin typeface="Bahnschrift"/>
              </a:rPr>
              <a:t>hành</a:t>
            </a:r>
            <a:r>
              <a:rPr lang="en-US" dirty="0">
                <a:solidFill>
                  <a:schemeClr val="bg2"/>
                </a:solidFill>
                <a:latin typeface="Bahnschrift"/>
              </a:rPr>
              <a:t> vi </a:t>
            </a:r>
            <a:r>
              <a:rPr lang="en-US" dirty="0" err="1">
                <a:solidFill>
                  <a:schemeClr val="bg2"/>
                </a:solidFill>
                <a:latin typeface="Bahnschrift"/>
              </a:rPr>
              <a:t>của</a:t>
            </a:r>
            <a:r>
              <a:rPr lang="en-US" dirty="0">
                <a:solidFill>
                  <a:schemeClr val="bg2"/>
                </a:solidFill>
                <a:latin typeface="Bahnschrift"/>
              </a:rPr>
              <a:t> </a:t>
            </a:r>
            <a:r>
              <a:rPr lang="en-US" dirty="0" err="1">
                <a:solidFill>
                  <a:schemeClr val="bg2"/>
                </a:solidFill>
                <a:latin typeface="Bahnschrift"/>
              </a:rPr>
              <a:t>người</a:t>
            </a:r>
            <a:r>
              <a:rPr lang="en-US" dirty="0">
                <a:solidFill>
                  <a:schemeClr val="bg2"/>
                </a:solidFill>
                <a:latin typeface="Bahnschrift"/>
              </a:rPr>
              <a:t> </a:t>
            </a:r>
            <a:r>
              <a:rPr lang="en-US" dirty="0" err="1">
                <a:solidFill>
                  <a:schemeClr val="bg2"/>
                </a:solidFill>
                <a:latin typeface="Bahnschrift"/>
              </a:rPr>
              <a:t>dùng</a:t>
            </a:r>
            <a:endParaRPr lang="en-US" dirty="0">
              <a:solidFill>
                <a:schemeClr val="bg2"/>
              </a:solidFill>
              <a:latin typeface="Bahnschrift"/>
            </a:endParaRPr>
          </a:p>
          <a:p>
            <a:pPr algn="just">
              <a:lnSpc>
                <a:spcPct val="150000"/>
              </a:lnSpc>
            </a:pPr>
            <a:r>
              <a:rPr lang="en-US" b="1" dirty="0" err="1">
                <a:solidFill>
                  <a:schemeClr val="bg2"/>
                </a:solidFill>
                <a:latin typeface="Bahnschrift"/>
              </a:rPr>
              <a:t>Ưu</a:t>
            </a:r>
            <a:r>
              <a:rPr lang="en-US" b="1" dirty="0">
                <a:solidFill>
                  <a:schemeClr val="bg2"/>
                </a:solidFill>
                <a:latin typeface="Bahnschrift"/>
              </a:rPr>
              <a:t> </a:t>
            </a:r>
            <a:r>
              <a:rPr lang="en-US" b="1" dirty="0" err="1">
                <a:solidFill>
                  <a:schemeClr val="bg2"/>
                </a:solidFill>
                <a:latin typeface="Bahnschrift"/>
              </a:rPr>
              <a:t>điểm</a:t>
            </a:r>
            <a:endParaRPr lang="en-US" b="1" dirty="0">
              <a:solidFill>
                <a:schemeClr val="bg2"/>
              </a:solidFill>
              <a:latin typeface="Bahnschrift"/>
            </a:endParaRPr>
          </a:p>
          <a:p>
            <a:pPr marL="228600" indent="-228600" algn="just">
              <a:lnSpc>
                <a:spcPct val="150000"/>
              </a:lnSpc>
              <a:buFont typeface=""/>
              <a:buChar char="•"/>
            </a:pPr>
            <a:r>
              <a:rPr lang="en-US" dirty="0">
                <a:solidFill>
                  <a:schemeClr val="bg2"/>
                </a:solidFill>
                <a:latin typeface="Bahnschrift"/>
              </a:rPr>
              <a:t>Dynamic: </a:t>
            </a:r>
            <a:r>
              <a:rPr lang="en-US" dirty="0" err="1">
                <a:solidFill>
                  <a:schemeClr val="bg2"/>
                </a:solidFill>
                <a:latin typeface="Bahnschrift"/>
              </a:rPr>
              <a:t>Hiểu</a:t>
            </a:r>
            <a:r>
              <a:rPr lang="en-US" dirty="0">
                <a:solidFill>
                  <a:schemeClr val="bg2"/>
                </a:solidFill>
                <a:latin typeface="Bahnschrift"/>
              </a:rPr>
              <a:t> </a:t>
            </a:r>
            <a:r>
              <a:rPr lang="en-US" dirty="0" err="1">
                <a:solidFill>
                  <a:schemeClr val="bg2"/>
                </a:solidFill>
                <a:latin typeface="Bahnschrift"/>
              </a:rPr>
              <a:t>được</a:t>
            </a:r>
            <a:r>
              <a:rPr lang="en-US" dirty="0">
                <a:solidFill>
                  <a:schemeClr val="bg2"/>
                </a:solidFill>
                <a:latin typeface="Bahnschrift"/>
              </a:rPr>
              <a:t> </a:t>
            </a:r>
            <a:r>
              <a:rPr lang="en-US" dirty="0" err="1">
                <a:solidFill>
                  <a:schemeClr val="bg2"/>
                </a:solidFill>
                <a:latin typeface="Bahnschrift"/>
              </a:rPr>
              <a:t>người</a:t>
            </a:r>
            <a:r>
              <a:rPr lang="en-US" dirty="0">
                <a:solidFill>
                  <a:schemeClr val="bg2"/>
                </a:solidFill>
                <a:latin typeface="Bahnschrift"/>
              </a:rPr>
              <a:t> </a:t>
            </a:r>
            <a:r>
              <a:rPr lang="en-US" dirty="0" err="1">
                <a:solidFill>
                  <a:schemeClr val="bg2"/>
                </a:solidFill>
                <a:latin typeface="Bahnschrift"/>
              </a:rPr>
              <a:t>dùng</a:t>
            </a:r>
            <a:r>
              <a:rPr lang="en-US" dirty="0">
                <a:solidFill>
                  <a:schemeClr val="bg2"/>
                </a:solidFill>
                <a:latin typeface="Bahnschrift"/>
              </a:rPr>
              <a:t> </a:t>
            </a:r>
            <a:r>
              <a:rPr lang="en-US" dirty="0" err="1">
                <a:solidFill>
                  <a:schemeClr val="bg2"/>
                </a:solidFill>
                <a:latin typeface="Bahnschrift"/>
              </a:rPr>
              <a:t>đang</a:t>
            </a:r>
            <a:r>
              <a:rPr lang="en-US" dirty="0">
                <a:solidFill>
                  <a:schemeClr val="bg2"/>
                </a:solidFill>
                <a:latin typeface="Bahnschrift"/>
              </a:rPr>
              <a:t> </a:t>
            </a:r>
            <a:r>
              <a:rPr lang="en-US" dirty="0" err="1">
                <a:solidFill>
                  <a:schemeClr val="bg2"/>
                </a:solidFill>
                <a:latin typeface="Bahnschrift"/>
              </a:rPr>
              <a:t>thích</a:t>
            </a:r>
            <a:r>
              <a:rPr lang="en-US" dirty="0">
                <a:solidFill>
                  <a:schemeClr val="bg2"/>
                </a:solidFill>
                <a:latin typeface="Bahnschrift"/>
              </a:rPr>
              <a:t> </a:t>
            </a:r>
            <a:r>
              <a:rPr lang="en-US" dirty="0" err="1">
                <a:solidFill>
                  <a:schemeClr val="bg2"/>
                </a:solidFill>
                <a:latin typeface="Bahnschrift"/>
              </a:rPr>
              <a:t>gì</a:t>
            </a:r>
            <a:r>
              <a:rPr lang="en-US" dirty="0">
                <a:solidFill>
                  <a:schemeClr val="bg2"/>
                </a:solidFill>
                <a:latin typeface="Bahnschrift"/>
              </a:rPr>
              <a:t> </a:t>
            </a:r>
            <a:r>
              <a:rPr lang="en-US" i="1" dirty="0" err="1">
                <a:solidFill>
                  <a:schemeClr val="bg2"/>
                </a:solidFill>
                <a:latin typeface="Bahnschrift"/>
              </a:rPr>
              <a:t>ngay</a:t>
            </a:r>
            <a:r>
              <a:rPr lang="en-US" i="1" dirty="0">
                <a:solidFill>
                  <a:schemeClr val="bg2"/>
                </a:solidFill>
                <a:latin typeface="Bahnschrift"/>
              </a:rPr>
              <a:t> </a:t>
            </a:r>
            <a:r>
              <a:rPr lang="en-US" i="1" dirty="0" err="1">
                <a:solidFill>
                  <a:schemeClr val="bg2"/>
                </a:solidFill>
                <a:latin typeface="Bahnschrift"/>
              </a:rPr>
              <a:t>lúc</a:t>
            </a:r>
            <a:r>
              <a:rPr lang="en-US" i="1" dirty="0">
                <a:solidFill>
                  <a:schemeClr val="bg2"/>
                </a:solidFill>
                <a:latin typeface="Bahnschrift"/>
              </a:rPr>
              <a:t> </a:t>
            </a:r>
            <a:r>
              <a:rPr lang="en-US" i="1" dirty="0" err="1">
                <a:solidFill>
                  <a:schemeClr val="bg2"/>
                </a:solidFill>
                <a:latin typeface="Bahnschrift"/>
              </a:rPr>
              <a:t>này</a:t>
            </a:r>
            <a:r>
              <a:rPr lang="en-US" dirty="0">
                <a:solidFill>
                  <a:schemeClr val="bg2"/>
                </a:solidFill>
                <a:latin typeface="Bahnschrift"/>
              </a:rPr>
              <a:t>.</a:t>
            </a:r>
          </a:p>
          <a:p>
            <a:pPr marL="228600" indent="-228600" algn="just">
              <a:lnSpc>
                <a:spcPct val="150000"/>
              </a:lnSpc>
              <a:buFont typeface=""/>
              <a:buChar char="•"/>
            </a:pPr>
            <a:r>
              <a:rPr lang="en-US" dirty="0" err="1">
                <a:solidFill>
                  <a:schemeClr val="bg2"/>
                </a:solidFill>
                <a:latin typeface="Bahnschrift"/>
              </a:rPr>
              <a:t>Kết</a:t>
            </a:r>
            <a:r>
              <a:rPr lang="en-US" dirty="0">
                <a:solidFill>
                  <a:schemeClr val="bg2"/>
                </a:solidFill>
                <a:latin typeface="Bahnschrift"/>
              </a:rPr>
              <a:t> </a:t>
            </a:r>
            <a:r>
              <a:rPr lang="en-US" dirty="0" err="1">
                <a:solidFill>
                  <a:schemeClr val="bg2"/>
                </a:solidFill>
                <a:latin typeface="Bahnschrift"/>
              </a:rPr>
              <a:t>hợp</a:t>
            </a:r>
            <a:r>
              <a:rPr lang="en-US" dirty="0">
                <a:solidFill>
                  <a:schemeClr val="bg2"/>
                </a:solidFill>
                <a:latin typeface="Bahnschrift"/>
              </a:rPr>
              <a:t> </a:t>
            </a:r>
            <a:r>
              <a:rPr lang="en-US" dirty="0" err="1">
                <a:solidFill>
                  <a:schemeClr val="bg2"/>
                </a:solidFill>
                <a:latin typeface="Bahnschrift"/>
              </a:rPr>
              <a:t>được</a:t>
            </a:r>
            <a:r>
              <a:rPr lang="en-US" dirty="0">
                <a:solidFill>
                  <a:schemeClr val="bg2"/>
                </a:solidFill>
                <a:latin typeface="Bahnschrift"/>
              </a:rPr>
              <a:t> </a:t>
            </a:r>
            <a:r>
              <a:rPr lang="en-US" dirty="0" err="1">
                <a:solidFill>
                  <a:schemeClr val="bg2"/>
                </a:solidFill>
                <a:latin typeface="Bahnschrift"/>
              </a:rPr>
              <a:t>sở</a:t>
            </a:r>
            <a:r>
              <a:rPr lang="en-US" dirty="0">
                <a:solidFill>
                  <a:schemeClr val="bg2"/>
                </a:solidFill>
                <a:latin typeface="Bahnschrift"/>
              </a:rPr>
              <a:t> </a:t>
            </a:r>
            <a:r>
              <a:rPr lang="en-US" dirty="0" err="1">
                <a:solidFill>
                  <a:schemeClr val="bg2"/>
                </a:solidFill>
                <a:latin typeface="Bahnschrift"/>
              </a:rPr>
              <a:t>thích</a:t>
            </a:r>
            <a:r>
              <a:rPr lang="en-US" dirty="0">
                <a:solidFill>
                  <a:schemeClr val="bg2"/>
                </a:solidFill>
                <a:latin typeface="Bahnschrift"/>
              </a:rPr>
              <a:t> </a:t>
            </a:r>
            <a:r>
              <a:rPr lang="en-US" dirty="0" err="1">
                <a:solidFill>
                  <a:schemeClr val="bg2"/>
                </a:solidFill>
                <a:latin typeface="Bahnschrift"/>
              </a:rPr>
              <a:t>dài</a:t>
            </a:r>
            <a:r>
              <a:rPr lang="en-US" dirty="0">
                <a:solidFill>
                  <a:schemeClr val="bg2"/>
                </a:solidFill>
                <a:latin typeface="Bahnschrift"/>
              </a:rPr>
              <a:t> </a:t>
            </a:r>
            <a:r>
              <a:rPr lang="en-US" dirty="0" err="1">
                <a:solidFill>
                  <a:schemeClr val="bg2"/>
                </a:solidFill>
                <a:latin typeface="Bahnschrift"/>
              </a:rPr>
              <a:t>hạn</a:t>
            </a:r>
            <a:r>
              <a:rPr lang="en-US" dirty="0">
                <a:solidFill>
                  <a:schemeClr val="bg2"/>
                </a:solidFill>
                <a:latin typeface="Bahnschrift"/>
              </a:rPr>
              <a:t> </a:t>
            </a:r>
            <a:r>
              <a:rPr lang="en-US" dirty="0" err="1">
                <a:solidFill>
                  <a:schemeClr val="bg2"/>
                </a:solidFill>
                <a:latin typeface="Bahnschrift"/>
              </a:rPr>
              <a:t>và</a:t>
            </a:r>
            <a:r>
              <a:rPr lang="en-US" dirty="0">
                <a:solidFill>
                  <a:schemeClr val="bg2"/>
                </a:solidFill>
                <a:latin typeface="Bahnschrift"/>
              </a:rPr>
              <a:t> </a:t>
            </a:r>
            <a:r>
              <a:rPr lang="en-US" dirty="0" err="1">
                <a:solidFill>
                  <a:schemeClr val="bg2"/>
                </a:solidFill>
                <a:latin typeface="Bahnschrift"/>
              </a:rPr>
              <a:t>ngắn</a:t>
            </a:r>
            <a:r>
              <a:rPr lang="en-US" dirty="0">
                <a:solidFill>
                  <a:schemeClr val="bg2"/>
                </a:solidFill>
                <a:latin typeface="Bahnschrift"/>
              </a:rPr>
              <a:t> </a:t>
            </a:r>
            <a:r>
              <a:rPr lang="en-US" dirty="0" err="1">
                <a:solidFill>
                  <a:schemeClr val="bg2"/>
                </a:solidFill>
                <a:latin typeface="Bahnschrift"/>
              </a:rPr>
              <a:t>hạn</a:t>
            </a:r>
            <a:r>
              <a:rPr lang="en-US" dirty="0">
                <a:solidFill>
                  <a:schemeClr val="bg2"/>
                </a:solidFill>
                <a:latin typeface="Bahnschrift"/>
              </a:rPr>
              <a:t>.</a:t>
            </a:r>
          </a:p>
          <a:p>
            <a:pPr marL="228600" indent="-228600" algn="just">
              <a:lnSpc>
                <a:spcPct val="150000"/>
              </a:lnSpc>
              <a:buFont typeface=""/>
              <a:buChar char="•"/>
            </a:pPr>
            <a:r>
              <a:rPr lang="en-US" dirty="0" err="1">
                <a:solidFill>
                  <a:schemeClr val="bg2"/>
                </a:solidFill>
                <a:latin typeface="Bahnschrift"/>
              </a:rPr>
              <a:t>Hiệu</a:t>
            </a:r>
            <a:r>
              <a:rPr lang="en-US" dirty="0">
                <a:solidFill>
                  <a:schemeClr val="bg2"/>
                </a:solidFill>
                <a:latin typeface="Bahnschrift"/>
              </a:rPr>
              <a:t> </a:t>
            </a:r>
            <a:r>
              <a:rPr lang="en-US" dirty="0" err="1">
                <a:solidFill>
                  <a:schemeClr val="bg2"/>
                </a:solidFill>
                <a:latin typeface="Bahnschrift"/>
              </a:rPr>
              <a:t>quả</a:t>
            </a:r>
            <a:r>
              <a:rPr lang="en-US" dirty="0">
                <a:solidFill>
                  <a:schemeClr val="bg2"/>
                </a:solidFill>
                <a:latin typeface="Bahnschrift"/>
              </a:rPr>
              <a:t> </a:t>
            </a:r>
            <a:r>
              <a:rPr lang="en-US" dirty="0" err="1">
                <a:solidFill>
                  <a:schemeClr val="bg2"/>
                </a:solidFill>
                <a:latin typeface="Bahnschrift"/>
              </a:rPr>
              <a:t>hơn</a:t>
            </a:r>
            <a:r>
              <a:rPr lang="en-US" dirty="0">
                <a:solidFill>
                  <a:schemeClr val="bg2"/>
                </a:solidFill>
                <a:latin typeface="Bahnschrift"/>
              </a:rPr>
              <a:t> </a:t>
            </a:r>
            <a:r>
              <a:rPr lang="en-US" dirty="0" err="1">
                <a:solidFill>
                  <a:schemeClr val="bg2"/>
                </a:solidFill>
                <a:latin typeface="Bahnschrift"/>
              </a:rPr>
              <a:t>trong</a:t>
            </a:r>
            <a:r>
              <a:rPr lang="en-US" dirty="0">
                <a:solidFill>
                  <a:schemeClr val="bg2"/>
                </a:solidFill>
                <a:latin typeface="Bahnschrift"/>
              </a:rPr>
              <a:t> </a:t>
            </a:r>
            <a:r>
              <a:rPr lang="en-US" dirty="0" err="1">
                <a:solidFill>
                  <a:schemeClr val="bg2"/>
                </a:solidFill>
                <a:latin typeface="Bahnschrift"/>
              </a:rPr>
              <a:t>bài</a:t>
            </a:r>
            <a:r>
              <a:rPr lang="en-US" dirty="0">
                <a:solidFill>
                  <a:schemeClr val="bg2"/>
                </a:solidFill>
                <a:latin typeface="Bahnschrift"/>
              </a:rPr>
              <a:t> </a:t>
            </a:r>
            <a:r>
              <a:rPr lang="en-US" dirty="0" err="1">
                <a:solidFill>
                  <a:schemeClr val="bg2"/>
                </a:solidFill>
                <a:latin typeface="Bahnschrift"/>
              </a:rPr>
              <a:t>toán</a:t>
            </a:r>
            <a:r>
              <a:rPr lang="en-US" dirty="0">
                <a:solidFill>
                  <a:schemeClr val="bg2"/>
                </a:solidFill>
                <a:latin typeface="Bahnschrift"/>
              </a:rPr>
              <a:t> </a:t>
            </a:r>
            <a:r>
              <a:rPr lang="en-US" dirty="0" err="1">
                <a:solidFill>
                  <a:schemeClr val="bg2"/>
                </a:solidFill>
                <a:latin typeface="Bahnschrift"/>
              </a:rPr>
              <a:t>dự</a:t>
            </a:r>
            <a:r>
              <a:rPr lang="en-US" dirty="0">
                <a:solidFill>
                  <a:schemeClr val="bg2"/>
                </a:solidFill>
                <a:latin typeface="Bahnschrift"/>
              </a:rPr>
              <a:t> </a:t>
            </a:r>
            <a:r>
              <a:rPr lang="en-US" dirty="0" err="1">
                <a:solidFill>
                  <a:schemeClr val="bg2"/>
                </a:solidFill>
                <a:latin typeface="Bahnschrift"/>
              </a:rPr>
              <a:t>đoán</a:t>
            </a:r>
            <a:r>
              <a:rPr lang="en-US" dirty="0">
                <a:solidFill>
                  <a:schemeClr val="bg2"/>
                </a:solidFill>
                <a:latin typeface="Bahnschrift"/>
              </a:rPr>
              <a:t> item </a:t>
            </a:r>
            <a:r>
              <a:rPr lang="en-US" dirty="0" err="1">
                <a:solidFill>
                  <a:schemeClr val="bg2"/>
                </a:solidFill>
                <a:latin typeface="Bahnschrift"/>
              </a:rPr>
              <a:t>tiếp</a:t>
            </a:r>
            <a:r>
              <a:rPr lang="en-US" dirty="0">
                <a:solidFill>
                  <a:schemeClr val="bg2"/>
                </a:solidFill>
                <a:latin typeface="Bahnschrift"/>
              </a:rPr>
              <a:t> </a:t>
            </a:r>
            <a:r>
              <a:rPr lang="en-US" dirty="0" err="1">
                <a:solidFill>
                  <a:schemeClr val="bg2"/>
                </a:solidFill>
                <a:latin typeface="Bahnschrift"/>
              </a:rPr>
              <a:t>theo.</a:t>
            </a:r>
            <a:endParaRPr lang="en-US" dirty="0">
              <a:solidFill>
                <a:schemeClr val="bg2"/>
              </a:solidFill>
              <a:latin typeface="Bahnschrift"/>
            </a:endParaRPr>
          </a:p>
          <a:p>
            <a:pPr marL="228600" indent="-228600" algn="just">
              <a:lnSpc>
                <a:spcPct val="150000"/>
              </a:lnSpc>
              <a:buFont typeface=""/>
              <a:buChar char="•"/>
            </a:pPr>
            <a:r>
              <a:rPr lang="en-US" dirty="0" err="1">
                <a:solidFill>
                  <a:schemeClr val="bg2"/>
                </a:solidFill>
                <a:latin typeface="Bahnschrift"/>
              </a:rPr>
              <a:t>SASRec</a:t>
            </a:r>
            <a:r>
              <a:rPr lang="en-US" dirty="0">
                <a:solidFill>
                  <a:schemeClr val="bg2"/>
                </a:solidFill>
                <a:latin typeface="Bahnschrift"/>
              </a:rPr>
              <a:t> </a:t>
            </a:r>
            <a:r>
              <a:rPr lang="en-US" dirty="0" err="1">
                <a:solidFill>
                  <a:schemeClr val="bg2"/>
                </a:solidFill>
                <a:latin typeface="Bahnschrift"/>
              </a:rPr>
              <a:t>khắc</a:t>
            </a:r>
            <a:r>
              <a:rPr lang="en-US" dirty="0">
                <a:solidFill>
                  <a:schemeClr val="bg2"/>
                </a:solidFill>
                <a:latin typeface="Bahnschrift"/>
              </a:rPr>
              <a:t> </a:t>
            </a:r>
            <a:r>
              <a:rPr lang="en-US" dirty="0" err="1">
                <a:solidFill>
                  <a:schemeClr val="bg2"/>
                </a:solidFill>
                <a:latin typeface="Bahnschrift"/>
              </a:rPr>
              <a:t>phục</a:t>
            </a:r>
            <a:r>
              <a:rPr lang="en-US" dirty="0">
                <a:solidFill>
                  <a:schemeClr val="bg2"/>
                </a:solidFill>
                <a:latin typeface="Bahnschrift"/>
              </a:rPr>
              <a:t> </a:t>
            </a:r>
            <a:r>
              <a:rPr lang="en-US" dirty="0" err="1">
                <a:solidFill>
                  <a:schemeClr val="bg2"/>
                </a:solidFill>
                <a:latin typeface="Bahnschrift"/>
              </a:rPr>
              <a:t>hạn</a:t>
            </a:r>
            <a:r>
              <a:rPr lang="en-US" dirty="0">
                <a:solidFill>
                  <a:schemeClr val="bg2"/>
                </a:solidFill>
                <a:latin typeface="Bahnschrift"/>
              </a:rPr>
              <a:t> </a:t>
            </a:r>
            <a:r>
              <a:rPr lang="en-US" dirty="0" err="1">
                <a:solidFill>
                  <a:schemeClr val="bg2"/>
                </a:solidFill>
                <a:latin typeface="Bahnschrift"/>
              </a:rPr>
              <a:t>chế</a:t>
            </a:r>
            <a:r>
              <a:rPr lang="en-US" dirty="0">
                <a:solidFill>
                  <a:schemeClr val="bg2"/>
                </a:solidFill>
                <a:latin typeface="Bahnschrift"/>
              </a:rPr>
              <a:t> </a:t>
            </a:r>
            <a:r>
              <a:rPr lang="en-US" dirty="0" err="1">
                <a:solidFill>
                  <a:schemeClr val="bg2"/>
                </a:solidFill>
                <a:latin typeface="Bahnschrift"/>
              </a:rPr>
              <a:t>của</a:t>
            </a:r>
            <a:r>
              <a:rPr lang="en-US" dirty="0">
                <a:solidFill>
                  <a:schemeClr val="bg2"/>
                </a:solidFill>
                <a:latin typeface="Bahnschrift"/>
              </a:rPr>
              <a:t> Collaborative Filtering </a:t>
            </a:r>
            <a:r>
              <a:rPr lang="en-US" dirty="0" err="1">
                <a:solidFill>
                  <a:schemeClr val="bg2"/>
                </a:solidFill>
                <a:latin typeface="Bahnschrift"/>
              </a:rPr>
              <a:t>truyền</a:t>
            </a:r>
            <a:r>
              <a:rPr lang="en-US" dirty="0">
                <a:solidFill>
                  <a:schemeClr val="bg2"/>
                </a:solidFill>
                <a:latin typeface="Bahnschrift"/>
              </a:rPr>
              <a:t> </a:t>
            </a:r>
            <a:r>
              <a:rPr lang="en-US" dirty="0" err="1">
                <a:solidFill>
                  <a:schemeClr val="bg2"/>
                </a:solidFill>
                <a:latin typeface="Bahnschrift"/>
              </a:rPr>
              <a:t>thống</a:t>
            </a:r>
            <a:endParaRPr lang="en-US" dirty="0">
              <a:solidFill>
                <a:schemeClr val="bg2"/>
              </a:solidFill>
              <a:latin typeface="Bahnschrift"/>
            </a:endParaRPr>
          </a:p>
          <a:p>
            <a:pPr marL="228600" indent="-228600" algn="just">
              <a:lnSpc>
                <a:spcPct val="150000"/>
              </a:lnSpc>
              <a:buFont typeface=""/>
              <a:buChar char="•"/>
            </a:pPr>
            <a:r>
              <a:rPr lang="en-US" dirty="0" err="1">
                <a:solidFill>
                  <a:schemeClr val="bg2"/>
                </a:solidFill>
                <a:latin typeface="Bahnschrift"/>
              </a:rPr>
              <a:t>Nắm</a:t>
            </a:r>
            <a:r>
              <a:rPr lang="en-US" dirty="0">
                <a:solidFill>
                  <a:schemeClr val="bg2"/>
                </a:solidFill>
                <a:latin typeface="Bahnschrift"/>
              </a:rPr>
              <a:t> </a:t>
            </a:r>
            <a:r>
              <a:rPr lang="en-US" dirty="0" err="1">
                <a:solidFill>
                  <a:schemeClr val="bg2"/>
                </a:solidFill>
                <a:latin typeface="Bahnschrift"/>
              </a:rPr>
              <a:t>bắt</a:t>
            </a:r>
            <a:r>
              <a:rPr lang="en-US" dirty="0">
                <a:solidFill>
                  <a:schemeClr val="bg2"/>
                </a:solidFill>
                <a:latin typeface="Bahnschrift"/>
              </a:rPr>
              <a:t> </a:t>
            </a:r>
            <a:r>
              <a:rPr lang="en-US" dirty="0" err="1">
                <a:solidFill>
                  <a:schemeClr val="bg2"/>
                </a:solidFill>
                <a:latin typeface="Bahnschrift"/>
              </a:rPr>
              <a:t>sự</a:t>
            </a:r>
            <a:r>
              <a:rPr lang="en-US" dirty="0">
                <a:solidFill>
                  <a:schemeClr val="bg2"/>
                </a:solidFill>
                <a:latin typeface="Bahnschrift"/>
              </a:rPr>
              <a:t> </a:t>
            </a:r>
            <a:r>
              <a:rPr lang="en-US" dirty="0" err="1">
                <a:solidFill>
                  <a:schemeClr val="bg2"/>
                </a:solidFill>
                <a:latin typeface="Bahnschrift"/>
              </a:rPr>
              <a:t>phụ</a:t>
            </a:r>
            <a:r>
              <a:rPr lang="en-US" dirty="0">
                <a:solidFill>
                  <a:schemeClr val="bg2"/>
                </a:solidFill>
                <a:latin typeface="Bahnschrift"/>
              </a:rPr>
              <a:t> </a:t>
            </a:r>
            <a:r>
              <a:rPr lang="en-US" dirty="0" err="1">
                <a:solidFill>
                  <a:schemeClr val="bg2"/>
                </a:solidFill>
                <a:latin typeface="Bahnschrift"/>
              </a:rPr>
              <a:t>thuộc</a:t>
            </a:r>
            <a:r>
              <a:rPr lang="en-US" dirty="0">
                <a:solidFill>
                  <a:schemeClr val="bg2"/>
                </a:solidFill>
                <a:latin typeface="Bahnschrift"/>
              </a:rPr>
              <a:t> </a:t>
            </a:r>
            <a:r>
              <a:rPr lang="en-US" dirty="0" err="1">
                <a:solidFill>
                  <a:schemeClr val="bg2"/>
                </a:solidFill>
                <a:latin typeface="Bahnschrift"/>
              </a:rPr>
              <a:t>dài</a:t>
            </a:r>
            <a:r>
              <a:rPr lang="en-US" dirty="0">
                <a:solidFill>
                  <a:schemeClr val="bg2"/>
                </a:solidFill>
                <a:latin typeface="Bahnschrift"/>
              </a:rPr>
              <a:t> </a:t>
            </a:r>
            <a:r>
              <a:rPr lang="en-US" dirty="0" err="1">
                <a:solidFill>
                  <a:schemeClr val="bg2"/>
                </a:solidFill>
                <a:latin typeface="Bahnschrift"/>
              </a:rPr>
              <a:t>hạn</a:t>
            </a:r>
            <a:r>
              <a:rPr lang="en-US" dirty="0">
                <a:solidFill>
                  <a:schemeClr val="bg2"/>
                </a:solidFill>
                <a:latin typeface="Bahnschrift"/>
              </a:rPr>
              <a:t> </a:t>
            </a:r>
            <a:r>
              <a:rPr lang="en-US" dirty="0" err="1">
                <a:solidFill>
                  <a:schemeClr val="bg2"/>
                </a:solidFill>
                <a:latin typeface="Bahnschrift"/>
              </a:rPr>
              <a:t>và</a:t>
            </a:r>
            <a:r>
              <a:rPr lang="en-US" dirty="0">
                <a:solidFill>
                  <a:schemeClr val="bg2"/>
                </a:solidFill>
                <a:latin typeface="Bahnschrift"/>
              </a:rPr>
              <a:t> </a:t>
            </a:r>
            <a:r>
              <a:rPr lang="en-US" dirty="0" err="1">
                <a:solidFill>
                  <a:schemeClr val="bg2"/>
                </a:solidFill>
                <a:latin typeface="Bahnschrift"/>
              </a:rPr>
              <a:t>mối</a:t>
            </a:r>
            <a:r>
              <a:rPr lang="en-US" dirty="0">
                <a:solidFill>
                  <a:schemeClr val="bg2"/>
                </a:solidFill>
                <a:latin typeface="Bahnschrift"/>
              </a:rPr>
              <a:t> </a:t>
            </a:r>
            <a:r>
              <a:rPr lang="en-US" dirty="0" err="1">
                <a:solidFill>
                  <a:schemeClr val="bg2"/>
                </a:solidFill>
                <a:latin typeface="Bahnschrift"/>
              </a:rPr>
              <a:t>quan</a:t>
            </a:r>
            <a:r>
              <a:rPr lang="en-US" dirty="0">
                <a:solidFill>
                  <a:schemeClr val="bg2"/>
                </a:solidFill>
                <a:latin typeface="Bahnschrift"/>
              </a:rPr>
              <a:t> </a:t>
            </a:r>
            <a:r>
              <a:rPr lang="en-US" dirty="0" err="1">
                <a:solidFill>
                  <a:schemeClr val="bg2"/>
                </a:solidFill>
                <a:latin typeface="Bahnschrift"/>
              </a:rPr>
              <a:t>hệ</a:t>
            </a:r>
            <a:r>
              <a:rPr lang="en-US" dirty="0">
                <a:solidFill>
                  <a:schemeClr val="bg2"/>
                </a:solidFill>
                <a:latin typeface="Bahnschrift"/>
              </a:rPr>
              <a:t> </a:t>
            </a:r>
            <a:r>
              <a:rPr lang="en-US" dirty="0" err="1">
                <a:solidFill>
                  <a:schemeClr val="bg2"/>
                </a:solidFill>
                <a:latin typeface="Bahnschrift"/>
              </a:rPr>
              <a:t>giữa</a:t>
            </a:r>
            <a:r>
              <a:rPr lang="en-US" dirty="0">
                <a:solidFill>
                  <a:schemeClr val="bg2"/>
                </a:solidFill>
                <a:latin typeface="Bahnschrift"/>
              </a:rPr>
              <a:t> </a:t>
            </a:r>
            <a:r>
              <a:rPr lang="en-US" dirty="0" err="1">
                <a:solidFill>
                  <a:schemeClr val="bg2"/>
                </a:solidFill>
                <a:latin typeface="Bahnschrift"/>
              </a:rPr>
              <a:t>mọi</a:t>
            </a:r>
            <a:r>
              <a:rPr lang="en-US" dirty="0">
                <a:solidFill>
                  <a:schemeClr val="bg2"/>
                </a:solidFill>
                <a:latin typeface="Bahnschrift"/>
              </a:rPr>
              <a:t> </a:t>
            </a:r>
            <a:r>
              <a:rPr lang="en-US" dirty="0" err="1">
                <a:solidFill>
                  <a:schemeClr val="bg2"/>
                </a:solidFill>
                <a:latin typeface="Bahnschrift"/>
              </a:rPr>
              <a:t>cặp</a:t>
            </a:r>
            <a:r>
              <a:rPr lang="en-US" dirty="0">
                <a:solidFill>
                  <a:schemeClr val="bg2"/>
                </a:solidFill>
                <a:latin typeface="Bahnschrift"/>
              </a:rPr>
              <a:t> item </a:t>
            </a:r>
            <a:r>
              <a:rPr lang="en-US" dirty="0" err="1">
                <a:solidFill>
                  <a:schemeClr val="bg2"/>
                </a:solidFill>
                <a:latin typeface="Bahnschrift"/>
              </a:rPr>
              <a:t>trong</a:t>
            </a:r>
            <a:r>
              <a:rPr lang="en-US" dirty="0">
                <a:solidFill>
                  <a:schemeClr val="bg2"/>
                </a:solidFill>
                <a:latin typeface="Bahnschrift"/>
              </a:rPr>
              <a:t> </a:t>
            </a:r>
            <a:r>
              <a:rPr lang="en-US" dirty="0" err="1">
                <a:solidFill>
                  <a:schemeClr val="bg2"/>
                </a:solidFill>
                <a:latin typeface="Bahnschrift"/>
              </a:rPr>
              <a:t>chuỗi</a:t>
            </a:r>
            <a:r>
              <a:rPr lang="en-US" dirty="0">
                <a:solidFill>
                  <a:schemeClr val="bg2"/>
                </a:solidFill>
                <a:latin typeface="Bahnschrift"/>
              </a:rPr>
              <a:t> </a:t>
            </a:r>
            <a:r>
              <a:rPr lang="en-US" dirty="0" err="1">
                <a:solidFill>
                  <a:schemeClr val="bg2"/>
                </a:solidFill>
                <a:latin typeface="Bahnschrift"/>
              </a:rPr>
              <a:t>lịch</a:t>
            </a:r>
            <a:r>
              <a:rPr lang="en-US" dirty="0">
                <a:solidFill>
                  <a:schemeClr val="bg2"/>
                </a:solidFill>
                <a:latin typeface="Bahnschrift"/>
              </a:rPr>
              <a:t> </a:t>
            </a:r>
            <a:r>
              <a:rPr lang="en-US" dirty="0" err="1">
                <a:solidFill>
                  <a:schemeClr val="bg2"/>
                </a:solidFill>
                <a:latin typeface="Bahnschrift"/>
              </a:rPr>
              <a:t>sử</a:t>
            </a:r>
            <a:endParaRPr lang="en-US" dirty="0">
              <a:solidFill>
                <a:schemeClr val="bg2"/>
              </a:solidFill>
              <a:latin typeface="Bahnschrift"/>
            </a:endParaRPr>
          </a:p>
          <a:p>
            <a:pPr marL="228600" indent="-228600" algn="just">
              <a:lnSpc>
                <a:spcPct val="150000"/>
              </a:lnSpc>
              <a:buFont typeface=""/>
              <a:buChar char="•"/>
            </a:pPr>
            <a:r>
              <a:rPr lang="en-US" dirty="0" err="1">
                <a:solidFill>
                  <a:schemeClr val="bg2"/>
                </a:solidFill>
                <a:latin typeface="Bahnschrift"/>
              </a:rPr>
              <a:t>mỗi</a:t>
            </a:r>
            <a:r>
              <a:rPr lang="en-US" dirty="0">
                <a:solidFill>
                  <a:schemeClr val="bg2"/>
                </a:solidFill>
                <a:latin typeface="Bahnschrift"/>
              </a:rPr>
              <a:t> </a:t>
            </a:r>
            <a:r>
              <a:rPr lang="en-US" dirty="0" err="1">
                <a:solidFill>
                  <a:schemeClr val="bg2"/>
                </a:solidFill>
                <a:latin typeface="Bahnschrift"/>
              </a:rPr>
              <a:t>chuỗi</a:t>
            </a:r>
            <a:r>
              <a:rPr lang="en-US" dirty="0">
                <a:solidFill>
                  <a:schemeClr val="bg2"/>
                </a:solidFill>
                <a:latin typeface="Bahnschrift"/>
              </a:rPr>
              <a:t> </a:t>
            </a:r>
            <a:r>
              <a:rPr lang="en-US" dirty="0" err="1">
                <a:solidFill>
                  <a:schemeClr val="bg2"/>
                </a:solidFill>
                <a:latin typeface="Bahnschrift"/>
              </a:rPr>
              <a:t>tương</a:t>
            </a:r>
            <a:r>
              <a:rPr lang="en-US" dirty="0">
                <a:solidFill>
                  <a:schemeClr val="bg2"/>
                </a:solidFill>
                <a:latin typeface="Bahnschrift"/>
              </a:rPr>
              <a:t> </a:t>
            </a:r>
            <a:r>
              <a:rPr lang="en-US" dirty="0" err="1">
                <a:solidFill>
                  <a:schemeClr val="bg2"/>
                </a:solidFill>
                <a:latin typeface="Bahnschrift"/>
              </a:rPr>
              <a:t>tác</a:t>
            </a:r>
            <a:r>
              <a:rPr lang="en-US" dirty="0">
                <a:solidFill>
                  <a:schemeClr val="bg2"/>
                </a:solidFill>
                <a:latin typeface="Bahnschrift"/>
              </a:rPr>
              <a:t> </a:t>
            </a:r>
            <a:r>
              <a:rPr lang="en-US" dirty="0" err="1">
                <a:solidFill>
                  <a:schemeClr val="bg2"/>
                </a:solidFill>
                <a:latin typeface="Bahnschrift"/>
              </a:rPr>
              <a:t>của</a:t>
            </a:r>
            <a:r>
              <a:rPr lang="en-US" dirty="0">
                <a:solidFill>
                  <a:schemeClr val="bg2"/>
                </a:solidFill>
                <a:latin typeface="Bahnschrift"/>
              </a:rPr>
              <a:t> </a:t>
            </a:r>
            <a:r>
              <a:rPr lang="en-US" dirty="0" err="1">
                <a:solidFill>
                  <a:schemeClr val="bg2"/>
                </a:solidFill>
                <a:latin typeface="Bahnschrift"/>
              </a:rPr>
              <a:t>người</a:t>
            </a:r>
            <a:r>
              <a:rPr lang="en-US" dirty="0">
                <a:solidFill>
                  <a:schemeClr val="bg2"/>
                </a:solidFill>
                <a:latin typeface="Bahnschrift"/>
              </a:rPr>
              <a:t> </a:t>
            </a:r>
            <a:r>
              <a:rPr lang="en-US" dirty="0" err="1">
                <a:solidFill>
                  <a:schemeClr val="bg2"/>
                </a:solidFill>
                <a:latin typeface="Bahnschrift"/>
              </a:rPr>
              <a:t>dùng</a:t>
            </a:r>
            <a:r>
              <a:rPr lang="en-US" dirty="0">
                <a:solidFill>
                  <a:schemeClr val="bg2"/>
                </a:solidFill>
                <a:latin typeface="Bahnschrift"/>
              </a:rPr>
              <a:t> </a:t>
            </a:r>
            <a:r>
              <a:rPr lang="en-US" dirty="0" err="1">
                <a:solidFill>
                  <a:schemeClr val="bg2"/>
                </a:solidFill>
                <a:latin typeface="Bahnschrift"/>
              </a:rPr>
              <a:t>được</a:t>
            </a:r>
            <a:r>
              <a:rPr lang="en-US" dirty="0">
                <a:solidFill>
                  <a:schemeClr val="bg2"/>
                </a:solidFill>
                <a:latin typeface="Bahnschrift"/>
              </a:rPr>
              <a:t> </a:t>
            </a:r>
            <a:r>
              <a:rPr lang="en-US" dirty="0" err="1">
                <a:solidFill>
                  <a:schemeClr val="bg2"/>
                </a:solidFill>
                <a:latin typeface="Bahnschrift"/>
              </a:rPr>
              <a:t>biểu</a:t>
            </a:r>
            <a:r>
              <a:rPr lang="en-US" dirty="0">
                <a:solidFill>
                  <a:schemeClr val="bg2"/>
                </a:solidFill>
                <a:latin typeface="Bahnschrift"/>
              </a:rPr>
              <a:t> </a:t>
            </a:r>
            <a:r>
              <a:rPr lang="en-US" dirty="0" err="1">
                <a:solidFill>
                  <a:schemeClr val="bg2"/>
                </a:solidFill>
                <a:latin typeface="Bahnschrift"/>
              </a:rPr>
              <a:t>diễn</a:t>
            </a:r>
            <a:r>
              <a:rPr lang="en-US" dirty="0">
                <a:solidFill>
                  <a:schemeClr val="bg2"/>
                </a:solidFill>
                <a:latin typeface="Bahnschrift"/>
              </a:rPr>
              <a:t> </a:t>
            </a:r>
            <a:r>
              <a:rPr lang="en-US" dirty="0" err="1">
                <a:solidFill>
                  <a:schemeClr val="bg2"/>
                </a:solidFill>
                <a:latin typeface="Bahnschrift"/>
              </a:rPr>
              <a:t>dưới</a:t>
            </a:r>
            <a:r>
              <a:rPr lang="en-US" dirty="0">
                <a:solidFill>
                  <a:schemeClr val="bg2"/>
                </a:solidFill>
                <a:latin typeface="Bahnschrift"/>
              </a:rPr>
              <a:t> </a:t>
            </a:r>
            <a:r>
              <a:rPr lang="en-US" dirty="0" err="1">
                <a:solidFill>
                  <a:schemeClr val="bg2"/>
                </a:solidFill>
                <a:latin typeface="Bahnschrift"/>
              </a:rPr>
              <a:t>dạng</a:t>
            </a:r>
            <a:r>
              <a:rPr lang="en-US" dirty="0">
                <a:solidFill>
                  <a:schemeClr val="bg2"/>
                </a:solidFill>
                <a:latin typeface="Bahnschrift"/>
              </a:rPr>
              <a:t> </a:t>
            </a:r>
            <a:r>
              <a:rPr lang="en-US" dirty="0" err="1">
                <a:solidFill>
                  <a:schemeClr val="bg2"/>
                </a:solidFill>
                <a:latin typeface="Bahnschrift"/>
              </a:rPr>
              <a:t>các</a:t>
            </a:r>
            <a:r>
              <a:rPr lang="en-US" dirty="0">
                <a:solidFill>
                  <a:schemeClr val="bg2"/>
                </a:solidFill>
                <a:latin typeface="Bahnschrift"/>
              </a:rPr>
              <a:t> </a:t>
            </a:r>
            <a:r>
              <a:rPr lang="en-US" b="1" dirty="0">
                <a:solidFill>
                  <a:schemeClr val="bg2"/>
                </a:solidFill>
                <a:latin typeface="Bahnschrift"/>
              </a:rPr>
              <a:t>item embeddings</a:t>
            </a:r>
            <a:r>
              <a:rPr lang="en-US" dirty="0">
                <a:solidFill>
                  <a:schemeClr val="bg2"/>
                </a:solidFill>
                <a:latin typeface="Bahnschrift"/>
              </a:rPr>
              <a:t>, </a:t>
            </a:r>
            <a:r>
              <a:rPr lang="en-US" dirty="0" err="1">
                <a:solidFill>
                  <a:schemeClr val="bg2"/>
                </a:solidFill>
                <a:latin typeface="Bahnschrift"/>
              </a:rPr>
              <a:t>kết</a:t>
            </a:r>
            <a:r>
              <a:rPr lang="en-US" dirty="0">
                <a:solidFill>
                  <a:schemeClr val="bg2"/>
                </a:solidFill>
                <a:latin typeface="Bahnschrift"/>
              </a:rPr>
              <a:t> </a:t>
            </a:r>
            <a:r>
              <a:rPr lang="en-US" dirty="0" err="1">
                <a:solidFill>
                  <a:schemeClr val="bg2"/>
                </a:solidFill>
                <a:latin typeface="Bahnschrift"/>
              </a:rPr>
              <a:t>hợp</a:t>
            </a:r>
            <a:r>
              <a:rPr lang="en-US" dirty="0">
                <a:solidFill>
                  <a:schemeClr val="bg2"/>
                </a:solidFill>
                <a:latin typeface="Bahnschrift"/>
              </a:rPr>
              <a:t> </a:t>
            </a:r>
            <a:r>
              <a:rPr lang="en-US" dirty="0" err="1">
                <a:solidFill>
                  <a:schemeClr val="bg2"/>
                </a:solidFill>
                <a:latin typeface="Bahnschrift"/>
              </a:rPr>
              <a:t>với</a:t>
            </a:r>
            <a:r>
              <a:rPr lang="en-US" dirty="0">
                <a:solidFill>
                  <a:schemeClr val="bg2"/>
                </a:solidFill>
                <a:latin typeface="Bahnschrift"/>
              </a:rPr>
              <a:t> </a:t>
            </a:r>
            <a:r>
              <a:rPr lang="en-US" b="1" dirty="0">
                <a:solidFill>
                  <a:schemeClr val="bg2"/>
                </a:solidFill>
                <a:latin typeface="Bahnschrift"/>
              </a:rPr>
              <a:t>positional embeddings </a:t>
            </a:r>
            <a:r>
              <a:rPr lang="en-US" dirty="0" err="1">
                <a:solidFill>
                  <a:schemeClr val="bg2"/>
                </a:solidFill>
                <a:latin typeface="Bahnschrift"/>
              </a:rPr>
              <a:t>để</a:t>
            </a:r>
            <a:r>
              <a:rPr lang="en-US" dirty="0">
                <a:solidFill>
                  <a:schemeClr val="bg2"/>
                </a:solidFill>
                <a:latin typeface="Bahnschrift"/>
              </a:rPr>
              <a:t> </a:t>
            </a:r>
            <a:r>
              <a:rPr lang="en-US" dirty="0" err="1">
                <a:solidFill>
                  <a:schemeClr val="bg2"/>
                </a:solidFill>
                <a:latin typeface="Bahnschrift"/>
              </a:rPr>
              <a:t>cung</a:t>
            </a:r>
            <a:r>
              <a:rPr lang="en-US" dirty="0">
                <a:solidFill>
                  <a:schemeClr val="bg2"/>
                </a:solidFill>
                <a:latin typeface="Bahnschrift"/>
              </a:rPr>
              <a:t> </a:t>
            </a:r>
            <a:r>
              <a:rPr lang="en-US" dirty="0" err="1">
                <a:solidFill>
                  <a:schemeClr val="bg2"/>
                </a:solidFill>
                <a:latin typeface="Bahnschrift"/>
              </a:rPr>
              <a:t>cấp</a:t>
            </a:r>
            <a:r>
              <a:rPr lang="en-US" dirty="0">
                <a:solidFill>
                  <a:schemeClr val="bg2"/>
                </a:solidFill>
                <a:latin typeface="Bahnschrift"/>
              </a:rPr>
              <a:t> </a:t>
            </a:r>
            <a:r>
              <a:rPr lang="en-US" dirty="0" err="1">
                <a:solidFill>
                  <a:schemeClr val="bg2"/>
                </a:solidFill>
                <a:latin typeface="Bahnschrift"/>
              </a:rPr>
              <a:t>thông</a:t>
            </a:r>
            <a:r>
              <a:rPr lang="en-US" dirty="0">
                <a:solidFill>
                  <a:schemeClr val="bg2"/>
                </a:solidFill>
                <a:latin typeface="Bahnschrift"/>
              </a:rPr>
              <a:t> tin </a:t>
            </a:r>
            <a:r>
              <a:rPr lang="en-US" dirty="0" err="1">
                <a:solidFill>
                  <a:schemeClr val="bg2"/>
                </a:solidFill>
                <a:latin typeface="Bahnschrift"/>
              </a:rPr>
              <a:t>thứ</a:t>
            </a:r>
            <a:r>
              <a:rPr lang="en-US" dirty="0">
                <a:solidFill>
                  <a:schemeClr val="bg2"/>
                </a:solidFill>
                <a:latin typeface="Bahnschrift"/>
              </a:rPr>
              <a:t> </a:t>
            </a:r>
            <a:r>
              <a:rPr lang="en-US" dirty="0" err="1">
                <a:solidFill>
                  <a:schemeClr val="bg2"/>
                </a:solidFill>
                <a:latin typeface="Bahnschrift"/>
              </a:rPr>
              <a:t>tự</a:t>
            </a:r>
            <a:endParaRPr lang="en-US" dirty="0">
              <a:solidFill>
                <a:schemeClr val="bg2"/>
              </a:solidFill>
              <a:latin typeface="Bahnschrift"/>
            </a:endParaRPr>
          </a:p>
        </p:txBody>
      </p:sp>
      <p:pic>
        <p:nvPicPr>
          <p:cNvPr id="2" name="Picture 1" descr="A blue and yellow logo&#10;&#10;AI-generated content may be incorrect.">
            <a:extLst>
              <a:ext uri="{FF2B5EF4-FFF2-40B4-BE49-F238E27FC236}">
                <a16:creationId xmlns:a16="http://schemas.microsoft.com/office/drawing/2014/main" id="{0EDD3B1C-409A-15F1-C055-A8FFD6FB93B0}"/>
              </a:ext>
            </a:extLst>
          </p:cNvPr>
          <p:cNvPicPr>
            <a:picLocks noChangeAspect="1"/>
          </p:cNvPicPr>
          <p:nvPr/>
        </p:nvPicPr>
        <p:blipFill>
          <a:blip r:embed="rId4"/>
          <a:stretch>
            <a:fillRect/>
          </a:stretch>
        </p:blipFill>
        <p:spPr>
          <a:xfrm>
            <a:off x="137160" y="114312"/>
            <a:ext cx="444137" cy="492242"/>
          </a:xfrm>
          <a:prstGeom prst="rect">
            <a:avLst/>
          </a:prstGeom>
        </p:spPr>
      </p:pic>
    </p:spTree>
    <p:extLst>
      <p:ext uri="{BB962C8B-B14F-4D97-AF65-F5344CB8AC3E}">
        <p14:creationId xmlns:p14="http://schemas.microsoft.com/office/powerpoint/2010/main" val="4193237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0623173C-A771-A096-3C70-9035119B918F}"/>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A3F6FB85-A3CB-7854-2AB8-743963CB6FD4}"/>
              </a:ext>
            </a:extLst>
          </p:cNvPr>
          <p:cNvSpPr txBox="1">
            <a:spLocks noGrp="1"/>
          </p:cNvSpPr>
          <p:nvPr>
            <p:ph type="title"/>
          </p:nvPr>
        </p:nvSpPr>
        <p:spPr>
          <a:xfrm>
            <a:off x="807923" y="-1917"/>
            <a:ext cx="7704000" cy="572700"/>
          </a:xfrm>
          <a:prstGeom prst="rect">
            <a:avLst/>
          </a:prstGeom>
        </p:spPr>
        <p:txBody>
          <a:bodyPr spcFirstLastPara="1" wrap="square" lIns="91425" tIns="91425" rIns="91425" bIns="91425" anchor="t" anchorCtr="0">
            <a:noAutofit/>
          </a:bodyPr>
          <a:lstStyle/>
          <a:p>
            <a:r>
              <a:rPr lang="en" err="1"/>
              <a:t>Kết</a:t>
            </a:r>
            <a:r>
              <a:rPr lang="en"/>
              <a:t> </a:t>
            </a:r>
            <a:r>
              <a:rPr lang="en" err="1"/>
              <a:t>quả</a:t>
            </a:r>
            <a:endParaRPr lang="en-US" err="1"/>
          </a:p>
        </p:txBody>
      </p:sp>
      <p:sp>
        <p:nvSpPr>
          <p:cNvPr id="2" name="TextBox 1">
            <a:extLst>
              <a:ext uri="{FF2B5EF4-FFF2-40B4-BE49-F238E27FC236}">
                <a16:creationId xmlns:a16="http://schemas.microsoft.com/office/drawing/2014/main" id="{6A31FBFD-4C27-B9BF-9D9B-B60A858639ED}"/>
              </a:ext>
            </a:extLst>
          </p:cNvPr>
          <p:cNvSpPr txBox="1"/>
          <p:nvPr/>
        </p:nvSpPr>
        <p:spPr>
          <a:xfrm>
            <a:off x="672353" y="747346"/>
            <a:ext cx="7984191"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solidFill>
                  <a:schemeClr val="bg2"/>
                </a:solidFill>
                <a:latin typeface="Bahnschrift"/>
              </a:rPr>
              <a:t>1. Rating Prediction</a:t>
            </a:r>
            <a:endParaRPr lang="en-US" dirty="0">
              <a:solidFill>
                <a:schemeClr val="bg2"/>
              </a:solidFill>
              <a:latin typeface="Bahnschrift"/>
            </a:endParaRPr>
          </a:p>
          <a:p>
            <a:pPr marL="285750" indent="-285750">
              <a:buChar char="•"/>
            </a:pPr>
            <a:r>
              <a:rPr lang="en-US" b="1" dirty="0">
                <a:solidFill>
                  <a:schemeClr val="bg2"/>
                </a:solidFill>
                <a:latin typeface="Bahnschrift"/>
                <a:ea typeface="Segoe WPC"/>
              </a:rPr>
              <a:t>Item-based CF (Pearson)</a:t>
            </a:r>
            <a:r>
              <a:rPr lang="en-US" dirty="0">
                <a:solidFill>
                  <a:schemeClr val="bg2"/>
                </a:solidFill>
                <a:latin typeface="Bahnschrift"/>
                <a:ea typeface="Segoe WPC"/>
              </a:rPr>
              <a:t> </a:t>
            </a:r>
            <a:r>
              <a:rPr lang="en-US" dirty="0" err="1">
                <a:solidFill>
                  <a:schemeClr val="bg2"/>
                </a:solidFill>
                <a:latin typeface="Bahnschrift"/>
                <a:ea typeface="Segoe WPC"/>
              </a:rPr>
              <a:t>cho</a:t>
            </a:r>
            <a:r>
              <a:rPr lang="en-US" dirty="0">
                <a:solidFill>
                  <a:schemeClr val="bg2"/>
                </a:solidFill>
                <a:latin typeface="Bahnschrift"/>
                <a:ea typeface="Segoe WPC"/>
              </a:rPr>
              <a:t> </a:t>
            </a:r>
            <a:r>
              <a:rPr lang="en-US" dirty="0" err="1">
                <a:solidFill>
                  <a:schemeClr val="bg2"/>
                </a:solidFill>
                <a:latin typeface="Bahnschrift"/>
                <a:ea typeface="Segoe WPC"/>
              </a:rPr>
              <a:t>hiệu</a:t>
            </a:r>
            <a:r>
              <a:rPr lang="en-US" dirty="0">
                <a:solidFill>
                  <a:schemeClr val="bg2"/>
                </a:solidFill>
                <a:latin typeface="Bahnschrift"/>
                <a:ea typeface="Segoe WPC"/>
              </a:rPr>
              <a:t> </a:t>
            </a:r>
            <a:r>
              <a:rPr lang="en-US" dirty="0" err="1">
                <a:solidFill>
                  <a:schemeClr val="bg2"/>
                </a:solidFill>
                <a:latin typeface="Bahnschrift"/>
                <a:ea typeface="Segoe WPC"/>
              </a:rPr>
              <a:t>quả</a:t>
            </a:r>
            <a:r>
              <a:rPr lang="en-US" dirty="0">
                <a:solidFill>
                  <a:schemeClr val="bg2"/>
                </a:solidFill>
                <a:latin typeface="Bahnschrift"/>
                <a:ea typeface="Segoe WPC"/>
              </a:rPr>
              <a:t> </a:t>
            </a:r>
            <a:r>
              <a:rPr lang="en-US" dirty="0" err="1">
                <a:solidFill>
                  <a:schemeClr val="bg2"/>
                </a:solidFill>
                <a:latin typeface="Bahnschrift"/>
                <a:ea typeface="Segoe WPC"/>
              </a:rPr>
              <a:t>tốt</a:t>
            </a:r>
            <a:r>
              <a:rPr lang="en-US" dirty="0">
                <a:solidFill>
                  <a:schemeClr val="bg2"/>
                </a:solidFill>
                <a:latin typeface="Bahnschrift"/>
                <a:ea typeface="Segoe WPC"/>
              </a:rPr>
              <a:t> </a:t>
            </a:r>
            <a:r>
              <a:rPr lang="en-US" dirty="0" err="1">
                <a:solidFill>
                  <a:schemeClr val="bg2"/>
                </a:solidFill>
                <a:latin typeface="Bahnschrift"/>
                <a:ea typeface="Segoe WPC"/>
              </a:rPr>
              <a:t>nhất</a:t>
            </a:r>
            <a:r>
              <a:rPr lang="en-US" dirty="0">
                <a:solidFill>
                  <a:schemeClr val="bg2"/>
                </a:solidFill>
                <a:latin typeface="Bahnschrift"/>
                <a:ea typeface="Segoe WPC"/>
              </a:rPr>
              <a:t>→ </a:t>
            </a:r>
            <a:r>
              <a:rPr lang="en-US" b="1" dirty="0">
                <a:solidFill>
                  <a:schemeClr val="bg2"/>
                </a:solidFill>
                <a:latin typeface="Bahnschrift"/>
                <a:ea typeface="Segoe WPC"/>
              </a:rPr>
              <a:t>MAE = 0.8633</a:t>
            </a:r>
            <a:r>
              <a:rPr lang="en-US" dirty="0">
                <a:solidFill>
                  <a:schemeClr val="bg2"/>
                </a:solidFill>
                <a:latin typeface="Bahnschrift"/>
                <a:ea typeface="Segoe WPC"/>
              </a:rPr>
              <a:t>, </a:t>
            </a:r>
            <a:r>
              <a:rPr lang="en-US" b="1" dirty="0">
                <a:solidFill>
                  <a:schemeClr val="bg2"/>
                </a:solidFill>
                <a:latin typeface="Bahnschrift"/>
                <a:ea typeface="Segoe WPC"/>
              </a:rPr>
              <a:t>RMSE = 1.0941</a:t>
            </a:r>
            <a:endParaRPr lang="en-US" dirty="0">
              <a:solidFill>
                <a:schemeClr val="bg2"/>
              </a:solidFill>
              <a:latin typeface="Bahnschrift"/>
            </a:endParaRPr>
          </a:p>
          <a:p>
            <a:pPr marL="285750" indent="-285750" algn="just">
              <a:buChar char="•"/>
            </a:pPr>
            <a:r>
              <a:rPr lang="en-US" dirty="0">
                <a:solidFill>
                  <a:schemeClr val="bg2"/>
                </a:solidFill>
                <a:latin typeface="Bahnschrift"/>
                <a:ea typeface="Segoe WPC"/>
              </a:rPr>
              <a:t>Pearson similarity </a:t>
            </a:r>
            <a:r>
              <a:rPr lang="en-US" dirty="0" err="1">
                <a:solidFill>
                  <a:schemeClr val="bg2"/>
                </a:solidFill>
                <a:latin typeface="Bahnschrift"/>
                <a:ea typeface="Segoe WPC"/>
              </a:rPr>
              <a:t>vượt</a:t>
            </a:r>
            <a:r>
              <a:rPr lang="en-US" dirty="0">
                <a:solidFill>
                  <a:schemeClr val="bg2"/>
                </a:solidFill>
                <a:latin typeface="Bahnschrift"/>
                <a:ea typeface="Segoe WPC"/>
              </a:rPr>
              <a:t> </a:t>
            </a:r>
            <a:r>
              <a:rPr lang="en-US" dirty="0" err="1">
                <a:solidFill>
                  <a:schemeClr val="bg2"/>
                </a:solidFill>
                <a:latin typeface="Bahnschrift"/>
                <a:ea typeface="Segoe WPC"/>
              </a:rPr>
              <a:t>trội</a:t>
            </a:r>
            <a:r>
              <a:rPr lang="en-US" dirty="0">
                <a:solidFill>
                  <a:schemeClr val="bg2"/>
                </a:solidFill>
                <a:latin typeface="Bahnschrift"/>
                <a:ea typeface="Segoe WPC"/>
              </a:rPr>
              <a:t> </a:t>
            </a:r>
            <a:r>
              <a:rPr lang="en-US" dirty="0" err="1">
                <a:solidFill>
                  <a:schemeClr val="bg2"/>
                </a:solidFill>
                <a:latin typeface="Bahnschrift"/>
                <a:ea typeface="Segoe WPC"/>
              </a:rPr>
              <a:t>hơn</a:t>
            </a:r>
            <a:r>
              <a:rPr lang="en-US" dirty="0">
                <a:solidFill>
                  <a:schemeClr val="bg2"/>
                </a:solidFill>
                <a:latin typeface="Bahnschrift"/>
                <a:ea typeface="Segoe WPC"/>
              </a:rPr>
              <a:t> Cosine do </a:t>
            </a:r>
            <a:r>
              <a:rPr lang="en-US" dirty="0" err="1">
                <a:solidFill>
                  <a:schemeClr val="bg2"/>
                </a:solidFill>
                <a:latin typeface="Bahnschrift"/>
                <a:ea typeface="Segoe WPC"/>
              </a:rPr>
              <a:t>dữ</a:t>
            </a:r>
            <a:r>
              <a:rPr lang="en-US" dirty="0">
                <a:solidFill>
                  <a:schemeClr val="bg2"/>
                </a:solidFill>
                <a:latin typeface="Bahnschrift"/>
                <a:ea typeface="Segoe WPC"/>
              </a:rPr>
              <a:t> </a:t>
            </a:r>
            <a:r>
              <a:rPr lang="en-US" dirty="0" err="1">
                <a:solidFill>
                  <a:schemeClr val="bg2"/>
                </a:solidFill>
                <a:latin typeface="Bahnschrift"/>
                <a:ea typeface="Segoe WPC"/>
              </a:rPr>
              <a:t>liệu</a:t>
            </a:r>
            <a:r>
              <a:rPr lang="en-US" dirty="0">
                <a:solidFill>
                  <a:schemeClr val="bg2"/>
                </a:solidFill>
                <a:latin typeface="Bahnschrift"/>
                <a:ea typeface="Segoe WPC"/>
              </a:rPr>
              <a:t> </a:t>
            </a:r>
            <a:r>
              <a:rPr lang="en-US" dirty="0" err="1">
                <a:solidFill>
                  <a:schemeClr val="bg2"/>
                </a:solidFill>
                <a:latin typeface="Bahnschrift"/>
                <a:ea typeface="Segoe WPC"/>
              </a:rPr>
              <a:t>có</a:t>
            </a:r>
            <a:r>
              <a:rPr lang="en-US" dirty="0">
                <a:solidFill>
                  <a:schemeClr val="bg2"/>
                </a:solidFill>
                <a:latin typeface="Bahnschrift"/>
                <a:ea typeface="Segoe WPC"/>
              </a:rPr>
              <a:t> thang </a:t>
            </a:r>
            <a:r>
              <a:rPr lang="en-US" dirty="0" err="1">
                <a:solidFill>
                  <a:schemeClr val="bg2"/>
                </a:solidFill>
                <a:latin typeface="Bahnschrift"/>
                <a:ea typeface="Segoe WPC"/>
              </a:rPr>
              <a:t>đo</a:t>
            </a:r>
            <a:r>
              <a:rPr lang="en-US" dirty="0">
                <a:solidFill>
                  <a:schemeClr val="bg2"/>
                </a:solidFill>
                <a:latin typeface="Bahnschrift"/>
                <a:ea typeface="Segoe WPC"/>
              </a:rPr>
              <a:t> </a:t>
            </a:r>
            <a:r>
              <a:rPr lang="en-US" dirty="0" err="1">
                <a:solidFill>
                  <a:schemeClr val="bg2"/>
                </a:solidFill>
                <a:latin typeface="Bahnschrift"/>
                <a:ea typeface="Segoe WPC"/>
              </a:rPr>
              <a:t>tuyến</a:t>
            </a:r>
            <a:r>
              <a:rPr lang="en-US" dirty="0">
                <a:solidFill>
                  <a:schemeClr val="bg2"/>
                </a:solidFill>
                <a:latin typeface="Bahnschrift"/>
                <a:ea typeface="Segoe WPC"/>
              </a:rPr>
              <a:t> </a:t>
            </a:r>
            <a:r>
              <a:rPr lang="en-US" dirty="0" err="1">
                <a:solidFill>
                  <a:schemeClr val="bg2"/>
                </a:solidFill>
                <a:latin typeface="Bahnschrift"/>
                <a:ea typeface="Segoe WPC"/>
              </a:rPr>
              <a:t>tính</a:t>
            </a:r>
            <a:r>
              <a:rPr lang="en-US" dirty="0">
                <a:solidFill>
                  <a:schemeClr val="bg2"/>
                </a:solidFill>
                <a:latin typeface="Bahnschrift"/>
                <a:ea typeface="Segoe WPC"/>
              </a:rPr>
              <a:t>.</a:t>
            </a:r>
            <a:endParaRPr lang="en-US" dirty="0">
              <a:solidFill>
                <a:schemeClr val="bg2"/>
              </a:solidFill>
              <a:latin typeface="Bahnschrift"/>
            </a:endParaRPr>
          </a:p>
          <a:p>
            <a:pPr marL="285750" indent="-285750" algn="just">
              <a:buChar char="•"/>
            </a:pPr>
            <a:r>
              <a:rPr lang="en-US" dirty="0">
                <a:solidFill>
                  <a:schemeClr val="bg2"/>
                </a:solidFill>
                <a:latin typeface="Bahnschrift"/>
                <a:ea typeface="Segoe WPC"/>
              </a:rPr>
              <a:t>MF </a:t>
            </a:r>
            <a:r>
              <a:rPr lang="en-US" dirty="0" err="1">
                <a:solidFill>
                  <a:schemeClr val="bg2"/>
                </a:solidFill>
                <a:latin typeface="Bahnschrift"/>
                <a:ea typeface="Segoe WPC"/>
              </a:rPr>
              <a:t>cho</a:t>
            </a:r>
            <a:r>
              <a:rPr lang="en-US" dirty="0">
                <a:solidFill>
                  <a:schemeClr val="bg2"/>
                </a:solidFill>
                <a:latin typeface="Bahnschrift"/>
                <a:ea typeface="Segoe WPC"/>
              </a:rPr>
              <a:t> </a:t>
            </a:r>
            <a:r>
              <a:rPr lang="en-US" dirty="0" err="1">
                <a:solidFill>
                  <a:schemeClr val="bg2"/>
                </a:solidFill>
                <a:latin typeface="Bahnschrift"/>
                <a:ea typeface="Segoe WPC"/>
              </a:rPr>
              <a:t>kết</a:t>
            </a:r>
            <a:r>
              <a:rPr lang="en-US" dirty="0">
                <a:solidFill>
                  <a:schemeClr val="bg2"/>
                </a:solidFill>
                <a:latin typeface="Bahnschrift"/>
                <a:ea typeface="Segoe WPC"/>
              </a:rPr>
              <a:t> </a:t>
            </a:r>
            <a:r>
              <a:rPr lang="en-US" dirty="0" err="1">
                <a:solidFill>
                  <a:schemeClr val="bg2"/>
                </a:solidFill>
                <a:latin typeface="Bahnschrift"/>
                <a:ea typeface="Segoe WPC"/>
              </a:rPr>
              <a:t>quả</a:t>
            </a:r>
            <a:r>
              <a:rPr lang="en-US" dirty="0">
                <a:solidFill>
                  <a:schemeClr val="bg2"/>
                </a:solidFill>
                <a:latin typeface="Bahnschrift"/>
                <a:ea typeface="Segoe WPC"/>
              </a:rPr>
              <a:t> </a:t>
            </a:r>
            <a:r>
              <a:rPr lang="en-US" dirty="0" err="1">
                <a:solidFill>
                  <a:schemeClr val="bg2"/>
                </a:solidFill>
                <a:latin typeface="Bahnschrift"/>
                <a:ea typeface="Segoe WPC"/>
              </a:rPr>
              <a:t>ổn</a:t>
            </a:r>
            <a:r>
              <a:rPr lang="en-US" dirty="0">
                <a:solidFill>
                  <a:schemeClr val="bg2"/>
                </a:solidFill>
                <a:latin typeface="Bahnschrift"/>
                <a:ea typeface="Segoe WPC"/>
              </a:rPr>
              <a:t> </a:t>
            </a:r>
            <a:r>
              <a:rPr lang="en-US" dirty="0" err="1">
                <a:solidFill>
                  <a:schemeClr val="bg2"/>
                </a:solidFill>
                <a:latin typeface="Bahnschrift"/>
                <a:ea typeface="Segoe WPC"/>
              </a:rPr>
              <a:t>định</a:t>
            </a:r>
            <a:r>
              <a:rPr lang="en-US" dirty="0">
                <a:solidFill>
                  <a:schemeClr val="bg2"/>
                </a:solidFill>
                <a:latin typeface="Bahnschrift"/>
                <a:ea typeface="Segoe WPC"/>
              </a:rPr>
              <a:t> (MAE = 0.8790) </a:t>
            </a:r>
            <a:r>
              <a:rPr lang="en-US" dirty="0" err="1">
                <a:solidFill>
                  <a:schemeClr val="bg2"/>
                </a:solidFill>
                <a:latin typeface="Bahnschrift"/>
                <a:ea typeface="Segoe WPC"/>
              </a:rPr>
              <a:t>nhưng</a:t>
            </a:r>
            <a:r>
              <a:rPr lang="en-US" dirty="0">
                <a:solidFill>
                  <a:schemeClr val="bg2"/>
                </a:solidFill>
                <a:latin typeface="Bahnschrift"/>
                <a:ea typeface="Segoe WPC"/>
              </a:rPr>
              <a:t> </a:t>
            </a:r>
            <a:r>
              <a:rPr lang="en-US" b="1" dirty="0" err="1">
                <a:solidFill>
                  <a:schemeClr val="bg2"/>
                </a:solidFill>
                <a:latin typeface="Bahnschrift"/>
                <a:ea typeface="Segoe WPC"/>
              </a:rPr>
              <a:t>kém</a:t>
            </a:r>
            <a:r>
              <a:rPr lang="en-US" b="1" dirty="0">
                <a:solidFill>
                  <a:schemeClr val="bg2"/>
                </a:solidFill>
                <a:latin typeface="Bahnschrift"/>
                <a:ea typeface="Segoe WPC"/>
              </a:rPr>
              <a:t> </a:t>
            </a:r>
            <a:r>
              <a:rPr lang="en-US" b="1" dirty="0" err="1">
                <a:solidFill>
                  <a:schemeClr val="bg2"/>
                </a:solidFill>
                <a:latin typeface="Bahnschrift"/>
                <a:ea typeface="Segoe WPC"/>
              </a:rPr>
              <a:t>hơn</a:t>
            </a:r>
            <a:r>
              <a:rPr lang="en-US" b="1" dirty="0">
                <a:solidFill>
                  <a:schemeClr val="bg2"/>
                </a:solidFill>
                <a:latin typeface="Bahnschrift"/>
                <a:ea typeface="Segoe WPC"/>
              </a:rPr>
              <a:t> Item-based CF</a:t>
            </a:r>
            <a:r>
              <a:rPr lang="en-US" dirty="0">
                <a:solidFill>
                  <a:schemeClr val="bg2"/>
                </a:solidFill>
                <a:latin typeface="Bahnschrift"/>
                <a:ea typeface="Segoe WPC"/>
              </a:rPr>
              <a:t> </a:t>
            </a:r>
            <a:r>
              <a:rPr lang="en-US" dirty="0" err="1">
                <a:solidFill>
                  <a:schemeClr val="bg2"/>
                </a:solidFill>
                <a:latin typeface="Bahnschrift"/>
                <a:ea typeface="Segoe WPC"/>
              </a:rPr>
              <a:t>vì</a:t>
            </a:r>
            <a:r>
              <a:rPr lang="en-US" dirty="0">
                <a:solidFill>
                  <a:schemeClr val="bg2"/>
                </a:solidFill>
                <a:latin typeface="Bahnschrift"/>
                <a:ea typeface="Segoe WPC"/>
              </a:rPr>
              <a:t> </a:t>
            </a:r>
            <a:r>
              <a:rPr lang="en-US" dirty="0" err="1">
                <a:solidFill>
                  <a:schemeClr val="bg2"/>
                </a:solidFill>
                <a:latin typeface="Bahnschrift"/>
                <a:ea typeface="Segoe WPC"/>
              </a:rPr>
              <a:t>chưa</a:t>
            </a:r>
            <a:r>
              <a:rPr lang="en-US" dirty="0">
                <a:solidFill>
                  <a:schemeClr val="bg2"/>
                </a:solidFill>
                <a:latin typeface="Bahnschrift"/>
                <a:ea typeface="Segoe WPC"/>
              </a:rPr>
              <a:t> </a:t>
            </a:r>
            <a:r>
              <a:rPr lang="en-US" dirty="0" err="1">
                <a:solidFill>
                  <a:schemeClr val="bg2"/>
                </a:solidFill>
                <a:latin typeface="Bahnschrift"/>
                <a:ea typeface="Segoe WPC"/>
              </a:rPr>
              <a:t>khai</a:t>
            </a:r>
            <a:r>
              <a:rPr lang="en-US" dirty="0">
                <a:solidFill>
                  <a:schemeClr val="bg2"/>
                </a:solidFill>
                <a:latin typeface="Bahnschrift"/>
                <a:ea typeface="Segoe WPC"/>
              </a:rPr>
              <a:t> </a:t>
            </a:r>
            <a:r>
              <a:rPr lang="en-US" dirty="0" err="1">
                <a:solidFill>
                  <a:schemeClr val="bg2"/>
                </a:solidFill>
                <a:latin typeface="Bahnschrift"/>
                <a:ea typeface="Segoe WPC"/>
              </a:rPr>
              <a:t>thác</a:t>
            </a:r>
            <a:r>
              <a:rPr lang="en-US" dirty="0">
                <a:solidFill>
                  <a:schemeClr val="bg2"/>
                </a:solidFill>
                <a:latin typeface="Bahnschrift"/>
                <a:ea typeface="Segoe WPC"/>
              </a:rPr>
              <a:t> </a:t>
            </a:r>
            <a:r>
              <a:rPr lang="en-US" dirty="0" err="1">
                <a:solidFill>
                  <a:schemeClr val="bg2"/>
                </a:solidFill>
                <a:latin typeface="Bahnschrift"/>
                <a:ea typeface="Segoe WPC"/>
              </a:rPr>
              <a:t>mạnh</a:t>
            </a:r>
            <a:r>
              <a:rPr lang="en-US" dirty="0">
                <a:solidFill>
                  <a:schemeClr val="bg2"/>
                </a:solidFill>
                <a:latin typeface="Bahnschrift"/>
                <a:ea typeface="Segoe WPC"/>
              </a:rPr>
              <a:t> </a:t>
            </a:r>
            <a:r>
              <a:rPr lang="en-US" dirty="0" err="1">
                <a:solidFill>
                  <a:schemeClr val="bg2"/>
                </a:solidFill>
                <a:latin typeface="Bahnschrift"/>
                <a:ea typeface="Segoe WPC"/>
              </a:rPr>
              <a:t>tương</a:t>
            </a:r>
            <a:r>
              <a:rPr lang="en-US" dirty="0">
                <a:solidFill>
                  <a:schemeClr val="bg2"/>
                </a:solidFill>
                <a:latin typeface="Bahnschrift"/>
                <a:ea typeface="Segoe WPC"/>
              </a:rPr>
              <a:t> </a:t>
            </a:r>
            <a:r>
              <a:rPr lang="en-US" dirty="0" err="1">
                <a:solidFill>
                  <a:schemeClr val="bg2"/>
                </a:solidFill>
                <a:latin typeface="Bahnschrift"/>
                <a:ea typeface="Segoe WPC"/>
              </a:rPr>
              <a:t>quan</a:t>
            </a:r>
            <a:r>
              <a:rPr lang="en-US" dirty="0">
                <a:solidFill>
                  <a:schemeClr val="bg2"/>
                </a:solidFill>
                <a:latin typeface="Bahnschrift"/>
                <a:ea typeface="Segoe WPC"/>
              </a:rPr>
              <a:t> item–item.</a:t>
            </a:r>
            <a:endParaRPr lang="en-US" dirty="0">
              <a:solidFill>
                <a:schemeClr val="bg2"/>
              </a:solidFill>
              <a:latin typeface="Bahnschrift"/>
            </a:endParaRPr>
          </a:p>
          <a:p>
            <a:endParaRPr lang="en-US" dirty="0">
              <a:solidFill>
                <a:schemeClr val="bg2"/>
              </a:solidFill>
              <a:latin typeface="Bahnschrift"/>
            </a:endParaRPr>
          </a:p>
          <a:p>
            <a:pPr algn="just"/>
            <a:r>
              <a:rPr lang="en-US" b="1" dirty="0">
                <a:solidFill>
                  <a:schemeClr val="bg2"/>
                </a:solidFill>
                <a:latin typeface="Bahnschrift"/>
              </a:rPr>
              <a:t>2. Sequential Recommendation (</a:t>
            </a:r>
            <a:r>
              <a:rPr lang="en-US" b="1" dirty="0" err="1">
                <a:solidFill>
                  <a:schemeClr val="bg2"/>
                </a:solidFill>
                <a:latin typeface="Bahnschrift"/>
              </a:rPr>
              <a:t>SASRec</a:t>
            </a:r>
            <a:r>
              <a:rPr lang="en-US" b="1" dirty="0">
                <a:solidFill>
                  <a:schemeClr val="bg2"/>
                </a:solidFill>
                <a:latin typeface="Bahnschrift"/>
              </a:rPr>
              <a:t>)</a:t>
            </a:r>
            <a:endParaRPr lang="en-US" dirty="0">
              <a:solidFill>
                <a:schemeClr val="bg2"/>
              </a:solidFill>
              <a:latin typeface="Bahnschrift"/>
            </a:endParaRPr>
          </a:p>
          <a:p>
            <a:pPr marL="285750" indent="-285750" algn="just">
              <a:buChar char="•"/>
            </a:pPr>
            <a:r>
              <a:rPr lang="en-US" b="1" dirty="0">
                <a:solidFill>
                  <a:schemeClr val="bg2"/>
                </a:solidFill>
                <a:latin typeface="Bahnschrift"/>
              </a:rPr>
              <a:t>Hit@10 = 0.40</a:t>
            </a:r>
            <a:r>
              <a:rPr lang="en-US" dirty="0">
                <a:solidFill>
                  <a:schemeClr val="bg2"/>
                </a:solidFill>
                <a:latin typeface="Bahnschrift"/>
              </a:rPr>
              <a:t>, </a:t>
            </a:r>
            <a:r>
              <a:rPr lang="en-US" b="1" dirty="0">
                <a:solidFill>
                  <a:schemeClr val="bg2"/>
                </a:solidFill>
                <a:latin typeface="Bahnschrift"/>
              </a:rPr>
              <a:t>NDCG@5 = 0.21</a:t>
            </a:r>
          </a:p>
          <a:p>
            <a:pPr marL="285750" indent="-285750" algn="just">
              <a:buChar char="•"/>
            </a:pPr>
            <a:r>
              <a:rPr lang="en-US" dirty="0" err="1">
                <a:solidFill>
                  <a:schemeClr val="bg2"/>
                </a:solidFill>
                <a:latin typeface="Bahnschrift"/>
                <a:ea typeface="Segoe WPC"/>
              </a:rPr>
              <a:t>Mô</a:t>
            </a:r>
            <a:r>
              <a:rPr lang="en-US" dirty="0">
                <a:solidFill>
                  <a:schemeClr val="bg2"/>
                </a:solidFill>
                <a:latin typeface="Bahnschrift"/>
                <a:ea typeface="Segoe WPC"/>
              </a:rPr>
              <a:t> </a:t>
            </a:r>
            <a:r>
              <a:rPr lang="en-US" dirty="0" err="1">
                <a:solidFill>
                  <a:schemeClr val="bg2"/>
                </a:solidFill>
                <a:latin typeface="Bahnschrift"/>
                <a:ea typeface="Segoe WPC"/>
              </a:rPr>
              <a:t>hình</a:t>
            </a:r>
            <a:r>
              <a:rPr lang="en-US" dirty="0">
                <a:solidFill>
                  <a:schemeClr val="bg2"/>
                </a:solidFill>
                <a:latin typeface="Bahnschrift"/>
                <a:ea typeface="Segoe WPC"/>
              </a:rPr>
              <a:t> </a:t>
            </a:r>
            <a:r>
              <a:rPr lang="en-US" dirty="0" err="1">
                <a:solidFill>
                  <a:schemeClr val="bg2"/>
                </a:solidFill>
                <a:latin typeface="Bahnschrift"/>
                <a:ea typeface="Segoe WPC"/>
              </a:rPr>
              <a:t>học</a:t>
            </a:r>
            <a:r>
              <a:rPr lang="en-US" dirty="0">
                <a:solidFill>
                  <a:schemeClr val="bg2"/>
                </a:solidFill>
                <a:latin typeface="Bahnschrift"/>
                <a:ea typeface="Segoe WPC"/>
              </a:rPr>
              <a:t> </a:t>
            </a:r>
            <a:r>
              <a:rPr lang="en-US" dirty="0" err="1">
                <a:solidFill>
                  <a:schemeClr val="bg2"/>
                </a:solidFill>
                <a:latin typeface="Bahnschrift"/>
                <a:ea typeface="Segoe WPC"/>
              </a:rPr>
              <a:t>được</a:t>
            </a:r>
            <a:r>
              <a:rPr lang="en-US" dirty="0">
                <a:solidFill>
                  <a:schemeClr val="bg2"/>
                </a:solidFill>
                <a:latin typeface="Bahnschrift"/>
                <a:ea typeface="Segoe WPC"/>
              </a:rPr>
              <a:t> xu </a:t>
            </a:r>
            <a:r>
              <a:rPr lang="en-US" dirty="0" err="1">
                <a:solidFill>
                  <a:schemeClr val="bg2"/>
                </a:solidFill>
                <a:latin typeface="Bahnschrift"/>
                <a:ea typeface="Segoe WPC"/>
              </a:rPr>
              <a:t>hướng</a:t>
            </a:r>
            <a:r>
              <a:rPr lang="en-US" dirty="0">
                <a:solidFill>
                  <a:schemeClr val="bg2"/>
                </a:solidFill>
                <a:latin typeface="Bahnschrift"/>
                <a:ea typeface="Segoe WPC"/>
              </a:rPr>
              <a:t> </a:t>
            </a:r>
            <a:r>
              <a:rPr lang="en-US" dirty="0" err="1">
                <a:solidFill>
                  <a:schemeClr val="bg2"/>
                </a:solidFill>
                <a:latin typeface="Bahnschrift"/>
                <a:ea typeface="Segoe WPC"/>
              </a:rPr>
              <a:t>hành</a:t>
            </a:r>
            <a:r>
              <a:rPr lang="en-US" dirty="0">
                <a:solidFill>
                  <a:schemeClr val="bg2"/>
                </a:solidFill>
                <a:latin typeface="Bahnschrift"/>
                <a:ea typeface="Segoe WPC"/>
              </a:rPr>
              <a:t> vi </a:t>
            </a:r>
            <a:r>
              <a:rPr lang="en-US" dirty="0" err="1">
                <a:solidFill>
                  <a:schemeClr val="bg2"/>
                </a:solidFill>
                <a:latin typeface="Bahnschrift"/>
                <a:ea typeface="Segoe WPC"/>
              </a:rPr>
              <a:t>theo</a:t>
            </a:r>
            <a:r>
              <a:rPr lang="en-US" dirty="0">
                <a:solidFill>
                  <a:schemeClr val="bg2"/>
                </a:solidFill>
                <a:latin typeface="Bahnschrift"/>
                <a:ea typeface="Segoe WPC"/>
              </a:rPr>
              <a:t> </a:t>
            </a:r>
            <a:r>
              <a:rPr lang="en-US" dirty="0" err="1">
                <a:solidFill>
                  <a:schemeClr val="bg2"/>
                </a:solidFill>
                <a:latin typeface="Bahnschrift"/>
                <a:ea typeface="Segoe WPC"/>
              </a:rPr>
              <a:t>thời</a:t>
            </a:r>
            <a:r>
              <a:rPr lang="en-US" dirty="0">
                <a:solidFill>
                  <a:schemeClr val="bg2"/>
                </a:solidFill>
                <a:latin typeface="Bahnschrift"/>
                <a:ea typeface="Segoe WPC"/>
              </a:rPr>
              <a:t> </a:t>
            </a:r>
            <a:r>
              <a:rPr lang="en-US" dirty="0" err="1">
                <a:solidFill>
                  <a:schemeClr val="bg2"/>
                </a:solidFill>
                <a:latin typeface="Bahnschrift"/>
                <a:ea typeface="Segoe WPC"/>
              </a:rPr>
              <a:t>gian</a:t>
            </a:r>
            <a:r>
              <a:rPr lang="en-US" dirty="0">
                <a:solidFill>
                  <a:schemeClr val="bg2"/>
                </a:solidFill>
                <a:latin typeface="Bahnschrift"/>
                <a:ea typeface="Segoe WPC"/>
              </a:rPr>
              <a:t>.</a:t>
            </a:r>
          </a:p>
          <a:p>
            <a:pPr marL="285750" indent="-285750" algn="just">
              <a:buChar char="•"/>
            </a:pPr>
            <a:r>
              <a:rPr lang="en-US" dirty="0" err="1">
                <a:solidFill>
                  <a:schemeClr val="bg2"/>
                </a:solidFill>
                <a:latin typeface="Bahnschrift"/>
                <a:ea typeface="Segoe WPC"/>
              </a:rPr>
              <a:t>Nhưng</a:t>
            </a:r>
            <a:r>
              <a:rPr lang="en-US" dirty="0">
                <a:solidFill>
                  <a:schemeClr val="bg2"/>
                </a:solidFill>
                <a:latin typeface="Bahnschrift"/>
                <a:ea typeface="Segoe WPC"/>
              </a:rPr>
              <a:t> </a:t>
            </a:r>
            <a:r>
              <a:rPr lang="en-US" dirty="0" err="1">
                <a:solidFill>
                  <a:schemeClr val="bg2"/>
                </a:solidFill>
                <a:latin typeface="Bahnschrift"/>
                <a:ea typeface="Segoe WPC"/>
              </a:rPr>
              <a:t>xếp</a:t>
            </a:r>
            <a:r>
              <a:rPr lang="en-US" dirty="0">
                <a:solidFill>
                  <a:schemeClr val="bg2"/>
                </a:solidFill>
                <a:latin typeface="Bahnschrift"/>
                <a:ea typeface="Segoe WPC"/>
              </a:rPr>
              <a:t> </a:t>
            </a:r>
            <a:r>
              <a:rPr lang="en-US" dirty="0" err="1">
                <a:solidFill>
                  <a:schemeClr val="bg2"/>
                </a:solidFill>
                <a:latin typeface="Bahnschrift"/>
                <a:ea typeface="Segoe WPC"/>
              </a:rPr>
              <a:t>hạng</a:t>
            </a:r>
            <a:r>
              <a:rPr lang="en-US" dirty="0">
                <a:solidFill>
                  <a:schemeClr val="bg2"/>
                </a:solidFill>
                <a:latin typeface="Bahnschrift"/>
                <a:ea typeface="Segoe WPC"/>
              </a:rPr>
              <a:t> </a:t>
            </a:r>
            <a:r>
              <a:rPr lang="en-US" dirty="0" err="1">
                <a:solidFill>
                  <a:schemeClr val="bg2"/>
                </a:solidFill>
                <a:latin typeface="Bahnschrift"/>
                <a:ea typeface="Segoe WPC"/>
              </a:rPr>
              <a:t>còn</a:t>
            </a:r>
            <a:r>
              <a:rPr lang="en-US" dirty="0">
                <a:solidFill>
                  <a:schemeClr val="bg2"/>
                </a:solidFill>
                <a:latin typeface="Bahnschrift"/>
                <a:ea typeface="Segoe WPC"/>
              </a:rPr>
              <a:t> </a:t>
            </a:r>
            <a:r>
              <a:rPr lang="en-US" dirty="0" err="1">
                <a:solidFill>
                  <a:schemeClr val="bg2"/>
                </a:solidFill>
                <a:latin typeface="Bahnschrift"/>
                <a:ea typeface="Segoe WPC"/>
              </a:rPr>
              <a:t>hạn</a:t>
            </a:r>
            <a:r>
              <a:rPr lang="en-US" dirty="0">
                <a:solidFill>
                  <a:schemeClr val="bg2"/>
                </a:solidFill>
                <a:latin typeface="Bahnschrift"/>
                <a:ea typeface="Segoe WPC"/>
              </a:rPr>
              <a:t> </a:t>
            </a:r>
            <a:r>
              <a:rPr lang="en-US" dirty="0" err="1">
                <a:solidFill>
                  <a:schemeClr val="bg2"/>
                </a:solidFill>
                <a:latin typeface="Bahnschrift"/>
                <a:ea typeface="Segoe WPC"/>
              </a:rPr>
              <a:t>chế</a:t>
            </a:r>
            <a:r>
              <a:rPr lang="en-US" dirty="0">
                <a:solidFill>
                  <a:schemeClr val="bg2"/>
                </a:solidFill>
                <a:latin typeface="Bahnschrift"/>
                <a:ea typeface="Segoe WPC"/>
              </a:rPr>
              <a:t> do dataset </a:t>
            </a:r>
            <a:r>
              <a:rPr lang="en-US" dirty="0" err="1">
                <a:solidFill>
                  <a:schemeClr val="bg2"/>
                </a:solidFill>
                <a:latin typeface="Bahnschrift"/>
                <a:ea typeface="Segoe WPC"/>
              </a:rPr>
              <a:t>nhỏ</a:t>
            </a:r>
            <a:r>
              <a:rPr lang="en-US" dirty="0">
                <a:solidFill>
                  <a:schemeClr val="bg2"/>
                </a:solidFill>
                <a:latin typeface="Bahnschrift"/>
                <a:ea typeface="Segoe WPC"/>
              </a:rPr>
              <a:t>..</a:t>
            </a:r>
            <a:endParaRPr lang="en-US" dirty="0">
              <a:solidFill>
                <a:schemeClr val="bg2"/>
              </a:solidFill>
              <a:latin typeface="Bahnschrift"/>
            </a:endParaRPr>
          </a:p>
          <a:p>
            <a:pPr marL="285750" indent="-285750" algn="just">
              <a:buChar char="•"/>
            </a:pPr>
            <a:r>
              <a:rPr lang="en-US" dirty="0" err="1">
                <a:solidFill>
                  <a:schemeClr val="bg2"/>
                </a:solidFill>
                <a:latin typeface="Bahnschrift"/>
              </a:rPr>
              <a:t>Hiệu</a:t>
            </a:r>
            <a:r>
              <a:rPr lang="en-US" dirty="0">
                <a:solidFill>
                  <a:schemeClr val="bg2"/>
                </a:solidFill>
                <a:latin typeface="Bahnschrift"/>
              </a:rPr>
              <a:t> </a:t>
            </a:r>
            <a:r>
              <a:rPr lang="en-US" dirty="0" err="1">
                <a:solidFill>
                  <a:schemeClr val="bg2"/>
                </a:solidFill>
                <a:latin typeface="Bahnschrift"/>
              </a:rPr>
              <a:t>quả</a:t>
            </a:r>
            <a:r>
              <a:rPr lang="en-US" dirty="0">
                <a:solidFill>
                  <a:schemeClr val="bg2"/>
                </a:solidFill>
                <a:latin typeface="Bahnschrift"/>
              </a:rPr>
              <a:t> </a:t>
            </a:r>
            <a:r>
              <a:rPr lang="en-US" dirty="0" err="1">
                <a:solidFill>
                  <a:schemeClr val="bg2"/>
                </a:solidFill>
                <a:latin typeface="Bahnschrift"/>
              </a:rPr>
              <a:t>tốt</a:t>
            </a:r>
            <a:r>
              <a:rPr lang="en-US" dirty="0">
                <a:solidFill>
                  <a:schemeClr val="bg2"/>
                </a:solidFill>
                <a:latin typeface="Bahnschrift"/>
              </a:rPr>
              <a:t> </a:t>
            </a:r>
            <a:r>
              <a:rPr lang="en-US" dirty="0" err="1">
                <a:solidFill>
                  <a:schemeClr val="bg2"/>
                </a:solidFill>
                <a:latin typeface="Bahnschrift"/>
              </a:rPr>
              <a:t>cho</a:t>
            </a:r>
            <a:r>
              <a:rPr lang="en-US" dirty="0">
                <a:solidFill>
                  <a:schemeClr val="bg2"/>
                </a:solidFill>
                <a:latin typeface="Bahnschrift"/>
              </a:rPr>
              <a:t> next-item recommendation.</a:t>
            </a:r>
          </a:p>
          <a:p>
            <a:pPr marL="285750" indent="-285750" algn="just">
              <a:buChar char="•"/>
            </a:pPr>
            <a:r>
              <a:rPr lang="en-US" dirty="0" err="1">
                <a:solidFill>
                  <a:schemeClr val="bg2"/>
                </a:solidFill>
                <a:latin typeface="Bahnschrift"/>
              </a:rPr>
              <a:t>Chưa</a:t>
            </a:r>
            <a:r>
              <a:rPr lang="en-US" dirty="0">
                <a:solidFill>
                  <a:schemeClr val="bg2"/>
                </a:solidFill>
                <a:latin typeface="Bahnschrift"/>
              </a:rPr>
              <a:t> </a:t>
            </a:r>
            <a:r>
              <a:rPr lang="en-US" dirty="0" err="1">
                <a:solidFill>
                  <a:schemeClr val="bg2"/>
                </a:solidFill>
                <a:latin typeface="Bahnschrift"/>
              </a:rPr>
              <a:t>phát</a:t>
            </a:r>
            <a:r>
              <a:rPr lang="en-US" dirty="0">
                <a:solidFill>
                  <a:schemeClr val="bg2"/>
                </a:solidFill>
                <a:latin typeface="Bahnschrift"/>
              </a:rPr>
              <a:t> </a:t>
            </a:r>
            <a:r>
              <a:rPr lang="en-US" dirty="0" err="1">
                <a:solidFill>
                  <a:schemeClr val="bg2"/>
                </a:solidFill>
                <a:latin typeface="Bahnschrift"/>
              </a:rPr>
              <a:t>huy</a:t>
            </a:r>
            <a:r>
              <a:rPr lang="en-US" dirty="0">
                <a:solidFill>
                  <a:schemeClr val="bg2"/>
                </a:solidFill>
                <a:latin typeface="Bahnschrift"/>
              </a:rPr>
              <a:t> </a:t>
            </a:r>
            <a:r>
              <a:rPr lang="en-US" dirty="0" err="1">
                <a:solidFill>
                  <a:schemeClr val="bg2"/>
                </a:solidFill>
                <a:latin typeface="Bahnschrift"/>
              </a:rPr>
              <a:t>hết</a:t>
            </a:r>
            <a:r>
              <a:rPr lang="en-US" dirty="0">
                <a:solidFill>
                  <a:schemeClr val="bg2"/>
                </a:solidFill>
                <a:latin typeface="Bahnschrift"/>
              </a:rPr>
              <a:t> </a:t>
            </a:r>
            <a:r>
              <a:rPr lang="en-US" dirty="0" err="1">
                <a:solidFill>
                  <a:schemeClr val="bg2"/>
                </a:solidFill>
                <a:latin typeface="Bahnschrift"/>
              </a:rPr>
              <a:t>khả</a:t>
            </a:r>
            <a:r>
              <a:rPr lang="en-US" dirty="0">
                <a:solidFill>
                  <a:schemeClr val="bg2"/>
                </a:solidFill>
                <a:latin typeface="Bahnschrift"/>
              </a:rPr>
              <a:t> </a:t>
            </a:r>
            <a:r>
              <a:rPr lang="en-US" dirty="0" err="1">
                <a:solidFill>
                  <a:schemeClr val="bg2"/>
                </a:solidFill>
                <a:latin typeface="Bahnschrift"/>
              </a:rPr>
              <a:t>năng</a:t>
            </a:r>
            <a:r>
              <a:rPr lang="en-US" dirty="0">
                <a:solidFill>
                  <a:schemeClr val="bg2"/>
                </a:solidFill>
                <a:latin typeface="Bahnschrift"/>
              </a:rPr>
              <a:t> </a:t>
            </a:r>
            <a:r>
              <a:rPr lang="en-US" dirty="0" err="1">
                <a:solidFill>
                  <a:schemeClr val="bg2"/>
                </a:solidFill>
                <a:latin typeface="Bahnschrift"/>
              </a:rPr>
              <a:t>của</a:t>
            </a:r>
            <a:r>
              <a:rPr lang="en-US" dirty="0">
                <a:solidFill>
                  <a:schemeClr val="bg2"/>
                </a:solidFill>
                <a:latin typeface="Bahnschrift"/>
              </a:rPr>
              <a:t> Transformer.</a:t>
            </a:r>
          </a:p>
          <a:p>
            <a:pPr marL="285750" indent="-285750" algn="just">
              <a:buChar char="•"/>
            </a:pPr>
            <a:endParaRPr lang="en-US" dirty="0">
              <a:solidFill>
                <a:schemeClr val="bg2"/>
              </a:solidFill>
              <a:latin typeface="Bahnschrift"/>
            </a:endParaRPr>
          </a:p>
          <a:p>
            <a:pPr algn="just"/>
            <a:r>
              <a:rPr lang="en-US" dirty="0">
                <a:solidFill>
                  <a:schemeClr val="bg2"/>
                </a:solidFill>
                <a:latin typeface="Bahnschrift"/>
              </a:rPr>
              <a:t>CF </a:t>
            </a:r>
            <a:r>
              <a:rPr lang="en-US" dirty="0" err="1">
                <a:solidFill>
                  <a:schemeClr val="bg2"/>
                </a:solidFill>
                <a:latin typeface="Bahnschrift"/>
              </a:rPr>
              <a:t>mạnh</a:t>
            </a:r>
            <a:r>
              <a:rPr lang="en-US" dirty="0">
                <a:solidFill>
                  <a:schemeClr val="bg2"/>
                </a:solidFill>
                <a:latin typeface="Bahnschrift"/>
              </a:rPr>
              <a:t> </a:t>
            </a:r>
            <a:r>
              <a:rPr lang="en-US" dirty="0" err="1">
                <a:solidFill>
                  <a:schemeClr val="bg2"/>
                </a:solidFill>
                <a:latin typeface="Bahnschrift"/>
              </a:rPr>
              <a:t>cho</a:t>
            </a:r>
            <a:r>
              <a:rPr lang="en-US" dirty="0">
                <a:solidFill>
                  <a:schemeClr val="bg2"/>
                </a:solidFill>
                <a:latin typeface="Bahnschrift"/>
              </a:rPr>
              <a:t> </a:t>
            </a:r>
            <a:r>
              <a:rPr lang="en-US" b="1" dirty="0">
                <a:solidFill>
                  <a:schemeClr val="bg2"/>
                </a:solidFill>
                <a:latin typeface="Bahnschrift"/>
              </a:rPr>
              <a:t>rating prediction</a:t>
            </a:r>
            <a:endParaRPr lang="en-US" dirty="0">
              <a:solidFill>
                <a:schemeClr val="bg2"/>
              </a:solidFill>
              <a:latin typeface="Bahnschrift"/>
            </a:endParaRPr>
          </a:p>
          <a:p>
            <a:pPr algn="just"/>
            <a:r>
              <a:rPr lang="en-US" dirty="0" err="1">
                <a:solidFill>
                  <a:schemeClr val="bg2"/>
                </a:solidFill>
                <a:latin typeface="Bahnschrift"/>
              </a:rPr>
              <a:t>SASRec</a:t>
            </a:r>
            <a:r>
              <a:rPr lang="en-US" dirty="0">
                <a:solidFill>
                  <a:schemeClr val="bg2"/>
                </a:solidFill>
                <a:latin typeface="Bahnschrift"/>
              </a:rPr>
              <a:t> </a:t>
            </a:r>
            <a:r>
              <a:rPr lang="en-US" dirty="0" err="1">
                <a:solidFill>
                  <a:schemeClr val="bg2"/>
                </a:solidFill>
                <a:latin typeface="Bahnschrift"/>
              </a:rPr>
              <a:t>phù</a:t>
            </a:r>
            <a:r>
              <a:rPr lang="en-US" dirty="0">
                <a:solidFill>
                  <a:schemeClr val="bg2"/>
                </a:solidFill>
                <a:latin typeface="Bahnschrift"/>
              </a:rPr>
              <a:t> </a:t>
            </a:r>
            <a:r>
              <a:rPr lang="en-US" dirty="0" err="1">
                <a:solidFill>
                  <a:schemeClr val="bg2"/>
                </a:solidFill>
                <a:latin typeface="Bahnschrift"/>
              </a:rPr>
              <a:t>hợp</a:t>
            </a:r>
            <a:r>
              <a:rPr lang="en-US" dirty="0">
                <a:solidFill>
                  <a:schemeClr val="bg2"/>
                </a:solidFill>
                <a:latin typeface="Bahnschrift"/>
              </a:rPr>
              <a:t> </a:t>
            </a:r>
            <a:r>
              <a:rPr lang="en-US" dirty="0" err="1">
                <a:solidFill>
                  <a:schemeClr val="bg2"/>
                </a:solidFill>
                <a:latin typeface="Bahnschrift"/>
              </a:rPr>
              <a:t>cho</a:t>
            </a:r>
            <a:r>
              <a:rPr lang="en-US" dirty="0">
                <a:solidFill>
                  <a:schemeClr val="bg2"/>
                </a:solidFill>
                <a:latin typeface="Bahnschrift"/>
              </a:rPr>
              <a:t> </a:t>
            </a:r>
            <a:r>
              <a:rPr lang="en-US" b="1" dirty="0" err="1">
                <a:solidFill>
                  <a:schemeClr val="bg2"/>
                </a:solidFill>
                <a:latin typeface="Bahnschrift"/>
              </a:rPr>
              <a:t>hành</a:t>
            </a:r>
            <a:r>
              <a:rPr lang="en-US" b="1" dirty="0">
                <a:solidFill>
                  <a:schemeClr val="bg2"/>
                </a:solidFill>
                <a:latin typeface="Bahnschrift"/>
              </a:rPr>
              <a:t> vi </a:t>
            </a:r>
            <a:r>
              <a:rPr lang="en-US" b="1" dirty="0" err="1">
                <a:solidFill>
                  <a:schemeClr val="bg2"/>
                </a:solidFill>
                <a:latin typeface="Bahnschrift"/>
              </a:rPr>
              <a:t>tuần</a:t>
            </a:r>
            <a:r>
              <a:rPr lang="en-US" b="1" dirty="0">
                <a:solidFill>
                  <a:schemeClr val="bg2"/>
                </a:solidFill>
                <a:latin typeface="Bahnschrift"/>
              </a:rPr>
              <a:t> </a:t>
            </a:r>
            <a:r>
              <a:rPr lang="en-US" b="1" dirty="0" err="1">
                <a:solidFill>
                  <a:schemeClr val="bg2"/>
                </a:solidFill>
                <a:latin typeface="Bahnschrift"/>
              </a:rPr>
              <a:t>tự</a:t>
            </a:r>
            <a:endParaRPr lang="en-US" dirty="0">
              <a:solidFill>
                <a:schemeClr val="bg2"/>
              </a:solidFill>
              <a:latin typeface="Bahnschrift"/>
            </a:endParaRPr>
          </a:p>
          <a:p>
            <a:pPr algn="just"/>
            <a:r>
              <a:rPr lang="en-US" dirty="0">
                <a:solidFill>
                  <a:schemeClr val="bg2"/>
                </a:solidFill>
                <a:latin typeface="Bahnschrift"/>
              </a:rPr>
              <a:t>→ </a:t>
            </a:r>
            <a:r>
              <a:rPr lang="en-US" b="1" dirty="0" err="1">
                <a:solidFill>
                  <a:schemeClr val="bg2"/>
                </a:solidFill>
                <a:latin typeface="Bahnschrift"/>
              </a:rPr>
              <a:t>Kết</a:t>
            </a:r>
            <a:r>
              <a:rPr lang="en-US" b="1" dirty="0">
                <a:solidFill>
                  <a:schemeClr val="bg2"/>
                </a:solidFill>
                <a:latin typeface="Bahnschrift"/>
              </a:rPr>
              <a:t> </a:t>
            </a:r>
            <a:r>
              <a:rPr lang="en-US" b="1" dirty="0" err="1">
                <a:solidFill>
                  <a:schemeClr val="bg2"/>
                </a:solidFill>
                <a:latin typeface="Bahnschrift"/>
              </a:rPr>
              <a:t>hợp</a:t>
            </a:r>
            <a:r>
              <a:rPr lang="en-US" b="1" dirty="0">
                <a:solidFill>
                  <a:schemeClr val="bg2"/>
                </a:solidFill>
                <a:latin typeface="Bahnschrift"/>
              </a:rPr>
              <a:t> </a:t>
            </a:r>
            <a:r>
              <a:rPr lang="en-US" b="1" dirty="0" err="1">
                <a:solidFill>
                  <a:schemeClr val="bg2"/>
                </a:solidFill>
                <a:latin typeface="Bahnschrift"/>
              </a:rPr>
              <a:t>mô</a:t>
            </a:r>
            <a:r>
              <a:rPr lang="en-US" b="1" dirty="0">
                <a:solidFill>
                  <a:schemeClr val="bg2"/>
                </a:solidFill>
                <a:latin typeface="Bahnschrift"/>
              </a:rPr>
              <a:t> </a:t>
            </a:r>
            <a:r>
              <a:rPr lang="en-US" b="1" dirty="0" err="1">
                <a:solidFill>
                  <a:schemeClr val="bg2"/>
                </a:solidFill>
                <a:latin typeface="Bahnschrift"/>
              </a:rPr>
              <a:t>hình</a:t>
            </a:r>
            <a:r>
              <a:rPr lang="en-US" b="1" dirty="0">
                <a:solidFill>
                  <a:schemeClr val="bg2"/>
                </a:solidFill>
                <a:latin typeface="Bahnschrift"/>
              </a:rPr>
              <a:t> </a:t>
            </a:r>
            <a:r>
              <a:rPr lang="en-US" b="1" dirty="0" err="1">
                <a:solidFill>
                  <a:schemeClr val="bg2"/>
                </a:solidFill>
                <a:latin typeface="Bahnschrift"/>
              </a:rPr>
              <a:t>tĩnh</a:t>
            </a:r>
            <a:r>
              <a:rPr lang="en-US" b="1" dirty="0">
                <a:solidFill>
                  <a:schemeClr val="bg2"/>
                </a:solidFill>
                <a:latin typeface="Bahnschrift"/>
              </a:rPr>
              <a:t> + </a:t>
            </a:r>
            <a:r>
              <a:rPr lang="en-US" b="1" dirty="0" err="1">
                <a:solidFill>
                  <a:schemeClr val="bg2"/>
                </a:solidFill>
                <a:latin typeface="Bahnschrift"/>
              </a:rPr>
              <a:t>động</a:t>
            </a:r>
            <a:r>
              <a:rPr lang="en-US" dirty="0">
                <a:solidFill>
                  <a:schemeClr val="bg2"/>
                </a:solidFill>
                <a:latin typeface="Bahnschrift"/>
              </a:rPr>
              <a:t> </a:t>
            </a:r>
            <a:r>
              <a:rPr lang="en-US" dirty="0" err="1">
                <a:solidFill>
                  <a:schemeClr val="bg2"/>
                </a:solidFill>
                <a:latin typeface="Bahnschrift"/>
              </a:rPr>
              <a:t>giúp</a:t>
            </a:r>
            <a:r>
              <a:rPr lang="en-US" dirty="0">
                <a:solidFill>
                  <a:schemeClr val="bg2"/>
                </a:solidFill>
                <a:latin typeface="Bahnschrift"/>
              </a:rPr>
              <a:t> </a:t>
            </a:r>
            <a:r>
              <a:rPr lang="en-US" dirty="0" err="1">
                <a:solidFill>
                  <a:schemeClr val="bg2"/>
                </a:solidFill>
                <a:latin typeface="Bahnschrift"/>
              </a:rPr>
              <a:t>hệ</a:t>
            </a:r>
            <a:r>
              <a:rPr lang="en-US" dirty="0">
                <a:solidFill>
                  <a:schemeClr val="bg2"/>
                </a:solidFill>
                <a:latin typeface="Bahnschrift"/>
              </a:rPr>
              <a:t> </a:t>
            </a:r>
            <a:r>
              <a:rPr lang="en-US" dirty="0" err="1">
                <a:solidFill>
                  <a:schemeClr val="bg2"/>
                </a:solidFill>
                <a:latin typeface="Bahnschrift"/>
              </a:rPr>
              <a:t>gợi</a:t>
            </a:r>
            <a:r>
              <a:rPr lang="en-US" dirty="0">
                <a:solidFill>
                  <a:schemeClr val="bg2"/>
                </a:solidFill>
                <a:latin typeface="Bahnschrift"/>
              </a:rPr>
              <a:t> ý </a:t>
            </a:r>
            <a:r>
              <a:rPr lang="en-US" dirty="0" err="1">
                <a:solidFill>
                  <a:schemeClr val="bg2"/>
                </a:solidFill>
                <a:latin typeface="Bahnschrift"/>
              </a:rPr>
              <a:t>hiệu</a:t>
            </a:r>
            <a:r>
              <a:rPr lang="en-US" dirty="0">
                <a:solidFill>
                  <a:schemeClr val="bg2"/>
                </a:solidFill>
                <a:latin typeface="Bahnschrift"/>
              </a:rPr>
              <a:t> </a:t>
            </a:r>
            <a:r>
              <a:rPr lang="en-US" dirty="0" err="1">
                <a:solidFill>
                  <a:schemeClr val="bg2"/>
                </a:solidFill>
                <a:latin typeface="Bahnschrift"/>
              </a:rPr>
              <a:t>quả</a:t>
            </a:r>
            <a:r>
              <a:rPr lang="en-US" dirty="0">
                <a:solidFill>
                  <a:schemeClr val="bg2"/>
                </a:solidFill>
                <a:latin typeface="Bahnschrift"/>
              </a:rPr>
              <a:t> </a:t>
            </a:r>
            <a:r>
              <a:rPr lang="en-US" dirty="0" err="1">
                <a:solidFill>
                  <a:schemeClr val="bg2"/>
                </a:solidFill>
                <a:latin typeface="Bahnschrift"/>
              </a:rPr>
              <a:t>hơn</a:t>
            </a:r>
            <a:endParaRPr lang="en-US" dirty="0">
              <a:solidFill>
                <a:schemeClr val="bg2"/>
              </a:solidFill>
              <a:latin typeface="Bahnschrift"/>
            </a:endParaRPr>
          </a:p>
        </p:txBody>
      </p:sp>
      <p:pic>
        <p:nvPicPr>
          <p:cNvPr id="3" name="Picture 2" descr="A blue and yellow logo&#10;&#10;AI-generated content may be incorrect.">
            <a:extLst>
              <a:ext uri="{FF2B5EF4-FFF2-40B4-BE49-F238E27FC236}">
                <a16:creationId xmlns:a16="http://schemas.microsoft.com/office/drawing/2014/main" id="{7D582030-207E-AD52-C7CD-D23EBFA928EC}"/>
              </a:ext>
            </a:extLst>
          </p:cNvPr>
          <p:cNvPicPr>
            <a:picLocks noChangeAspect="1"/>
          </p:cNvPicPr>
          <p:nvPr/>
        </p:nvPicPr>
        <p:blipFill>
          <a:blip r:embed="rId4"/>
          <a:stretch>
            <a:fillRect/>
          </a:stretch>
        </p:blipFill>
        <p:spPr>
          <a:xfrm>
            <a:off x="137160" y="114312"/>
            <a:ext cx="444137" cy="492242"/>
          </a:xfrm>
          <a:prstGeom prst="rect">
            <a:avLst/>
          </a:prstGeom>
        </p:spPr>
      </p:pic>
    </p:spTree>
    <p:extLst>
      <p:ext uri="{BB962C8B-B14F-4D97-AF65-F5344CB8AC3E}">
        <p14:creationId xmlns:p14="http://schemas.microsoft.com/office/powerpoint/2010/main" val="3032636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show="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822600FD-A6AE-BC4B-E246-937D84772CAF}"/>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DFE035A3-9F27-0C79-63D5-4BC69EDE7E31}"/>
              </a:ext>
            </a:extLst>
          </p:cNvPr>
          <p:cNvSpPr txBox="1">
            <a:spLocks noGrp="1"/>
          </p:cNvSpPr>
          <p:nvPr>
            <p:ph type="title"/>
          </p:nvPr>
        </p:nvSpPr>
        <p:spPr>
          <a:xfrm>
            <a:off x="807923" y="173929"/>
            <a:ext cx="7704000" cy="572700"/>
          </a:xfrm>
          <a:prstGeom prst="rect">
            <a:avLst/>
          </a:prstGeom>
        </p:spPr>
        <p:txBody>
          <a:bodyPr spcFirstLastPara="1" wrap="square" lIns="91425" tIns="91425" rIns="91425" bIns="91425" anchor="t" anchorCtr="0">
            <a:noAutofit/>
          </a:bodyPr>
          <a:lstStyle/>
          <a:p>
            <a:r>
              <a:rPr lang="en" err="1"/>
              <a:t>Huấn</a:t>
            </a:r>
            <a:r>
              <a:rPr lang="en"/>
              <a:t> </a:t>
            </a:r>
            <a:r>
              <a:rPr lang="en" err="1"/>
              <a:t>luyện</a:t>
            </a:r>
            <a:r>
              <a:rPr lang="en"/>
              <a:t> </a:t>
            </a:r>
            <a:r>
              <a:rPr lang="en" err="1"/>
              <a:t>mô</a:t>
            </a:r>
            <a:r>
              <a:rPr lang="en"/>
              <a:t> </a:t>
            </a:r>
            <a:r>
              <a:rPr lang="en" err="1"/>
              <a:t>hình</a:t>
            </a:r>
            <a:endParaRPr lang="en"/>
          </a:p>
        </p:txBody>
      </p:sp>
      <p:sp>
        <p:nvSpPr>
          <p:cNvPr id="4" name="TextBox 3">
            <a:extLst>
              <a:ext uri="{FF2B5EF4-FFF2-40B4-BE49-F238E27FC236}">
                <a16:creationId xmlns:a16="http://schemas.microsoft.com/office/drawing/2014/main" id="{398431D3-6AEF-8B27-0211-CD010F9D1401}"/>
              </a:ext>
            </a:extLst>
          </p:cNvPr>
          <p:cNvSpPr txBox="1"/>
          <p:nvPr/>
        </p:nvSpPr>
        <p:spPr>
          <a:xfrm>
            <a:off x="643269" y="1068196"/>
            <a:ext cx="1962150" cy="307777"/>
          </a:xfrm>
          <a:prstGeom prst="rect">
            <a:avLst/>
          </a:prstGeom>
          <a:noFill/>
        </p:spPr>
        <p:txBody>
          <a:bodyPr wrap="square">
            <a:spAutoFit/>
          </a:bodyPr>
          <a:lstStyle/>
          <a:p>
            <a:r>
              <a:rPr lang="vi-VN" b="1" i="0">
                <a:solidFill>
                  <a:schemeClr val="accent2">
                    <a:lumMod val="75000"/>
                  </a:schemeClr>
                </a:solidFill>
                <a:effectLst/>
                <a:latin typeface="Bahnschrift" panose="020B0502040204020203" pitchFamily="34" charset="0"/>
              </a:rPr>
              <a:t>Matrix Factorization</a:t>
            </a:r>
            <a:endParaRPr lang="vi-VN">
              <a:solidFill>
                <a:schemeClr val="accent2">
                  <a:lumMod val="75000"/>
                </a:schemeClr>
              </a:solidFill>
              <a:latin typeface="Bahnschrift" panose="020B0502040204020203" pitchFamily="34" charset="0"/>
            </a:endParaRPr>
          </a:p>
        </p:txBody>
      </p:sp>
      <p:sp>
        <p:nvSpPr>
          <p:cNvPr id="7" name="TextBox 6">
            <a:extLst>
              <a:ext uri="{FF2B5EF4-FFF2-40B4-BE49-F238E27FC236}">
                <a16:creationId xmlns:a16="http://schemas.microsoft.com/office/drawing/2014/main" id="{A60E44E5-CE33-05A6-578A-8AD5B3AA1F70}"/>
              </a:ext>
            </a:extLst>
          </p:cNvPr>
          <p:cNvSpPr txBox="1"/>
          <p:nvPr/>
        </p:nvSpPr>
        <p:spPr>
          <a:xfrm>
            <a:off x="3426862" y="1068196"/>
            <a:ext cx="2013906" cy="307777"/>
          </a:xfrm>
          <a:prstGeom prst="rect">
            <a:avLst/>
          </a:prstGeom>
          <a:noFill/>
        </p:spPr>
        <p:txBody>
          <a:bodyPr wrap="square">
            <a:spAutoFit/>
          </a:bodyPr>
          <a:lstStyle/>
          <a:p>
            <a:r>
              <a:rPr lang="vi-VN" b="1" i="0">
                <a:solidFill>
                  <a:schemeClr val="accent2">
                    <a:lumMod val="75000"/>
                  </a:schemeClr>
                </a:solidFill>
                <a:effectLst/>
                <a:latin typeface="Bahnschrift" panose="020B0502040204020203" pitchFamily="34" charset="0"/>
              </a:rPr>
              <a:t>Collaborative Filtering</a:t>
            </a:r>
            <a:endParaRPr lang="vi-VN">
              <a:solidFill>
                <a:schemeClr val="accent2">
                  <a:lumMod val="75000"/>
                </a:schemeClr>
              </a:solidFill>
              <a:latin typeface="Bahnschrift" panose="020B0502040204020203" pitchFamily="34" charset="0"/>
            </a:endParaRPr>
          </a:p>
        </p:txBody>
      </p:sp>
      <p:graphicFrame>
        <p:nvGraphicFramePr>
          <p:cNvPr id="10" name="Table 9">
            <a:extLst>
              <a:ext uri="{FF2B5EF4-FFF2-40B4-BE49-F238E27FC236}">
                <a16:creationId xmlns:a16="http://schemas.microsoft.com/office/drawing/2014/main" id="{5B7A6905-1E82-24CD-55E3-DC381F459F2C}"/>
              </a:ext>
            </a:extLst>
          </p:cNvPr>
          <p:cNvGraphicFramePr>
            <a:graphicFrameLocks noGrp="1"/>
          </p:cNvGraphicFramePr>
          <p:nvPr/>
        </p:nvGraphicFramePr>
        <p:xfrm>
          <a:off x="2994793" y="1604010"/>
          <a:ext cx="2878045" cy="1737360"/>
        </p:xfrm>
        <a:graphic>
          <a:graphicData uri="http://schemas.openxmlformats.org/drawingml/2006/table">
            <a:tbl>
              <a:tblPr/>
              <a:tblGrid>
                <a:gridCol w="1817712">
                  <a:extLst>
                    <a:ext uri="{9D8B030D-6E8A-4147-A177-3AD203B41FA5}">
                      <a16:colId xmlns:a16="http://schemas.microsoft.com/office/drawing/2014/main" val="3272631931"/>
                    </a:ext>
                  </a:extLst>
                </a:gridCol>
                <a:gridCol w="1060333">
                  <a:extLst>
                    <a:ext uri="{9D8B030D-6E8A-4147-A177-3AD203B41FA5}">
                      <a16:colId xmlns:a16="http://schemas.microsoft.com/office/drawing/2014/main" val="3333742708"/>
                    </a:ext>
                  </a:extLst>
                </a:gridCol>
              </a:tblGrid>
              <a:tr h="0">
                <a:tc>
                  <a:txBody>
                    <a:bodyPr/>
                    <a:lstStyle/>
                    <a:p>
                      <a:pPr algn="ctr" rtl="0" fontAlgn="base"/>
                      <a:r>
                        <a:rPr lang="vi-VN" sz="1300" b="1" i="0">
                          <a:effectLst/>
                          <a:latin typeface="+mn-lt"/>
                        </a:rPr>
                        <a:t>Các tham số </a:t>
                      </a:r>
                      <a:endParaRPr lang="vi-VN" b="1"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vi-VN" sz="1300" b="1" i="0">
                          <a:effectLst/>
                          <a:latin typeface="+mn-lt"/>
                        </a:rPr>
                        <a:t>Giá trị </a:t>
                      </a:r>
                      <a:endParaRPr lang="vi-VN" b="1"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4853707"/>
                  </a:ext>
                </a:extLst>
              </a:tr>
              <a:tr h="190500">
                <a:tc>
                  <a:txBody>
                    <a:bodyPr/>
                    <a:lstStyle/>
                    <a:p>
                      <a:pPr algn="l" rtl="0" fontAlgn="base"/>
                      <a:r>
                        <a:rPr lang="en-US" sz="1300" b="0" i="0" err="1">
                          <a:effectLst/>
                          <a:latin typeface="+mn-lt"/>
                        </a:rPr>
                        <a:t>cf_type</a:t>
                      </a:r>
                      <a:r>
                        <a:rPr lang="en-US" sz="1300" b="0" i="0">
                          <a:effectLst/>
                          <a:latin typeface="+mn-lt"/>
                        </a:rPr>
                        <a:t> </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r>
                        <a:rPr lang="en-US" sz="1300" b="0" i="0" err="1">
                          <a:effectLst/>
                          <a:latin typeface="+mn-lt"/>
                        </a:rPr>
                        <a:t>user_based</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0664741"/>
                  </a:ext>
                </a:extLst>
              </a:tr>
              <a:tr h="190500">
                <a:tc>
                  <a:txBody>
                    <a:bodyPr/>
                    <a:lstStyle/>
                    <a:p>
                      <a:pPr algn="l" rtl="0" fontAlgn="base"/>
                      <a:r>
                        <a:rPr lang="en-US" sz="1300" b="0" i="0" err="1">
                          <a:effectLst/>
                          <a:latin typeface="+mn-lt"/>
                        </a:rPr>
                        <a:t>similarity_method</a:t>
                      </a:r>
                      <a:r>
                        <a:rPr lang="en-US" sz="1300" b="0" i="0">
                          <a:effectLst/>
                          <a:latin typeface="+mn-lt"/>
                        </a:rPr>
                        <a:t> </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r>
                        <a:rPr lang="en-US" sz="1300" b="0" i="0" err="1">
                          <a:effectLst/>
                          <a:latin typeface="+mn-lt"/>
                        </a:rPr>
                        <a:t>pearson</a:t>
                      </a:r>
                      <a:r>
                        <a:rPr lang="en-US" sz="1300" b="0" i="0">
                          <a:effectLst/>
                          <a:latin typeface="+mn-lt"/>
                        </a:rPr>
                        <a:t> </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8689873"/>
                  </a:ext>
                </a:extLst>
              </a:tr>
              <a:tr h="190500">
                <a:tc>
                  <a:txBody>
                    <a:bodyPr/>
                    <a:lstStyle/>
                    <a:p>
                      <a:pPr algn="l" rtl="0" fontAlgn="base"/>
                      <a:r>
                        <a:rPr lang="en-US" sz="1300" b="0" i="0" err="1">
                          <a:effectLst/>
                          <a:latin typeface="+mn-lt"/>
                        </a:rPr>
                        <a:t>k_neighbors</a:t>
                      </a:r>
                      <a:r>
                        <a:rPr lang="en-US" sz="1300" b="0" i="0">
                          <a:effectLst/>
                          <a:latin typeface="+mn-lt"/>
                        </a:rPr>
                        <a:t> </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r>
                        <a:rPr lang="vi-VN" sz="1300" b="0" i="0">
                          <a:effectLst/>
                          <a:latin typeface="+mn-lt"/>
                        </a:rPr>
                        <a:t>50 </a:t>
                      </a:r>
                      <a:endParaRPr lang="vi-VN"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2895733"/>
                  </a:ext>
                </a:extLst>
              </a:tr>
              <a:tr h="190500">
                <a:tc>
                  <a:txBody>
                    <a:bodyPr/>
                    <a:lstStyle/>
                    <a:p>
                      <a:pPr algn="l" rtl="0" fontAlgn="base"/>
                      <a:r>
                        <a:rPr lang="en-US" sz="1300" b="0" i="0" err="1">
                          <a:effectLst/>
                          <a:latin typeface="+mn-lt"/>
                        </a:rPr>
                        <a:t>min_common_items</a:t>
                      </a:r>
                      <a:r>
                        <a:rPr lang="en-US" sz="1300" b="0" i="0">
                          <a:effectLst/>
                          <a:latin typeface="+mn-lt"/>
                        </a:rPr>
                        <a:t> </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r>
                        <a:rPr lang="vi-VN" sz="1300" b="0" i="0">
                          <a:effectLst/>
                          <a:latin typeface="+mn-lt"/>
                        </a:rPr>
                        <a:t>5 </a:t>
                      </a:r>
                      <a:endParaRPr lang="vi-VN"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1366516"/>
                  </a:ext>
                </a:extLst>
              </a:tr>
              <a:tr h="190500">
                <a:tc>
                  <a:txBody>
                    <a:bodyPr/>
                    <a:lstStyle/>
                    <a:p>
                      <a:pPr algn="l" rtl="0" fontAlgn="base"/>
                      <a:r>
                        <a:rPr lang="en-US" sz="1300" b="0" i="0" err="1">
                          <a:effectLst/>
                          <a:latin typeface="+mn-lt"/>
                        </a:rPr>
                        <a:t>min_common_users</a:t>
                      </a:r>
                      <a:r>
                        <a:rPr lang="en-US" sz="1300" b="0" i="0">
                          <a:effectLst/>
                          <a:latin typeface="+mn-lt"/>
                        </a:rPr>
                        <a:t> </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r>
                        <a:rPr lang="vi-VN" sz="1300" b="0" i="0">
                          <a:effectLst/>
                          <a:latin typeface="+mn-lt"/>
                        </a:rPr>
                        <a:t>2 </a:t>
                      </a:r>
                      <a:endParaRPr lang="vi-VN"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4285533"/>
                  </a:ext>
                </a:extLst>
              </a:tr>
            </a:tbl>
          </a:graphicData>
        </a:graphic>
      </p:graphicFrame>
      <p:graphicFrame>
        <p:nvGraphicFramePr>
          <p:cNvPr id="11" name="Table 10">
            <a:extLst>
              <a:ext uri="{FF2B5EF4-FFF2-40B4-BE49-F238E27FC236}">
                <a16:creationId xmlns:a16="http://schemas.microsoft.com/office/drawing/2014/main" id="{0C34A93D-520A-8F17-969F-39867ACE1451}"/>
              </a:ext>
            </a:extLst>
          </p:cNvPr>
          <p:cNvGraphicFramePr>
            <a:graphicFrameLocks noGrp="1"/>
          </p:cNvGraphicFramePr>
          <p:nvPr/>
        </p:nvGraphicFramePr>
        <p:xfrm>
          <a:off x="6181060" y="1604010"/>
          <a:ext cx="2878044" cy="1737360"/>
        </p:xfrm>
        <a:graphic>
          <a:graphicData uri="http://schemas.openxmlformats.org/drawingml/2006/table">
            <a:tbl>
              <a:tblPr/>
              <a:tblGrid>
                <a:gridCol w="1817712">
                  <a:extLst>
                    <a:ext uri="{9D8B030D-6E8A-4147-A177-3AD203B41FA5}">
                      <a16:colId xmlns:a16="http://schemas.microsoft.com/office/drawing/2014/main" val="1119327360"/>
                    </a:ext>
                  </a:extLst>
                </a:gridCol>
                <a:gridCol w="1060332">
                  <a:extLst>
                    <a:ext uri="{9D8B030D-6E8A-4147-A177-3AD203B41FA5}">
                      <a16:colId xmlns:a16="http://schemas.microsoft.com/office/drawing/2014/main" val="1637781623"/>
                    </a:ext>
                  </a:extLst>
                </a:gridCol>
              </a:tblGrid>
              <a:tr h="190500">
                <a:tc>
                  <a:txBody>
                    <a:bodyPr/>
                    <a:lstStyle/>
                    <a:p>
                      <a:pPr algn="ctr" rtl="0" fontAlgn="base"/>
                      <a:r>
                        <a:rPr lang="vi-VN" sz="1300" b="1" i="0">
                          <a:effectLst/>
                          <a:latin typeface="+mn-lt"/>
                        </a:rPr>
                        <a:t>Các tham số </a:t>
                      </a:r>
                      <a:endParaRPr lang="vi-VN" b="1"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ase"/>
                      <a:r>
                        <a:rPr lang="vi-VN" sz="1300" b="1" i="0">
                          <a:effectLst/>
                          <a:latin typeface="+mn-lt"/>
                        </a:rPr>
                        <a:t>Giá trị </a:t>
                      </a:r>
                      <a:endParaRPr lang="vi-VN" b="1"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40136"/>
                  </a:ext>
                </a:extLst>
              </a:tr>
              <a:tr h="0">
                <a:tc>
                  <a:txBody>
                    <a:bodyPr/>
                    <a:lstStyle/>
                    <a:p>
                      <a:pPr algn="l" rtl="0" fontAlgn="base"/>
                      <a:r>
                        <a:rPr lang="en-US" sz="1300" b="0" i="0" err="1">
                          <a:effectLst/>
                          <a:latin typeface="+mn-lt"/>
                        </a:rPr>
                        <a:t>cf_type</a:t>
                      </a:r>
                      <a:r>
                        <a:rPr lang="en-US" sz="1300" b="0" i="0">
                          <a:effectLst/>
                          <a:latin typeface="+mn-lt"/>
                        </a:rPr>
                        <a:t> </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r>
                        <a:rPr lang="en-US" sz="1300" b="0" i="0" err="1">
                          <a:effectLst/>
                          <a:latin typeface="+mn-lt"/>
                        </a:rPr>
                        <a:t>user_based</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4036123"/>
                  </a:ext>
                </a:extLst>
              </a:tr>
              <a:tr h="190500">
                <a:tc>
                  <a:txBody>
                    <a:bodyPr/>
                    <a:lstStyle/>
                    <a:p>
                      <a:pPr algn="l" rtl="0" fontAlgn="base"/>
                      <a:r>
                        <a:rPr lang="en-US" sz="1300" b="0" i="0" err="1">
                          <a:effectLst/>
                          <a:latin typeface="+mn-lt"/>
                        </a:rPr>
                        <a:t>similarity_method</a:t>
                      </a:r>
                      <a:r>
                        <a:rPr lang="en-US" sz="1300" b="0" i="0">
                          <a:effectLst/>
                          <a:latin typeface="+mn-lt"/>
                        </a:rPr>
                        <a:t> </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r>
                        <a:rPr lang="en-US" sz="1300" b="0" i="0">
                          <a:effectLst/>
                          <a:latin typeface="+mn-lt"/>
                        </a:rPr>
                        <a:t>pearson </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8411734"/>
                  </a:ext>
                </a:extLst>
              </a:tr>
              <a:tr h="190500">
                <a:tc>
                  <a:txBody>
                    <a:bodyPr/>
                    <a:lstStyle/>
                    <a:p>
                      <a:pPr algn="l" rtl="0" fontAlgn="base"/>
                      <a:r>
                        <a:rPr lang="en-US" sz="1300" b="0" i="0" err="1">
                          <a:effectLst/>
                          <a:latin typeface="+mn-lt"/>
                        </a:rPr>
                        <a:t>k_neighbors</a:t>
                      </a:r>
                      <a:r>
                        <a:rPr lang="en-US" sz="1300" b="0" i="0">
                          <a:effectLst/>
                          <a:latin typeface="+mn-lt"/>
                        </a:rPr>
                        <a:t> </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r>
                        <a:rPr lang="vi-VN" sz="1300" b="0" i="0">
                          <a:effectLst/>
                          <a:latin typeface="+mn-lt"/>
                        </a:rPr>
                        <a:t>50 </a:t>
                      </a:r>
                      <a:endParaRPr lang="vi-VN"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3610321"/>
                  </a:ext>
                </a:extLst>
              </a:tr>
              <a:tr h="190500">
                <a:tc>
                  <a:txBody>
                    <a:bodyPr/>
                    <a:lstStyle/>
                    <a:p>
                      <a:pPr algn="l" rtl="0" fontAlgn="base"/>
                      <a:r>
                        <a:rPr lang="en-US" sz="1300" b="0" i="0">
                          <a:effectLst/>
                          <a:latin typeface="+mn-lt"/>
                        </a:rPr>
                        <a:t>min_common_items </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r>
                        <a:rPr lang="vi-VN" sz="1300" b="0" i="0">
                          <a:effectLst/>
                          <a:latin typeface="+mn-lt"/>
                        </a:rPr>
                        <a:t>5 </a:t>
                      </a:r>
                      <a:endParaRPr lang="vi-VN"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9563560"/>
                  </a:ext>
                </a:extLst>
              </a:tr>
              <a:tr h="190500">
                <a:tc>
                  <a:txBody>
                    <a:bodyPr/>
                    <a:lstStyle/>
                    <a:p>
                      <a:pPr algn="l" rtl="0" fontAlgn="base"/>
                      <a:r>
                        <a:rPr lang="en-US" sz="1300" b="0" i="0">
                          <a:effectLst/>
                          <a:latin typeface="+mn-lt"/>
                        </a:rPr>
                        <a:t>min_common_users </a:t>
                      </a:r>
                      <a:endParaRPr lang="en-US"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ase"/>
                      <a:r>
                        <a:rPr lang="vi-VN" sz="1300" b="0" i="0">
                          <a:effectLst/>
                          <a:latin typeface="+mn-lt"/>
                        </a:rPr>
                        <a:t>2 </a:t>
                      </a:r>
                      <a:endParaRPr lang="vi-VN" b="0" i="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9231310"/>
                  </a:ext>
                </a:extLst>
              </a:tr>
            </a:tbl>
          </a:graphicData>
        </a:graphic>
      </p:graphicFrame>
      <p:sp>
        <p:nvSpPr>
          <p:cNvPr id="13" name="TextBox 12">
            <a:extLst>
              <a:ext uri="{FF2B5EF4-FFF2-40B4-BE49-F238E27FC236}">
                <a16:creationId xmlns:a16="http://schemas.microsoft.com/office/drawing/2014/main" id="{6E36F0A5-AD96-D48A-7432-DA5DE82EA057}"/>
              </a:ext>
            </a:extLst>
          </p:cNvPr>
          <p:cNvSpPr txBox="1"/>
          <p:nvPr/>
        </p:nvSpPr>
        <p:spPr>
          <a:xfrm>
            <a:off x="7067109" y="1068196"/>
            <a:ext cx="843515" cy="307777"/>
          </a:xfrm>
          <a:prstGeom prst="rect">
            <a:avLst/>
          </a:prstGeom>
          <a:noFill/>
        </p:spPr>
        <p:txBody>
          <a:bodyPr wrap="square">
            <a:spAutoFit/>
          </a:bodyPr>
          <a:lstStyle/>
          <a:p>
            <a:r>
              <a:rPr lang="vi-VN" b="1" i="0">
                <a:solidFill>
                  <a:schemeClr val="accent2">
                    <a:lumMod val="75000"/>
                  </a:schemeClr>
                </a:solidFill>
                <a:effectLst/>
                <a:latin typeface="Bahnschrift" panose="020B0502040204020203" pitchFamily="34" charset="0"/>
              </a:rPr>
              <a:t>SASRec</a:t>
            </a:r>
            <a:endParaRPr lang="vi-VN">
              <a:solidFill>
                <a:schemeClr val="accent2">
                  <a:lumMod val="75000"/>
                </a:schemeClr>
              </a:solidFill>
              <a:latin typeface="Bahnschrift" panose="020B0502040204020203" pitchFamily="34" charset="0"/>
            </a:endParaRPr>
          </a:p>
        </p:txBody>
      </p:sp>
      <p:graphicFrame>
        <p:nvGraphicFramePr>
          <p:cNvPr id="14" name="Table 13">
            <a:extLst>
              <a:ext uri="{FF2B5EF4-FFF2-40B4-BE49-F238E27FC236}">
                <a16:creationId xmlns:a16="http://schemas.microsoft.com/office/drawing/2014/main" id="{BE33D89A-2774-DDEB-96BA-716529DFA775}"/>
              </a:ext>
            </a:extLst>
          </p:cNvPr>
          <p:cNvGraphicFramePr>
            <a:graphicFrameLocks noGrp="1"/>
          </p:cNvGraphicFramePr>
          <p:nvPr/>
        </p:nvGraphicFramePr>
        <p:xfrm>
          <a:off x="575565" y="1681130"/>
          <a:ext cx="1962150" cy="1583121"/>
        </p:xfrm>
        <a:graphic>
          <a:graphicData uri="http://schemas.openxmlformats.org/drawingml/2006/table">
            <a:tbl>
              <a:tblPr firstRow="1" firstCol="1" bandRow="1">
                <a:tableStyleId>{FCFD89B0-09A9-401F-B85D-9E3E2F4A158D}</a:tableStyleId>
              </a:tblPr>
              <a:tblGrid>
                <a:gridCol w="1400175">
                  <a:extLst>
                    <a:ext uri="{9D8B030D-6E8A-4147-A177-3AD203B41FA5}">
                      <a16:colId xmlns:a16="http://schemas.microsoft.com/office/drawing/2014/main" val="764271493"/>
                    </a:ext>
                  </a:extLst>
                </a:gridCol>
                <a:gridCol w="561975">
                  <a:extLst>
                    <a:ext uri="{9D8B030D-6E8A-4147-A177-3AD203B41FA5}">
                      <a16:colId xmlns:a16="http://schemas.microsoft.com/office/drawing/2014/main" val="3478807514"/>
                    </a:ext>
                  </a:extLst>
                </a:gridCol>
              </a:tblGrid>
              <a:tr h="190500">
                <a:tc>
                  <a:txBody>
                    <a:bodyPr/>
                    <a:lstStyle/>
                    <a:p>
                      <a:pPr algn="ctr">
                        <a:lnSpc>
                          <a:spcPct val="150000"/>
                        </a:lnSpc>
                        <a:spcAft>
                          <a:spcPts val="800"/>
                        </a:spcAft>
                      </a:pPr>
                      <a:r>
                        <a:rPr lang="en-US" sz="1300" b="1" kern="100" err="1">
                          <a:effectLst/>
                        </a:rPr>
                        <a:t>Tham</a:t>
                      </a:r>
                      <a:r>
                        <a:rPr lang="en-US" sz="1300" b="1" kern="100">
                          <a:effectLst/>
                        </a:rPr>
                        <a:t> </a:t>
                      </a:r>
                      <a:r>
                        <a:rPr lang="en-US" sz="1300" b="1" kern="100" err="1">
                          <a:effectLst/>
                        </a:rPr>
                        <a:t>số</a:t>
                      </a:r>
                      <a:endParaRPr lang="vi-VN" sz="1300" b="1" kern="100">
                        <a:effectLst/>
                        <a:latin typeface="Times New Roman" panose="02020603050405020304" pitchFamily="18" charset="0"/>
                        <a:ea typeface="Arial" panose="020B060402020202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800"/>
                        </a:spcAft>
                      </a:pPr>
                      <a:r>
                        <a:rPr lang="en-US" sz="1300" b="1" kern="100" err="1">
                          <a:effectLst/>
                        </a:rPr>
                        <a:t>Giá</a:t>
                      </a:r>
                      <a:r>
                        <a:rPr lang="en-US" sz="1300" b="1" kern="100">
                          <a:effectLst/>
                        </a:rPr>
                        <a:t> </a:t>
                      </a:r>
                      <a:r>
                        <a:rPr lang="en-US" sz="1300" b="1" kern="100" err="1">
                          <a:effectLst/>
                        </a:rPr>
                        <a:t>trị</a:t>
                      </a:r>
                      <a:endParaRPr lang="vi-VN" sz="1300" b="1" kern="100">
                        <a:effectLst/>
                        <a:latin typeface="Times New Roman" panose="02020603050405020304" pitchFamily="18" charset="0"/>
                        <a:ea typeface="Arial" panose="020B060402020202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765754"/>
                  </a:ext>
                </a:extLst>
              </a:tr>
              <a:tr h="190500">
                <a:tc>
                  <a:txBody>
                    <a:bodyPr/>
                    <a:lstStyle/>
                    <a:p>
                      <a:pPr>
                        <a:lnSpc>
                          <a:spcPct val="150000"/>
                        </a:lnSpc>
                        <a:spcAft>
                          <a:spcPts val="800"/>
                        </a:spcAft>
                      </a:pPr>
                      <a:r>
                        <a:rPr lang="en-US" sz="1300" kern="100">
                          <a:effectLst/>
                        </a:rPr>
                        <a:t> </a:t>
                      </a:r>
                      <a:r>
                        <a:rPr lang="en-US" sz="1300" kern="100" err="1">
                          <a:effectLst/>
                        </a:rPr>
                        <a:t>n_factors</a:t>
                      </a:r>
                      <a:r>
                        <a:rPr lang="en-US" sz="1300" kern="100">
                          <a:effectLst/>
                        </a:rPr>
                        <a:t>   </a:t>
                      </a:r>
                      <a:r>
                        <a:rPr lang="vi-VN" sz="1300" kern="100">
                          <a:effectLst/>
                        </a:rPr>
                        <a:t> </a:t>
                      </a:r>
                      <a:endParaRPr lang="vi-VN" sz="1300" kern="100">
                        <a:effectLst/>
                        <a:latin typeface="Consolas" panose="020B0609020204030204" pitchFamily="49" charset="0"/>
                        <a:ea typeface="Arial" panose="020B060402020202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Aft>
                          <a:spcPts val="800"/>
                        </a:spcAft>
                      </a:pPr>
                      <a:r>
                        <a:rPr lang="en-US" sz="1300" kern="100">
                          <a:effectLst/>
                        </a:rPr>
                        <a:t>50</a:t>
                      </a:r>
                      <a:r>
                        <a:rPr lang="vi-VN" sz="1300" kern="100">
                          <a:effectLst/>
                        </a:rPr>
                        <a:t> </a:t>
                      </a:r>
                      <a:endParaRPr lang="vi-VN" sz="1300" kern="100">
                        <a:effectLst/>
                        <a:latin typeface="Times New Roman" panose="02020603050405020304" pitchFamily="18" charset="0"/>
                        <a:ea typeface="Arial" panose="020B060402020202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6526087"/>
                  </a:ext>
                </a:extLst>
              </a:tr>
              <a:tr h="190500">
                <a:tc>
                  <a:txBody>
                    <a:bodyPr/>
                    <a:lstStyle/>
                    <a:p>
                      <a:pPr>
                        <a:lnSpc>
                          <a:spcPct val="150000"/>
                        </a:lnSpc>
                        <a:spcAft>
                          <a:spcPts val="800"/>
                        </a:spcAft>
                      </a:pPr>
                      <a:r>
                        <a:rPr lang="en-US" sz="1300" kern="100">
                          <a:effectLst/>
                        </a:rPr>
                        <a:t> </a:t>
                      </a:r>
                      <a:r>
                        <a:rPr lang="en-US" sz="1300" kern="100" err="1">
                          <a:effectLst/>
                        </a:rPr>
                        <a:t>learning_rate</a:t>
                      </a:r>
                      <a:r>
                        <a:rPr lang="en-US" sz="1300" kern="100">
                          <a:effectLst/>
                        </a:rPr>
                        <a:t> </a:t>
                      </a:r>
                      <a:r>
                        <a:rPr lang="vi-VN" sz="1300" kern="100">
                          <a:effectLst/>
                        </a:rPr>
                        <a:t> </a:t>
                      </a:r>
                      <a:endParaRPr lang="vi-VN" sz="1300" kern="100">
                        <a:effectLst/>
                        <a:latin typeface="Consolas" panose="020B0609020204030204" pitchFamily="49" charset="0"/>
                        <a:ea typeface="Arial" panose="020B060402020202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Aft>
                          <a:spcPts val="800"/>
                        </a:spcAft>
                      </a:pPr>
                      <a:r>
                        <a:rPr lang="en-US" sz="1300" kern="100">
                          <a:effectLst/>
                        </a:rPr>
                        <a:t>0.001</a:t>
                      </a:r>
                      <a:r>
                        <a:rPr lang="vi-VN" sz="1300" kern="100">
                          <a:effectLst/>
                        </a:rPr>
                        <a:t> </a:t>
                      </a:r>
                      <a:endParaRPr lang="vi-VN" sz="1300" kern="100">
                        <a:effectLst/>
                        <a:latin typeface="Times New Roman" panose="02020603050405020304" pitchFamily="18" charset="0"/>
                        <a:ea typeface="Arial" panose="020B060402020202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5604166"/>
                  </a:ext>
                </a:extLst>
              </a:tr>
              <a:tr h="0">
                <a:tc>
                  <a:txBody>
                    <a:bodyPr/>
                    <a:lstStyle/>
                    <a:p>
                      <a:pPr>
                        <a:lnSpc>
                          <a:spcPct val="150000"/>
                        </a:lnSpc>
                        <a:spcAft>
                          <a:spcPts val="800"/>
                        </a:spcAft>
                      </a:pPr>
                      <a:r>
                        <a:rPr lang="en-US" sz="1300" kern="100">
                          <a:effectLst/>
                        </a:rPr>
                        <a:t> </a:t>
                      </a:r>
                      <a:r>
                        <a:rPr lang="en-US" sz="1300" kern="100" err="1">
                          <a:effectLst/>
                        </a:rPr>
                        <a:t>batch_size</a:t>
                      </a:r>
                      <a:endParaRPr lang="vi-VN" sz="1300" kern="100">
                        <a:effectLst/>
                        <a:latin typeface="Consolas" panose="020B0609020204030204" pitchFamily="49" charset="0"/>
                        <a:ea typeface="Arial" panose="020B060402020202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Aft>
                          <a:spcPts val="800"/>
                        </a:spcAft>
                      </a:pPr>
                      <a:r>
                        <a:rPr lang="en-US" sz="1300" kern="100">
                          <a:effectLst/>
                        </a:rPr>
                        <a:t>256</a:t>
                      </a:r>
                      <a:r>
                        <a:rPr lang="vi-VN" sz="1300" kern="100">
                          <a:effectLst/>
                        </a:rPr>
                        <a:t> </a:t>
                      </a:r>
                      <a:endParaRPr lang="vi-VN" sz="1300" kern="100">
                        <a:effectLst/>
                        <a:latin typeface="Times New Roman" panose="02020603050405020304" pitchFamily="18" charset="0"/>
                        <a:ea typeface="Arial" panose="020B060402020202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1554353"/>
                  </a:ext>
                </a:extLst>
              </a:tr>
              <a:tr h="190500">
                <a:tc>
                  <a:txBody>
                    <a:bodyPr/>
                    <a:lstStyle/>
                    <a:p>
                      <a:pPr>
                        <a:lnSpc>
                          <a:spcPct val="150000"/>
                        </a:lnSpc>
                        <a:spcAft>
                          <a:spcPts val="800"/>
                        </a:spcAft>
                      </a:pPr>
                      <a:r>
                        <a:rPr lang="en-US" sz="1300" kern="100">
                          <a:effectLst/>
                        </a:rPr>
                        <a:t> epochs  </a:t>
                      </a:r>
                      <a:r>
                        <a:rPr lang="vi-VN" sz="1300" kern="100">
                          <a:effectLst/>
                        </a:rPr>
                        <a:t> </a:t>
                      </a:r>
                      <a:endParaRPr lang="vi-VN" sz="1300" kern="100">
                        <a:effectLst/>
                        <a:latin typeface="Consolas" panose="020B0609020204030204" pitchFamily="49" charset="0"/>
                        <a:ea typeface="Arial" panose="020B060402020202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Aft>
                          <a:spcPts val="800"/>
                        </a:spcAft>
                      </a:pPr>
                      <a:r>
                        <a:rPr lang="en-US" sz="1300" kern="100">
                          <a:effectLst/>
                        </a:rPr>
                        <a:t>50</a:t>
                      </a:r>
                      <a:r>
                        <a:rPr lang="vi-VN" sz="1300" kern="100">
                          <a:effectLst/>
                        </a:rPr>
                        <a:t> </a:t>
                      </a:r>
                      <a:endParaRPr lang="vi-VN" sz="1300" kern="100">
                        <a:effectLst/>
                        <a:latin typeface="Times New Roman" panose="02020603050405020304" pitchFamily="18" charset="0"/>
                        <a:ea typeface="Arial" panose="020B060402020202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1457699"/>
                  </a:ext>
                </a:extLst>
              </a:tr>
              <a:tr h="190500">
                <a:tc>
                  <a:txBody>
                    <a:bodyPr/>
                    <a:lstStyle/>
                    <a:p>
                      <a:pPr>
                        <a:lnSpc>
                          <a:spcPct val="150000"/>
                        </a:lnSpc>
                        <a:spcAft>
                          <a:spcPts val="800"/>
                        </a:spcAft>
                      </a:pPr>
                      <a:r>
                        <a:rPr lang="en-US" sz="1300" kern="100">
                          <a:effectLst/>
                        </a:rPr>
                        <a:t> regularization</a:t>
                      </a:r>
                      <a:r>
                        <a:rPr lang="vi-VN" sz="1300" kern="100">
                          <a:effectLst/>
                        </a:rPr>
                        <a:t> </a:t>
                      </a:r>
                      <a:endParaRPr lang="vi-VN" sz="1300" kern="100">
                        <a:effectLst/>
                        <a:latin typeface="Consolas" panose="020B0609020204030204" pitchFamily="49" charset="0"/>
                        <a:ea typeface="Arial" panose="020B060402020202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Aft>
                          <a:spcPts val="800"/>
                        </a:spcAft>
                      </a:pPr>
                      <a:r>
                        <a:rPr lang="en-US" sz="1300" kern="100">
                          <a:effectLst/>
                        </a:rPr>
                        <a:t>0.1</a:t>
                      </a:r>
                      <a:r>
                        <a:rPr lang="vi-VN" sz="1300" kern="100">
                          <a:effectLst/>
                        </a:rPr>
                        <a:t> </a:t>
                      </a:r>
                      <a:endParaRPr lang="vi-VN" sz="1300" kern="100">
                        <a:effectLst/>
                        <a:latin typeface="Times New Roman" panose="02020603050405020304" pitchFamily="18" charset="0"/>
                        <a:ea typeface="Arial" panose="020B060402020202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2071899"/>
                  </a:ext>
                </a:extLst>
              </a:tr>
            </a:tbl>
          </a:graphicData>
        </a:graphic>
      </p:graphicFrame>
    </p:spTree>
    <p:extLst>
      <p:ext uri="{BB962C8B-B14F-4D97-AF65-F5344CB8AC3E}">
        <p14:creationId xmlns:p14="http://schemas.microsoft.com/office/powerpoint/2010/main" val="3597121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show="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BC2E514E-7D2B-0F8D-EABA-A3F48A5F9288}"/>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39699BCD-E624-C03B-406B-3A5EFA67F124}"/>
              </a:ext>
            </a:extLst>
          </p:cNvPr>
          <p:cNvSpPr txBox="1">
            <a:spLocks noGrp="1"/>
          </p:cNvSpPr>
          <p:nvPr>
            <p:ph type="title"/>
          </p:nvPr>
        </p:nvSpPr>
        <p:spPr>
          <a:xfrm>
            <a:off x="807923" y="173929"/>
            <a:ext cx="7704000" cy="572700"/>
          </a:xfrm>
          <a:prstGeom prst="rect">
            <a:avLst/>
          </a:prstGeom>
        </p:spPr>
        <p:txBody>
          <a:bodyPr spcFirstLastPara="1" wrap="square" lIns="91425" tIns="91425" rIns="91425" bIns="91425" anchor="t" anchorCtr="0">
            <a:noAutofit/>
          </a:bodyPr>
          <a:lstStyle/>
          <a:p>
            <a:r>
              <a:rPr lang="vi-VN"/>
              <a:t>7</a:t>
            </a:r>
            <a:r>
              <a:rPr lang="en"/>
              <a:t>. Mapping Systems &amp; Tasks</a:t>
            </a:r>
          </a:p>
        </p:txBody>
      </p:sp>
      <p:pic>
        <p:nvPicPr>
          <p:cNvPr id="2" name="Picture 1" descr="A diagram of a system&#10;&#10;AI-generated content may be incorrect.">
            <a:extLst>
              <a:ext uri="{FF2B5EF4-FFF2-40B4-BE49-F238E27FC236}">
                <a16:creationId xmlns:a16="http://schemas.microsoft.com/office/drawing/2014/main" id="{7BAFF571-E094-0992-328D-789D3402BC56}"/>
              </a:ext>
            </a:extLst>
          </p:cNvPr>
          <p:cNvPicPr>
            <a:picLocks noChangeAspect="1"/>
          </p:cNvPicPr>
          <p:nvPr/>
        </p:nvPicPr>
        <p:blipFill>
          <a:blip r:embed="rId4"/>
          <a:stretch>
            <a:fillRect/>
          </a:stretch>
        </p:blipFill>
        <p:spPr>
          <a:xfrm>
            <a:off x="1428750" y="835819"/>
            <a:ext cx="6286500" cy="4714875"/>
          </a:xfrm>
          <a:prstGeom prst="rect">
            <a:avLst/>
          </a:prstGeom>
        </p:spPr>
      </p:pic>
    </p:spTree>
    <p:extLst>
      <p:ext uri="{BB962C8B-B14F-4D97-AF65-F5344CB8AC3E}">
        <p14:creationId xmlns:p14="http://schemas.microsoft.com/office/powerpoint/2010/main" val="3585622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show="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8E5A40B1-53F1-048C-5193-F5CABE553F0D}"/>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285449C1-07CF-3E45-6CDE-1C301FB6A7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289" y="550506"/>
            <a:ext cx="2865736" cy="452705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904F22DB-AA26-B7BD-C157-292EC39310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2141" y="550505"/>
            <a:ext cx="2524366" cy="452375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863906D-541D-496D-A531-D79391099B24}"/>
              </a:ext>
            </a:extLst>
          </p:cNvPr>
          <p:cNvSpPr txBox="1"/>
          <p:nvPr/>
        </p:nvSpPr>
        <p:spPr>
          <a:xfrm>
            <a:off x="4651036" y="65965"/>
            <a:ext cx="4173803" cy="400110"/>
          </a:xfrm>
          <a:prstGeom prst="rect">
            <a:avLst/>
          </a:prstGeom>
          <a:noFill/>
        </p:spPr>
        <p:txBody>
          <a:bodyPr wrap="square" rtlCol="0">
            <a:spAutoFit/>
          </a:bodyPr>
          <a:lstStyle/>
          <a:p>
            <a:r>
              <a:rPr lang="vi-VN" sz="2000" b="1" i="0">
                <a:solidFill>
                  <a:schemeClr val="accent2">
                    <a:lumMod val="50000"/>
                  </a:schemeClr>
                </a:solidFill>
                <a:effectLst/>
                <a:latin typeface="IBM Plex Mono" panose="020B0509050203000203" pitchFamily="49" charset="0"/>
              </a:rPr>
              <a:t>Conversational Search Flow</a:t>
            </a:r>
            <a:endParaRPr lang="vi-VN" sz="2000">
              <a:solidFill>
                <a:schemeClr val="accent2">
                  <a:lumMod val="50000"/>
                </a:schemeClr>
              </a:solidFill>
              <a:latin typeface="IBM Plex Mono" panose="020B0509050203000203" pitchFamily="49" charset="0"/>
            </a:endParaRPr>
          </a:p>
        </p:txBody>
      </p:sp>
      <p:sp>
        <p:nvSpPr>
          <p:cNvPr id="3" name="TextBox 2">
            <a:extLst>
              <a:ext uri="{FF2B5EF4-FFF2-40B4-BE49-F238E27FC236}">
                <a16:creationId xmlns:a16="http://schemas.microsoft.com/office/drawing/2014/main" id="{A88A1E48-3CF8-2E5D-5040-1BB66E65C690}"/>
              </a:ext>
            </a:extLst>
          </p:cNvPr>
          <p:cNvSpPr txBox="1"/>
          <p:nvPr/>
        </p:nvSpPr>
        <p:spPr>
          <a:xfrm>
            <a:off x="777637" y="65965"/>
            <a:ext cx="3639032" cy="400110"/>
          </a:xfrm>
          <a:prstGeom prst="rect">
            <a:avLst/>
          </a:prstGeom>
          <a:noFill/>
        </p:spPr>
        <p:txBody>
          <a:bodyPr wrap="square" rtlCol="0">
            <a:spAutoFit/>
          </a:bodyPr>
          <a:lstStyle/>
          <a:p>
            <a:r>
              <a:rPr lang="vi-VN" sz="2000" b="1" i="0">
                <a:solidFill>
                  <a:schemeClr val="accent2">
                    <a:lumMod val="50000"/>
                  </a:schemeClr>
                </a:solidFill>
                <a:effectLst/>
                <a:latin typeface="IBM Plex Mono" panose="020B0509050203000203" pitchFamily="49" charset="0"/>
              </a:rPr>
              <a:t>Rating Prediction Flow</a:t>
            </a:r>
            <a:endParaRPr lang="vi-VN" sz="2000">
              <a:solidFill>
                <a:schemeClr val="accent2">
                  <a:lumMod val="50000"/>
                </a:schemeClr>
              </a:solidFill>
              <a:latin typeface="IBM Plex Mono" panose="020B0509050203000203" pitchFamily="49" charset="0"/>
            </a:endParaRPr>
          </a:p>
        </p:txBody>
      </p:sp>
    </p:spTree>
    <p:extLst>
      <p:ext uri="{BB962C8B-B14F-4D97-AF65-F5344CB8AC3E}">
        <p14:creationId xmlns:p14="http://schemas.microsoft.com/office/powerpoint/2010/main" val="3253315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8E5A40B1-53F1-048C-5193-F5CABE553F0D}"/>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6CFBFCCF-9A87-3EE1-257E-F950465D0A07}"/>
              </a:ext>
            </a:extLst>
          </p:cNvPr>
          <p:cNvSpPr txBox="1">
            <a:spLocks noGrp="1"/>
          </p:cNvSpPr>
          <p:nvPr>
            <p:ph type="title"/>
          </p:nvPr>
        </p:nvSpPr>
        <p:spPr>
          <a:xfrm>
            <a:off x="809885" y="-6531"/>
            <a:ext cx="7704000" cy="572700"/>
          </a:xfrm>
          <a:prstGeom prst="rect">
            <a:avLst/>
          </a:prstGeom>
        </p:spPr>
        <p:txBody>
          <a:bodyPr spcFirstLastPara="1" wrap="square" lIns="91425" tIns="91425" rIns="91425" bIns="91425" anchor="t" anchorCtr="0">
            <a:noAutofit/>
          </a:bodyPr>
          <a:lstStyle/>
          <a:p>
            <a:r>
              <a:rPr lang="en" dirty="0"/>
              <a:t>Giao diện trang chủ của hệ thống</a:t>
            </a:r>
          </a:p>
        </p:txBody>
      </p:sp>
      <p:pic>
        <p:nvPicPr>
          <p:cNvPr id="2" name="Picture 1" descr="A screenshot of a chat&#10;&#10;AI-generated content may be incorrect.">
            <a:extLst>
              <a:ext uri="{FF2B5EF4-FFF2-40B4-BE49-F238E27FC236}">
                <a16:creationId xmlns:a16="http://schemas.microsoft.com/office/drawing/2014/main" id="{1E500B5B-F55C-3AEB-4FFB-7C525C7D027A}"/>
              </a:ext>
            </a:extLst>
          </p:cNvPr>
          <p:cNvPicPr>
            <a:picLocks noChangeAspect="1"/>
          </p:cNvPicPr>
          <p:nvPr/>
        </p:nvPicPr>
        <p:blipFill>
          <a:blip r:embed="rId4"/>
          <a:stretch>
            <a:fillRect/>
          </a:stretch>
        </p:blipFill>
        <p:spPr>
          <a:xfrm>
            <a:off x="908538" y="891659"/>
            <a:ext cx="7605347" cy="3360181"/>
          </a:xfrm>
          <a:prstGeom prst="rect">
            <a:avLst/>
          </a:prstGeom>
        </p:spPr>
      </p:pic>
      <p:pic>
        <p:nvPicPr>
          <p:cNvPr id="3" name="Picture 2" descr="A blue and yellow logo&#10;&#10;AI-generated content may be incorrect.">
            <a:extLst>
              <a:ext uri="{FF2B5EF4-FFF2-40B4-BE49-F238E27FC236}">
                <a16:creationId xmlns:a16="http://schemas.microsoft.com/office/drawing/2014/main" id="{056D425D-0029-4418-8BC8-86430F58AE5E}"/>
              </a:ext>
            </a:extLst>
          </p:cNvPr>
          <p:cNvPicPr>
            <a:picLocks noChangeAspect="1"/>
          </p:cNvPicPr>
          <p:nvPr/>
        </p:nvPicPr>
        <p:blipFill>
          <a:blip r:embed="rId5"/>
          <a:stretch>
            <a:fillRect/>
          </a:stretch>
        </p:blipFill>
        <p:spPr>
          <a:xfrm>
            <a:off x="137160" y="114312"/>
            <a:ext cx="444137" cy="492242"/>
          </a:xfrm>
          <a:prstGeom prst="rect">
            <a:avLst/>
          </a:prstGeom>
        </p:spPr>
      </p:pic>
    </p:spTree>
    <p:extLst>
      <p:ext uri="{BB962C8B-B14F-4D97-AF65-F5344CB8AC3E}">
        <p14:creationId xmlns:p14="http://schemas.microsoft.com/office/powerpoint/2010/main" val="39793200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8E5A40B1-53F1-048C-5193-F5CABE553F0D}"/>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6CFBFCCF-9A87-3EE1-257E-F950465D0A07}"/>
              </a:ext>
            </a:extLst>
          </p:cNvPr>
          <p:cNvSpPr txBox="1">
            <a:spLocks noGrp="1"/>
          </p:cNvSpPr>
          <p:nvPr>
            <p:ph type="title"/>
          </p:nvPr>
        </p:nvSpPr>
        <p:spPr>
          <a:xfrm>
            <a:off x="996591" y="-6531"/>
            <a:ext cx="7704000" cy="572700"/>
          </a:xfrm>
          <a:prstGeom prst="rect">
            <a:avLst/>
          </a:prstGeom>
        </p:spPr>
        <p:txBody>
          <a:bodyPr spcFirstLastPara="1" wrap="square" lIns="91425" tIns="91425" rIns="91425" bIns="91425" anchor="t" anchorCtr="0">
            <a:noAutofit/>
          </a:bodyPr>
          <a:lstStyle/>
          <a:p>
            <a:r>
              <a:rPr lang="en" dirty="0"/>
              <a:t>Giao diện </a:t>
            </a:r>
            <a:r>
              <a:rPr lang="vi-VN" dirty="0"/>
              <a:t>hoạt động (1/2)</a:t>
            </a:r>
            <a:endParaRPr lang="en" dirty="0"/>
          </a:p>
        </p:txBody>
      </p:sp>
      <p:pic>
        <p:nvPicPr>
          <p:cNvPr id="5" name="Picture 4" descr="A screenshot of a movie&#10;&#10;AI-generated content may be incorrect.">
            <a:extLst>
              <a:ext uri="{FF2B5EF4-FFF2-40B4-BE49-F238E27FC236}">
                <a16:creationId xmlns:a16="http://schemas.microsoft.com/office/drawing/2014/main" id="{238B3D90-3206-CDD0-31EA-E108057168CF}"/>
              </a:ext>
            </a:extLst>
          </p:cNvPr>
          <p:cNvPicPr>
            <a:picLocks noChangeAspect="1"/>
          </p:cNvPicPr>
          <p:nvPr/>
        </p:nvPicPr>
        <p:blipFill>
          <a:blip r:embed="rId4"/>
          <a:stretch>
            <a:fillRect/>
          </a:stretch>
        </p:blipFill>
        <p:spPr>
          <a:xfrm>
            <a:off x="4569069" y="1165303"/>
            <a:ext cx="4465163" cy="221814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2C5F4BFA-D65D-D2D0-1FF1-E04F7FCFAA36}"/>
              </a:ext>
            </a:extLst>
          </p:cNvPr>
          <p:cNvPicPr>
            <a:picLocks noChangeAspect="1"/>
          </p:cNvPicPr>
          <p:nvPr/>
        </p:nvPicPr>
        <p:blipFill>
          <a:blip r:embed="rId5"/>
          <a:stretch>
            <a:fillRect/>
          </a:stretch>
        </p:blipFill>
        <p:spPr>
          <a:xfrm>
            <a:off x="2998" y="1167415"/>
            <a:ext cx="4458962" cy="2224555"/>
          </a:xfrm>
          <a:prstGeom prst="rect">
            <a:avLst/>
          </a:prstGeom>
        </p:spPr>
      </p:pic>
      <p:sp>
        <p:nvSpPr>
          <p:cNvPr id="7" name="TextBox 6">
            <a:extLst>
              <a:ext uri="{FF2B5EF4-FFF2-40B4-BE49-F238E27FC236}">
                <a16:creationId xmlns:a16="http://schemas.microsoft.com/office/drawing/2014/main" id="{7C006C4D-FAF2-DBEA-865A-AAEC70524E62}"/>
              </a:ext>
            </a:extLst>
          </p:cNvPr>
          <p:cNvSpPr txBox="1"/>
          <p:nvPr/>
        </p:nvSpPr>
        <p:spPr>
          <a:xfrm>
            <a:off x="2112086" y="3657210"/>
            <a:ext cx="547301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chemeClr val="bg1">
                    <a:lumMod val="49000"/>
                  </a:schemeClr>
                </a:solidFill>
                <a:latin typeface="Bahnschrift"/>
              </a:rPr>
              <a:t>Quá</a:t>
            </a:r>
            <a:r>
              <a:rPr lang="en-US">
                <a:solidFill>
                  <a:schemeClr val="bg1">
                    <a:lumMod val="49000"/>
                  </a:schemeClr>
                </a:solidFill>
                <a:latin typeface="Bahnschrift"/>
              </a:rPr>
              <a:t> </a:t>
            </a:r>
            <a:r>
              <a:rPr lang="en-US" err="1">
                <a:solidFill>
                  <a:schemeClr val="bg1">
                    <a:lumMod val="49000"/>
                  </a:schemeClr>
                </a:solidFill>
                <a:latin typeface="Bahnschrift"/>
              </a:rPr>
              <a:t>trình</a:t>
            </a:r>
            <a:r>
              <a:rPr lang="en-US">
                <a:solidFill>
                  <a:schemeClr val="bg1">
                    <a:lumMod val="49000"/>
                  </a:schemeClr>
                </a:solidFill>
                <a:latin typeface="Bahnschrift"/>
              </a:rPr>
              <a:t> </a:t>
            </a:r>
            <a:r>
              <a:rPr lang="en-US" err="1">
                <a:solidFill>
                  <a:schemeClr val="bg1">
                    <a:lumMod val="49000"/>
                  </a:schemeClr>
                </a:solidFill>
                <a:latin typeface="Bahnschrift"/>
              </a:rPr>
              <a:t>gợi</a:t>
            </a:r>
            <a:r>
              <a:rPr lang="en-US">
                <a:solidFill>
                  <a:schemeClr val="bg1">
                    <a:lumMod val="49000"/>
                  </a:schemeClr>
                </a:solidFill>
                <a:latin typeface="Bahnschrift"/>
              </a:rPr>
              <a:t> ý </a:t>
            </a:r>
            <a:r>
              <a:rPr lang="en-US" err="1">
                <a:solidFill>
                  <a:schemeClr val="bg1">
                    <a:lumMod val="49000"/>
                  </a:schemeClr>
                </a:solidFill>
                <a:latin typeface="Bahnschrift"/>
              </a:rPr>
              <a:t>phim</a:t>
            </a:r>
            <a:r>
              <a:rPr lang="en-US">
                <a:solidFill>
                  <a:schemeClr val="bg1">
                    <a:lumMod val="49000"/>
                  </a:schemeClr>
                </a:solidFill>
                <a:latin typeface="Bahnschrift"/>
              </a:rPr>
              <a:t> </a:t>
            </a:r>
            <a:r>
              <a:rPr lang="en-US" err="1">
                <a:solidFill>
                  <a:schemeClr val="bg1">
                    <a:lumMod val="49000"/>
                  </a:schemeClr>
                </a:solidFill>
                <a:latin typeface="Bahnschrift"/>
              </a:rPr>
              <a:t>từ</a:t>
            </a:r>
            <a:r>
              <a:rPr lang="en-US">
                <a:solidFill>
                  <a:schemeClr val="bg1">
                    <a:lumMod val="49000"/>
                  </a:schemeClr>
                </a:solidFill>
                <a:latin typeface="Bahnschrift"/>
              </a:rPr>
              <a:t> </a:t>
            </a:r>
            <a:r>
              <a:rPr lang="en-US" err="1">
                <a:solidFill>
                  <a:schemeClr val="bg1">
                    <a:lumMod val="49000"/>
                  </a:schemeClr>
                </a:solidFill>
                <a:latin typeface="Bahnschrift"/>
              </a:rPr>
              <a:t>lịch</a:t>
            </a:r>
            <a:r>
              <a:rPr lang="en-US">
                <a:solidFill>
                  <a:schemeClr val="bg1">
                    <a:lumMod val="49000"/>
                  </a:schemeClr>
                </a:solidFill>
                <a:latin typeface="Bahnschrift"/>
              </a:rPr>
              <a:t> </a:t>
            </a:r>
            <a:r>
              <a:rPr lang="en-US" err="1">
                <a:solidFill>
                  <a:schemeClr val="bg1">
                    <a:lumMod val="49000"/>
                  </a:schemeClr>
                </a:solidFill>
                <a:latin typeface="Bahnschrift"/>
              </a:rPr>
              <a:t>sử</a:t>
            </a:r>
            <a:r>
              <a:rPr lang="en-US">
                <a:solidFill>
                  <a:schemeClr val="bg1">
                    <a:lumMod val="49000"/>
                  </a:schemeClr>
                </a:solidFill>
                <a:latin typeface="Bahnschrift"/>
              </a:rPr>
              <a:t> </a:t>
            </a:r>
            <a:r>
              <a:rPr lang="en-US" err="1">
                <a:solidFill>
                  <a:schemeClr val="bg1">
                    <a:lumMod val="49000"/>
                  </a:schemeClr>
                </a:solidFill>
                <a:latin typeface="Bahnschrift"/>
              </a:rPr>
              <a:t>xem</a:t>
            </a:r>
            <a:r>
              <a:rPr lang="en-US">
                <a:solidFill>
                  <a:schemeClr val="bg1">
                    <a:lumMod val="49000"/>
                  </a:schemeClr>
                </a:solidFill>
                <a:latin typeface="Bahnschrift"/>
              </a:rPr>
              <a:t> </a:t>
            </a:r>
            <a:r>
              <a:rPr lang="en-US" err="1">
                <a:solidFill>
                  <a:schemeClr val="bg1">
                    <a:lumMod val="49000"/>
                  </a:schemeClr>
                </a:solidFill>
                <a:latin typeface="Bahnschrift"/>
              </a:rPr>
              <a:t>phim</a:t>
            </a:r>
            <a:r>
              <a:rPr lang="en-US">
                <a:solidFill>
                  <a:schemeClr val="bg1">
                    <a:lumMod val="49000"/>
                  </a:schemeClr>
                </a:solidFill>
                <a:latin typeface="Bahnschrift"/>
              </a:rPr>
              <a:t> </a:t>
            </a:r>
            <a:r>
              <a:rPr lang="en-US" err="1">
                <a:solidFill>
                  <a:schemeClr val="bg1">
                    <a:lumMod val="49000"/>
                  </a:schemeClr>
                </a:solidFill>
                <a:latin typeface="Bahnschrift"/>
              </a:rPr>
              <a:t>trước</a:t>
            </a:r>
            <a:r>
              <a:rPr lang="en-US">
                <a:solidFill>
                  <a:schemeClr val="bg1">
                    <a:lumMod val="49000"/>
                  </a:schemeClr>
                </a:solidFill>
                <a:latin typeface="Bahnschrift"/>
              </a:rPr>
              <a:t> </a:t>
            </a:r>
            <a:r>
              <a:rPr lang="en-US" err="1">
                <a:solidFill>
                  <a:schemeClr val="bg1">
                    <a:lumMod val="49000"/>
                  </a:schemeClr>
                </a:solidFill>
                <a:latin typeface="Bahnschrift"/>
              </a:rPr>
              <a:t>đó</a:t>
            </a:r>
            <a:r>
              <a:rPr lang="en-US">
                <a:solidFill>
                  <a:schemeClr val="bg1">
                    <a:lumMod val="49000"/>
                  </a:schemeClr>
                </a:solidFill>
                <a:latin typeface="Bahnschrift"/>
              </a:rPr>
              <a:t> </a:t>
            </a:r>
            <a:r>
              <a:rPr lang="en-US" err="1">
                <a:solidFill>
                  <a:schemeClr val="bg1">
                    <a:lumMod val="49000"/>
                  </a:schemeClr>
                </a:solidFill>
                <a:latin typeface="Bahnschrift"/>
              </a:rPr>
              <a:t>của</a:t>
            </a:r>
            <a:r>
              <a:rPr lang="en-US">
                <a:solidFill>
                  <a:schemeClr val="bg1">
                    <a:lumMod val="49000"/>
                  </a:schemeClr>
                </a:solidFill>
                <a:latin typeface="Bahnschrift"/>
              </a:rPr>
              <a:t> </a:t>
            </a:r>
            <a:r>
              <a:rPr lang="en-US" err="1">
                <a:solidFill>
                  <a:schemeClr val="bg1">
                    <a:lumMod val="49000"/>
                  </a:schemeClr>
                </a:solidFill>
                <a:latin typeface="Bahnschrift"/>
              </a:rPr>
              <a:t>người</a:t>
            </a:r>
            <a:r>
              <a:rPr lang="en-US">
                <a:solidFill>
                  <a:schemeClr val="bg1">
                    <a:lumMod val="49000"/>
                  </a:schemeClr>
                </a:solidFill>
                <a:latin typeface="Bahnschrift"/>
              </a:rPr>
              <a:t> </a:t>
            </a:r>
            <a:r>
              <a:rPr lang="en-US" err="1">
                <a:solidFill>
                  <a:schemeClr val="bg1">
                    <a:lumMod val="49000"/>
                  </a:schemeClr>
                </a:solidFill>
                <a:latin typeface="Bahnschrift"/>
              </a:rPr>
              <a:t>dùng</a:t>
            </a:r>
            <a:endParaRPr lang="en-US">
              <a:solidFill>
                <a:schemeClr val="bg1">
                  <a:lumMod val="49000"/>
                </a:schemeClr>
              </a:solidFill>
              <a:latin typeface="Bahnschrift"/>
            </a:endParaRPr>
          </a:p>
        </p:txBody>
      </p:sp>
      <p:pic>
        <p:nvPicPr>
          <p:cNvPr id="2" name="Picture 1" descr="A blue and yellow logo&#10;&#10;AI-generated content may be incorrect.">
            <a:extLst>
              <a:ext uri="{FF2B5EF4-FFF2-40B4-BE49-F238E27FC236}">
                <a16:creationId xmlns:a16="http://schemas.microsoft.com/office/drawing/2014/main" id="{E43FB741-B22C-9C3D-286A-1BC423286700}"/>
              </a:ext>
            </a:extLst>
          </p:cNvPr>
          <p:cNvPicPr>
            <a:picLocks noChangeAspect="1"/>
          </p:cNvPicPr>
          <p:nvPr/>
        </p:nvPicPr>
        <p:blipFill>
          <a:blip r:embed="rId6"/>
          <a:stretch>
            <a:fillRect/>
          </a:stretch>
        </p:blipFill>
        <p:spPr>
          <a:xfrm>
            <a:off x="137160" y="114312"/>
            <a:ext cx="444137" cy="492242"/>
          </a:xfrm>
          <a:prstGeom prst="rect">
            <a:avLst/>
          </a:prstGeom>
        </p:spPr>
      </p:pic>
    </p:spTree>
    <p:extLst>
      <p:ext uri="{BB962C8B-B14F-4D97-AF65-F5344CB8AC3E}">
        <p14:creationId xmlns:p14="http://schemas.microsoft.com/office/powerpoint/2010/main" val="3613417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A5EF9C5A-C86E-8897-B7BE-BF3ECF6B94A8}"/>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08EFFA33-4808-1EE4-2C10-1CFAC45FA762}"/>
              </a:ext>
            </a:extLst>
          </p:cNvPr>
          <p:cNvSpPr txBox="1">
            <a:spLocks noGrp="1"/>
          </p:cNvSpPr>
          <p:nvPr>
            <p:ph type="title"/>
          </p:nvPr>
        </p:nvSpPr>
        <p:spPr>
          <a:xfrm>
            <a:off x="864110" y="-6602"/>
            <a:ext cx="7704000" cy="572700"/>
          </a:xfrm>
          <a:prstGeom prst="rect">
            <a:avLst/>
          </a:prstGeom>
        </p:spPr>
        <p:txBody>
          <a:bodyPr spcFirstLastPara="1" wrap="square" lIns="91425" tIns="91425" rIns="91425" bIns="91425" anchor="t" anchorCtr="0">
            <a:noAutofit/>
          </a:bodyPr>
          <a:lstStyle/>
          <a:p>
            <a:r>
              <a:rPr lang="en" dirty="0"/>
              <a:t>Giao diện </a:t>
            </a:r>
            <a:r>
              <a:rPr lang="vi-VN" dirty="0"/>
              <a:t>hoạt động (2/2)</a:t>
            </a:r>
            <a:endParaRPr lang="en" dirty="0"/>
          </a:p>
        </p:txBody>
      </p:sp>
      <p:sp>
        <p:nvSpPr>
          <p:cNvPr id="7" name="TextBox 6">
            <a:extLst>
              <a:ext uri="{FF2B5EF4-FFF2-40B4-BE49-F238E27FC236}">
                <a16:creationId xmlns:a16="http://schemas.microsoft.com/office/drawing/2014/main" id="{C6B8B381-85AB-BBA4-401D-682F32647B83}"/>
              </a:ext>
            </a:extLst>
          </p:cNvPr>
          <p:cNvSpPr txBox="1"/>
          <p:nvPr/>
        </p:nvSpPr>
        <p:spPr>
          <a:xfrm>
            <a:off x="2112086" y="3657210"/>
            <a:ext cx="547301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lumMod val="49000"/>
                  </a:schemeClr>
                </a:solidFill>
                <a:latin typeface="Bahnschrift"/>
              </a:rPr>
              <a:t>Các </a:t>
            </a:r>
            <a:r>
              <a:rPr lang="en-US" err="1">
                <a:solidFill>
                  <a:schemeClr val="bg1">
                    <a:lumMod val="49000"/>
                  </a:schemeClr>
                </a:solidFill>
                <a:latin typeface="Bahnschrift"/>
              </a:rPr>
              <a:t>kết</a:t>
            </a:r>
            <a:r>
              <a:rPr lang="en-US">
                <a:solidFill>
                  <a:schemeClr val="bg1">
                    <a:lumMod val="49000"/>
                  </a:schemeClr>
                </a:solidFill>
                <a:latin typeface="Bahnschrift"/>
              </a:rPr>
              <a:t> </a:t>
            </a:r>
            <a:r>
              <a:rPr lang="en-US" err="1">
                <a:solidFill>
                  <a:schemeClr val="bg1">
                    <a:lumMod val="49000"/>
                  </a:schemeClr>
                </a:solidFill>
                <a:latin typeface="Bahnschrift"/>
              </a:rPr>
              <a:t>quả</a:t>
            </a:r>
            <a:r>
              <a:rPr lang="en-US">
                <a:solidFill>
                  <a:schemeClr val="bg1">
                    <a:lumMod val="49000"/>
                  </a:schemeClr>
                </a:solidFill>
                <a:latin typeface="Bahnschrift"/>
              </a:rPr>
              <a:t> </a:t>
            </a:r>
            <a:r>
              <a:rPr lang="en-US" err="1">
                <a:solidFill>
                  <a:schemeClr val="bg1">
                    <a:lumMod val="49000"/>
                  </a:schemeClr>
                </a:solidFill>
                <a:latin typeface="Bahnschrift"/>
              </a:rPr>
              <a:t>gợi</a:t>
            </a:r>
            <a:r>
              <a:rPr lang="en-US">
                <a:solidFill>
                  <a:schemeClr val="bg1">
                    <a:lumMod val="49000"/>
                  </a:schemeClr>
                </a:solidFill>
                <a:latin typeface="Bahnschrift"/>
              </a:rPr>
              <a:t> ý </a:t>
            </a:r>
            <a:r>
              <a:rPr lang="en-US" err="1">
                <a:solidFill>
                  <a:schemeClr val="bg1">
                    <a:lumMod val="49000"/>
                  </a:schemeClr>
                </a:solidFill>
                <a:latin typeface="Bahnschrift"/>
              </a:rPr>
              <a:t>của</a:t>
            </a:r>
            <a:r>
              <a:rPr lang="en-US">
                <a:solidFill>
                  <a:schemeClr val="bg1">
                    <a:lumMod val="49000"/>
                  </a:schemeClr>
                </a:solidFill>
                <a:latin typeface="Bahnschrift"/>
              </a:rPr>
              <a:t> </a:t>
            </a:r>
            <a:r>
              <a:rPr lang="en-US" err="1">
                <a:solidFill>
                  <a:schemeClr val="bg1">
                    <a:lumMod val="49000"/>
                  </a:schemeClr>
                </a:solidFill>
                <a:latin typeface="Bahnschrift"/>
              </a:rPr>
              <a:t>mô</a:t>
            </a:r>
            <a:r>
              <a:rPr lang="en-US">
                <a:solidFill>
                  <a:schemeClr val="bg1">
                    <a:lumMod val="49000"/>
                  </a:schemeClr>
                </a:solidFill>
                <a:latin typeface="Bahnschrift"/>
              </a:rPr>
              <a:t> </a:t>
            </a:r>
            <a:r>
              <a:rPr lang="en-US" err="1">
                <a:solidFill>
                  <a:schemeClr val="bg1">
                    <a:lumMod val="49000"/>
                  </a:schemeClr>
                </a:solidFill>
                <a:latin typeface="Bahnschrift"/>
              </a:rPr>
              <a:t>hình</a:t>
            </a:r>
            <a:r>
              <a:rPr lang="en-US">
                <a:solidFill>
                  <a:schemeClr val="bg1">
                    <a:lumMod val="49000"/>
                  </a:schemeClr>
                </a:solidFill>
                <a:latin typeface="Bahnschrift"/>
              </a:rPr>
              <a:t> Sequential Recommendation </a:t>
            </a:r>
            <a:endParaRPr lang="en-US">
              <a:solidFill>
                <a:schemeClr val="bg1">
                  <a:lumMod val="49000"/>
                </a:schemeClr>
              </a:solidFill>
            </a:endParaRPr>
          </a:p>
        </p:txBody>
      </p:sp>
      <p:pic>
        <p:nvPicPr>
          <p:cNvPr id="2" name="Picture 1" descr="A screenshot of a movie&#10;&#10;AI-generated content may be incorrect.">
            <a:extLst>
              <a:ext uri="{FF2B5EF4-FFF2-40B4-BE49-F238E27FC236}">
                <a16:creationId xmlns:a16="http://schemas.microsoft.com/office/drawing/2014/main" id="{E9CB6F6C-4E73-AA52-D334-D098296887AC}"/>
              </a:ext>
            </a:extLst>
          </p:cNvPr>
          <p:cNvPicPr>
            <a:picLocks noChangeAspect="1"/>
          </p:cNvPicPr>
          <p:nvPr/>
        </p:nvPicPr>
        <p:blipFill>
          <a:blip r:embed="rId4"/>
          <a:stretch>
            <a:fillRect/>
          </a:stretch>
        </p:blipFill>
        <p:spPr>
          <a:xfrm>
            <a:off x="-153866" y="1288836"/>
            <a:ext cx="4813789" cy="1818478"/>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416BDD5C-09B5-38F5-0BC9-626DBDB5012A}"/>
              </a:ext>
            </a:extLst>
          </p:cNvPr>
          <p:cNvPicPr>
            <a:picLocks noChangeAspect="1"/>
          </p:cNvPicPr>
          <p:nvPr/>
        </p:nvPicPr>
        <p:blipFill>
          <a:blip r:embed="rId5"/>
          <a:stretch>
            <a:fillRect/>
          </a:stretch>
        </p:blipFill>
        <p:spPr>
          <a:xfrm>
            <a:off x="4667247" y="1193589"/>
            <a:ext cx="4476751" cy="2330378"/>
          </a:xfrm>
          <a:prstGeom prst="rect">
            <a:avLst/>
          </a:prstGeom>
        </p:spPr>
      </p:pic>
      <p:pic>
        <p:nvPicPr>
          <p:cNvPr id="4" name="Picture 3" descr="A blue and yellow logo&#10;&#10;AI-generated content may be incorrect.">
            <a:extLst>
              <a:ext uri="{FF2B5EF4-FFF2-40B4-BE49-F238E27FC236}">
                <a16:creationId xmlns:a16="http://schemas.microsoft.com/office/drawing/2014/main" id="{2C155441-9C8B-19A4-045C-F793D876FBA6}"/>
              </a:ext>
            </a:extLst>
          </p:cNvPr>
          <p:cNvPicPr>
            <a:picLocks noChangeAspect="1"/>
          </p:cNvPicPr>
          <p:nvPr/>
        </p:nvPicPr>
        <p:blipFill>
          <a:blip r:embed="rId6"/>
          <a:stretch>
            <a:fillRect/>
          </a:stretch>
        </p:blipFill>
        <p:spPr>
          <a:xfrm>
            <a:off x="137160" y="114312"/>
            <a:ext cx="444137" cy="492242"/>
          </a:xfrm>
          <a:prstGeom prst="rect">
            <a:avLst/>
          </a:prstGeom>
        </p:spPr>
      </p:pic>
    </p:spTree>
    <p:extLst>
      <p:ext uri="{BB962C8B-B14F-4D97-AF65-F5344CB8AC3E}">
        <p14:creationId xmlns:p14="http://schemas.microsoft.com/office/powerpoint/2010/main" val="2184704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633">
          <a:extLst>
            <a:ext uri="{FF2B5EF4-FFF2-40B4-BE49-F238E27FC236}">
              <a16:creationId xmlns:a16="http://schemas.microsoft.com/office/drawing/2014/main" id="{614BFADB-25EF-DF77-7343-41C6858ABCA5}"/>
            </a:ext>
          </a:extLst>
        </p:cNvPr>
        <p:cNvGrpSpPr/>
        <p:nvPr/>
      </p:nvGrpSpPr>
      <p:grpSpPr>
        <a:xfrm>
          <a:off x="0" y="0"/>
          <a:ext cx="0" cy="0"/>
          <a:chOff x="0" y="0"/>
          <a:chExt cx="0" cy="0"/>
        </a:xfrm>
      </p:grpSpPr>
      <p:sp>
        <p:nvSpPr>
          <p:cNvPr id="1634" name="Google Shape;1634;p41">
            <a:extLst>
              <a:ext uri="{FF2B5EF4-FFF2-40B4-BE49-F238E27FC236}">
                <a16:creationId xmlns:a16="http://schemas.microsoft.com/office/drawing/2014/main" id="{21CFF95D-A6F2-FE37-A978-9168F432CAAD}"/>
              </a:ext>
            </a:extLst>
          </p:cNvPr>
          <p:cNvSpPr txBox="1">
            <a:spLocks noGrp="1"/>
          </p:cNvSpPr>
          <p:nvPr>
            <p:ph type="title"/>
          </p:nvPr>
        </p:nvSpPr>
        <p:spPr>
          <a:xfrm>
            <a:off x="778783" y="320204"/>
            <a:ext cx="2245268" cy="572700"/>
          </a:xfrm>
          <a:prstGeom prst="rect">
            <a:avLst/>
          </a:prstGeom>
        </p:spPr>
        <p:txBody>
          <a:bodyPr spcFirstLastPara="1" wrap="square" lIns="91425" tIns="91425" rIns="91425" bIns="91425" anchor="t" anchorCtr="0">
            <a:noAutofit/>
          </a:bodyPr>
          <a:lstStyle/>
          <a:p>
            <a:r>
              <a:rPr lang="en" dirty="0"/>
              <a:t>Nhận xét</a:t>
            </a:r>
            <a:endParaRPr lang="en-US" dirty="0"/>
          </a:p>
        </p:txBody>
      </p:sp>
      <p:sp>
        <p:nvSpPr>
          <p:cNvPr id="2" name="TextBox 1">
            <a:extLst>
              <a:ext uri="{FF2B5EF4-FFF2-40B4-BE49-F238E27FC236}">
                <a16:creationId xmlns:a16="http://schemas.microsoft.com/office/drawing/2014/main" id="{83608BF0-002A-0F9F-B12B-BF598715F3CA}"/>
              </a:ext>
            </a:extLst>
          </p:cNvPr>
          <p:cNvSpPr txBox="1"/>
          <p:nvPr/>
        </p:nvSpPr>
        <p:spPr>
          <a:xfrm>
            <a:off x="1209478" y="1132734"/>
            <a:ext cx="6929760" cy="2155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vi-VN" sz="1300" b="1" dirty="0">
                <a:solidFill>
                  <a:schemeClr val="bg2">
                    <a:lumMod val="60000"/>
                    <a:lumOff val="40000"/>
                  </a:schemeClr>
                </a:solidFill>
                <a:latin typeface="Bahnschrift"/>
              </a:rPr>
              <a:t>Ưu điểm</a:t>
            </a:r>
          </a:p>
          <a:p>
            <a:pPr algn="just">
              <a:lnSpc>
                <a:spcPct val="150000"/>
              </a:lnSpc>
            </a:pPr>
            <a:r>
              <a:rPr lang="en-US" sz="1300" b="1" dirty="0">
                <a:solidFill>
                  <a:schemeClr val="bg2">
                    <a:lumMod val="60000"/>
                    <a:lumOff val="40000"/>
                  </a:schemeClr>
                </a:solidFill>
                <a:latin typeface="Bahnschrift"/>
              </a:rPr>
              <a:t>- </a:t>
            </a:r>
            <a:r>
              <a:rPr lang="vi-VN" sz="1300" b="1" dirty="0">
                <a:solidFill>
                  <a:schemeClr val="bg2">
                    <a:lumMod val="60000"/>
                    <a:lumOff val="40000"/>
                  </a:schemeClr>
                </a:solidFill>
                <a:latin typeface="Bahnschrift"/>
              </a:rPr>
              <a:t>Áp dụng kiến trúc multi-agent rõ ràng (phân tích → dự đoán → tổng hợp).</a:t>
            </a:r>
          </a:p>
          <a:p>
            <a:pPr algn="just">
              <a:lnSpc>
                <a:spcPct val="150000"/>
              </a:lnSpc>
            </a:pPr>
            <a:r>
              <a:rPr lang="en-US" sz="1300" b="1" dirty="0">
                <a:solidFill>
                  <a:schemeClr val="bg2">
                    <a:lumMod val="60000"/>
                    <a:lumOff val="40000"/>
                  </a:schemeClr>
                </a:solidFill>
                <a:latin typeface="Bahnschrift"/>
              </a:rPr>
              <a:t>- </a:t>
            </a:r>
            <a:r>
              <a:rPr lang="vi-VN" sz="1300" b="1" dirty="0">
                <a:solidFill>
                  <a:schemeClr val="bg2">
                    <a:lumMod val="60000"/>
                    <a:lumOff val="40000"/>
                  </a:schemeClr>
                </a:solidFill>
                <a:latin typeface="Bahnschrift"/>
              </a:rPr>
              <a:t>Khai thác lịch sử xem theo chuỗi (sequential behavior) thay vì chỉ thông tin tĩnh.</a:t>
            </a:r>
          </a:p>
          <a:p>
            <a:pPr algn="just">
              <a:lnSpc>
                <a:spcPct val="150000"/>
              </a:lnSpc>
            </a:pPr>
            <a:r>
              <a:rPr lang="en-US" sz="1300" b="1" dirty="0">
                <a:solidFill>
                  <a:schemeClr val="bg2">
                    <a:lumMod val="60000"/>
                    <a:lumOff val="40000"/>
                  </a:schemeClr>
                </a:solidFill>
                <a:latin typeface="Bahnschrift"/>
              </a:rPr>
              <a:t>- </a:t>
            </a:r>
            <a:r>
              <a:rPr lang="vi-VN" sz="1300" b="1" dirty="0">
                <a:solidFill>
                  <a:schemeClr val="bg2">
                    <a:lumMod val="60000"/>
                    <a:lumOff val="40000"/>
                  </a:schemeClr>
                </a:solidFill>
                <a:latin typeface="Bahnschrift"/>
              </a:rPr>
              <a:t>Danh sách phim đề xuất phù hợp với sở thích người dùng (Drama, Crime, Action).</a:t>
            </a:r>
          </a:p>
          <a:p>
            <a:pPr algn="just">
              <a:lnSpc>
                <a:spcPct val="150000"/>
              </a:lnSpc>
            </a:pPr>
            <a:r>
              <a:rPr lang="en-US" sz="1300" b="1" dirty="0">
                <a:solidFill>
                  <a:schemeClr val="bg2">
                    <a:lumMod val="60000"/>
                    <a:lumOff val="40000"/>
                  </a:schemeClr>
                </a:solidFill>
                <a:latin typeface="Bahnschrift"/>
              </a:rPr>
              <a:t>- </a:t>
            </a:r>
            <a:r>
              <a:rPr lang="vi-VN" sz="1300" b="1" dirty="0">
                <a:solidFill>
                  <a:schemeClr val="bg2">
                    <a:lumMod val="60000"/>
                    <a:lumOff val="40000"/>
                  </a:schemeClr>
                </a:solidFill>
                <a:latin typeface="Bahnschrift"/>
              </a:rPr>
              <a:t>Có giải thích cho từng phim, tăng tính minh bạch (Explainable Recommendation).</a:t>
            </a:r>
          </a:p>
          <a:p>
            <a:pPr algn="just">
              <a:lnSpc>
                <a:spcPct val="150000"/>
              </a:lnSpc>
            </a:pPr>
            <a:r>
              <a:rPr lang="vi-VN" sz="1300" b="1" dirty="0">
                <a:solidFill>
                  <a:schemeClr val="bg2">
                    <a:lumMod val="60000"/>
                    <a:lumOff val="40000"/>
                  </a:schemeClr>
                </a:solidFill>
                <a:latin typeface="Bahnschrift"/>
              </a:rPr>
              <a:t>Hạn chế</a:t>
            </a:r>
          </a:p>
          <a:p>
            <a:pPr lvl="3" algn="just">
              <a:lnSpc>
                <a:spcPct val="150000"/>
              </a:lnSpc>
            </a:pPr>
            <a:r>
              <a:rPr lang="en-US" sz="1300" b="1" dirty="0">
                <a:solidFill>
                  <a:schemeClr val="bg2">
                    <a:lumMod val="60000"/>
                    <a:lumOff val="40000"/>
                  </a:schemeClr>
                </a:solidFill>
                <a:latin typeface="Bahnschrift"/>
              </a:rPr>
              <a:t>- </a:t>
            </a:r>
            <a:r>
              <a:rPr lang="vi-VN" sz="1300" b="1" dirty="0">
                <a:solidFill>
                  <a:schemeClr val="bg2">
                    <a:lumMod val="60000"/>
                    <a:lumOff val="40000"/>
                  </a:schemeClr>
                </a:solidFill>
                <a:latin typeface="Bahnschrift"/>
              </a:rPr>
              <a:t>Chưa liên kết kết quả với chỉ số đánh giá</a:t>
            </a:r>
            <a:r>
              <a:rPr lang="en-US" sz="1300" b="1" dirty="0">
                <a:solidFill>
                  <a:schemeClr val="bg2">
                    <a:lumMod val="60000"/>
                    <a:lumOff val="40000"/>
                  </a:schemeClr>
                </a:solidFill>
                <a:latin typeface="Bahnschrift"/>
              </a:rPr>
              <a:t>.</a:t>
            </a:r>
            <a:endParaRPr lang="en-US" sz="1300" b="1" dirty="0">
              <a:solidFill>
                <a:schemeClr val="bg2">
                  <a:lumMod val="60000"/>
                  <a:lumOff val="40000"/>
                </a:schemeClr>
              </a:solidFill>
            </a:endParaRPr>
          </a:p>
        </p:txBody>
      </p:sp>
      <p:pic>
        <p:nvPicPr>
          <p:cNvPr id="4" name="Picture 3" descr="A blue and yellow logo&#10;&#10;AI-generated content may be incorrect.">
            <a:extLst>
              <a:ext uri="{FF2B5EF4-FFF2-40B4-BE49-F238E27FC236}">
                <a16:creationId xmlns:a16="http://schemas.microsoft.com/office/drawing/2014/main" id="{523DC6F7-4C44-93EC-5B24-2B1F098B76CB}"/>
              </a:ext>
            </a:extLst>
          </p:cNvPr>
          <p:cNvPicPr>
            <a:picLocks noChangeAspect="1"/>
          </p:cNvPicPr>
          <p:nvPr/>
        </p:nvPicPr>
        <p:blipFill>
          <a:blip r:embed="rId4"/>
          <a:stretch>
            <a:fillRect/>
          </a:stretch>
        </p:blipFill>
        <p:spPr>
          <a:xfrm>
            <a:off x="137160" y="114312"/>
            <a:ext cx="444137" cy="492242"/>
          </a:xfrm>
          <a:prstGeom prst="rect">
            <a:avLst/>
          </a:prstGeom>
        </p:spPr>
      </p:pic>
    </p:spTree>
    <p:extLst>
      <p:ext uri="{BB962C8B-B14F-4D97-AF65-F5344CB8AC3E}">
        <p14:creationId xmlns:p14="http://schemas.microsoft.com/office/powerpoint/2010/main" val="1018918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show="0">
  <p:cSld>
    <p:bg>
      <p:bgPr>
        <a:blipFill dpi="0" rotWithShape="1">
          <a:blip r:embed="rId3">
            <a:lum/>
          </a:blip>
          <a:srcRect/>
          <a:stretch>
            <a:fillRect/>
          </a:stretch>
        </a:blipFill>
        <a:effectLst/>
      </p:bgPr>
    </p:bg>
    <p:spTree>
      <p:nvGrpSpPr>
        <p:cNvPr id="1" name="Shape 1840"/>
        <p:cNvGrpSpPr/>
        <p:nvPr/>
      </p:nvGrpSpPr>
      <p:grpSpPr>
        <a:xfrm>
          <a:off x="0" y="0"/>
          <a:ext cx="0" cy="0"/>
          <a:chOff x="0" y="0"/>
          <a:chExt cx="0" cy="0"/>
        </a:xfrm>
      </p:grpSpPr>
      <p:grpSp>
        <p:nvGrpSpPr>
          <p:cNvPr id="1843" name="Google Shape;1843;p46"/>
          <p:cNvGrpSpPr/>
          <p:nvPr/>
        </p:nvGrpSpPr>
        <p:grpSpPr>
          <a:xfrm>
            <a:off x="-74792" y="1766169"/>
            <a:ext cx="480890" cy="481200"/>
            <a:chOff x="959750" y="3039275"/>
            <a:chExt cx="582050" cy="582425"/>
          </a:xfrm>
        </p:grpSpPr>
        <p:sp>
          <p:nvSpPr>
            <p:cNvPr id="1844" name="Google Shape;1844;p4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TextBox 5">
            <a:extLst>
              <a:ext uri="{FF2B5EF4-FFF2-40B4-BE49-F238E27FC236}">
                <a16:creationId xmlns:a16="http://schemas.microsoft.com/office/drawing/2014/main" id="{01C0EC54-5938-73DE-33A1-A2EE84899779}"/>
              </a:ext>
            </a:extLst>
          </p:cNvPr>
          <p:cNvSpPr txBox="1"/>
          <p:nvPr/>
        </p:nvSpPr>
        <p:spPr>
          <a:xfrm>
            <a:off x="4958306" y="1325441"/>
            <a:ext cx="4007772" cy="29569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Phức</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tạp</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trong</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việc</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phối</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hợp</a:t>
            </a:r>
            <a:endParaRPr lang="en-US">
              <a:solidFill>
                <a:schemeClr val="accent2">
                  <a:lumMod val="75000"/>
                </a:schemeClr>
              </a:solidFill>
              <a:latin typeface="Bahnschrift" panose="020B0502040204020203" pitchFamily="34" charset="0"/>
            </a:endParaRPr>
          </a:p>
          <a:p>
            <a:pPr>
              <a:lnSpc>
                <a:spcPct val="150000"/>
              </a:lnSpc>
            </a:pP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Hành</a:t>
            </a:r>
            <a:r>
              <a:rPr lang="en-US">
                <a:solidFill>
                  <a:schemeClr val="accent2">
                    <a:lumMod val="75000"/>
                  </a:schemeClr>
                </a:solidFill>
                <a:latin typeface="Bahnschrift" panose="020B0502040204020203" pitchFamily="34" charset="0"/>
              </a:rPr>
              <a:t> vi </a:t>
            </a:r>
            <a:r>
              <a:rPr lang="en-US" err="1">
                <a:solidFill>
                  <a:schemeClr val="accent2">
                    <a:lumMod val="75000"/>
                  </a:schemeClr>
                </a:solidFill>
                <a:latin typeface="Bahnschrift" panose="020B0502040204020203" pitchFamily="34" charset="0"/>
              </a:rPr>
              <a:t>không</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thể</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dự</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đoán</a:t>
            </a:r>
            <a:endParaRPr lang="en-US">
              <a:solidFill>
                <a:schemeClr val="accent2">
                  <a:lumMod val="75000"/>
                </a:schemeClr>
              </a:solidFill>
              <a:latin typeface="Bahnschrift" panose="020B0502040204020203" pitchFamily="34" charset="0"/>
            </a:endParaRPr>
          </a:p>
          <a:p>
            <a:pPr>
              <a:lnSpc>
                <a:spcPct val="150000"/>
              </a:lnSpc>
            </a:pP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Phụ</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thuộc</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vào</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các</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mô</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hình</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nền</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tảng</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chung</a:t>
            </a:r>
            <a:endParaRPr lang="en-US">
              <a:solidFill>
                <a:schemeClr val="accent2">
                  <a:lumMod val="75000"/>
                </a:schemeClr>
              </a:solidFill>
              <a:latin typeface="Bahnschrift" panose="020B0502040204020203" pitchFamily="34" charset="0"/>
            </a:endParaRPr>
          </a:p>
          <a:p>
            <a:pPr>
              <a:lnSpc>
                <a:spcPct val="150000"/>
              </a:lnSpc>
            </a:pPr>
            <a:r>
              <a:rPr lang="en-US">
                <a:solidFill>
                  <a:schemeClr val="accent2">
                    <a:lumMod val="75000"/>
                  </a:schemeClr>
                </a:solidFill>
                <a:latin typeface="Bahnschrift" panose="020B0502040204020203" pitchFamily="34" charset="0"/>
              </a:rPr>
              <a:t>– Chi </a:t>
            </a:r>
            <a:r>
              <a:rPr lang="en-US" err="1">
                <a:solidFill>
                  <a:schemeClr val="accent2">
                    <a:lumMod val="75000"/>
                  </a:schemeClr>
                </a:solidFill>
                <a:latin typeface="Bahnschrift" panose="020B0502040204020203" pitchFamily="34" charset="0"/>
              </a:rPr>
              <a:t>phí</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vận</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hành</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tài</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nguyên</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tính</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toán</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lớn</a:t>
            </a:r>
            <a:endParaRPr lang="en-US">
              <a:solidFill>
                <a:schemeClr val="accent2">
                  <a:lumMod val="75000"/>
                </a:schemeClr>
              </a:solidFill>
              <a:latin typeface="Bahnschrift" panose="020B0502040204020203" pitchFamily="34" charset="0"/>
            </a:endParaRPr>
          </a:p>
          <a:p>
            <a:pPr>
              <a:lnSpc>
                <a:spcPct val="150000"/>
              </a:lnSpc>
            </a:pP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Vấn</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đề</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bảo</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mật</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và</a:t>
            </a:r>
            <a:r>
              <a:rPr lang="en-US">
                <a:solidFill>
                  <a:schemeClr val="accent2">
                    <a:lumMod val="75000"/>
                  </a:schemeClr>
                </a:solidFill>
                <a:latin typeface="Bahnschrift" panose="020B0502040204020203" pitchFamily="34" charset="0"/>
              </a:rPr>
              <a:t> an </a:t>
            </a:r>
            <a:r>
              <a:rPr lang="en-US" err="1">
                <a:solidFill>
                  <a:schemeClr val="accent2">
                    <a:lumMod val="75000"/>
                  </a:schemeClr>
                </a:solidFill>
                <a:latin typeface="Bahnschrift" panose="020B0502040204020203" pitchFamily="34" charset="0"/>
              </a:rPr>
              <a:t>ninh</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mạng</a:t>
            </a:r>
            <a:endParaRPr lang="en-US">
              <a:solidFill>
                <a:schemeClr val="accent2">
                  <a:lumMod val="75000"/>
                </a:schemeClr>
              </a:solidFill>
              <a:latin typeface="Bahnschrift" panose="020B0502040204020203" pitchFamily="34" charset="0"/>
            </a:endParaRPr>
          </a:p>
          <a:p>
            <a:pPr>
              <a:lnSpc>
                <a:spcPct val="150000"/>
              </a:lnSpc>
            </a:pP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Khó</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khăn</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trong</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việc</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tiêu</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chuẩn</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hóa</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giao</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tiếp</a:t>
            </a:r>
            <a:endParaRPr lang="en-US">
              <a:solidFill>
                <a:schemeClr val="accent2">
                  <a:lumMod val="75000"/>
                </a:schemeClr>
              </a:solidFill>
              <a:latin typeface="Bahnschrift" panose="020B0502040204020203" pitchFamily="34" charset="0"/>
            </a:endParaRPr>
          </a:p>
          <a:p>
            <a:pPr>
              <a:lnSpc>
                <a:spcPct val="150000"/>
              </a:lnSpc>
            </a:pP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Thách</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thức</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trong</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việc</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kiểm</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thử</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và</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đánh</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giá</a:t>
            </a:r>
            <a:endParaRPr lang="en-US">
              <a:solidFill>
                <a:schemeClr val="accent2">
                  <a:lumMod val="75000"/>
                </a:schemeClr>
              </a:solidFill>
              <a:latin typeface="Bahnschrift" panose="020B0502040204020203" pitchFamily="34" charset="0"/>
            </a:endParaRPr>
          </a:p>
          <a:p>
            <a:pPr>
              <a:lnSpc>
                <a:spcPct val="150000"/>
              </a:lnSpc>
            </a:pP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Khả</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năng</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mở</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rộng</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và</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quản</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lý</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quy</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mô</a:t>
            </a:r>
            <a:endParaRPr lang="en-US">
              <a:solidFill>
                <a:schemeClr val="accent2">
                  <a:lumMod val="75000"/>
                </a:schemeClr>
              </a:solidFill>
              <a:latin typeface="Bahnschrift" panose="020B0502040204020203" pitchFamily="34" charset="0"/>
            </a:endParaRPr>
          </a:p>
          <a:p>
            <a:pPr>
              <a:lnSpc>
                <a:spcPct val="150000"/>
              </a:lnSpc>
            </a:pP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Đảm</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bảo</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tính</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đạo</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đức</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và</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trách</a:t>
            </a:r>
            <a:r>
              <a:rPr lang="en-US">
                <a:solidFill>
                  <a:schemeClr val="accent2">
                    <a:lumMod val="75000"/>
                  </a:schemeClr>
                </a:solidFill>
                <a:latin typeface="Bahnschrift" panose="020B0502040204020203" pitchFamily="34" charset="0"/>
              </a:rPr>
              <a:t> </a:t>
            </a:r>
            <a:r>
              <a:rPr lang="en-US" err="1">
                <a:solidFill>
                  <a:schemeClr val="accent2">
                    <a:lumMod val="75000"/>
                  </a:schemeClr>
                </a:solidFill>
                <a:latin typeface="Bahnschrift" panose="020B0502040204020203" pitchFamily="34" charset="0"/>
              </a:rPr>
              <a:t>nhiệm</a:t>
            </a:r>
            <a:endParaRPr lang="en-US">
              <a:solidFill>
                <a:schemeClr val="accent2">
                  <a:lumMod val="75000"/>
                </a:schemeClr>
              </a:solidFill>
              <a:latin typeface="Bahnschrift" panose="020B0502040204020203" pitchFamily="34" charset="0"/>
            </a:endParaRPr>
          </a:p>
        </p:txBody>
      </p:sp>
      <p:sp>
        <p:nvSpPr>
          <p:cNvPr id="7" name="TextBox 6">
            <a:extLst>
              <a:ext uri="{FF2B5EF4-FFF2-40B4-BE49-F238E27FC236}">
                <a16:creationId xmlns:a16="http://schemas.microsoft.com/office/drawing/2014/main" id="{80B08A7A-A179-8EEE-5BAF-DF612D93C1BB}"/>
              </a:ext>
            </a:extLst>
          </p:cNvPr>
          <p:cNvSpPr txBox="1"/>
          <p:nvPr/>
        </p:nvSpPr>
        <p:spPr>
          <a:xfrm>
            <a:off x="789454" y="261657"/>
            <a:ext cx="627025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3000" b="1">
                <a:solidFill>
                  <a:srgbClr val="0C0A9E"/>
                </a:solidFill>
                <a:latin typeface="IBM Plex Mono"/>
              </a:rPr>
              <a:t>Thách thức</a:t>
            </a:r>
            <a:endParaRPr lang="en-US"/>
          </a:p>
        </p:txBody>
      </p:sp>
      <p:pic>
        <p:nvPicPr>
          <p:cNvPr id="3" name="Picture 2" descr="Multi Agent System (Hệ Thống đa AI Agent) Là Gì?">
            <a:extLst>
              <a:ext uri="{FF2B5EF4-FFF2-40B4-BE49-F238E27FC236}">
                <a16:creationId xmlns:a16="http://schemas.microsoft.com/office/drawing/2014/main" id="{1B6B2BF8-CA8C-425A-2F5C-11A7E5006801}"/>
              </a:ext>
            </a:extLst>
          </p:cNvPr>
          <p:cNvPicPr>
            <a:picLocks noChangeAspect="1"/>
          </p:cNvPicPr>
          <p:nvPr/>
        </p:nvPicPr>
        <p:blipFill>
          <a:blip r:embed="rId4"/>
          <a:stretch>
            <a:fillRect/>
          </a:stretch>
        </p:blipFill>
        <p:spPr>
          <a:xfrm>
            <a:off x="764381" y="900113"/>
            <a:ext cx="3807618" cy="380761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show="0">
  <p:cSld>
    <p:bg>
      <p:bgPr>
        <a:blipFill dpi="0" rotWithShape="1">
          <a:blip r:embed="rId3">
            <a:lum/>
          </a:blip>
          <a:srcRect/>
          <a:stretch>
            <a:fillRect/>
          </a:stretch>
        </a:blipFill>
        <a:effectLst/>
      </p:bgPr>
    </p:bg>
    <p:spTree>
      <p:nvGrpSpPr>
        <p:cNvPr id="1" name="Shape 1731"/>
        <p:cNvGrpSpPr/>
        <p:nvPr/>
      </p:nvGrpSpPr>
      <p:grpSpPr>
        <a:xfrm>
          <a:off x="0" y="0"/>
          <a:ext cx="0" cy="0"/>
          <a:chOff x="0" y="0"/>
          <a:chExt cx="0" cy="0"/>
        </a:xfrm>
      </p:grpSpPr>
      <p:sp>
        <p:nvSpPr>
          <p:cNvPr id="1734" name="Google Shape;1734;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l"/>
            <a:r>
              <a:rPr lang="en"/>
              <a:t>Ứng dụng</a:t>
            </a:r>
          </a:p>
        </p:txBody>
      </p:sp>
      <p:sp>
        <p:nvSpPr>
          <p:cNvPr id="20" name="TextBox 19">
            <a:extLst>
              <a:ext uri="{FF2B5EF4-FFF2-40B4-BE49-F238E27FC236}">
                <a16:creationId xmlns:a16="http://schemas.microsoft.com/office/drawing/2014/main" id="{3B371608-B23A-90E0-0D4F-875E47520E16}"/>
              </a:ext>
            </a:extLst>
          </p:cNvPr>
          <p:cNvSpPr txBox="1"/>
          <p:nvPr/>
        </p:nvSpPr>
        <p:spPr>
          <a:xfrm>
            <a:off x="-224704" y="1146680"/>
            <a:ext cx="3757396" cy="26337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lnSpc>
                <a:spcPct val="150000"/>
              </a:lnSpc>
            </a:pPr>
            <a:r>
              <a:rPr lang="en-US" err="1">
                <a:solidFill>
                  <a:schemeClr val="bg2">
                    <a:lumMod val="60000"/>
                    <a:lumOff val="40000"/>
                  </a:schemeClr>
                </a:solidFill>
                <a:latin typeface="Bahnschrift" panose="020B0502040204020203" pitchFamily="34" charset="0"/>
              </a:rPr>
              <a:t>Thương</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mại</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điện</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tử</a:t>
            </a:r>
            <a:endParaRPr lang="en-US">
              <a:solidFill>
                <a:schemeClr val="bg2">
                  <a:lumMod val="60000"/>
                  <a:lumOff val="40000"/>
                </a:schemeClr>
              </a:solidFill>
              <a:latin typeface="Bahnschrift" panose="020B0502040204020203" pitchFamily="34" charset="0"/>
            </a:endParaRPr>
          </a:p>
          <a:p>
            <a:pPr algn="r">
              <a:lnSpc>
                <a:spcPct val="150000"/>
              </a:lnSpc>
            </a:pPr>
            <a:r>
              <a:rPr lang="en-US" err="1">
                <a:solidFill>
                  <a:schemeClr val="bg2">
                    <a:lumMod val="60000"/>
                    <a:lumOff val="40000"/>
                  </a:schemeClr>
                </a:solidFill>
                <a:latin typeface="Bahnschrift" panose="020B0502040204020203" pitchFamily="34" charset="0"/>
              </a:rPr>
              <a:t>Nền</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tảng</a:t>
            </a:r>
            <a:r>
              <a:rPr lang="en-US">
                <a:solidFill>
                  <a:schemeClr val="bg2">
                    <a:lumMod val="60000"/>
                    <a:lumOff val="40000"/>
                  </a:schemeClr>
                </a:solidFill>
                <a:latin typeface="Bahnschrift" panose="020B0502040204020203" pitchFamily="34" charset="0"/>
              </a:rPr>
              <a:t> video </a:t>
            </a:r>
            <a:r>
              <a:rPr lang="en-US" err="1">
                <a:solidFill>
                  <a:schemeClr val="bg2">
                    <a:lumMod val="60000"/>
                    <a:lumOff val="40000"/>
                  </a:schemeClr>
                </a:solidFill>
                <a:latin typeface="Bahnschrift" panose="020B0502040204020203" pitchFamily="34" charset="0"/>
              </a:rPr>
              <a:t>và</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mạng</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xã</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hội</a:t>
            </a:r>
            <a:endParaRPr lang="en-US">
              <a:solidFill>
                <a:schemeClr val="bg2">
                  <a:lumMod val="60000"/>
                  <a:lumOff val="40000"/>
                </a:schemeClr>
              </a:solidFill>
              <a:latin typeface="Bahnschrift" panose="020B0502040204020203" pitchFamily="34" charset="0"/>
            </a:endParaRPr>
          </a:p>
          <a:p>
            <a:pPr algn="r">
              <a:lnSpc>
                <a:spcPct val="150000"/>
              </a:lnSpc>
            </a:pPr>
            <a:r>
              <a:rPr lang="en-US" err="1">
                <a:solidFill>
                  <a:schemeClr val="bg2">
                    <a:lumMod val="60000"/>
                    <a:lumOff val="40000"/>
                  </a:schemeClr>
                </a:solidFill>
                <a:latin typeface="Bahnschrift" panose="020B0502040204020203" pitchFamily="34" charset="0"/>
              </a:rPr>
              <a:t>Nền</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tảng</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âm</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nhạc</a:t>
            </a:r>
            <a:endParaRPr lang="en-US">
              <a:solidFill>
                <a:schemeClr val="bg2">
                  <a:lumMod val="60000"/>
                  <a:lumOff val="40000"/>
                </a:schemeClr>
              </a:solidFill>
              <a:latin typeface="Bahnschrift" panose="020B0502040204020203" pitchFamily="34" charset="0"/>
            </a:endParaRPr>
          </a:p>
          <a:p>
            <a:pPr algn="r">
              <a:lnSpc>
                <a:spcPct val="150000"/>
              </a:lnSpc>
            </a:pPr>
            <a:r>
              <a:rPr lang="en-US" err="1">
                <a:solidFill>
                  <a:schemeClr val="bg2">
                    <a:lumMod val="60000"/>
                    <a:lumOff val="40000"/>
                  </a:schemeClr>
                </a:solidFill>
                <a:latin typeface="Bahnschrift" panose="020B0502040204020203" pitchFamily="34" charset="0"/>
              </a:rPr>
              <a:t>Nền</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tảng</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xem</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phim</a:t>
            </a:r>
            <a:endParaRPr lang="en-US">
              <a:solidFill>
                <a:schemeClr val="bg2">
                  <a:lumMod val="60000"/>
                  <a:lumOff val="40000"/>
                </a:schemeClr>
              </a:solidFill>
              <a:latin typeface="Bahnschrift" panose="020B0502040204020203" pitchFamily="34" charset="0"/>
            </a:endParaRPr>
          </a:p>
          <a:p>
            <a:pPr algn="r">
              <a:lnSpc>
                <a:spcPct val="150000"/>
              </a:lnSpc>
            </a:pPr>
            <a:r>
              <a:rPr lang="en-US" err="1">
                <a:solidFill>
                  <a:schemeClr val="bg2">
                    <a:lumMod val="60000"/>
                    <a:lumOff val="40000"/>
                  </a:schemeClr>
                </a:solidFill>
                <a:latin typeface="Bahnschrift" panose="020B0502040204020203" pitchFamily="34" charset="0"/>
              </a:rPr>
              <a:t>Hệ</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thống</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gợi</a:t>
            </a:r>
            <a:r>
              <a:rPr lang="en-US">
                <a:solidFill>
                  <a:schemeClr val="bg2">
                    <a:lumMod val="60000"/>
                    <a:lumOff val="40000"/>
                  </a:schemeClr>
                </a:solidFill>
                <a:latin typeface="Bahnschrift" panose="020B0502040204020203" pitchFamily="34" charset="0"/>
              </a:rPr>
              <a:t> ý tin </a:t>
            </a:r>
            <a:r>
              <a:rPr lang="en-US" err="1">
                <a:solidFill>
                  <a:schemeClr val="bg2">
                    <a:lumMod val="60000"/>
                    <a:lumOff val="40000"/>
                  </a:schemeClr>
                </a:solidFill>
                <a:latin typeface="Bahnschrift" panose="020B0502040204020203" pitchFamily="34" charset="0"/>
              </a:rPr>
              <a:t>tức</a:t>
            </a:r>
            <a:endParaRPr lang="en-US">
              <a:solidFill>
                <a:schemeClr val="bg2">
                  <a:lumMod val="60000"/>
                  <a:lumOff val="40000"/>
                </a:schemeClr>
              </a:solidFill>
              <a:latin typeface="Bahnschrift" panose="020B0502040204020203" pitchFamily="34" charset="0"/>
            </a:endParaRPr>
          </a:p>
          <a:p>
            <a:pPr algn="r">
              <a:lnSpc>
                <a:spcPct val="150000"/>
              </a:lnSpc>
            </a:pPr>
            <a:r>
              <a:rPr lang="en-US" err="1">
                <a:solidFill>
                  <a:schemeClr val="bg2">
                    <a:lumMod val="60000"/>
                    <a:lumOff val="40000"/>
                  </a:schemeClr>
                </a:solidFill>
                <a:latin typeface="Bahnschrift" panose="020B0502040204020203" pitchFamily="34" charset="0"/>
              </a:rPr>
              <a:t>Nền</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tảng</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giáo</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dục</a:t>
            </a:r>
            <a:endParaRPr lang="en-US">
              <a:solidFill>
                <a:schemeClr val="bg2">
                  <a:lumMod val="60000"/>
                  <a:lumOff val="40000"/>
                </a:schemeClr>
              </a:solidFill>
              <a:latin typeface="Bahnschrift" panose="020B0502040204020203" pitchFamily="34" charset="0"/>
            </a:endParaRPr>
          </a:p>
          <a:p>
            <a:pPr algn="r">
              <a:lnSpc>
                <a:spcPct val="150000"/>
              </a:lnSpc>
            </a:pPr>
            <a:r>
              <a:rPr lang="en-US" err="1">
                <a:solidFill>
                  <a:schemeClr val="bg2">
                    <a:lumMod val="60000"/>
                    <a:lumOff val="40000"/>
                  </a:schemeClr>
                </a:solidFill>
                <a:latin typeface="Bahnschrift" panose="020B0502040204020203" pitchFamily="34" charset="0"/>
              </a:rPr>
              <a:t>Ứng</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dụng</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trong</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ngân</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hàng</a:t>
            </a:r>
            <a:r>
              <a:rPr lang="en-US">
                <a:solidFill>
                  <a:schemeClr val="bg2">
                    <a:lumMod val="60000"/>
                    <a:lumOff val="40000"/>
                  </a:schemeClr>
                </a:solidFill>
                <a:latin typeface="Bahnschrift" panose="020B0502040204020203" pitchFamily="34" charset="0"/>
              </a:rPr>
              <a:t> – </a:t>
            </a:r>
            <a:r>
              <a:rPr lang="en-US" err="1">
                <a:solidFill>
                  <a:schemeClr val="bg2">
                    <a:lumMod val="60000"/>
                    <a:lumOff val="40000"/>
                  </a:schemeClr>
                </a:solidFill>
                <a:latin typeface="Bahnschrift" panose="020B0502040204020203" pitchFamily="34" charset="0"/>
              </a:rPr>
              <a:t>tài</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chính</a:t>
            </a:r>
            <a:endParaRPr lang="en-US">
              <a:solidFill>
                <a:schemeClr val="bg2">
                  <a:lumMod val="60000"/>
                  <a:lumOff val="40000"/>
                </a:schemeClr>
              </a:solidFill>
              <a:latin typeface="Bahnschrift" panose="020B0502040204020203" pitchFamily="34" charset="0"/>
            </a:endParaRPr>
          </a:p>
          <a:p>
            <a:pPr algn="r">
              <a:lnSpc>
                <a:spcPct val="150000"/>
              </a:lnSpc>
            </a:pPr>
            <a:r>
              <a:rPr lang="en-US" err="1">
                <a:solidFill>
                  <a:schemeClr val="bg2">
                    <a:lumMod val="60000"/>
                    <a:lumOff val="40000"/>
                  </a:schemeClr>
                </a:solidFill>
                <a:latin typeface="Bahnschrift" panose="020B0502040204020203" pitchFamily="34" charset="0"/>
              </a:rPr>
              <a:t>Hệ</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thống</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chăm</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sóc</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khách</a:t>
            </a:r>
            <a:r>
              <a:rPr lang="en-US">
                <a:solidFill>
                  <a:schemeClr val="bg2">
                    <a:lumMod val="60000"/>
                    <a:lumOff val="40000"/>
                  </a:schemeClr>
                </a:solidFill>
                <a:latin typeface="Bahnschrift" panose="020B0502040204020203" pitchFamily="34" charset="0"/>
              </a:rPr>
              <a:t> </a:t>
            </a:r>
            <a:r>
              <a:rPr lang="en-US" err="1">
                <a:solidFill>
                  <a:schemeClr val="bg2">
                    <a:lumMod val="60000"/>
                    <a:lumOff val="40000"/>
                  </a:schemeClr>
                </a:solidFill>
                <a:latin typeface="Bahnschrift" panose="020B0502040204020203" pitchFamily="34" charset="0"/>
              </a:rPr>
              <a:t>hàng</a:t>
            </a:r>
            <a:endParaRPr lang="en-US">
              <a:solidFill>
                <a:schemeClr val="bg2">
                  <a:lumMod val="60000"/>
                  <a:lumOff val="40000"/>
                </a:schemeClr>
              </a:solidFill>
              <a:latin typeface="Bahnschrift" panose="020B0502040204020203" pitchFamily="34" charset="0"/>
            </a:endParaRPr>
          </a:p>
        </p:txBody>
      </p:sp>
      <p:pic>
        <p:nvPicPr>
          <p:cNvPr id="2" name="Picture 1" descr="What is a Multi-Agent AI System?">
            <a:extLst>
              <a:ext uri="{FF2B5EF4-FFF2-40B4-BE49-F238E27FC236}">
                <a16:creationId xmlns:a16="http://schemas.microsoft.com/office/drawing/2014/main" id="{99B90BCD-3D32-55C2-7EFD-1AE8EF042694}"/>
              </a:ext>
            </a:extLst>
          </p:cNvPr>
          <p:cNvPicPr>
            <a:picLocks noChangeAspect="1"/>
          </p:cNvPicPr>
          <p:nvPr/>
        </p:nvPicPr>
        <p:blipFill>
          <a:blip r:embed="rId4"/>
          <a:stretch>
            <a:fillRect/>
          </a:stretch>
        </p:blipFill>
        <p:spPr>
          <a:xfrm>
            <a:off x="3719513" y="1196821"/>
            <a:ext cx="4819650" cy="258365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744"/>
        <p:cNvGrpSpPr/>
        <p:nvPr/>
      </p:nvGrpSpPr>
      <p:grpSpPr>
        <a:xfrm>
          <a:off x="0" y="0"/>
          <a:ext cx="0" cy="0"/>
          <a:chOff x="0" y="0"/>
          <a:chExt cx="0" cy="0"/>
        </a:xfrm>
      </p:grpSpPr>
      <p:sp>
        <p:nvSpPr>
          <p:cNvPr id="1745" name="Google Shape;1745;p44"/>
          <p:cNvSpPr txBox="1">
            <a:spLocks noGrp="1"/>
          </p:cNvSpPr>
          <p:nvPr>
            <p:ph type="title"/>
          </p:nvPr>
        </p:nvSpPr>
        <p:spPr>
          <a:xfrm>
            <a:off x="1054687" y="39699"/>
            <a:ext cx="7704000" cy="572700"/>
          </a:xfrm>
          <a:prstGeom prst="rect">
            <a:avLst/>
          </a:prstGeom>
        </p:spPr>
        <p:txBody>
          <a:bodyPr spcFirstLastPara="1" wrap="square" lIns="91425" tIns="91425" rIns="91425" bIns="91425" anchor="t" anchorCtr="0">
            <a:noAutofit/>
          </a:bodyPr>
          <a:lstStyle/>
          <a:p>
            <a:r>
              <a:rPr lang="en" dirty="0"/>
              <a:t>Hướng phát triển</a:t>
            </a:r>
          </a:p>
        </p:txBody>
      </p:sp>
      <p:sp>
        <p:nvSpPr>
          <p:cNvPr id="20" name="TextBox 19">
            <a:extLst>
              <a:ext uri="{FF2B5EF4-FFF2-40B4-BE49-F238E27FC236}">
                <a16:creationId xmlns:a16="http://schemas.microsoft.com/office/drawing/2014/main" id="{11A14A7E-D5CB-E1E2-D65B-48B6C5268AD6}"/>
              </a:ext>
            </a:extLst>
          </p:cNvPr>
          <p:cNvSpPr txBox="1"/>
          <p:nvPr/>
        </p:nvSpPr>
        <p:spPr>
          <a:xfrm>
            <a:off x="2502493" y="780978"/>
            <a:ext cx="6422185"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vi-VN" sz="1500" dirty="0">
              <a:solidFill>
                <a:schemeClr val="bg2"/>
              </a:solidFill>
              <a:latin typeface="Bahnschrift"/>
            </a:endParaRPr>
          </a:p>
          <a:p>
            <a:pPr marL="285750" indent="-285750">
              <a:buFont typeface="Calibri"/>
              <a:buChar char="-"/>
            </a:pPr>
            <a:r>
              <a:rPr lang="vi-VN" sz="1500" b="1" dirty="0">
                <a:solidFill>
                  <a:schemeClr val="bg2"/>
                </a:solidFill>
                <a:latin typeface="Bahnschrift"/>
              </a:rPr>
              <a:t>Mở rộng sang môi trường đa phương thức</a:t>
            </a:r>
            <a:r>
              <a:rPr lang="vi-VN" sz="1500" dirty="0">
                <a:solidFill>
                  <a:schemeClr val="bg2"/>
                </a:solidFill>
                <a:latin typeface="Bahnschrift"/>
              </a:rPr>
              <a:t> (text + image + video), giúp gợi ý chính xác hơn cho các nội dung giàu hình ảnh/âm thanh.</a:t>
            </a:r>
          </a:p>
          <a:p>
            <a:pPr marL="285750" indent="-285750">
              <a:buFont typeface="Calibri"/>
              <a:buChar char="-"/>
            </a:pPr>
            <a:r>
              <a:rPr lang="vi-VN" sz="1500" b="1" dirty="0">
                <a:solidFill>
                  <a:schemeClr val="bg2"/>
                </a:solidFill>
                <a:latin typeface="Bahnschrift"/>
              </a:rPr>
              <a:t>Hỗ trợ vận hành tại thiết bị (on-device &amp; localized)</a:t>
            </a:r>
            <a:r>
              <a:rPr lang="vi-VN" sz="1500" dirty="0">
                <a:solidFill>
                  <a:schemeClr val="bg2"/>
                </a:solidFill>
                <a:latin typeface="Bahnschrift"/>
              </a:rPr>
              <a:t> thông qua các mô hình LLM nhỏ, tối ưu cho quyền riêng tư và độ trễ.</a:t>
            </a:r>
          </a:p>
          <a:p>
            <a:pPr marL="285750" indent="-285750">
              <a:buFont typeface="Calibri"/>
              <a:buChar char="-"/>
            </a:pPr>
            <a:r>
              <a:rPr lang="vi-VN" sz="1500" b="1" dirty="0">
                <a:solidFill>
                  <a:schemeClr val="bg2"/>
                </a:solidFill>
                <a:latin typeface="Bahnschrift"/>
              </a:rPr>
              <a:t>Multi-Agent trong Feedback Loop</a:t>
            </a:r>
            <a:r>
              <a:rPr lang="vi-VN" sz="1500" dirty="0">
                <a:solidFill>
                  <a:schemeClr val="bg2"/>
                </a:solidFill>
                <a:latin typeface="Bahnschrift"/>
              </a:rPr>
              <a:t>, giúp hệ thống học từ tương tác người dùng theo thời gian thực.</a:t>
            </a:r>
          </a:p>
          <a:p>
            <a:pPr marL="285750" indent="-285750">
              <a:buFont typeface="Calibri"/>
              <a:buChar char="-"/>
            </a:pPr>
            <a:r>
              <a:rPr lang="vi-VN" sz="1500" b="1" dirty="0">
                <a:solidFill>
                  <a:schemeClr val="bg2"/>
                </a:solidFill>
                <a:latin typeface="Bahnschrift"/>
              </a:rPr>
              <a:t>Tự động hóa vận hành hệ gợi ý (AutoOps)</a:t>
            </a:r>
            <a:r>
              <a:rPr lang="vi-VN" sz="1500" dirty="0">
                <a:solidFill>
                  <a:schemeClr val="bg2"/>
                </a:solidFill>
                <a:latin typeface="Bahnschrift"/>
              </a:rPr>
              <a:t> bằng các agent quản lý log, giám sát chất lượng, tự tối ưu prompt/mô hình.</a:t>
            </a:r>
          </a:p>
          <a:p>
            <a:pPr marL="285750" indent="-285750">
              <a:buFont typeface="Calibri"/>
              <a:buChar char="-"/>
            </a:pPr>
            <a:r>
              <a:rPr lang="vi-VN" sz="1500" b="1" dirty="0">
                <a:solidFill>
                  <a:schemeClr val="bg2"/>
                </a:solidFill>
                <a:latin typeface="Bahnschrift"/>
              </a:rPr>
              <a:t>Hybrid Multi-Agent Recommender</a:t>
            </a:r>
            <a:r>
              <a:rPr lang="vi-VN" sz="1500" dirty="0">
                <a:solidFill>
                  <a:schemeClr val="bg2"/>
                </a:solidFill>
                <a:latin typeface="Bahnschrift"/>
              </a:rPr>
              <a:t> kết hợp LLM với mô hình truyền thống (MF, SASRec, GNN), tận dụng ưu điểm của cả hai.</a:t>
            </a:r>
          </a:p>
          <a:p>
            <a:pPr marL="285750" indent="-285750">
              <a:buFont typeface="Calibri"/>
              <a:buChar char="-"/>
            </a:pPr>
            <a:r>
              <a:rPr lang="vi-VN" sz="1500" b="1" dirty="0">
                <a:solidFill>
                  <a:schemeClr val="bg2"/>
                </a:solidFill>
                <a:latin typeface="Bahnschrift"/>
              </a:rPr>
              <a:t>Evaluation Agent</a:t>
            </a:r>
            <a:r>
              <a:rPr lang="vi-VN" sz="1500" dirty="0">
                <a:solidFill>
                  <a:schemeClr val="bg2"/>
                </a:solidFill>
                <a:latin typeface="Bahnschrift"/>
              </a:rPr>
              <a:t> tự động đánh giá chất lượng gợi ý, so sánh với baseline và đề xuất điều chỉnh hệ thống.</a:t>
            </a:r>
          </a:p>
          <a:p>
            <a:pPr>
              <a:spcAft>
                <a:spcPts val="800"/>
              </a:spcAft>
            </a:pPr>
            <a:endParaRPr lang="vi-VN" sz="1500" dirty="0">
              <a:solidFill>
                <a:schemeClr val="bg2"/>
              </a:solidFill>
              <a:latin typeface="Bahnschrift" panose="020B0502040204020203" pitchFamily="34" charset="0"/>
            </a:endParaRPr>
          </a:p>
        </p:txBody>
      </p:sp>
      <p:pic>
        <p:nvPicPr>
          <p:cNvPr id="2" name="Picture 1" descr="Multi Agent System là gì? Ứng dụng nổi bật của hệ thống đa tác nhân">
            <a:extLst>
              <a:ext uri="{FF2B5EF4-FFF2-40B4-BE49-F238E27FC236}">
                <a16:creationId xmlns:a16="http://schemas.microsoft.com/office/drawing/2014/main" id="{5CD90848-C924-FDC0-9205-851D793993A1}"/>
              </a:ext>
            </a:extLst>
          </p:cNvPr>
          <p:cNvPicPr>
            <a:picLocks noChangeAspect="1"/>
          </p:cNvPicPr>
          <p:nvPr/>
        </p:nvPicPr>
        <p:blipFill>
          <a:blip r:embed="rId4"/>
          <a:stretch>
            <a:fillRect/>
          </a:stretch>
        </p:blipFill>
        <p:spPr>
          <a:xfrm>
            <a:off x="73538" y="1415846"/>
            <a:ext cx="2434800" cy="1947840"/>
          </a:xfrm>
          <a:prstGeom prst="rect">
            <a:avLst/>
          </a:prstGeom>
        </p:spPr>
      </p:pic>
      <p:pic>
        <p:nvPicPr>
          <p:cNvPr id="3" name="Picture 2" descr="A blue and yellow logo&#10;&#10;AI-generated content may be incorrect.">
            <a:extLst>
              <a:ext uri="{FF2B5EF4-FFF2-40B4-BE49-F238E27FC236}">
                <a16:creationId xmlns:a16="http://schemas.microsoft.com/office/drawing/2014/main" id="{8EA7B2DE-CE05-2696-0ABC-A22B44F85B9A}"/>
              </a:ext>
            </a:extLst>
          </p:cNvPr>
          <p:cNvPicPr>
            <a:picLocks noChangeAspect="1"/>
          </p:cNvPicPr>
          <p:nvPr/>
        </p:nvPicPr>
        <p:blipFill>
          <a:blip r:embed="rId5"/>
          <a:stretch>
            <a:fillRect/>
          </a:stretch>
        </p:blipFill>
        <p:spPr>
          <a:xfrm>
            <a:off x="137160" y="114312"/>
            <a:ext cx="444137" cy="49224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758"/>
        <p:cNvGrpSpPr/>
        <p:nvPr/>
      </p:nvGrpSpPr>
      <p:grpSpPr>
        <a:xfrm>
          <a:off x="0" y="0"/>
          <a:ext cx="0" cy="0"/>
          <a:chOff x="0" y="0"/>
          <a:chExt cx="0" cy="0"/>
        </a:xfrm>
      </p:grpSpPr>
      <p:sp>
        <p:nvSpPr>
          <p:cNvPr id="1762" name="Google Shape;1762;p45"/>
          <p:cNvSpPr txBox="1">
            <a:spLocks noGrp="1"/>
          </p:cNvSpPr>
          <p:nvPr>
            <p:ph type="title"/>
          </p:nvPr>
        </p:nvSpPr>
        <p:spPr>
          <a:xfrm>
            <a:off x="1640931" y="204659"/>
            <a:ext cx="7704000" cy="572700"/>
          </a:xfrm>
          <a:prstGeom prst="rect">
            <a:avLst/>
          </a:prstGeom>
        </p:spPr>
        <p:txBody>
          <a:bodyPr spcFirstLastPara="1" wrap="square" lIns="91425" tIns="91425" rIns="91425" bIns="91425" anchor="t" anchorCtr="0">
            <a:noAutofit/>
          </a:bodyPr>
          <a:lstStyle/>
          <a:p>
            <a:pPr algn="l"/>
            <a:r>
              <a:rPr lang="en" dirty="0"/>
              <a:t>Kết luận</a:t>
            </a:r>
            <a:endParaRPr lang="en-US" dirty="0"/>
          </a:p>
        </p:txBody>
      </p:sp>
      <p:sp>
        <p:nvSpPr>
          <p:cNvPr id="2" name="TextBox 1">
            <a:extLst>
              <a:ext uri="{FF2B5EF4-FFF2-40B4-BE49-F238E27FC236}">
                <a16:creationId xmlns:a16="http://schemas.microsoft.com/office/drawing/2014/main" id="{74A5E2F0-D01C-5781-6A65-E3E80948E0EE}"/>
              </a:ext>
            </a:extLst>
          </p:cNvPr>
          <p:cNvSpPr txBox="1"/>
          <p:nvPr/>
        </p:nvSpPr>
        <p:spPr>
          <a:xfrm>
            <a:off x="448904" y="948164"/>
            <a:ext cx="8363460" cy="32470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Aft>
                <a:spcPts val="1000"/>
              </a:spcAft>
            </a:pPr>
            <a:r>
              <a:rPr lang="vi-VN" sz="1800">
                <a:solidFill>
                  <a:schemeClr val="bg2"/>
                </a:solidFill>
                <a:latin typeface="Bahnschrift"/>
              </a:rPr>
              <a:t>– </a:t>
            </a:r>
            <a:r>
              <a:rPr lang="vi-VN" sz="1800" err="1">
                <a:solidFill>
                  <a:schemeClr val="bg2"/>
                </a:solidFill>
                <a:latin typeface="Bahnschrift"/>
              </a:rPr>
              <a:t>Multi-Agent</a:t>
            </a:r>
            <a:r>
              <a:rPr lang="vi-VN" sz="1800">
                <a:solidFill>
                  <a:schemeClr val="bg2"/>
                </a:solidFill>
                <a:latin typeface="Bahnschrift"/>
              </a:rPr>
              <a:t> </a:t>
            </a:r>
            <a:r>
              <a:rPr lang="vi-VN" sz="1800" err="1">
                <a:solidFill>
                  <a:schemeClr val="bg2"/>
                </a:solidFill>
                <a:latin typeface="Bahnschrift"/>
              </a:rPr>
              <a:t>Systems</a:t>
            </a:r>
            <a:r>
              <a:rPr lang="vi-VN" sz="1800">
                <a:solidFill>
                  <a:schemeClr val="bg2"/>
                </a:solidFill>
                <a:latin typeface="Bahnschrift"/>
              </a:rPr>
              <a:t> là một kiến trúc tính toán bao gồm tập hợp các </a:t>
            </a:r>
            <a:r>
              <a:rPr lang="vi-VN" sz="1800" err="1">
                <a:solidFill>
                  <a:schemeClr val="bg2"/>
                </a:solidFill>
                <a:latin typeface="Bahnschrift"/>
              </a:rPr>
              <a:t>agents</a:t>
            </a:r>
            <a:r>
              <a:rPr lang="vi-VN" sz="1800">
                <a:solidFill>
                  <a:schemeClr val="bg2"/>
                </a:solidFill>
                <a:latin typeface="Bahnschrift"/>
              </a:rPr>
              <a:t> tương tác với nhau trong một môi trường chung. Chúng phối hợp và cộng tác để đạt được mục tiêu chung hoặc giải quyết các nhiệm vụ phân tán.</a:t>
            </a:r>
            <a:endParaRPr lang="en-US">
              <a:solidFill>
                <a:schemeClr val="bg2"/>
              </a:solidFill>
            </a:endParaRPr>
          </a:p>
          <a:p>
            <a:pPr algn="just">
              <a:spcAft>
                <a:spcPts val="1000"/>
              </a:spcAft>
            </a:pPr>
            <a:r>
              <a:rPr lang="vi-VN" sz="1800">
                <a:solidFill>
                  <a:schemeClr val="bg2"/>
                </a:solidFill>
                <a:latin typeface="Bahnschrift"/>
              </a:rPr>
              <a:t>- </a:t>
            </a:r>
            <a:r>
              <a:rPr lang="vi-VN" sz="1800" err="1">
                <a:solidFill>
                  <a:schemeClr val="bg2"/>
                </a:solidFill>
                <a:latin typeface="Bahnschrift"/>
              </a:rPr>
              <a:t>Multi-Agent</a:t>
            </a:r>
            <a:r>
              <a:rPr lang="vi-VN" sz="1800">
                <a:solidFill>
                  <a:schemeClr val="bg2"/>
                </a:solidFill>
                <a:latin typeface="Bahnschrift"/>
              </a:rPr>
              <a:t> </a:t>
            </a:r>
            <a:r>
              <a:rPr lang="vi-VN" sz="1800" err="1">
                <a:solidFill>
                  <a:schemeClr val="bg2"/>
                </a:solidFill>
                <a:latin typeface="Bahnschrift"/>
              </a:rPr>
              <a:t>System</a:t>
            </a:r>
            <a:r>
              <a:rPr lang="vi-VN" sz="1800">
                <a:solidFill>
                  <a:schemeClr val="bg2"/>
                </a:solidFill>
                <a:latin typeface="Bahnschrift"/>
              </a:rPr>
              <a:t> giúp hệ thống gợi ý linh hoạt, thông minh và dễ mở rộng nhờ phân tách vai trò giữa các tác nhân (phân tích, dự đoán, xếp hạng, giải thích).</a:t>
            </a:r>
            <a:endParaRPr lang="vi-VN">
              <a:solidFill>
                <a:schemeClr val="bg2"/>
              </a:solidFill>
              <a:latin typeface="Bahnschrift"/>
            </a:endParaRPr>
          </a:p>
          <a:p>
            <a:pPr algn="just">
              <a:spcAft>
                <a:spcPts val="1000"/>
              </a:spcAft>
            </a:pPr>
            <a:r>
              <a:rPr lang="vi-VN" sz="1800">
                <a:solidFill>
                  <a:schemeClr val="bg2"/>
                </a:solidFill>
                <a:latin typeface="Bahnschrift"/>
              </a:rPr>
              <a:t>- Kết hợp các mô hình truyền thống (CF, </a:t>
            </a:r>
            <a:r>
              <a:rPr lang="vi-VN" sz="1800" err="1">
                <a:solidFill>
                  <a:schemeClr val="bg2"/>
                </a:solidFill>
                <a:latin typeface="Bahnschrift"/>
              </a:rPr>
              <a:t>SASRec</a:t>
            </a:r>
            <a:r>
              <a:rPr lang="vi-VN" sz="1800">
                <a:solidFill>
                  <a:schemeClr val="bg2"/>
                </a:solidFill>
                <a:latin typeface="Bahnschrift"/>
              </a:rPr>
              <a:t>) với </a:t>
            </a:r>
            <a:r>
              <a:rPr lang="vi-VN" sz="1800" err="1">
                <a:solidFill>
                  <a:schemeClr val="bg2"/>
                </a:solidFill>
                <a:latin typeface="Bahnschrift"/>
              </a:rPr>
              <a:t>LLMs</a:t>
            </a:r>
            <a:r>
              <a:rPr lang="vi-VN" sz="1800">
                <a:solidFill>
                  <a:schemeClr val="bg2"/>
                </a:solidFill>
                <a:latin typeface="Bahnschrift"/>
              </a:rPr>
              <a:t> trong kiến trúc </a:t>
            </a:r>
            <a:r>
              <a:rPr lang="vi-VN" sz="1800" err="1">
                <a:solidFill>
                  <a:schemeClr val="bg2"/>
                </a:solidFill>
                <a:latin typeface="Bahnschrift"/>
              </a:rPr>
              <a:t>multi-agent</a:t>
            </a:r>
            <a:r>
              <a:rPr lang="vi-VN" sz="1800">
                <a:solidFill>
                  <a:schemeClr val="bg2"/>
                </a:solidFill>
                <a:latin typeface="Bahnschrift"/>
              </a:rPr>
              <a:t>, nâng cao khả năng diễn giải và tương tác, đảm bảo hiệu quả gợi ý.</a:t>
            </a:r>
            <a:endParaRPr lang="vi-VN">
              <a:solidFill>
                <a:schemeClr val="bg2"/>
              </a:solidFill>
              <a:latin typeface="Bahnschrift"/>
            </a:endParaRPr>
          </a:p>
          <a:p>
            <a:pPr algn="just">
              <a:spcAft>
                <a:spcPts val="1000"/>
              </a:spcAft>
            </a:pPr>
            <a:r>
              <a:rPr lang="vi-VN" sz="1800">
                <a:solidFill>
                  <a:schemeClr val="bg2"/>
                </a:solidFill>
                <a:latin typeface="Bahnschrift"/>
              </a:rPr>
              <a:t>- Triển khai trong các hệ thống gợi ý thực tế, đặc biệt trong các kịch bản phức tạp, đa nhiệm và có hội thoại với người dùng.</a:t>
            </a:r>
            <a:endParaRPr lang="vi-VN">
              <a:solidFill>
                <a:schemeClr val="bg2"/>
              </a:solidFill>
              <a:latin typeface="Bahnschrift"/>
            </a:endParaRPr>
          </a:p>
        </p:txBody>
      </p:sp>
      <p:pic>
        <p:nvPicPr>
          <p:cNvPr id="3" name="Picture 2" descr="A blue and yellow logo&#10;&#10;AI-generated content may be incorrect.">
            <a:extLst>
              <a:ext uri="{FF2B5EF4-FFF2-40B4-BE49-F238E27FC236}">
                <a16:creationId xmlns:a16="http://schemas.microsoft.com/office/drawing/2014/main" id="{199C0DDC-C325-0199-7490-32E87A0C5978}"/>
              </a:ext>
            </a:extLst>
          </p:cNvPr>
          <p:cNvPicPr>
            <a:picLocks noChangeAspect="1"/>
          </p:cNvPicPr>
          <p:nvPr/>
        </p:nvPicPr>
        <p:blipFill>
          <a:blip r:embed="rId4"/>
          <a:stretch>
            <a:fillRect/>
          </a:stretch>
        </p:blipFill>
        <p:spPr>
          <a:xfrm>
            <a:off x="137160" y="114312"/>
            <a:ext cx="444137" cy="49224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2391"/>
        <p:cNvGrpSpPr/>
        <p:nvPr/>
      </p:nvGrpSpPr>
      <p:grpSpPr>
        <a:xfrm>
          <a:off x="0" y="0"/>
          <a:ext cx="0" cy="0"/>
          <a:chOff x="0" y="0"/>
          <a:chExt cx="0" cy="0"/>
        </a:xfrm>
      </p:grpSpPr>
      <p:grpSp>
        <p:nvGrpSpPr>
          <p:cNvPr id="2403" name="Google Shape;2403;p63"/>
          <p:cNvGrpSpPr/>
          <p:nvPr/>
        </p:nvGrpSpPr>
        <p:grpSpPr>
          <a:xfrm>
            <a:off x="2734950" y="3980917"/>
            <a:ext cx="6577300" cy="134070"/>
            <a:chOff x="2734950" y="3980917"/>
            <a:chExt cx="6577300" cy="134070"/>
          </a:xfrm>
        </p:grpSpPr>
        <p:sp>
          <p:nvSpPr>
            <p:cNvPr id="2404" name="Google Shape;2404;p63"/>
            <p:cNvSpPr/>
            <p:nvPr/>
          </p:nvSpPr>
          <p:spPr>
            <a:xfrm rot="10800000">
              <a:off x="2734950" y="3980917"/>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05" name="Google Shape;2405;p63"/>
            <p:cNvCxnSpPr/>
            <p:nvPr/>
          </p:nvCxnSpPr>
          <p:spPr>
            <a:xfrm rot="10800000">
              <a:off x="2831050" y="4047947"/>
              <a:ext cx="6481200" cy="0"/>
            </a:xfrm>
            <a:prstGeom prst="straightConnector1">
              <a:avLst/>
            </a:prstGeom>
            <a:noFill/>
            <a:ln w="9525" cap="flat" cmpd="sng">
              <a:solidFill>
                <a:schemeClr val="dk2"/>
              </a:solidFill>
              <a:prstDash val="solid"/>
              <a:round/>
              <a:headEnd type="none" w="med" len="med"/>
              <a:tailEnd type="none" w="med" len="med"/>
            </a:ln>
          </p:spPr>
        </p:cxnSp>
        <p:sp>
          <p:nvSpPr>
            <p:cNvPr id="2406" name="Google Shape;2406;p63"/>
            <p:cNvSpPr/>
            <p:nvPr/>
          </p:nvSpPr>
          <p:spPr>
            <a:xfrm rot="10800000">
              <a:off x="2765063" y="4011000"/>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TextBox 5">
            <a:extLst>
              <a:ext uri="{FF2B5EF4-FFF2-40B4-BE49-F238E27FC236}">
                <a16:creationId xmlns:a16="http://schemas.microsoft.com/office/drawing/2014/main" id="{C4BF72E9-FB6E-1D14-F791-CC234EBC83B4}"/>
              </a:ext>
            </a:extLst>
          </p:cNvPr>
          <p:cNvSpPr txBox="1"/>
          <p:nvPr/>
        </p:nvSpPr>
        <p:spPr>
          <a:xfrm>
            <a:off x="1725705" y="431360"/>
            <a:ext cx="569258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chemeClr val="accent2">
                    <a:lumMod val="50000"/>
                  </a:schemeClr>
                </a:solidFill>
                <a:latin typeface="IBM Plex Mono" panose="020B0509050203000203" pitchFamily="49" charset="0"/>
              </a:rPr>
              <a:t>Thanks for watching!!!</a:t>
            </a:r>
          </a:p>
        </p:txBody>
      </p:sp>
      <p:sp>
        <p:nvSpPr>
          <p:cNvPr id="7" name="TextBox 6">
            <a:extLst>
              <a:ext uri="{FF2B5EF4-FFF2-40B4-BE49-F238E27FC236}">
                <a16:creationId xmlns:a16="http://schemas.microsoft.com/office/drawing/2014/main" id="{0ECA90C8-D4A8-9CB8-BF29-FA75BABBF646}"/>
              </a:ext>
            </a:extLst>
          </p:cNvPr>
          <p:cNvSpPr txBox="1"/>
          <p:nvPr/>
        </p:nvSpPr>
        <p:spPr>
          <a:xfrm>
            <a:off x="1486695" y="3599775"/>
            <a:ext cx="65698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err="1">
                <a:latin typeface="Bahnschrift" panose="020B0502040204020203" pitchFamily="34" charset="0"/>
              </a:rPr>
              <a:t>Cảm</a:t>
            </a:r>
            <a:r>
              <a:rPr lang="en-US" sz="1800">
                <a:latin typeface="Bahnschrift" panose="020B0502040204020203" pitchFamily="34" charset="0"/>
              </a:rPr>
              <a:t> </a:t>
            </a:r>
            <a:r>
              <a:rPr lang="en-US" sz="1800" err="1">
                <a:latin typeface="Bahnschrift" panose="020B0502040204020203" pitchFamily="34" charset="0"/>
              </a:rPr>
              <a:t>ơn</a:t>
            </a:r>
            <a:r>
              <a:rPr lang="en-US" sz="1800">
                <a:latin typeface="Bahnschrift" panose="020B0502040204020203" pitchFamily="34" charset="0"/>
              </a:rPr>
              <a:t> </a:t>
            </a:r>
            <a:r>
              <a:rPr lang="en-US" sz="1800" err="1">
                <a:latin typeface="Bahnschrift" panose="020B0502040204020203" pitchFamily="34" charset="0"/>
              </a:rPr>
              <a:t>Quý</a:t>
            </a:r>
            <a:r>
              <a:rPr lang="en-US" sz="1800">
                <a:latin typeface="Bahnschrift" panose="020B0502040204020203" pitchFamily="34" charset="0"/>
              </a:rPr>
              <a:t> </a:t>
            </a:r>
            <a:r>
              <a:rPr lang="en-US" sz="1800" err="1">
                <a:latin typeface="Bahnschrift" panose="020B0502040204020203" pitchFamily="34" charset="0"/>
              </a:rPr>
              <a:t>Thầy</a:t>
            </a:r>
            <a:r>
              <a:rPr lang="en-US" sz="1800">
                <a:latin typeface="Bahnschrift" panose="020B0502040204020203" pitchFamily="34" charset="0"/>
              </a:rPr>
              <a:t> </a:t>
            </a:r>
            <a:r>
              <a:rPr lang="en-US" sz="1800" err="1">
                <a:latin typeface="Bahnschrift" panose="020B0502040204020203" pitchFamily="34" charset="0"/>
              </a:rPr>
              <a:t>cô</a:t>
            </a:r>
            <a:r>
              <a:rPr lang="en-US" sz="1800">
                <a:latin typeface="Bahnschrift" panose="020B0502040204020203" pitchFamily="34" charset="0"/>
              </a:rPr>
              <a:t> </a:t>
            </a:r>
            <a:r>
              <a:rPr lang="en-US" sz="1800" err="1">
                <a:latin typeface="Bahnschrift" panose="020B0502040204020203" pitchFamily="34" charset="0"/>
              </a:rPr>
              <a:t>đã</a:t>
            </a:r>
            <a:r>
              <a:rPr lang="en-US" sz="1800">
                <a:latin typeface="Bahnschrift" panose="020B0502040204020203" pitchFamily="34" charset="0"/>
              </a:rPr>
              <a:t> </a:t>
            </a:r>
            <a:r>
              <a:rPr lang="en-US" sz="1800" err="1">
                <a:latin typeface="Bahnschrift" panose="020B0502040204020203" pitchFamily="34" charset="0"/>
              </a:rPr>
              <a:t>lắng</a:t>
            </a:r>
            <a:r>
              <a:rPr lang="en-US" sz="1800">
                <a:latin typeface="Bahnschrift" panose="020B0502040204020203" pitchFamily="34" charset="0"/>
              </a:rPr>
              <a:t> </a:t>
            </a:r>
            <a:r>
              <a:rPr lang="en-US" sz="1800" err="1">
                <a:latin typeface="Bahnschrift" panose="020B0502040204020203" pitchFamily="34" charset="0"/>
              </a:rPr>
              <a:t>nghe</a:t>
            </a:r>
            <a:r>
              <a:rPr lang="en-US" sz="1800">
                <a:latin typeface="Bahnschrift" panose="020B0502040204020203" pitchFamily="34" charset="0"/>
              </a:rPr>
              <a:t> </a:t>
            </a:r>
            <a:r>
              <a:rPr lang="en-US" sz="1800" err="1">
                <a:latin typeface="Bahnschrift" panose="020B0502040204020203" pitchFamily="34" charset="0"/>
              </a:rPr>
              <a:t>bài</a:t>
            </a:r>
            <a:r>
              <a:rPr lang="en-US" sz="1800">
                <a:latin typeface="Bahnschrift" panose="020B0502040204020203" pitchFamily="34" charset="0"/>
              </a:rPr>
              <a:t> </a:t>
            </a:r>
            <a:r>
              <a:rPr lang="en-US" sz="1800" err="1">
                <a:latin typeface="Bahnschrift" panose="020B0502040204020203" pitchFamily="34" charset="0"/>
              </a:rPr>
              <a:t>báo</a:t>
            </a:r>
            <a:r>
              <a:rPr lang="en-US" sz="1800">
                <a:latin typeface="Bahnschrift" panose="020B0502040204020203" pitchFamily="34" charset="0"/>
              </a:rPr>
              <a:t> </a:t>
            </a:r>
            <a:r>
              <a:rPr lang="en-US" sz="1800" err="1">
                <a:latin typeface="Bahnschrift" panose="020B0502040204020203" pitchFamily="34" charset="0"/>
              </a:rPr>
              <a:t>cáo</a:t>
            </a:r>
            <a:r>
              <a:rPr lang="en-US" sz="1800">
                <a:latin typeface="Bahnschrift" panose="020B0502040204020203" pitchFamily="34" charset="0"/>
              </a:rPr>
              <a:t> </a:t>
            </a:r>
            <a:r>
              <a:rPr lang="en-US" sz="1800" err="1">
                <a:latin typeface="Bahnschrift" panose="020B0502040204020203" pitchFamily="34" charset="0"/>
              </a:rPr>
              <a:t>của</a:t>
            </a:r>
            <a:r>
              <a:rPr lang="en-US" sz="1800">
                <a:latin typeface="Bahnschrift" panose="020B0502040204020203" pitchFamily="34" charset="0"/>
              </a:rPr>
              <a:t> </a:t>
            </a:r>
            <a:r>
              <a:rPr lang="en-US" sz="1800" err="1">
                <a:latin typeface="Bahnschrift" panose="020B0502040204020203" pitchFamily="34" charset="0"/>
              </a:rPr>
              <a:t>nhóm</a:t>
            </a:r>
            <a:r>
              <a:rPr lang="en-US" sz="1800">
                <a:latin typeface="Bahnschrift" panose="020B0502040204020203" pitchFamily="34" charset="0"/>
              </a:rPr>
              <a:t> </a:t>
            </a:r>
            <a:r>
              <a:rPr lang="en-US" sz="1800" err="1">
                <a:latin typeface="Bahnschrift" panose="020B0502040204020203" pitchFamily="34" charset="0"/>
              </a:rPr>
              <a:t>em</a:t>
            </a:r>
            <a:r>
              <a:rPr lang="en-US" sz="1800">
                <a:latin typeface="Bahnschrift" panose="020B0502040204020203" pitchFamily="34" charset="0"/>
              </a:rPr>
              <a:t>.</a:t>
            </a:r>
          </a:p>
        </p:txBody>
      </p:sp>
      <p:pic>
        <p:nvPicPr>
          <p:cNvPr id="1026" name="Picture 2" descr="Thanks, For, Watching, Youtube, Video">
            <a:extLst>
              <a:ext uri="{FF2B5EF4-FFF2-40B4-BE49-F238E27FC236}">
                <a16:creationId xmlns:a16="http://schemas.microsoft.com/office/drawing/2014/main" id="{D7D966B1-2140-5A80-A810-DA76A8EABB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977" y="973053"/>
            <a:ext cx="3276045" cy="24570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12759</Words>
  <Application>Microsoft Office PowerPoint</Application>
  <PresentationFormat>On-screen Show (16:9)</PresentationFormat>
  <Paragraphs>979</Paragraphs>
  <Slides>29</Slides>
  <Notes>29</Notes>
  <HiddenSlides>8</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29</vt:i4>
      </vt:variant>
    </vt:vector>
  </HeadingPairs>
  <TitlesOfParts>
    <vt:vector size="43" baseType="lpstr">
      <vt:lpstr>Bahnschrift</vt:lpstr>
      <vt:lpstr>Consolas</vt:lpstr>
      <vt:lpstr>VL Kaleko 105 Round</vt:lpstr>
      <vt:lpstr>Source Code Pro</vt:lpstr>
      <vt:lpstr>IBM Plex Mono</vt:lpstr>
      <vt:lpstr>Poppins</vt:lpstr>
      <vt:lpstr>Times New Roman</vt:lpstr>
      <vt:lpstr>.VnSouthern</vt:lpstr>
      <vt:lpstr>Open Sans</vt:lpstr>
      <vt:lpstr>IBM Plex Mono Bold</vt:lpstr>
      <vt:lpstr>Calibri</vt:lpstr>
      <vt:lpstr>Roboto Condensed Light</vt:lpstr>
      <vt:lpstr>Arial</vt:lpstr>
      <vt:lpstr>Introduction to Coding Workshop by Slidesgo</vt:lpstr>
      <vt:lpstr>GRADUATE THESIS  A Multi-Agent System For Movie Recommendation</vt:lpstr>
      <vt:lpstr>Lý do chọn đề tài</vt:lpstr>
      <vt:lpstr>Giới thiệu và mục tiêu</vt:lpstr>
      <vt:lpstr>Công nghệ sử dụng</vt:lpstr>
      <vt:lpstr>Kiến trúc Multi-Agent System</vt:lpstr>
      <vt:lpstr>Kiến trúc hệ thống</vt:lpstr>
      <vt:lpstr>Systems &amp; Tasks</vt:lpstr>
      <vt:lpstr>PowerPoint Presentation</vt:lpstr>
      <vt:lpstr>PowerPoint Presentation</vt:lpstr>
      <vt:lpstr>PowerPoint Presentation</vt:lpstr>
      <vt:lpstr>7. Mapping Systems &amp; Tasks</vt:lpstr>
      <vt:lpstr>Huấn luyện mô hình</vt:lpstr>
      <vt:lpstr>Huấn luyện Collaborative Filtering (1/2)</vt:lpstr>
      <vt:lpstr>Huấn luyện Collaborative Filtering (2/2)</vt:lpstr>
      <vt:lpstr>Ưu và nhược điểm của CF</vt:lpstr>
      <vt:lpstr>Huấn luyện Sequential Recommendation  - SASRec</vt:lpstr>
      <vt:lpstr>Kết quả</vt:lpstr>
      <vt:lpstr>Huấn luyện mô hình</vt:lpstr>
      <vt:lpstr>7. Mapping Systems &amp; Tasks</vt:lpstr>
      <vt:lpstr>PowerPoint Presentation</vt:lpstr>
      <vt:lpstr>Giao diện trang chủ của hệ thống</vt:lpstr>
      <vt:lpstr>Giao diện hoạt động (1/2)</vt:lpstr>
      <vt:lpstr>Giao diện hoạt động (2/2)</vt:lpstr>
      <vt:lpstr>Nhận xét</vt:lpstr>
      <vt:lpstr>PowerPoint Presentation</vt:lpstr>
      <vt:lpstr>Ứng dụng</vt:lpstr>
      <vt:lpstr>Hướng phát triển</vt:lpstr>
      <vt:lpstr>Kết luận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GRADUATE THESIS  A Multi-Agent System For Movie Recommendation</dc:title>
  <dc:creator>Nguyen Luat</dc:creator>
  <cp:lastModifiedBy>Nguyen Ty</cp:lastModifiedBy>
  <cp:revision>33</cp:revision>
  <dcterms:modified xsi:type="dcterms:W3CDTF">2025-12-19T06:53:28Z</dcterms:modified>
</cp:coreProperties>
</file>